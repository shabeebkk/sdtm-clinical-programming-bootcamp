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13, the final day. Frame this as graduation, not a test: they have every skill needed. The one new thing is the absence of a scaffold. Reassure them their ABC-01 notebooks are the right starting point — the work is in adapting, not starting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observation class is represented, so nothing they learned goes untested. Point them at def01_data_dictionary.md as the first thing to read — it describes every raw field and, crucially, the four traps.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plainly that the traps are named up front on purpose — the difficulty is in the DOING, not in spotting them. Each maps to a principle they met but ABC-01 did not exercise: unit conversion (the three result variables), interruption (one record per constant-exposure period), partial dates (no imputation), the lab/AE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is the deliverable, not just the datasets. A trainee who reaches six MATCHes by iterating against verify has done exactly what a working programmer does: build, validate, fix, revalidate. Encourage them to diff their FAILs rather than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genuine victory-lap slide. Ten days ago many of them had never seen a DATA step or heard of a domain. Now they can map a novel study. Read the rows aloud — the arc from 'what is a trial' to 'transfer' is the story of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SDTM in the bigger pipeline so they see it is a foundation, not an endpoint. ADaM is the sequel course; mention that AETRTEM and change-from-baseline — which they touched — are exactly where ADaM begins. The dependency direction is the key idea: everything above needs SDTM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closing slide. The four instincts in the last box are the real curriculum — standards and tools change, but attempt-then-verify, fail-loudly, never-invent-data, and trace-everything-back are permanent. End on the send-off: they are clinical programmers now. Then set them loose on DEF-01.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554480"/>
            <a:ext cx="5120640" cy="5120640"/>
          </a:xfrm>
          <a:prstGeom prst="ellipse">
            <a:avLst/>
          </a:prstGeom>
          <a:solidFill>
            <a:srgbClr val="133B4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640080"/>
            <a:ext cx="3108960" cy="310896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182880"/>
            <a:ext cx="1645920" cy="1645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PROGRAMMING BOOTCAMP  ·  MODULE 13  ·  CAPSTONE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" y="2286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it yourself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study you have never seen — DEF-01 — from raw to SDTM, on your own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have built so far had a worked notebook beside it. This one does not. That is the point: mapping data you have never seen is the actual job.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13_capstone_DEF01_SKELETON.sas  →  six SDTM domains  →  verify_capstone.sas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ASSIGNMENT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DEF-01 — a Phase 2 study in Type 2 diabetes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9222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X 50 mg once daily vs placebo · 6 subjects · 2 sites · 12 weeks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17627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01 is in Canada (metric); site 02 is in the USA (US customary units). Each subject is screened, dosed at Baseline, and followed to a Week 12 visit. The raw data is five EDC-style CSVs — one per form — with the same messy realities you have been cleaning up all course.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domain from every observation class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520440"/>
            <a:ext cx="82296" cy="65836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667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36667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Purpose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366674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+ reference dates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251960"/>
            <a:ext cx="82296" cy="658368"/>
          </a:xfrm>
          <a:prstGeom prst="rect">
            <a:avLst/>
          </a:prstGeom>
          <a:solidFill>
            <a:srgbClr val="1FA8A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3982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43982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43982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study-drug exposure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983480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983480"/>
            <a:ext cx="82296" cy="658368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1297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 + SUPPAE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83280" y="51297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512978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events + AETRTEM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715000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5715000"/>
            <a:ext cx="82296" cy="658368"/>
          </a:xfrm>
          <a:prstGeom prst="rect">
            <a:avLst/>
          </a:prstGeom>
          <a:solidFill>
            <a:srgbClr val="6FC8B4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8613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C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· LB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383280" y="586130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0" y="586130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signs + labs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and Concomitant Medications are out of scope — five domains is a full end-to-end pass without being a slog.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THAT WILL BREAK A BLIND COPY-PASTE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ABC-01 code is the start — but not the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72800" cy="1042416"/>
          </a:xfrm>
          <a:prstGeom prst="roundRect">
            <a:avLst>
              <a:gd name="adj" fmla="val 7018"/>
            </a:avLst>
          </a:prstGeom>
          <a:solidFill>
            <a:srgbClr val="163B4B"/>
          </a:solidFill>
          <a:ln w="17780">
            <a:solidFill>
              <a:srgbClr val="E883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751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UNIT CONVERSION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966960" y="1975104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E8833A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0" y="19751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40864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02 collects weight in lb and temperature in °F. Keep the collected value in --ORRES; CONVERT to kg / °C in --STRESN.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62656"/>
            <a:ext cx="10972800" cy="1042416"/>
          </a:xfrm>
          <a:prstGeom prst="roundRect">
            <a:avLst>
              <a:gd name="adj" fmla="val 7018"/>
            </a:avLst>
          </a:prstGeom>
          <a:solidFill>
            <a:srgbClr val="163B4B"/>
          </a:solidFill>
          <a:ln w="17780">
            <a:solidFill>
              <a:srgbClr val="1F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08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DOSING INTERRUPTION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966960" y="310896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FA8A0"/>
          </a:solidFill>
          <a:ln/>
        </p:spPr>
      </p:sp>
      <p:sp>
        <p:nvSpPr>
          <p:cNvPr id="12" name="Text 10"/>
          <p:cNvSpPr/>
          <p:nvPr/>
        </p:nvSpPr>
        <p:spPr>
          <a:xfrm>
            <a:off x="996696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02/003 has two dosing periods. Keep both records; the gap is the interruption. RFSTDTC = first dose, RFENDTC = last.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96512"/>
            <a:ext cx="10972800" cy="1042416"/>
          </a:xfrm>
          <a:prstGeom prst="roundRect">
            <a:avLst>
              <a:gd name="adj" fmla="val 7018"/>
            </a:avLst>
          </a:prstGeom>
          <a:solidFill>
            <a:srgbClr val="163B4B"/>
          </a:solidFill>
          <a:ln w="17780">
            <a:solidFill>
              <a:srgbClr val="6FC8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42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PARTIAL DATE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966960" y="4242816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6FC8B4"/>
          </a:solidFill>
          <a:ln/>
        </p:spPr>
      </p:sp>
      <p:sp>
        <p:nvSpPr>
          <p:cNvPr id="17" name="Text 15"/>
          <p:cNvSpPr/>
          <p:nvPr/>
        </p:nvSpPr>
        <p:spPr>
          <a:xfrm>
            <a:off x="9966960" y="42428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6085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screening AE is dated to a month only (2024-02). Keep the partial; AESTDY is null; never impute a day. AETRTEM is still 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30368"/>
            <a:ext cx="10972800" cy="1042416"/>
          </a:xfrm>
          <a:prstGeom prst="roundRect">
            <a:avLst>
              <a:gd name="adj" fmla="val 7018"/>
            </a:avLst>
          </a:prstGeom>
          <a:solidFill>
            <a:srgbClr val="163B4B"/>
          </a:solidFill>
          <a:ln w="17780">
            <a:solidFill>
              <a:srgbClr val="C045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376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4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ABNORMAL LABS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966960" y="5376672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C0455B"/>
          </a:solidFill>
          <a:ln/>
        </p:spPr>
      </p:sp>
      <p:sp>
        <p:nvSpPr>
          <p:cNvPr id="22" name="Text 20"/>
          <p:cNvSpPr/>
          <p:nvPr/>
        </p:nvSpPr>
        <p:spPr>
          <a:xfrm>
            <a:off x="9966960" y="5376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574243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labs are HIGH — that is the diabetes, plus one ALT signal. Derive LBNRIND. Do NOT invent adverse events for them.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is a curveball — each is a realistic situation you have the tools for. They are here because ABC-01 never happened to contain them.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Attempt first, then verify — the whole course in one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30352" cy="53035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792224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dictionary  </a:t>
            </a:r>
            <a:pPr indent="0" marL="0">
              <a:buNone/>
            </a:pPr>
            <a:r>
              <a:rPr lang="en-US" sz="12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def01_data_dictionary.md describes every raw field and every trap. Start here, not in the code.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15184"/>
            <a:ext cx="10972800" cy="896112"/>
          </a:xfrm>
          <a:prstGeom prst="roundRect">
            <a:avLst>
              <a:gd name="adj" fmla="val 9184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98064"/>
            <a:ext cx="530352" cy="530352"/>
          </a:xfrm>
          <a:prstGeom prst="ellipse">
            <a:avLst/>
          </a:prstGeom>
          <a:solidFill>
            <a:srgbClr val="1FA8A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76148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skeleton  </a:t>
            </a:r>
            <a:pPr indent="0" marL="0">
              <a:buNone/>
            </a:pPr>
            <a:r>
              <a:rPr lang="en-US" sz="12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13_capstone_DEF01_SKELETON.sas gives you the raw reads and a TODO per domain. Write the mapping.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584448"/>
            <a:ext cx="1097280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767328"/>
            <a:ext cx="530352" cy="530352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67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73075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row counts  </a:t>
            </a:r>
            <a:pPr indent="0" marL="0">
              <a:buNone/>
            </a:pPr>
            <a:r>
              <a:rPr lang="en-US" sz="12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6 · EX 7 · AE 7 · SUPPAE 7 · VS 96 · LB 32. A wrong count localises the problem fast.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553712"/>
            <a:ext cx="10972800" cy="896112"/>
          </a:xfrm>
          <a:prstGeom prst="roundRect">
            <a:avLst>
              <a:gd name="adj" fmla="val 9184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736592"/>
            <a:ext cx="530352" cy="530352"/>
          </a:xfrm>
          <a:prstGeom prst="ellipse">
            <a:avLst/>
          </a:prstGeom>
          <a:solidFill>
            <a:srgbClr val="0F2E3D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736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70001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verify_capstone.sas  </a:t>
            </a:r>
            <a:pPr indent="0" marL="0">
              <a:buNone/>
            </a:pPr>
            <a:r>
              <a:rPr lang="en-US" sz="12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compares every value to the reference and reports MATCH or FAIL per domain. Aim for six MATCHes.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522976"/>
            <a:ext cx="1097280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705856"/>
            <a:ext cx="530352" cy="53035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7058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566928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and re-verify  </a:t>
            </a:r>
            <a:pPr indent="0" marL="0">
              <a:buNone/>
            </a:pPr>
            <a:r>
              <a:rPr lang="en-US" sz="12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 shows the first differing lines. Read them, fix the mapping, run again — exactly how real QC works.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worked notebook — but there IS a reference. "Attempt first, then compare" is how you have learned every domain; now it is the whole task.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HOW FAR YOU HAVE 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days, from zero to a full SDTM package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72800" cy="731520"/>
          </a:xfrm>
          <a:prstGeom prst="roundRect">
            <a:avLst>
              <a:gd name="adj" fmla="val 8750"/>
            </a:avLst>
          </a:prstGeom>
          <a:solidFill>
            <a:srgbClr val="163B4B"/>
          </a:solidFill>
          <a:ln w="12700">
            <a:solidFill>
              <a:srgbClr val="2457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9339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1993392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trial is, why CDISC exists, the CRF→SDTM→ADaM→submission path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33472"/>
            <a:ext cx="10972800" cy="731520"/>
          </a:xfrm>
          <a:prstGeom prst="roundRect">
            <a:avLst>
              <a:gd name="adj" fmla="val 8750"/>
            </a:avLst>
          </a:prstGeom>
          <a:solidFill>
            <a:srgbClr val="163B4B"/>
          </a:solidFill>
          <a:ln w="12700">
            <a:solidFill>
              <a:srgbClr val="2457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9806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raw truth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2798064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is never ISO; mixed formats, codes, free text, wide vs tall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438144"/>
            <a:ext cx="10972800" cy="731520"/>
          </a:xfrm>
          <a:prstGeom prst="roundRect">
            <a:avLst>
              <a:gd name="adj" fmla="val 8750"/>
            </a:avLst>
          </a:prstGeom>
          <a:solidFill>
            <a:srgbClr val="163B4B"/>
          </a:solidFill>
          <a:ln w="12700">
            <a:solidFill>
              <a:srgbClr val="2457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60273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domain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360273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DM, DS, AE, SUPPAE, CM, EX, VS, LB — one from every observation class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42816"/>
            <a:ext cx="10972800" cy="731520"/>
          </a:xfrm>
          <a:prstGeom prst="roundRect">
            <a:avLst>
              <a:gd name="adj" fmla="val 8750"/>
            </a:avLst>
          </a:prstGeom>
          <a:solidFill>
            <a:srgbClr val="163B4B"/>
          </a:solidFill>
          <a:ln w="12700">
            <a:solidFill>
              <a:srgbClr val="2457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0740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cross-cutting skills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4407408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USUBJID, --DY (no Day 0), --SEQ, Controlled Terminology, the transpose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047488"/>
            <a:ext cx="10972800" cy="731520"/>
          </a:xfrm>
          <a:prstGeom prst="roundRect">
            <a:avLst>
              <a:gd name="adj" fmla="val 8750"/>
            </a:avLst>
          </a:prstGeom>
          <a:solidFill>
            <a:srgbClr val="163B4B"/>
          </a:solidFill>
          <a:ln w="12700">
            <a:solidFill>
              <a:srgbClr val="2457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2120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&amp; submission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5212080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checks, SUPPQUAL &amp; RELREC, define.xml, XPT v5, traceability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852160"/>
            <a:ext cx="10972800" cy="731520"/>
          </a:xfrm>
          <a:prstGeom prst="roundRect">
            <a:avLst>
              <a:gd name="adj" fmla="val 8750"/>
            </a:avLst>
          </a:prstGeom>
          <a:solidFill>
            <a:srgbClr val="1A4152"/>
          </a:solidFill>
          <a:ln w="25400">
            <a:solidFill>
              <a:srgbClr val="E883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601675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now — transfer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6016752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you have never seen, mapped end to end, on your own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THE END OF THE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SDTM sits, and what comes after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3F7F8"/>
          </a:solidFill>
          <a:ln w="12700">
            <a:solidFill>
              <a:srgbClr val="5A76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6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CRF / EDC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487168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collects data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22576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2E3D"/>
                </a:solidFill>
              </a:rPr>
              <a:t>▶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9748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E7F4F2"/>
          </a:solidFill>
          <a:ln w="317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SDTM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07208" y="2487168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tabulation — what you now build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71416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2E3D"/>
                </a:solidFill>
              </a:rPr>
              <a:t>▶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4632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3F7F8"/>
          </a:solidFill>
          <a:ln w="12700">
            <a:solidFill>
              <a:srgbClr val="1FA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56048" y="2487168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analysis-ready datasets, derived from SDTM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20256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2E3D"/>
                </a:solidFill>
              </a:rPr>
              <a:t>▶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9516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3F7F8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TLFs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04888" y="2487168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tables, listings &amp; figures in the study report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769096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2E3D"/>
                </a:solidFill>
              </a:rPr>
              <a:t>▶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3F7F8"/>
          </a:solidFill>
          <a:ln w="12700">
            <a:solidFill>
              <a:srgbClr val="0F2E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53728" y="2487168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define.xml + datasets + guides → the regulator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749040"/>
            <a:ext cx="10972800" cy="1280160"/>
          </a:xfrm>
          <a:prstGeom prst="roundRect">
            <a:avLst>
              <a:gd name="adj" fmla="val 6429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3886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here — and it is the foundation everything downstream stands 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42519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is built FROM SDTM; the analysis tables are built from ADaM; the submission wraps it all in define.xml. Every layer above depends on the tabulation data being right — which is why so much of this course was about getting it right and proving it.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21208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FDF1E7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53309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natural next step: ADaM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565099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(Analysis Data Model) takes your SDTM and adds the derivations analysis needs — treatment-emergent flags applied, change-from-baseline computed, one analysis-ready row per record. If SDTM is "what happened", ADaM is "what the statistician analyses". It is the obvious place to go next.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FROM 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map, now that you can read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163B4B"/>
          </a:solidFill>
          <a:ln w="15240">
            <a:solidFill>
              <a:srgbClr val="6FC8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93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standards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0" y="1929384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CDISC.org for the SDTMIG; NCI-EVS for Controlled Terminology. What you learned maps directly onto the published documents — they will now read as familiar.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163B4B"/>
          </a:solidFill>
          <a:ln w="15240">
            <a:solidFill>
              <a:srgbClr val="1FA8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266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tools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0" y="3026664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Pinnacle 21 Community (free) to validate; real MedDRA and WHODrug for coding. You wrote the checks by hand — now you know what the tools 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163B4B"/>
          </a:solidFill>
          <a:ln w="15240">
            <a:solidFill>
              <a:srgbClr val="E88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239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standard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4123944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for analysis datasets, then TLFs. SDTM is the foundation; these are the floors above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163B4B"/>
          </a:solidFill>
          <a:ln w="15240">
            <a:solidFill>
              <a:srgbClr val="C045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2212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4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instincts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97680" y="5221224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then verify · fail loudly · never invent data · trace every value back. Those outlast any one standard.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started ten days ago not knowing what a domain was. You can now map a clinical study to SDTM and prove it. Go build DEF-01 — and welcome to clinical programming.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&amp; Bootcamp Wrap-up</dc:title>
  <dc:subject>PptxGenJS Presentation</dc:subject>
  <dc:creator>Clinical Programming Bootcamp</dc:creator>
  <cp:lastModifiedBy>Clinical Programming Bootcamp</cp:lastModifiedBy>
  <cp:revision>1</cp:revision>
  <dcterms:created xsi:type="dcterms:W3CDTF">2026-07-19T20:33:01Z</dcterms:created>
  <dcterms:modified xsi:type="dcterms:W3CDTF">2026-07-19T20:33:01Z</dcterms:modified>
</cp:coreProperties>
</file>