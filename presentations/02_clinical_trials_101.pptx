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02. This deck is the clinical context for people who can code but have never seen a trial — and a refresher for those from a life-sciences background. Goal: by the end, everyone shares the same vocabulary (protocol, site, subject, visit, arm, CRF) so the SDTM mapping modules make sense. Emphasize: you do not need to become a clinician, but you must understand what the data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context module — no programming yet. Tell trainees they will be quizzed informally on the vocabulary because every later module assumes it. The five goals map to the next sections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to anchor on: a controlled research study in humans, run to a pre-agreed written plan (the protocol). The four questions on the right are what every trial is ultimately trying to answer. Stress the 'decided in advance' point — it is the reason data standards and pre-specified analyses matter, and why we cannot simply change our minds about what to measure after seeing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for why trial data is so valuable and so heavily regulated. Typical end-to-end development is 10–15 years; the large majority of candidate compounds fail somewhere along the way. Flag clearly that these durations are typical industry figures, not fixed rules — they vary hugely by therapeutic area (oncology and rare disease differ a lot). Our work as programmers sits in the 'Clinical trials' and 'Review'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answers a different question, with more people at each step. Phase 1 is usually healthy volunteers — a key exception is oncology, where Phase 1 enrolls patients because the drugs are too toxic for healthy people. Phase 3 is where most of the data we will work with comes from: large, multi-site, often multi-country. Phase 4 happens after approval. Be explicit that the participant counts are typical ranges, not regulatory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governs everything. Programmers read it constantly — especially the Schedule of Assessments (sometimes called the SoA or visit matrix), which is a grid of visits versus assessments. It tells you which domains you should expect data in and at which visits. Endpoints matter because they drive the analysis datasets later. Changes to the protocol are formal 'amendments' — they can explain odd patterns in the data (e.g. a test added halfway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acronym aloud. CRO = Contract Research Organization; many trainees will be employed by one. PI = Principal Investigator, the responsible physician at a site. IRB = Institutional Review Board (US term); IEC = Independent Ethics Committee (EU term) — same protective function. EMA = European Medicines Agency. Point out where the trainees themselves will sit: sponsor or CRO, receiving data from sites and preparing it for regulators.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plants the seed for USUBJID. Subject numbering is site-local: site 01 and site 02 can both have a subject 001, and they are different people. In our mock study ABC-01 this is exactly the case — trainees will build USUBJID to resolve it. Also mention subject vs. patient terminology: 'subject' is the regulatory term used in SDTM.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this maps directly onto domains later: screening/eligibility, DM demographics, EX exposure during treatment, DS disposition at end of study. Baseline is critical — it is the 'before' value that analysis compares against, and ADaM's change-from-baseline depends on it. Informed consent is both an ethical cornerstone (ICH GCP — Good Clinical Practice) and a data point: the consent date appears in DM as RFICDTC. Discontinuations must always have a recorded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ideas are why trial data can support a causal claim. Randomization balances known and unknown differences between groups. A control arm gives you the counterfactual. Blinding protects against expectation effects on both reporting and assessment. Introduce the word 'arm' explicitly — it appears in DM as ARM and ARMCD. Note open-label trials exist too (nobody is blinded), common in early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from clinical reality to SDTM domains. Every category of collected data maps to one or more domains. Do not ask them to memorize the codes — just to see that domains are not arbitrary; they mirror what is actually collected at a visit. Reference Module 01's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CRF is the instrument that turns a clinical observation into a data field. Show that the mock vital-signs form matches the columns of vs_raw.csv the trainees already have. Key idea: one CRF form → one raw dataset → (after mapping) one SDTM domain. Mention the annotated CRF (aCRF) from Module 01 — it is this same form marked up with the SDTM variable names, and it ships with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lifecycle. Data entry happens at the site, not by us. Automated edit checks raise 'queries' — questions back to the site, e.g. a systolic BP of 1200. Data management chases these until clean. 'Database lock' is the formal freeze after which no more changes are made; final analyses run on locked data. As programmers we often work with interim extracts long before lock, which is why our programs must be re-runnable.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vocabulary slide. Read a few aloud and ask trainees to give examples from the mock study. GCP = Good Clinical Practice, defined in the ICH E6 guideline — the international ethical and scientific quality standard for running trials. Encourage them to keep this slide open during later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two context modules together. This is the same journey as the Module 01 pipeline slide, but now every step has real-world meaning: they know what a visit is, who records it, and what a CRF looks like. From here the bootcamp becomes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assumptions that cause mapping errors. The baseline point is subtle and worth dwelling on — it is protocol-defined, commonly the last non-missing measurement before first dose, not simply the earliest row. The missing-data point is a compliance issue too: fabricating values is never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Q&amp;A. ICH = International Council for Harmonisation, the body that publishes GCP (guideline E6) and other standards adopted by regulators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forward. The next module is tooling, then the hands-on notebooks. Remind trainees that the mock study ABC-01 they now understand clinically is the same data they will program against for the rest of the bootcamp. End of Module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02</a:t>
            </a:r>
            <a:endParaRPr lang="en-US" sz="1400" dirty="0"/>
          </a:p>
        </p:txBody>
      </p:sp>
      <p:sp>
        <p:nvSpPr>
          <p:cNvPr id="6" name="Text 4"/>
          <p:cNvSpPr/>
          <p:nvPr/>
        </p:nvSpPr>
        <p:spPr>
          <a:xfrm>
            <a:off x="603504" y="2286000"/>
            <a:ext cx="877824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Clinical Trials 101</a:t>
            </a:r>
            <a:endParaRPr lang="en-US" sz="4600" dirty="0"/>
          </a:p>
        </p:txBody>
      </p:sp>
      <p:sp>
        <p:nvSpPr>
          <p:cNvPr id="7" name="Text 5"/>
          <p:cNvSpPr/>
          <p:nvPr/>
        </p:nvSpPr>
        <p:spPr>
          <a:xfrm>
            <a:off x="640080" y="3291840"/>
            <a:ext cx="8778240" cy="640080"/>
          </a:xfrm>
          <a:prstGeom prst="rect">
            <a:avLst/>
          </a:prstGeom>
          <a:noFill/>
          <a:ln/>
        </p:spPr>
        <p:txBody>
          <a:bodyPr wrap="square" lIns="0" tIns="0" rIns="0" bIns="0" rtlCol="0" anchor="ctr"/>
          <a:lstStyle/>
          <a:p>
            <a:pPr indent="0" marL="0">
              <a:buNone/>
            </a:pPr>
            <a:r>
              <a:rPr lang="en-US" sz="3000" dirty="0">
                <a:solidFill>
                  <a:srgbClr val="6FC8B4"/>
                </a:solidFill>
                <a:latin typeface="Cambria" pitchFamily="34" charset="0"/>
                <a:ea typeface="Cambria" pitchFamily="34" charset="-122"/>
                <a:cs typeface="Cambria" pitchFamily="34" charset="-120"/>
              </a:rPr>
              <a:t>How a trial produces data</a:t>
            </a:r>
            <a:endParaRPr lang="en-US" sz="3000" dirty="0"/>
          </a:p>
        </p:txBody>
      </p:sp>
      <p:sp>
        <p:nvSpPr>
          <p:cNvPr id="8" name="Text 6"/>
          <p:cNvSpPr/>
          <p:nvPr/>
        </p:nvSpPr>
        <p:spPr>
          <a:xfrm>
            <a:off x="640080" y="4206240"/>
            <a:ext cx="8412480" cy="91440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Before you can map clinical data, you need to know where it comes from — who runs a trial, what happens to a patient, and how every measurement gets recorded.</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No clinical background assumed. Every term defined on first use.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what a clinical trial is  </a:t>
            </a:r>
            <a:pPr indent="0" marL="0">
              <a:buNone/>
            </a:pPr>
            <a:r>
              <a:rPr lang="en-US" sz="1350" dirty="0">
                <a:solidFill>
                  <a:srgbClr val="5A7682"/>
                </a:solidFill>
                <a:latin typeface="Calibri" pitchFamily="34" charset="0"/>
                <a:ea typeface="Calibri" pitchFamily="34" charset="-122"/>
                <a:cs typeface="Calibri" pitchFamily="34" charset="-120"/>
              </a:rPr>
              <a:t>and why medicines must be tested in people before approval.</a:t>
            </a:r>
            <a:endParaRPr lang="en-US" sz="1600" dirty="0"/>
          </a:p>
        </p:txBody>
      </p:sp>
      <p:sp>
        <p:nvSpPr>
          <p:cNvPr id="8" name="Shape 6"/>
          <p:cNvSpPr/>
          <p:nvPr/>
        </p:nvSpPr>
        <p:spPr>
          <a:xfrm>
            <a:off x="640080" y="260604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798064"/>
            <a:ext cx="548640" cy="548640"/>
          </a:xfrm>
          <a:prstGeom prst="ellipse">
            <a:avLst/>
          </a:prstGeom>
          <a:solidFill>
            <a:srgbClr val="1FA8A0"/>
          </a:solidFill>
          <a:ln/>
        </p:spPr>
      </p:sp>
      <p:sp>
        <p:nvSpPr>
          <p:cNvPr id="10" name="Text 8"/>
          <p:cNvSpPr/>
          <p:nvPr/>
        </p:nvSpPr>
        <p:spPr>
          <a:xfrm>
            <a:off x="868680" y="279806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5234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Name the phases  </a:t>
            </a:r>
            <a:pPr indent="0" marL="0">
              <a:buNone/>
            </a:pPr>
            <a:r>
              <a:rPr lang="en-US" sz="1350" dirty="0">
                <a:solidFill>
                  <a:srgbClr val="5A7682"/>
                </a:solidFill>
                <a:latin typeface="Calibri" pitchFamily="34" charset="0"/>
                <a:ea typeface="Calibri" pitchFamily="34" charset="-122"/>
                <a:cs typeface="Calibri" pitchFamily="34" charset="-120"/>
              </a:rPr>
              <a:t>and say what each phase is trying to find out.</a:t>
            </a:r>
            <a:endParaRPr lang="en-US" sz="1600" dirty="0"/>
          </a:p>
        </p:txBody>
      </p:sp>
      <p:sp>
        <p:nvSpPr>
          <p:cNvPr id="12" name="Shape 10"/>
          <p:cNvSpPr/>
          <p:nvPr/>
        </p:nvSpPr>
        <p:spPr>
          <a:xfrm>
            <a:off x="640080" y="361188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03904"/>
            <a:ext cx="548640" cy="548640"/>
          </a:xfrm>
          <a:prstGeom prst="ellipse">
            <a:avLst/>
          </a:prstGeom>
          <a:solidFill>
            <a:srgbClr val="E8833A"/>
          </a:solidFill>
          <a:ln/>
        </p:spPr>
      </p:sp>
      <p:sp>
        <p:nvSpPr>
          <p:cNvPr id="14" name="Text 12"/>
          <p:cNvSpPr/>
          <p:nvPr/>
        </p:nvSpPr>
        <p:spPr>
          <a:xfrm>
            <a:off x="868680" y="3803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5818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Identify who does what  </a:t>
            </a:r>
            <a:pPr indent="0" marL="0">
              <a:buNone/>
            </a:pPr>
            <a:r>
              <a:rPr lang="en-US" sz="1350" dirty="0">
                <a:solidFill>
                  <a:srgbClr val="5A7682"/>
                </a:solidFill>
                <a:latin typeface="Calibri" pitchFamily="34" charset="0"/>
                <a:ea typeface="Calibri" pitchFamily="34" charset="-122"/>
                <a:cs typeface="Calibri" pitchFamily="34" charset="-120"/>
              </a:rPr>
              <a:t>sponsor, CRO, investigator, site staff, ethics committee, regulator.</a:t>
            </a:r>
            <a:endParaRPr lang="en-US" sz="1600" dirty="0"/>
          </a:p>
        </p:txBody>
      </p:sp>
      <p:sp>
        <p:nvSpPr>
          <p:cNvPr id="16" name="Shape 14"/>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09744"/>
            <a:ext cx="548640" cy="548640"/>
          </a:xfrm>
          <a:prstGeom prst="ellipse">
            <a:avLst/>
          </a:prstGeom>
          <a:solidFill>
            <a:srgbClr val="0F2E3D"/>
          </a:solidFill>
          <a:ln/>
        </p:spPr>
      </p:sp>
      <p:sp>
        <p:nvSpPr>
          <p:cNvPr id="18" name="Text 16"/>
          <p:cNvSpPr/>
          <p:nvPr/>
        </p:nvSpPr>
        <p:spPr>
          <a:xfrm>
            <a:off x="868680" y="480974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76402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Follow a subject's journey  </a:t>
            </a:r>
            <a:pPr indent="0" marL="0">
              <a:buNone/>
            </a:pPr>
            <a:r>
              <a:rPr lang="en-US" sz="1350" dirty="0">
                <a:solidFill>
                  <a:srgbClr val="5A7682"/>
                </a:solidFill>
                <a:latin typeface="Calibri" pitchFamily="34" charset="0"/>
                <a:ea typeface="Calibri" pitchFamily="34" charset="-122"/>
                <a:cs typeface="Calibri" pitchFamily="34" charset="-120"/>
              </a:rPr>
              <a:t>from screening and consent through treatment to end of study.</a:t>
            </a:r>
            <a:endParaRPr lang="en-US" sz="1600" dirty="0"/>
          </a:p>
        </p:txBody>
      </p:sp>
      <p:sp>
        <p:nvSpPr>
          <p:cNvPr id="20" name="Shape 18"/>
          <p:cNvSpPr/>
          <p:nvPr/>
        </p:nvSpPr>
        <p:spPr>
          <a:xfrm>
            <a:off x="640080" y="562356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15584"/>
            <a:ext cx="548640" cy="548640"/>
          </a:xfrm>
          <a:prstGeom prst="ellipse">
            <a:avLst/>
          </a:prstGeom>
          <a:solidFill>
            <a:srgbClr val="0E7C86"/>
          </a:solidFill>
          <a:ln/>
        </p:spPr>
      </p:sp>
      <p:sp>
        <p:nvSpPr>
          <p:cNvPr id="22" name="Text 20"/>
          <p:cNvSpPr/>
          <p:nvPr/>
        </p:nvSpPr>
        <p:spPr>
          <a:xfrm>
            <a:off x="868680" y="581558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76986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Point to where data is born  </a:t>
            </a:r>
            <a:pPr indent="0" marL="0">
              <a:buNone/>
            </a:pPr>
            <a:r>
              <a:rPr lang="en-US" sz="1350" dirty="0">
                <a:solidFill>
                  <a:srgbClr val="5A7682"/>
                </a:solidFill>
                <a:latin typeface="Calibri" pitchFamily="34" charset="0"/>
                <a:ea typeface="Calibri" pitchFamily="34" charset="-122"/>
                <a:cs typeface="Calibri" pitchFamily="34" charset="-120"/>
              </a:rPr>
              <a:t>the visit, the CRF, and the EDC system.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BASICS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is a clinical trial?</a:t>
            </a:r>
            <a:endParaRPr lang="en-US" sz="3000" dirty="0"/>
          </a:p>
        </p:txBody>
      </p:sp>
      <p:sp>
        <p:nvSpPr>
          <p:cNvPr id="4" name="Shape 2"/>
          <p:cNvSpPr/>
          <p:nvPr/>
        </p:nvSpPr>
        <p:spPr>
          <a:xfrm>
            <a:off x="640080" y="1645920"/>
            <a:ext cx="5669280" cy="4297680"/>
          </a:xfrm>
          <a:prstGeom prst="roundRect">
            <a:avLst>
              <a:gd name="adj" fmla="val 19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5120640" cy="457200"/>
          </a:xfrm>
          <a:prstGeom prst="rect">
            <a:avLst/>
          </a:prstGeom>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A research study in people</a:t>
            </a:r>
            <a:endParaRPr lang="en-US" sz="2200" dirty="0"/>
          </a:p>
        </p:txBody>
      </p:sp>
      <p:sp>
        <p:nvSpPr>
          <p:cNvPr id="6" name="Text 4"/>
          <p:cNvSpPr/>
          <p:nvPr/>
        </p:nvSpPr>
        <p:spPr>
          <a:xfrm>
            <a:off x="914400" y="2468880"/>
            <a:ext cx="5120640" cy="1463040"/>
          </a:xfrm>
          <a:prstGeom prst="rect">
            <a:avLst/>
          </a:prstGeom>
          <a:noFill/>
          <a:ln/>
        </p:spPr>
        <p:txBody>
          <a:bodyPr wrap="square" lIns="0" tIns="0" rIns="0" bIns="0" rtlCol="0" anchor="t"/>
          <a:lstStyle/>
          <a:p>
            <a:pPr indent="0" marL="0">
              <a:lnSpc>
                <a:spcPts val="2200"/>
              </a:lnSpc>
              <a:buNone/>
            </a:pPr>
            <a:r>
              <a:rPr lang="en-US" sz="1500" b="1" dirty="0">
                <a:solidFill>
                  <a:srgbClr val="0F2E3D"/>
                </a:solidFill>
                <a:latin typeface="Calibri" pitchFamily="34" charset="0"/>
                <a:ea typeface="Calibri" pitchFamily="34" charset="-122"/>
                <a:cs typeface="Calibri" pitchFamily="34" charset="-120"/>
              </a:rPr>
              <a:t>A clinical trial is a carefully controlled study that tests whether a medical treatment is safe and whether it works</a:t>
            </a:r>
            <a:pPr indent="0" marL="0">
              <a:lnSpc>
                <a:spcPts val="2200"/>
              </a:lnSpc>
              <a:buNone/>
            </a:pPr>
            <a:r>
              <a:rPr lang="en-US" sz="1500" dirty="0">
                <a:solidFill>
                  <a:srgbClr val="5A7682"/>
                </a:solidFill>
                <a:latin typeface="Calibri" pitchFamily="34" charset="0"/>
                <a:ea typeface="Calibri" pitchFamily="34" charset="-122"/>
                <a:cs typeface="Calibri" pitchFamily="34" charset="-120"/>
              </a:rPr>
              <a:t> — in human volunteers, following a written plan agreed in advance.</a:t>
            </a:r>
            <a:endParaRPr lang="en-US" sz="1500" dirty="0"/>
          </a:p>
        </p:txBody>
      </p:sp>
      <p:sp>
        <p:nvSpPr>
          <p:cNvPr id="7" name="Text 5"/>
          <p:cNvSpPr/>
          <p:nvPr/>
        </p:nvSpPr>
        <p:spPr>
          <a:xfrm>
            <a:off x="914400" y="4114800"/>
            <a:ext cx="5120640" cy="1645920"/>
          </a:xfrm>
          <a:prstGeom prst="rect">
            <a:avLst/>
          </a:prstGeom>
          <a:noFill/>
          <a:ln/>
        </p:spPr>
        <p:txBody>
          <a:bodyPr wrap="square" lIns="0" tIns="0" rIns="0" bIns="0" rtlCol="0" anchor="ctr"/>
          <a:lstStyle/>
          <a:p>
            <a:pPr indent="0" marL="0">
              <a:lnSpc>
                <a:spcPts val="2100"/>
              </a:lnSpc>
              <a:buNone/>
            </a:pPr>
            <a:r>
              <a:rPr lang="en-US" sz="1450" i="1" dirty="0">
                <a:solidFill>
                  <a:srgbClr val="0F2E3D"/>
                </a:solidFill>
                <a:latin typeface="Calibri" pitchFamily="34" charset="0"/>
                <a:ea typeface="Calibri" pitchFamily="34" charset="-122"/>
                <a:cs typeface="Calibri" pitchFamily="34" charset="-120"/>
              </a:rPr>
              <a:t>Nothing is decided casually: who can join, what is measured, when it is measured, and how results are analyzed are all fixed before the first patient enrolls.</a:t>
            </a:r>
            <a:endParaRPr lang="en-US" sz="1450" dirty="0"/>
          </a:p>
        </p:txBody>
      </p:sp>
      <p:sp>
        <p:nvSpPr>
          <p:cNvPr id="8" name="Shape 6"/>
          <p:cNvSpPr/>
          <p:nvPr/>
        </p:nvSpPr>
        <p:spPr>
          <a:xfrm>
            <a:off x="6537960" y="173736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812280" y="1856232"/>
            <a:ext cx="4480560" cy="36576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Is it safe?</a:t>
            </a:r>
            <a:endParaRPr lang="en-US" sz="1700" dirty="0"/>
          </a:p>
        </p:txBody>
      </p:sp>
      <p:sp>
        <p:nvSpPr>
          <p:cNvPr id="10" name="Text 8"/>
          <p:cNvSpPr/>
          <p:nvPr/>
        </p:nvSpPr>
        <p:spPr>
          <a:xfrm>
            <a:off x="6812280" y="2240280"/>
            <a:ext cx="4572000" cy="41148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What side effects occur, how often, how serious?</a:t>
            </a:r>
            <a:endParaRPr lang="en-US" sz="1250" dirty="0"/>
          </a:p>
        </p:txBody>
      </p:sp>
      <p:sp>
        <p:nvSpPr>
          <p:cNvPr id="11" name="Shape 9"/>
          <p:cNvSpPr/>
          <p:nvPr/>
        </p:nvSpPr>
        <p:spPr>
          <a:xfrm>
            <a:off x="6537960" y="283464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6812280" y="2953512"/>
            <a:ext cx="4480560" cy="365760"/>
          </a:xfrm>
          <a:prstGeom prst="rect">
            <a:avLst/>
          </a:prstGeom>
          <a:noFill/>
          <a:ln/>
        </p:spPr>
        <p:txBody>
          <a:bodyPr wrap="square" lIns="0" tIns="0" rIns="0" bIns="0" rtlCol="0" anchor="ctr"/>
          <a:lstStyle/>
          <a:p>
            <a:pPr indent="0" marL="0">
              <a:buNone/>
            </a:pPr>
            <a:r>
              <a:rPr lang="en-US" sz="1700" b="1" dirty="0">
                <a:solidFill>
                  <a:srgbClr val="1FA8A0"/>
                </a:solidFill>
                <a:latin typeface="Cambria" pitchFamily="34" charset="0"/>
                <a:ea typeface="Cambria" pitchFamily="34" charset="-122"/>
                <a:cs typeface="Cambria" pitchFamily="34" charset="-120"/>
              </a:rPr>
              <a:t>Does it work?</a:t>
            </a:r>
            <a:endParaRPr lang="en-US" sz="1700" dirty="0"/>
          </a:p>
        </p:txBody>
      </p:sp>
      <p:sp>
        <p:nvSpPr>
          <p:cNvPr id="13" name="Text 11"/>
          <p:cNvSpPr/>
          <p:nvPr/>
        </p:nvSpPr>
        <p:spPr>
          <a:xfrm>
            <a:off x="6812280" y="3337560"/>
            <a:ext cx="4572000" cy="41148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Does it improve the outcome it is meant to improve?</a:t>
            </a:r>
            <a:endParaRPr lang="en-US" sz="1250" dirty="0"/>
          </a:p>
        </p:txBody>
      </p:sp>
      <p:sp>
        <p:nvSpPr>
          <p:cNvPr id="14" name="Shape 12"/>
          <p:cNvSpPr/>
          <p:nvPr/>
        </p:nvSpPr>
        <p:spPr>
          <a:xfrm>
            <a:off x="6537960" y="393192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6812280" y="4050792"/>
            <a:ext cx="4480560" cy="365760"/>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At what dose?</a:t>
            </a:r>
            <a:endParaRPr lang="en-US" sz="1700" dirty="0"/>
          </a:p>
        </p:txBody>
      </p:sp>
      <p:sp>
        <p:nvSpPr>
          <p:cNvPr id="16" name="Text 14"/>
          <p:cNvSpPr/>
          <p:nvPr/>
        </p:nvSpPr>
        <p:spPr>
          <a:xfrm>
            <a:off x="6812280" y="4434840"/>
            <a:ext cx="4572000" cy="41148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How much, how often, for how long?</a:t>
            </a:r>
            <a:endParaRPr lang="en-US" sz="1250" dirty="0"/>
          </a:p>
        </p:txBody>
      </p:sp>
      <p:sp>
        <p:nvSpPr>
          <p:cNvPr id="17" name="Shape 15"/>
          <p:cNvSpPr/>
          <p:nvPr/>
        </p:nvSpPr>
        <p:spPr>
          <a:xfrm>
            <a:off x="6537960" y="502920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6812280" y="5148072"/>
            <a:ext cx="4480560" cy="365760"/>
          </a:xfrm>
          <a:prstGeom prst="rect">
            <a:avLst/>
          </a:prstGeom>
          <a:noFill/>
          <a:ln/>
        </p:spPr>
        <p:txBody>
          <a:bodyPr wrap="square" lIns="0" tIns="0" rIns="0" bIns="0" rtlCol="0" anchor="ctr"/>
          <a:lstStyle/>
          <a:p>
            <a:pPr indent="0" marL="0">
              <a:buNone/>
            </a:pPr>
            <a:r>
              <a:rPr lang="en-US" sz="1700" b="1" dirty="0">
                <a:solidFill>
                  <a:srgbClr val="0F2E3D"/>
                </a:solidFill>
                <a:latin typeface="Cambria" pitchFamily="34" charset="0"/>
                <a:ea typeface="Cambria" pitchFamily="34" charset="-122"/>
                <a:cs typeface="Cambria" pitchFamily="34" charset="-120"/>
              </a:rPr>
              <a:t>For whom?</a:t>
            </a:r>
            <a:endParaRPr lang="en-US" sz="1700" dirty="0"/>
          </a:p>
        </p:txBody>
      </p:sp>
      <p:sp>
        <p:nvSpPr>
          <p:cNvPr id="19" name="Text 17"/>
          <p:cNvSpPr/>
          <p:nvPr/>
        </p:nvSpPr>
        <p:spPr>
          <a:xfrm>
            <a:off x="6812280" y="5532120"/>
            <a:ext cx="4572000" cy="41148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Which patients benefit — and which should avoid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BIGGER PICTURE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trial is one step in a long road</a:t>
            </a:r>
            <a:endParaRPr lang="en-US" sz="3000" dirty="0"/>
          </a:p>
        </p:txBody>
      </p:sp>
      <p:sp>
        <p:nvSpPr>
          <p:cNvPr id="4" name="Shape 2"/>
          <p:cNvSpPr/>
          <p:nvPr/>
        </p:nvSpPr>
        <p:spPr>
          <a:xfrm>
            <a:off x="640080" y="1965960"/>
            <a:ext cx="2606040" cy="320040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572768" y="2212848"/>
            <a:ext cx="731520" cy="731520"/>
          </a:xfrm>
          <a:prstGeom prst="ellipse">
            <a:avLst/>
          </a:prstGeom>
          <a:solidFill>
            <a:srgbClr val="0E7C86"/>
          </a:solidFill>
          <a:ln/>
        </p:spPr>
      </p:sp>
      <p:sp>
        <p:nvSpPr>
          <p:cNvPr id="6" name="Text 4"/>
          <p:cNvSpPr/>
          <p:nvPr/>
        </p:nvSpPr>
        <p:spPr>
          <a:xfrm>
            <a:off x="1572768" y="2212848"/>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731520" y="3063240"/>
            <a:ext cx="2423160" cy="365760"/>
          </a:xfrm>
          <a:prstGeom prst="rect">
            <a:avLst/>
          </a:prstGeom>
          <a:noFill/>
          <a:ln/>
        </p:spPr>
        <p:txBody>
          <a:bodyPr wrap="square" lIns="0" tIns="0" rIns="0" bIns="0" rtlCol="0" anchor="ctr"/>
          <a:lstStyle/>
          <a:p>
            <a:pPr algn="ctr" indent="0" marL="0">
              <a:buNone/>
            </a:pPr>
            <a:r>
              <a:rPr lang="en-US" sz="1900" b="1" dirty="0">
                <a:solidFill>
                  <a:srgbClr val="0E7C86"/>
                </a:solidFill>
                <a:latin typeface="Cambria" pitchFamily="34" charset="0"/>
                <a:ea typeface="Cambria" pitchFamily="34" charset="-122"/>
                <a:cs typeface="Cambria" pitchFamily="34" charset="-120"/>
              </a:rPr>
              <a:t>Discovery</a:t>
            </a:r>
            <a:endParaRPr lang="en-US" sz="1900" dirty="0"/>
          </a:p>
        </p:txBody>
      </p:sp>
      <p:sp>
        <p:nvSpPr>
          <p:cNvPr id="8" name="Text 6"/>
          <p:cNvSpPr/>
          <p:nvPr/>
        </p:nvSpPr>
        <p:spPr>
          <a:xfrm>
            <a:off x="841248" y="3493008"/>
            <a:ext cx="2194560" cy="91440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Find a promising compound</a:t>
            </a:r>
            <a:endParaRPr lang="en-US" sz="1200" dirty="0"/>
          </a:p>
        </p:txBody>
      </p:sp>
      <p:sp>
        <p:nvSpPr>
          <p:cNvPr id="9" name="Text 7"/>
          <p:cNvSpPr/>
          <p:nvPr/>
        </p:nvSpPr>
        <p:spPr>
          <a:xfrm>
            <a:off x="731520" y="4617720"/>
            <a:ext cx="2423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3–6 yrs</a:t>
            </a:r>
            <a:endParaRPr lang="en-US" sz="1400" dirty="0"/>
          </a:p>
        </p:txBody>
      </p:sp>
      <p:sp>
        <p:nvSpPr>
          <p:cNvPr id="10" name="Shape 8"/>
          <p:cNvSpPr/>
          <p:nvPr/>
        </p:nvSpPr>
        <p:spPr>
          <a:xfrm>
            <a:off x="3429000" y="1965960"/>
            <a:ext cx="2606040" cy="320040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4361688" y="2212848"/>
            <a:ext cx="731520" cy="731520"/>
          </a:xfrm>
          <a:prstGeom prst="ellipse">
            <a:avLst/>
          </a:prstGeom>
          <a:solidFill>
            <a:srgbClr val="1FA8A0"/>
          </a:solidFill>
          <a:ln/>
        </p:spPr>
      </p:sp>
      <p:sp>
        <p:nvSpPr>
          <p:cNvPr id="12" name="Text 10"/>
          <p:cNvSpPr/>
          <p:nvPr/>
        </p:nvSpPr>
        <p:spPr>
          <a:xfrm>
            <a:off x="4361688" y="2212848"/>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3520440" y="3063240"/>
            <a:ext cx="2423160" cy="365760"/>
          </a:xfrm>
          <a:prstGeom prst="rect">
            <a:avLst/>
          </a:prstGeom>
          <a:noFill/>
          <a:ln/>
        </p:spPr>
        <p:txBody>
          <a:bodyPr wrap="square" lIns="0" tIns="0" rIns="0" bIns="0" rtlCol="0" anchor="ctr"/>
          <a:lstStyle/>
          <a:p>
            <a:pPr algn="ctr" indent="0" marL="0">
              <a:buNone/>
            </a:pPr>
            <a:r>
              <a:rPr lang="en-US" sz="1900" b="1" dirty="0">
                <a:solidFill>
                  <a:srgbClr val="1FA8A0"/>
                </a:solidFill>
                <a:latin typeface="Cambria" pitchFamily="34" charset="0"/>
                <a:ea typeface="Cambria" pitchFamily="34" charset="-122"/>
                <a:cs typeface="Cambria" pitchFamily="34" charset="-120"/>
              </a:rPr>
              <a:t>Preclinical</a:t>
            </a:r>
            <a:endParaRPr lang="en-US" sz="1900" dirty="0"/>
          </a:p>
        </p:txBody>
      </p:sp>
      <p:sp>
        <p:nvSpPr>
          <p:cNvPr id="14" name="Text 12"/>
          <p:cNvSpPr/>
          <p:nvPr/>
        </p:nvSpPr>
        <p:spPr>
          <a:xfrm>
            <a:off x="3630168" y="3493008"/>
            <a:ext cx="2194560" cy="91440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Lab and animal testing for safety</a:t>
            </a:r>
            <a:endParaRPr lang="en-US" sz="1200" dirty="0"/>
          </a:p>
        </p:txBody>
      </p:sp>
      <p:sp>
        <p:nvSpPr>
          <p:cNvPr id="15" name="Text 13"/>
          <p:cNvSpPr/>
          <p:nvPr/>
        </p:nvSpPr>
        <p:spPr>
          <a:xfrm>
            <a:off x="3520440" y="4617720"/>
            <a:ext cx="2423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 yrs</a:t>
            </a:r>
            <a:endParaRPr lang="en-US" sz="1400" dirty="0"/>
          </a:p>
        </p:txBody>
      </p:sp>
      <p:sp>
        <p:nvSpPr>
          <p:cNvPr id="16" name="Shape 14"/>
          <p:cNvSpPr/>
          <p:nvPr/>
        </p:nvSpPr>
        <p:spPr>
          <a:xfrm>
            <a:off x="6217920" y="1965960"/>
            <a:ext cx="2606040" cy="320040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7150608" y="2212848"/>
            <a:ext cx="731520" cy="731520"/>
          </a:xfrm>
          <a:prstGeom prst="ellipse">
            <a:avLst/>
          </a:prstGeom>
          <a:solidFill>
            <a:srgbClr val="6FC8B4"/>
          </a:solidFill>
          <a:ln/>
        </p:spPr>
      </p:sp>
      <p:sp>
        <p:nvSpPr>
          <p:cNvPr id="18" name="Text 16"/>
          <p:cNvSpPr/>
          <p:nvPr/>
        </p:nvSpPr>
        <p:spPr>
          <a:xfrm>
            <a:off x="7150608" y="2212848"/>
            <a:ext cx="731520" cy="731520"/>
          </a:xfrm>
          <a:prstGeom prst="rect">
            <a:avLst/>
          </a:prstGeom>
          <a:noFill/>
          <a:ln/>
        </p:spPr>
        <p:txBody>
          <a:bodyPr wrap="square" lIns="0" tIns="0" rIns="0" bIns="0" rtlCol="0" anchor="ctr"/>
          <a:lstStyle/>
          <a:p>
            <a:pPr algn="ctr" indent="0" marL="0">
              <a:buNone/>
            </a:pPr>
            <a:r>
              <a:rPr lang="en-US" sz="2000" b="1" dirty="0">
                <a:solidFill>
                  <a:srgbClr val="0F2E3D"/>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309360" y="3063240"/>
            <a:ext cx="2423160" cy="365760"/>
          </a:xfrm>
          <a:prstGeom prst="rect">
            <a:avLst/>
          </a:prstGeom>
          <a:noFill/>
          <a:ln/>
        </p:spPr>
        <p:txBody>
          <a:bodyPr wrap="square" lIns="0" tIns="0" rIns="0" bIns="0" rtlCol="0" anchor="ctr"/>
          <a:lstStyle/>
          <a:p>
            <a:pPr algn="ctr" indent="0" marL="0">
              <a:buNone/>
            </a:pPr>
            <a:r>
              <a:rPr lang="en-US" sz="1900" b="1" dirty="0">
                <a:solidFill>
                  <a:srgbClr val="6FC8B4"/>
                </a:solidFill>
                <a:latin typeface="Cambria" pitchFamily="34" charset="0"/>
                <a:ea typeface="Cambria" pitchFamily="34" charset="-122"/>
                <a:cs typeface="Cambria" pitchFamily="34" charset="-120"/>
              </a:rPr>
              <a:t>Clinical trials</a:t>
            </a:r>
            <a:endParaRPr lang="en-US" sz="1900" dirty="0"/>
          </a:p>
        </p:txBody>
      </p:sp>
      <p:sp>
        <p:nvSpPr>
          <p:cNvPr id="20" name="Text 18"/>
          <p:cNvSpPr/>
          <p:nvPr/>
        </p:nvSpPr>
        <p:spPr>
          <a:xfrm>
            <a:off x="6419088" y="3493008"/>
            <a:ext cx="2194560" cy="91440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Phases 1–3 in human volunteers</a:t>
            </a:r>
            <a:endParaRPr lang="en-US" sz="1200" dirty="0"/>
          </a:p>
        </p:txBody>
      </p:sp>
      <p:sp>
        <p:nvSpPr>
          <p:cNvPr id="21" name="Text 19"/>
          <p:cNvSpPr/>
          <p:nvPr/>
        </p:nvSpPr>
        <p:spPr>
          <a:xfrm>
            <a:off x="6309360" y="4617720"/>
            <a:ext cx="2423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6–7 yrs</a:t>
            </a:r>
            <a:endParaRPr lang="en-US" sz="1400" dirty="0"/>
          </a:p>
        </p:txBody>
      </p:sp>
      <p:sp>
        <p:nvSpPr>
          <p:cNvPr id="22" name="Shape 20"/>
          <p:cNvSpPr/>
          <p:nvPr/>
        </p:nvSpPr>
        <p:spPr>
          <a:xfrm>
            <a:off x="9006840" y="1965960"/>
            <a:ext cx="2606040" cy="320040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Shape 21"/>
          <p:cNvSpPr/>
          <p:nvPr/>
        </p:nvSpPr>
        <p:spPr>
          <a:xfrm>
            <a:off x="9939528" y="2212848"/>
            <a:ext cx="731520" cy="731520"/>
          </a:xfrm>
          <a:prstGeom prst="ellipse">
            <a:avLst/>
          </a:prstGeom>
          <a:solidFill>
            <a:srgbClr val="E8833A"/>
          </a:solidFill>
          <a:ln/>
        </p:spPr>
      </p:sp>
      <p:sp>
        <p:nvSpPr>
          <p:cNvPr id="24" name="Text 22"/>
          <p:cNvSpPr/>
          <p:nvPr/>
        </p:nvSpPr>
        <p:spPr>
          <a:xfrm>
            <a:off x="9939528" y="2212848"/>
            <a:ext cx="731520" cy="731520"/>
          </a:xfrm>
          <a:prstGeom prst="rect">
            <a:avLst/>
          </a:prstGeom>
          <a:noFill/>
          <a:ln/>
        </p:spPr>
        <p:txBody>
          <a:bodyPr wrap="square" lIns="0" tIns="0" rIns="0" bIns="0" rtlCol="0" anchor="ctr"/>
          <a:lstStyle/>
          <a:p>
            <a:pPr algn="ctr" indent="0" marL="0">
              <a:buNone/>
            </a:pPr>
            <a:r>
              <a:rPr lang="en-US" sz="2000" b="1" dirty="0">
                <a:solidFill>
                  <a:srgbClr val="0F2E3D"/>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9098280" y="3063240"/>
            <a:ext cx="2423160" cy="365760"/>
          </a:xfrm>
          <a:prstGeom prst="rect">
            <a:avLst/>
          </a:prstGeom>
          <a:noFill/>
          <a:ln/>
        </p:spPr>
        <p:txBody>
          <a:bodyPr wrap="square" lIns="0" tIns="0" rIns="0" bIns="0" rtlCol="0" anchor="ctr"/>
          <a:lstStyle/>
          <a:p>
            <a:pPr algn="ctr" indent="0" marL="0">
              <a:buNone/>
            </a:pPr>
            <a:r>
              <a:rPr lang="en-US" sz="1900" b="1" dirty="0">
                <a:solidFill>
                  <a:srgbClr val="E8833A"/>
                </a:solidFill>
                <a:latin typeface="Cambria" pitchFamily="34" charset="0"/>
                <a:ea typeface="Cambria" pitchFamily="34" charset="-122"/>
                <a:cs typeface="Cambria" pitchFamily="34" charset="-120"/>
              </a:rPr>
              <a:t>Review</a:t>
            </a:r>
            <a:endParaRPr lang="en-US" sz="1900" dirty="0"/>
          </a:p>
        </p:txBody>
      </p:sp>
      <p:sp>
        <p:nvSpPr>
          <p:cNvPr id="26" name="Text 24"/>
          <p:cNvSpPr/>
          <p:nvPr/>
        </p:nvSpPr>
        <p:spPr>
          <a:xfrm>
            <a:off x="9208008" y="3493008"/>
            <a:ext cx="2194560" cy="91440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Regulators assess the submission</a:t>
            </a:r>
            <a:endParaRPr lang="en-US" sz="1200" dirty="0"/>
          </a:p>
        </p:txBody>
      </p:sp>
      <p:sp>
        <p:nvSpPr>
          <p:cNvPr id="27" name="Text 25"/>
          <p:cNvSpPr/>
          <p:nvPr/>
        </p:nvSpPr>
        <p:spPr>
          <a:xfrm>
            <a:off x="9098280" y="4617720"/>
            <a:ext cx="2423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 yrs</a:t>
            </a:r>
            <a:endParaRPr lang="en-US" sz="1400" dirty="0"/>
          </a:p>
        </p:txBody>
      </p:sp>
      <p:sp>
        <p:nvSpPr>
          <p:cNvPr id="28" name="Text 26"/>
          <p:cNvSpPr/>
          <p:nvPr/>
        </p:nvSpPr>
        <p:spPr>
          <a:xfrm>
            <a:off x="3310128" y="32918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29" name="Text 27"/>
          <p:cNvSpPr/>
          <p:nvPr/>
        </p:nvSpPr>
        <p:spPr>
          <a:xfrm>
            <a:off x="6099048" y="32918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30" name="Text 28"/>
          <p:cNvSpPr/>
          <p:nvPr/>
        </p:nvSpPr>
        <p:spPr>
          <a:xfrm>
            <a:off x="8887968" y="32918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31" name="Text 29"/>
          <p:cNvSpPr/>
          <p:nvPr/>
        </p:nvSpPr>
        <p:spPr>
          <a:xfrm>
            <a:off x="640080" y="5486400"/>
            <a:ext cx="10972800" cy="457200"/>
          </a:xfrm>
          <a:prstGeom prst="rect">
            <a:avLst/>
          </a:prstGeom>
          <a:noFill/>
          <a:ln/>
        </p:spPr>
        <p:txBody>
          <a:bodyPr wrap="square" lIns="0" tIns="0" rIns="0" bIns="0" rtlCol="0" anchor="ctr"/>
          <a:lstStyle/>
          <a:p>
            <a:pPr indent="0" marL="0">
              <a:buNone/>
            </a:pPr>
            <a:r>
              <a:rPr lang="en-US" sz="1350" i="1" dirty="0">
                <a:solidFill>
                  <a:srgbClr val="9FC0C6"/>
                </a:solidFill>
                <a:latin typeface="Calibri" pitchFamily="34" charset="0"/>
                <a:ea typeface="Calibri" pitchFamily="34" charset="-122"/>
                <a:cs typeface="Calibri" pitchFamily="34" charset="-120"/>
              </a:rPr>
              <a:t>Typically 10–15 years and a very high failure rate — most compounds never reach patients. Durations shown are typical, not rules.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HOW TRIALS ARE STAGED</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four phases</a:t>
            </a:r>
            <a:endParaRPr lang="en-US" sz="3000" dirty="0"/>
          </a:p>
        </p:txBody>
      </p:sp>
      <p:sp>
        <p:nvSpPr>
          <p:cNvPr id="4" name="Shape 2"/>
          <p:cNvSpPr/>
          <p:nvPr/>
        </p:nvSpPr>
        <p:spPr>
          <a:xfrm>
            <a:off x="640080" y="1645920"/>
            <a:ext cx="2724912" cy="4343400"/>
          </a:xfrm>
          <a:prstGeom prst="roundRect">
            <a:avLst>
              <a:gd name="adj" fmla="val 302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2724912" cy="685800"/>
          </a:xfrm>
          <a:prstGeom prst="roundRect">
            <a:avLst>
              <a:gd name="adj" fmla="val 12000"/>
            </a:avLst>
          </a:prstGeom>
          <a:solidFill>
            <a:srgbClr val="0E7C86"/>
          </a:solidFill>
          <a:ln/>
        </p:spPr>
      </p:sp>
      <p:sp>
        <p:nvSpPr>
          <p:cNvPr id="6" name="Text 4"/>
          <p:cNvSpPr/>
          <p:nvPr/>
        </p:nvSpPr>
        <p:spPr>
          <a:xfrm>
            <a:off x="640080" y="1764792"/>
            <a:ext cx="272491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PHASE 1</a:t>
            </a:r>
            <a:endParaRPr lang="en-US" sz="1800" dirty="0"/>
          </a:p>
        </p:txBody>
      </p:sp>
      <p:sp>
        <p:nvSpPr>
          <p:cNvPr id="7" name="Text 5"/>
          <p:cNvSpPr/>
          <p:nvPr/>
        </p:nvSpPr>
        <p:spPr>
          <a:xfrm>
            <a:off x="822960" y="2468880"/>
            <a:ext cx="23774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Is it safe?</a:t>
            </a:r>
            <a:endParaRPr lang="en-US" sz="1500" dirty="0"/>
          </a:p>
        </p:txBody>
      </p:sp>
      <p:sp>
        <p:nvSpPr>
          <p:cNvPr id="8" name="Text 6"/>
          <p:cNvSpPr/>
          <p:nvPr/>
        </p:nvSpPr>
        <p:spPr>
          <a:xfrm>
            <a:off x="822960" y="2880360"/>
            <a:ext cx="237744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20–100</a:t>
            </a:r>
            <a:endParaRPr lang="en-US" sz="2400" dirty="0"/>
          </a:p>
        </p:txBody>
      </p:sp>
      <p:sp>
        <p:nvSpPr>
          <p:cNvPr id="9" name="Text 7"/>
          <p:cNvSpPr/>
          <p:nvPr/>
        </p:nvSpPr>
        <p:spPr>
          <a:xfrm>
            <a:off x="822960" y="3364992"/>
            <a:ext cx="2377440" cy="27432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participants</a:t>
            </a:r>
            <a:endParaRPr lang="en-US" sz="1100" dirty="0"/>
          </a:p>
        </p:txBody>
      </p:sp>
      <p:sp>
        <p:nvSpPr>
          <p:cNvPr id="10" name="Text 8"/>
          <p:cNvSpPr/>
          <p:nvPr/>
        </p:nvSpPr>
        <p:spPr>
          <a:xfrm>
            <a:off x="841248" y="3703320"/>
            <a:ext cx="2331720" cy="210312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Usually healthy volunteers. First time in humans. Focus: safety, dose range, how the body handles the drug.</a:t>
            </a:r>
            <a:endParaRPr lang="en-US" sz="1200" dirty="0"/>
          </a:p>
        </p:txBody>
      </p:sp>
      <p:sp>
        <p:nvSpPr>
          <p:cNvPr id="11" name="Shape 9"/>
          <p:cNvSpPr/>
          <p:nvPr/>
        </p:nvSpPr>
        <p:spPr>
          <a:xfrm>
            <a:off x="3474720" y="1645920"/>
            <a:ext cx="2724912" cy="4343400"/>
          </a:xfrm>
          <a:prstGeom prst="roundRect">
            <a:avLst>
              <a:gd name="adj" fmla="val 302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3474720" y="1645920"/>
            <a:ext cx="2724912" cy="685800"/>
          </a:xfrm>
          <a:prstGeom prst="roundRect">
            <a:avLst>
              <a:gd name="adj" fmla="val 12000"/>
            </a:avLst>
          </a:prstGeom>
          <a:solidFill>
            <a:srgbClr val="1FA8A0"/>
          </a:solidFill>
          <a:ln/>
        </p:spPr>
      </p:sp>
      <p:sp>
        <p:nvSpPr>
          <p:cNvPr id="13" name="Text 11"/>
          <p:cNvSpPr/>
          <p:nvPr/>
        </p:nvSpPr>
        <p:spPr>
          <a:xfrm>
            <a:off x="3474720" y="1764792"/>
            <a:ext cx="272491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PHASE 2</a:t>
            </a:r>
            <a:endParaRPr lang="en-US" sz="1800" dirty="0"/>
          </a:p>
        </p:txBody>
      </p:sp>
      <p:sp>
        <p:nvSpPr>
          <p:cNvPr id="14" name="Text 12"/>
          <p:cNvSpPr/>
          <p:nvPr/>
        </p:nvSpPr>
        <p:spPr>
          <a:xfrm>
            <a:off x="3657600" y="2468880"/>
            <a:ext cx="23774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Does it work?</a:t>
            </a:r>
            <a:endParaRPr lang="en-US" sz="1500" dirty="0"/>
          </a:p>
        </p:txBody>
      </p:sp>
      <p:sp>
        <p:nvSpPr>
          <p:cNvPr id="15" name="Text 13"/>
          <p:cNvSpPr/>
          <p:nvPr/>
        </p:nvSpPr>
        <p:spPr>
          <a:xfrm>
            <a:off x="3657600" y="2880360"/>
            <a:ext cx="2377440" cy="502920"/>
          </a:xfrm>
          <a:prstGeom prst="rect">
            <a:avLst/>
          </a:prstGeom>
          <a:noFill/>
          <a:ln/>
        </p:spPr>
        <p:txBody>
          <a:bodyPr wrap="square" lIns="0" tIns="0" rIns="0" bIns="0" rtlCol="0" anchor="ctr"/>
          <a:lstStyle/>
          <a:p>
            <a:pPr algn="ctr" indent="0" marL="0">
              <a:buNone/>
            </a:pPr>
            <a:r>
              <a:rPr lang="en-US" sz="2400" b="1" dirty="0">
                <a:solidFill>
                  <a:srgbClr val="1FA8A0"/>
                </a:solidFill>
                <a:latin typeface="Cambria" pitchFamily="34" charset="0"/>
                <a:ea typeface="Cambria" pitchFamily="34" charset="-122"/>
                <a:cs typeface="Cambria" pitchFamily="34" charset="-120"/>
              </a:rPr>
              <a:t>100–300</a:t>
            </a:r>
            <a:endParaRPr lang="en-US" sz="2400" dirty="0"/>
          </a:p>
        </p:txBody>
      </p:sp>
      <p:sp>
        <p:nvSpPr>
          <p:cNvPr id="16" name="Text 14"/>
          <p:cNvSpPr/>
          <p:nvPr/>
        </p:nvSpPr>
        <p:spPr>
          <a:xfrm>
            <a:off x="3657600" y="3364992"/>
            <a:ext cx="2377440" cy="27432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participants</a:t>
            </a:r>
            <a:endParaRPr lang="en-US" sz="1100" dirty="0"/>
          </a:p>
        </p:txBody>
      </p:sp>
      <p:sp>
        <p:nvSpPr>
          <p:cNvPr id="17" name="Text 15"/>
          <p:cNvSpPr/>
          <p:nvPr/>
        </p:nvSpPr>
        <p:spPr>
          <a:xfrm>
            <a:off x="3675888" y="3703320"/>
            <a:ext cx="2331720" cy="210312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Patients with the disease. Focus: early efficacy signal and the right dose.</a:t>
            </a:r>
            <a:endParaRPr lang="en-US" sz="1200" dirty="0"/>
          </a:p>
        </p:txBody>
      </p:sp>
      <p:sp>
        <p:nvSpPr>
          <p:cNvPr id="18" name="Shape 16"/>
          <p:cNvSpPr/>
          <p:nvPr/>
        </p:nvSpPr>
        <p:spPr>
          <a:xfrm>
            <a:off x="6309360" y="1645920"/>
            <a:ext cx="2724912" cy="4343400"/>
          </a:xfrm>
          <a:prstGeom prst="roundRect">
            <a:avLst>
              <a:gd name="adj" fmla="val 302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7"/>
          <p:cNvSpPr/>
          <p:nvPr/>
        </p:nvSpPr>
        <p:spPr>
          <a:xfrm>
            <a:off x="6309360" y="1645920"/>
            <a:ext cx="2724912" cy="685800"/>
          </a:xfrm>
          <a:prstGeom prst="roundRect">
            <a:avLst>
              <a:gd name="adj" fmla="val 12000"/>
            </a:avLst>
          </a:prstGeom>
          <a:solidFill>
            <a:srgbClr val="E8833A"/>
          </a:solidFill>
          <a:ln/>
        </p:spPr>
      </p:sp>
      <p:sp>
        <p:nvSpPr>
          <p:cNvPr id="20" name="Text 18"/>
          <p:cNvSpPr/>
          <p:nvPr/>
        </p:nvSpPr>
        <p:spPr>
          <a:xfrm>
            <a:off x="6309360" y="1764792"/>
            <a:ext cx="2724912" cy="457200"/>
          </a:xfrm>
          <a:prstGeom prst="rect">
            <a:avLst/>
          </a:prstGeom>
          <a:noFill/>
          <a:ln/>
        </p:spPr>
        <p:txBody>
          <a:bodyPr wrap="square" lIns="0" tIns="0" rIns="0" bIns="0" rtlCol="0" anchor="ctr"/>
          <a:lstStyle/>
          <a:p>
            <a:pPr algn="ctr" indent="0" marL="0">
              <a:buNone/>
            </a:pPr>
            <a:r>
              <a:rPr lang="en-US" sz="1800" b="1" dirty="0">
                <a:solidFill>
                  <a:srgbClr val="0F2E3D"/>
                </a:solidFill>
                <a:latin typeface="Cambria" pitchFamily="34" charset="0"/>
                <a:ea typeface="Cambria" pitchFamily="34" charset="-122"/>
                <a:cs typeface="Cambria" pitchFamily="34" charset="-120"/>
              </a:rPr>
              <a:t>PHASE 3</a:t>
            </a:r>
            <a:endParaRPr lang="en-US" sz="1800" dirty="0"/>
          </a:p>
        </p:txBody>
      </p:sp>
      <p:sp>
        <p:nvSpPr>
          <p:cNvPr id="21" name="Text 19"/>
          <p:cNvSpPr/>
          <p:nvPr/>
        </p:nvSpPr>
        <p:spPr>
          <a:xfrm>
            <a:off x="6492240" y="2468880"/>
            <a:ext cx="23774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Confirm it</a:t>
            </a:r>
            <a:endParaRPr lang="en-US" sz="1500" dirty="0"/>
          </a:p>
        </p:txBody>
      </p:sp>
      <p:sp>
        <p:nvSpPr>
          <p:cNvPr id="22" name="Text 20"/>
          <p:cNvSpPr/>
          <p:nvPr/>
        </p:nvSpPr>
        <p:spPr>
          <a:xfrm>
            <a:off x="6492240" y="2880360"/>
            <a:ext cx="2377440" cy="502920"/>
          </a:xfrm>
          <a:prstGeom prst="rect">
            <a:avLst/>
          </a:prstGeom>
          <a:noFill/>
          <a:ln/>
        </p:spPr>
        <p:txBody>
          <a:bodyPr wrap="square" lIns="0" tIns="0" rIns="0" bIns="0" rtlCol="0" anchor="ctr"/>
          <a:lstStyle/>
          <a:p>
            <a:pPr algn="ctr" indent="0" marL="0">
              <a:buNone/>
            </a:pPr>
            <a:r>
              <a:rPr lang="en-US" sz="2400" b="1" dirty="0">
                <a:solidFill>
                  <a:srgbClr val="E8833A"/>
                </a:solidFill>
                <a:latin typeface="Cambria" pitchFamily="34" charset="0"/>
                <a:ea typeface="Cambria" pitchFamily="34" charset="-122"/>
                <a:cs typeface="Cambria" pitchFamily="34" charset="-120"/>
              </a:rPr>
              <a:t>300–3,000+</a:t>
            </a:r>
            <a:endParaRPr lang="en-US" sz="2400" dirty="0"/>
          </a:p>
        </p:txBody>
      </p:sp>
      <p:sp>
        <p:nvSpPr>
          <p:cNvPr id="23" name="Text 21"/>
          <p:cNvSpPr/>
          <p:nvPr/>
        </p:nvSpPr>
        <p:spPr>
          <a:xfrm>
            <a:off x="6492240" y="3364992"/>
            <a:ext cx="2377440" cy="27432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participants</a:t>
            </a:r>
            <a:endParaRPr lang="en-US" sz="1100" dirty="0"/>
          </a:p>
        </p:txBody>
      </p:sp>
      <p:sp>
        <p:nvSpPr>
          <p:cNvPr id="24" name="Text 22"/>
          <p:cNvSpPr/>
          <p:nvPr/>
        </p:nvSpPr>
        <p:spPr>
          <a:xfrm>
            <a:off x="6510528" y="3703320"/>
            <a:ext cx="2331720" cy="210312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Large, often multi-country. Confirms efficacy and safety. This is the evidence base for approval.</a:t>
            </a:r>
            <a:endParaRPr lang="en-US" sz="1200" dirty="0"/>
          </a:p>
        </p:txBody>
      </p:sp>
      <p:sp>
        <p:nvSpPr>
          <p:cNvPr id="25" name="Shape 23"/>
          <p:cNvSpPr/>
          <p:nvPr/>
        </p:nvSpPr>
        <p:spPr>
          <a:xfrm>
            <a:off x="9144000" y="1645920"/>
            <a:ext cx="2724912" cy="4343400"/>
          </a:xfrm>
          <a:prstGeom prst="roundRect">
            <a:avLst>
              <a:gd name="adj" fmla="val 302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6" name="Shape 24"/>
          <p:cNvSpPr/>
          <p:nvPr/>
        </p:nvSpPr>
        <p:spPr>
          <a:xfrm>
            <a:off x="9144000" y="1645920"/>
            <a:ext cx="2724912" cy="685800"/>
          </a:xfrm>
          <a:prstGeom prst="roundRect">
            <a:avLst>
              <a:gd name="adj" fmla="val 12000"/>
            </a:avLst>
          </a:prstGeom>
          <a:solidFill>
            <a:srgbClr val="0F2E3D"/>
          </a:solidFill>
          <a:ln/>
        </p:spPr>
      </p:sp>
      <p:sp>
        <p:nvSpPr>
          <p:cNvPr id="27" name="Text 25"/>
          <p:cNvSpPr/>
          <p:nvPr/>
        </p:nvSpPr>
        <p:spPr>
          <a:xfrm>
            <a:off x="9144000" y="1764792"/>
            <a:ext cx="272491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PHASE 4</a:t>
            </a:r>
            <a:endParaRPr lang="en-US" sz="1800" dirty="0"/>
          </a:p>
        </p:txBody>
      </p:sp>
      <p:sp>
        <p:nvSpPr>
          <p:cNvPr id="28" name="Text 26"/>
          <p:cNvSpPr/>
          <p:nvPr/>
        </p:nvSpPr>
        <p:spPr>
          <a:xfrm>
            <a:off x="9326880" y="2468880"/>
            <a:ext cx="23774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After approval</a:t>
            </a:r>
            <a:endParaRPr lang="en-US" sz="1500" dirty="0"/>
          </a:p>
        </p:txBody>
      </p:sp>
      <p:sp>
        <p:nvSpPr>
          <p:cNvPr id="29" name="Text 27"/>
          <p:cNvSpPr/>
          <p:nvPr/>
        </p:nvSpPr>
        <p:spPr>
          <a:xfrm>
            <a:off x="9326880" y="2880360"/>
            <a:ext cx="2377440" cy="502920"/>
          </a:xfrm>
          <a:prstGeom prst="rect">
            <a:avLst/>
          </a:prstGeom>
          <a:noFill/>
          <a:ln/>
        </p:spPr>
        <p:txBody>
          <a:bodyPr wrap="square" lIns="0" tIns="0" rIns="0" bIns="0" rtlCol="0" anchor="ctr"/>
          <a:lstStyle/>
          <a:p>
            <a:pPr algn="ctr" indent="0" marL="0">
              <a:buNone/>
            </a:pPr>
            <a:r>
              <a:rPr lang="en-US" sz="2400" b="1" dirty="0">
                <a:solidFill>
                  <a:srgbClr val="0F2E3D"/>
                </a:solidFill>
                <a:latin typeface="Cambria" pitchFamily="34" charset="0"/>
                <a:ea typeface="Cambria" pitchFamily="34" charset="-122"/>
                <a:cs typeface="Cambria" pitchFamily="34" charset="-120"/>
              </a:rPr>
              <a:t>varies</a:t>
            </a:r>
            <a:endParaRPr lang="en-US" sz="2400" dirty="0"/>
          </a:p>
        </p:txBody>
      </p:sp>
      <p:sp>
        <p:nvSpPr>
          <p:cNvPr id="30" name="Text 28"/>
          <p:cNvSpPr/>
          <p:nvPr/>
        </p:nvSpPr>
        <p:spPr>
          <a:xfrm>
            <a:off x="9326880" y="3364992"/>
            <a:ext cx="2377440" cy="27432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participants</a:t>
            </a:r>
            <a:endParaRPr lang="en-US" sz="1100" dirty="0"/>
          </a:p>
        </p:txBody>
      </p:sp>
      <p:sp>
        <p:nvSpPr>
          <p:cNvPr id="31" name="Text 29"/>
          <p:cNvSpPr/>
          <p:nvPr/>
        </p:nvSpPr>
        <p:spPr>
          <a:xfrm>
            <a:off x="9345168" y="3703320"/>
            <a:ext cx="2331720" cy="210312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Post-marketing studies. Long-term safety and real-world use.</a:t>
            </a:r>
            <a:endParaRPr lang="en-US" sz="1200" dirty="0"/>
          </a:p>
        </p:txBody>
      </p:sp>
      <p:sp>
        <p:nvSpPr>
          <p:cNvPr id="32" name="Text 30"/>
          <p:cNvSpPr/>
          <p:nvPr/>
        </p:nvSpPr>
        <p:spPr>
          <a:xfrm>
            <a:off x="640080" y="6172200"/>
            <a:ext cx="10972800" cy="320040"/>
          </a:xfrm>
          <a:prstGeom prst="rect">
            <a:avLst/>
          </a:prstGeom>
          <a:noFill/>
          <a:ln/>
        </p:spPr>
        <p:txBody>
          <a:bodyPr wrap="square" lIns="0" tIns="0" rIns="0" bIns="0" rtlCol="0" anchor="ctr"/>
          <a:lstStyle/>
          <a:p>
            <a:pPr indent="0" marL="0">
              <a:buNone/>
            </a:pPr>
            <a:r>
              <a:rPr lang="en-US" sz="1200" i="1" dirty="0">
                <a:solidFill>
                  <a:srgbClr val="0E7C86"/>
                </a:solidFill>
                <a:latin typeface="Calibri" pitchFamily="34" charset="0"/>
                <a:ea typeface="Calibri" pitchFamily="34" charset="-122"/>
                <a:cs typeface="Calibri" pitchFamily="34" charset="-120"/>
              </a:rPr>
              <a:t>Participant numbers are typical ranges and vary widely by therapeutic area.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RULEBOOK</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protocol: the study's single source of truth</a:t>
            </a:r>
            <a:endParaRPr lang="en-US" sz="3000" dirty="0"/>
          </a:p>
        </p:txBody>
      </p:sp>
      <p:sp>
        <p:nvSpPr>
          <p:cNvPr id="4" name="Text 2"/>
          <p:cNvSpPr/>
          <p:nvPr/>
        </p:nvSpPr>
        <p:spPr>
          <a:xfrm>
            <a:off x="548640" y="1371600"/>
            <a:ext cx="11155680" cy="548640"/>
          </a:xfrm>
          <a:prstGeom prst="rect">
            <a:avLst/>
          </a:prstGeom>
          <a:noFill/>
          <a:ln/>
        </p:spPr>
        <p:txBody>
          <a:bodyPr wrap="square" lIns="0" tIns="0" rIns="0" bIns="0" rtlCol="0" anchor="ctr"/>
          <a:lstStyle/>
          <a:p>
            <a:pPr indent="0" marL="0">
              <a:buNone/>
            </a:pPr>
            <a:r>
              <a:rPr lang="en-US" sz="1450" dirty="0">
                <a:solidFill>
                  <a:srgbClr val="5A7682"/>
                </a:solidFill>
                <a:latin typeface="Calibri" pitchFamily="34" charset="0"/>
                <a:ea typeface="Calibri" pitchFamily="34" charset="-122"/>
                <a:cs typeface="Calibri" pitchFamily="34" charset="-120"/>
              </a:rPr>
              <a:t>Every trial is run according to a protocol — a formal written document approved before enrollment starts. If you ever wonder “why is the data like this?”, the answer is usually in the protocol.</a:t>
            </a:r>
            <a:endParaRPr lang="en-US" sz="1450" dirty="0"/>
          </a:p>
        </p:txBody>
      </p:sp>
      <p:sp>
        <p:nvSpPr>
          <p:cNvPr id="5" name="Shape 3"/>
          <p:cNvSpPr/>
          <p:nvPr/>
        </p:nvSpPr>
        <p:spPr>
          <a:xfrm>
            <a:off x="640080" y="2057400"/>
            <a:ext cx="539496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Shape 4"/>
          <p:cNvSpPr/>
          <p:nvPr/>
        </p:nvSpPr>
        <p:spPr>
          <a:xfrm>
            <a:off x="868680" y="2395728"/>
            <a:ext cx="548640" cy="548640"/>
          </a:xfrm>
          <a:prstGeom prst="ellipse">
            <a:avLst/>
          </a:prstGeom>
          <a:solidFill>
            <a:srgbClr val="0E7C86"/>
          </a:solidFill>
          <a:ln/>
        </p:spPr>
      </p:sp>
      <p:sp>
        <p:nvSpPr>
          <p:cNvPr id="7" name="Text 5"/>
          <p:cNvSpPr/>
          <p:nvPr/>
        </p:nvSpPr>
        <p:spPr>
          <a:xfrm>
            <a:off x="868680" y="23957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600200" y="22219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Objectives
</a:t>
            </a:r>
            <a:pPr indent="0" marL="0">
              <a:buNone/>
            </a:pPr>
            <a:r>
              <a:rPr lang="en-US" sz="1250" dirty="0">
                <a:solidFill>
                  <a:srgbClr val="5A7682"/>
                </a:solidFill>
                <a:latin typeface="Calibri" pitchFamily="34" charset="0"/>
                <a:ea typeface="Calibri" pitchFamily="34" charset="-122"/>
                <a:cs typeface="Calibri" pitchFamily="34" charset="-120"/>
              </a:rPr>
              <a:t>What the study is trying to find out</a:t>
            </a:r>
            <a:endParaRPr lang="en-US" sz="1550" dirty="0"/>
          </a:p>
        </p:txBody>
      </p:sp>
      <p:sp>
        <p:nvSpPr>
          <p:cNvPr id="9" name="Shape 7"/>
          <p:cNvSpPr/>
          <p:nvPr/>
        </p:nvSpPr>
        <p:spPr>
          <a:xfrm>
            <a:off x="6217920" y="2057400"/>
            <a:ext cx="5394960" cy="1234440"/>
          </a:xfrm>
          <a:prstGeom prst="roundRect">
            <a:avLst>
              <a:gd name="adj" fmla="val 666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46520" y="2395728"/>
            <a:ext cx="548640" cy="548640"/>
          </a:xfrm>
          <a:prstGeom prst="ellipse">
            <a:avLst/>
          </a:prstGeom>
          <a:solidFill>
            <a:srgbClr val="1FA8A0"/>
          </a:solidFill>
          <a:ln/>
        </p:spPr>
      </p:sp>
      <p:sp>
        <p:nvSpPr>
          <p:cNvPr id="11" name="Text 9"/>
          <p:cNvSpPr/>
          <p:nvPr/>
        </p:nvSpPr>
        <p:spPr>
          <a:xfrm>
            <a:off x="6446520" y="23957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178040" y="22219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Design
</a:t>
            </a:r>
            <a:pPr indent="0" marL="0">
              <a:buNone/>
            </a:pPr>
            <a:r>
              <a:rPr lang="en-US" sz="1250" dirty="0">
                <a:solidFill>
                  <a:srgbClr val="5A7682"/>
                </a:solidFill>
                <a:latin typeface="Calibri" pitchFamily="34" charset="0"/>
                <a:ea typeface="Calibri" pitchFamily="34" charset="-122"/>
                <a:cs typeface="Calibri" pitchFamily="34" charset="-120"/>
              </a:rPr>
              <a:t>Randomized? Blinded? How many arms? How long?</a:t>
            </a:r>
            <a:endParaRPr lang="en-US" sz="1550" dirty="0"/>
          </a:p>
        </p:txBody>
      </p:sp>
      <p:sp>
        <p:nvSpPr>
          <p:cNvPr id="13" name="Shape 11"/>
          <p:cNvSpPr/>
          <p:nvPr/>
        </p:nvSpPr>
        <p:spPr>
          <a:xfrm>
            <a:off x="640080" y="3429000"/>
            <a:ext cx="539496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Shape 12"/>
          <p:cNvSpPr/>
          <p:nvPr/>
        </p:nvSpPr>
        <p:spPr>
          <a:xfrm>
            <a:off x="868680" y="3767328"/>
            <a:ext cx="548640" cy="548640"/>
          </a:xfrm>
          <a:prstGeom prst="ellipse">
            <a:avLst/>
          </a:prstGeom>
          <a:solidFill>
            <a:srgbClr val="E8833A"/>
          </a:solidFill>
          <a:ln/>
        </p:spPr>
      </p:sp>
      <p:sp>
        <p:nvSpPr>
          <p:cNvPr id="15" name="Text 13"/>
          <p:cNvSpPr/>
          <p:nvPr/>
        </p:nvSpPr>
        <p:spPr>
          <a:xfrm>
            <a:off x="868680" y="3767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600200" y="35935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Eligibility
</a:t>
            </a:r>
            <a:pPr indent="0" marL="0">
              <a:buNone/>
            </a:pPr>
            <a:r>
              <a:rPr lang="en-US" sz="1250" dirty="0">
                <a:solidFill>
                  <a:srgbClr val="5A7682"/>
                </a:solidFill>
                <a:latin typeface="Calibri" pitchFamily="34" charset="0"/>
                <a:ea typeface="Calibri" pitchFamily="34" charset="-122"/>
                <a:cs typeface="Calibri" pitchFamily="34" charset="-120"/>
              </a:rPr>
              <a:t>Inclusion / exclusion criteria — who may join</a:t>
            </a:r>
            <a:endParaRPr lang="en-US" sz="1550" dirty="0"/>
          </a:p>
        </p:txBody>
      </p:sp>
      <p:sp>
        <p:nvSpPr>
          <p:cNvPr id="17" name="Shape 15"/>
          <p:cNvSpPr/>
          <p:nvPr/>
        </p:nvSpPr>
        <p:spPr>
          <a:xfrm>
            <a:off x="6217920" y="3429000"/>
            <a:ext cx="5394960" cy="1234440"/>
          </a:xfrm>
          <a:prstGeom prst="roundRect">
            <a:avLst>
              <a:gd name="adj" fmla="val 666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Shape 16"/>
          <p:cNvSpPr/>
          <p:nvPr/>
        </p:nvSpPr>
        <p:spPr>
          <a:xfrm>
            <a:off x="6446520" y="3767328"/>
            <a:ext cx="548640" cy="548640"/>
          </a:xfrm>
          <a:prstGeom prst="ellipse">
            <a:avLst/>
          </a:prstGeom>
          <a:solidFill>
            <a:srgbClr val="0F2E3D"/>
          </a:solidFill>
          <a:ln/>
        </p:spPr>
      </p:sp>
      <p:sp>
        <p:nvSpPr>
          <p:cNvPr id="19" name="Text 17"/>
          <p:cNvSpPr/>
          <p:nvPr/>
        </p:nvSpPr>
        <p:spPr>
          <a:xfrm>
            <a:off x="6446520" y="3767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7178040" y="35935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Schedule of assessments
</a:t>
            </a:r>
            <a:pPr indent="0" marL="0">
              <a:buNone/>
            </a:pPr>
            <a:r>
              <a:rPr lang="en-US" sz="1250" dirty="0">
                <a:solidFill>
                  <a:srgbClr val="5A7682"/>
                </a:solidFill>
                <a:latin typeface="Calibri" pitchFamily="34" charset="0"/>
                <a:ea typeface="Calibri" pitchFamily="34" charset="-122"/>
                <a:cs typeface="Calibri" pitchFamily="34" charset="-120"/>
              </a:rPr>
              <a:t>Which measurements happen at which visit</a:t>
            </a:r>
            <a:endParaRPr lang="en-US" sz="1550" dirty="0"/>
          </a:p>
        </p:txBody>
      </p:sp>
      <p:sp>
        <p:nvSpPr>
          <p:cNvPr id="21" name="Shape 19"/>
          <p:cNvSpPr/>
          <p:nvPr/>
        </p:nvSpPr>
        <p:spPr>
          <a:xfrm>
            <a:off x="640080" y="4800600"/>
            <a:ext cx="539496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2" name="Shape 20"/>
          <p:cNvSpPr/>
          <p:nvPr/>
        </p:nvSpPr>
        <p:spPr>
          <a:xfrm>
            <a:off x="868680" y="5138928"/>
            <a:ext cx="548640" cy="548640"/>
          </a:xfrm>
          <a:prstGeom prst="ellipse">
            <a:avLst/>
          </a:prstGeom>
          <a:solidFill>
            <a:srgbClr val="0E7C86"/>
          </a:solidFill>
          <a:ln/>
        </p:spPr>
      </p:sp>
      <p:sp>
        <p:nvSpPr>
          <p:cNvPr id="23" name="Text 21"/>
          <p:cNvSpPr/>
          <p:nvPr/>
        </p:nvSpPr>
        <p:spPr>
          <a:xfrm>
            <a:off x="868680" y="51389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1600200" y="49651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Endpoints
</a:t>
            </a:r>
            <a:pPr indent="0" marL="0">
              <a:buNone/>
            </a:pPr>
            <a:r>
              <a:rPr lang="en-US" sz="1250" dirty="0">
                <a:solidFill>
                  <a:srgbClr val="5A7682"/>
                </a:solidFill>
                <a:latin typeface="Calibri" pitchFamily="34" charset="0"/>
                <a:ea typeface="Calibri" pitchFamily="34" charset="-122"/>
                <a:cs typeface="Calibri" pitchFamily="34" charset="-120"/>
              </a:rPr>
              <a:t>The primary and secondary outcomes that decide success</a:t>
            </a:r>
            <a:endParaRPr lang="en-US" sz="1550" dirty="0"/>
          </a:p>
        </p:txBody>
      </p:sp>
      <p:sp>
        <p:nvSpPr>
          <p:cNvPr id="25" name="Shape 23"/>
          <p:cNvSpPr/>
          <p:nvPr/>
        </p:nvSpPr>
        <p:spPr>
          <a:xfrm>
            <a:off x="6217920" y="4800600"/>
            <a:ext cx="5394960" cy="1234440"/>
          </a:xfrm>
          <a:prstGeom prst="roundRect">
            <a:avLst>
              <a:gd name="adj" fmla="val 666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6" name="Shape 24"/>
          <p:cNvSpPr/>
          <p:nvPr/>
        </p:nvSpPr>
        <p:spPr>
          <a:xfrm>
            <a:off x="6446520" y="5138928"/>
            <a:ext cx="548640" cy="548640"/>
          </a:xfrm>
          <a:prstGeom prst="ellipse">
            <a:avLst/>
          </a:prstGeom>
          <a:solidFill>
            <a:srgbClr val="1FA8A0"/>
          </a:solidFill>
          <a:ln/>
        </p:spPr>
      </p:sp>
      <p:sp>
        <p:nvSpPr>
          <p:cNvPr id="27" name="Text 25"/>
          <p:cNvSpPr/>
          <p:nvPr/>
        </p:nvSpPr>
        <p:spPr>
          <a:xfrm>
            <a:off x="6446520" y="51389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7178040" y="4965192"/>
            <a:ext cx="4206240" cy="9144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Statistical methods
</a:t>
            </a:r>
            <a:pPr indent="0" marL="0">
              <a:buNone/>
            </a:pPr>
            <a:r>
              <a:rPr lang="en-US" sz="1250" dirty="0">
                <a:solidFill>
                  <a:srgbClr val="5A7682"/>
                </a:solidFill>
                <a:latin typeface="Calibri" pitchFamily="34" charset="0"/>
                <a:ea typeface="Calibri" pitchFamily="34" charset="-122"/>
                <a:cs typeface="Calibri" pitchFamily="34" charset="-120"/>
              </a:rPr>
              <a:t>How the results will be analyzed — fixed in advance</a:t>
            </a:r>
            <a:endParaRPr lang="en-US" sz="1550" dirty="0"/>
          </a:p>
        </p:txBody>
      </p:sp>
      <p:sp>
        <p:nvSpPr>
          <p:cNvPr id="29" name="Text 27"/>
          <p:cNvSpPr/>
          <p:nvPr/>
        </p:nvSpPr>
        <p:spPr>
          <a:xfrm>
            <a:off x="640080" y="6263640"/>
            <a:ext cx="10972800" cy="36576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The Schedule of Assessments is a programmer's best friend — it tells you exactly what data to expect, and when.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PEOPLE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Who's who in a clinical trial</a:t>
            </a:r>
            <a:endParaRPr lang="en-US" sz="3000" dirty="0"/>
          </a:p>
        </p:txBody>
      </p:sp>
      <p:sp>
        <p:nvSpPr>
          <p:cNvPr id="4" name="Shape 2"/>
          <p:cNvSpPr/>
          <p:nvPr/>
        </p:nvSpPr>
        <p:spPr>
          <a:xfrm>
            <a:off x="640080" y="192024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148840"/>
            <a:ext cx="548640" cy="548640"/>
          </a:xfrm>
          <a:prstGeom prst="ellipse">
            <a:avLst/>
          </a:prstGeom>
          <a:solidFill>
            <a:srgbClr val="0E7C86"/>
          </a:solidFill>
          <a:ln/>
        </p:spPr>
      </p:sp>
      <p:sp>
        <p:nvSpPr>
          <p:cNvPr id="6" name="Text 4"/>
          <p:cNvSpPr/>
          <p:nvPr/>
        </p:nvSpPr>
        <p:spPr>
          <a:xfrm>
            <a:off x="868680" y="2148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54480" y="219456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Sponsor</a:t>
            </a:r>
            <a:endParaRPr lang="en-US" sz="1700" dirty="0"/>
          </a:p>
        </p:txBody>
      </p:sp>
      <p:sp>
        <p:nvSpPr>
          <p:cNvPr id="8" name="Text 6"/>
          <p:cNvSpPr/>
          <p:nvPr/>
        </p:nvSpPr>
        <p:spPr>
          <a:xfrm>
            <a:off x="896112" y="283464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Owns and funds the trial — usually a pharma or biotech company.</a:t>
            </a:r>
            <a:endParaRPr lang="en-US" sz="1250" dirty="0"/>
          </a:p>
        </p:txBody>
      </p:sp>
      <p:sp>
        <p:nvSpPr>
          <p:cNvPr id="9" name="Shape 7"/>
          <p:cNvSpPr/>
          <p:nvPr/>
        </p:nvSpPr>
        <p:spPr>
          <a:xfrm>
            <a:off x="4389120" y="192024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4617720" y="2148840"/>
            <a:ext cx="548640" cy="548640"/>
          </a:xfrm>
          <a:prstGeom prst="ellipse">
            <a:avLst/>
          </a:prstGeom>
          <a:solidFill>
            <a:srgbClr val="1FA8A0"/>
          </a:solidFill>
          <a:ln/>
        </p:spPr>
      </p:sp>
      <p:sp>
        <p:nvSpPr>
          <p:cNvPr id="11" name="Text 9"/>
          <p:cNvSpPr/>
          <p:nvPr/>
        </p:nvSpPr>
        <p:spPr>
          <a:xfrm>
            <a:off x="4617720" y="2148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303520" y="219456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CRO</a:t>
            </a:r>
            <a:endParaRPr lang="en-US" sz="1700" dirty="0"/>
          </a:p>
        </p:txBody>
      </p:sp>
      <p:sp>
        <p:nvSpPr>
          <p:cNvPr id="13" name="Text 11"/>
          <p:cNvSpPr/>
          <p:nvPr/>
        </p:nvSpPr>
        <p:spPr>
          <a:xfrm>
            <a:off x="4645152" y="283464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Contract Research Organization — hired by the sponsor to run parts of the trial.</a:t>
            </a:r>
            <a:endParaRPr lang="en-US" sz="1250" dirty="0"/>
          </a:p>
        </p:txBody>
      </p:sp>
      <p:sp>
        <p:nvSpPr>
          <p:cNvPr id="14" name="Shape 12"/>
          <p:cNvSpPr/>
          <p:nvPr/>
        </p:nvSpPr>
        <p:spPr>
          <a:xfrm>
            <a:off x="8138160" y="192024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8366760" y="2148840"/>
            <a:ext cx="548640" cy="548640"/>
          </a:xfrm>
          <a:prstGeom prst="ellipse">
            <a:avLst/>
          </a:prstGeom>
          <a:solidFill>
            <a:srgbClr val="6FC8B4"/>
          </a:solidFill>
          <a:ln/>
        </p:spPr>
      </p:sp>
      <p:sp>
        <p:nvSpPr>
          <p:cNvPr id="16" name="Text 14"/>
          <p:cNvSpPr/>
          <p:nvPr/>
        </p:nvSpPr>
        <p:spPr>
          <a:xfrm>
            <a:off x="8366760" y="2148840"/>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9052560" y="219456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Investigator (PI)</a:t>
            </a:r>
            <a:endParaRPr lang="en-US" sz="1700" dirty="0"/>
          </a:p>
        </p:txBody>
      </p:sp>
      <p:sp>
        <p:nvSpPr>
          <p:cNvPr id="18" name="Text 16"/>
          <p:cNvSpPr/>
          <p:nvPr/>
        </p:nvSpPr>
        <p:spPr>
          <a:xfrm>
            <a:off x="8394192" y="283464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The doctor responsible for the trial at a site. PI = Principal Investigator.</a:t>
            </a:r>
            <a:endParaRPr lang="en-US" sz="1250" dirty="0"/>
          </a:p>
        </p:txBody>
      </p:sp>
      <p:sp>
        <p:nvSpPr>
          <p:cNvPr id="19" name="Shape 17"/>
          <p:cNvSpPr/>
          <p:nvPr/>
        </p:nvSpPr>
        <p:spPr>
          <a:xfrm>
            <a:off x="640080" y="402336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868680" y="4251960"/>
            <a:ext cx="548640" cy="548640"/>
          </a:xfrm>
          <a:prstGeom prst="ellipse">
            <a:avLst/>
          </a:prstGeom>
          <a:solidFill>
            <a:srgbClr val="E8833A"/>
          </a:solidFill>
          <a:ln/>
        </p:spPr>
      </p:sp>
      <p:sp>
        <p:nvSpPr>
          <p:cNvPr id="21" name="Text 19"/>
          <p:cNvSpPr/>
          <p:nvPr/>
        </p:nvSpPr>
        <p:spPr>
          <a:xfrm>
            <a:off x="868680" y="4251960"/>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54480" y="429768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Site staff</a:t>
            </a:r>
            <a:endParaRPr lang="en-US" sz="1700" dirty="0"/>
          </a:p>
        </p:txBody>
      </p:sp>
      <p:sp>
        <p:nvSpPr>
          <p:cNvPr id="23" name="Text 21"/>
          <p:cNvSpPr/>
          <p:nvPr/>
        </p:nvSpPr>
        <p:spPr>
          <a:xfrm>
            <a:off x="896112" y="493776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Study coordinators and nurses who see subjects and enter the data.</a:t>
            </a:r>
            <a:endParaRPr lang="en-US" sz="1250" dirty="0"/>
          </a:p>
        </p:txBody>
      </p:sp>
      <p:sp>
        <p:nvSpPr>
          <p:cNvPr id="24" name="Shape 22"/>
          <p:cNvSpPr/>
          <p:nvPr/>
        </p:nvSpPr>
        <p:spPr>
          <a:xfrm>
            <a:off x="4389120" y="402336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4617720" y="4251960"/>
            <a:ext cx="548640" cy="548640"/>
          </a:xfrm>
          <a:prstGeom prst="ellipse">
            <a:avLst/>
          </a:prstGeom>
          <a:solidFill>
            <a:srgbClr val="0E7C86"/>
          </a:solidFill>
          <a:ln/>
        </p:spPr>
      </p:sp>
      <p:sp>
        <p:nvSpPr>
          <p:cNvPr id="26" name="Text 24"/>
          <p:cNvSpPr/>
          <p:nvPr/>
        </p:nvSpPr>
        <p:spPr>
          <a:xfrm>
            <a:off x="4617720" y="4251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5303520" y="429768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Ethics committee</a:t>
            </a:r>
            <a:endParaRPr lang="en-US" sz="1700" dirty="0"/>
          </a:p>
        </p:txBody>
      </p:sp>
      <p:sp>
        <p:nvSpPr>
          <p:cNvPr id="28" name="Text 26"/>
          <p:cNvSpPr/>
          <p:nvPr/>
        </p:nvSpPr>
        <p:spPr>
          <a:xfrm>
            <a:off x="4645152" y="493776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IRB / IEC — independent board that protects participants' rights and safety.</a:t>
            </a:r>
            <a:endParaRPr lang="en-US" sz="1250" dirty="0"/>
          </a:p>
        </p:txBody>
      </p:sp>
      <p:sp>
        <p:nvSpPr>
          <p:cNvPr id="29" name="Shape 27"/>
          <p:cNvSpPr/>
          <p:nvPr/>
        </p:nvSpPr>
        <p:spPr>
          <a:xfrm>
            <a:off x="8138160" y="4023360"/>
            <a:ext cx="3566160" cy="1874520"/>
          </a:xfrm>
          <a:prstGeom prst="roundRect">
            <a:avLst>
              <a:gd name="adj" fmla="val 439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0" name="Shape 28"/>
          <p:cNvSpPr/>
          <p:nvPr/>
        </p:nvSpPr>
        <p:spPr>
          <a:xfrm>
            <a:off x="8366760" y="4251960"/>
            <a:ext cx="548640" cy="548640"/>
          </a:xfrm>
          <a:prstGeom prst="ellipse">
            <a:avLst/>
          </a:prstGeom>
          <a:solidFill>
            <a:srgbClr val="1FA8A0"/>
          </a:solidFill>
          <a:ln/>
        </p:spPr>
      </p:sp>
      <p:sp>
        <p:nvSpPr>
          <p:cNvPr id="31" name="Text 29"/>
          <p:cNvSpPr/>
          <p:nvPr/>
        </p:nvSpPr>
        <p:spPr>
          <a:xfrm>
            <a:off x="8366760" y="4251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9052560" y="4297680"/>
            <a:ext cx="2560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Regulator</a:t>
            </a:r>
            <a:endParaRPr lang="en-US" sz="1700" dirty="0"/>
          </a:p>
        </p:txBody>
      </p:sp>
      <p:sp>
        <p:nvSpPr>
          <p:cNvPr id="33" name="Text 31"/>
          <p:cNvSpPr/>
          <p:nvPr/>
        </p:nvSpPr>
        <p:spPr>
          <a:xfrm>
            <a:off x="8394192" y="4937760"/>
            <a:ext cx="3108960" cy="868680"/>
          </a:xfrm>
          <a:prstGeom prst="rect">
            <a:avLst/>
          </a:prstGeom>
          <a:noFill/>
          <a:ln/>
        </p:spPr>
        <p:txBody>
          <a:bodyPr wrap="square" lIns="0" tIns="0" rIns="0" bIns="0" rtlCol="0" anchor="ctr"/>
          <a:lstStyle/>
          <a:p>
            <a:pPr indent="0" marL="0">
              <a:buNone/>
            </a:pPr>
            <a:r>
              <a:rPr lang="en-US" sz="1250" dirty="0">
                <a:solidFill>
                  <a:srgbClr val="C7DCE0"/>
                </a:solidFill>
                <a:latin typeface="Calibri" pitchFamily="34" charset="0"/>
                <a:ea typeface="Calibri" pitchFamily="34" charset="-122"/>
                <a:cs typeface="Calibri" pitchFamily="34" charset="-120"/>
              </a:rPr>
              <a:t>FDA, EMA, PMDA — approves trials and reviews the final submission.</a:t>
            </a:r>
            <a:endParaRPr lang="en-US" sz="1250" dirty="0"/>
          </a:p>
        </p:txBody>
      </p:sp>
      <p:sp>
        <p:nvSpPr>
          <p:cNvPr id="34" name="Text 32"/>
          <p:cNvSpPr/>
          <p:nvPr/>
        </p:nvSpPr>
        <p:spPr>
          <a:xfrm>
            <a:off x="640080" y="6217920"/>
            <a:ext cx="10972800" cy="365760"/>
          </a:xfrm>
          <a:prstGeom prst="rect">
            <a:avLst/>
          </a:prstGeom>
          <a:noFill/>
          <a:ln/>
        </p:spPr>
        <p:txBody>
          <a:bodyPr wrap="square" lIns="0" tIns="0" rIns="0" bIns="0" rtlCol="0" anchor="ctr"/>
          <a:lstStyle/>
          <a:p>
            <a:pPr indent="0" marL="0">
              <a:buNone/>
            </a:pPr>
            <a:r>
              <a:rPr lang="en-US" sz="1300" i="1" dirty="0">
                <a:solidFill>
                  <a:srgbClr val="6FC8B4"/>
                </a:solidFill>
                <a:latin typeface="Calibri" pitchFamily="34" charset="0"/>
                <a:ea typeface="Calibri" pitchFamily="34" charset="-122"/>
                <a:cs typeface="Calibri" pitchFamily="34" charset="-120"/>
              </a:rPr>
              <a:t>Clinical programmers usually sit with the sponsor or the CRO — downstream of the site, upstream of the regulator.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WHERE IT HAPPENS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Sites and subjects</a:t>
            </a:r>
            <a:endParaRPr lang="en-US" sz="3000" dirty="0"/>
          </a:p>
        </p:txBody>
      </p:sp>
      <p:sp>
        <p:nvSpPr>
          <p:cNvPr id="4" name="Shape 2"/>
          <p:cNvSpPr/>
          <p:nvPr/>
        </p:nvSpPr>
        <p:spPr>
          <a:xfrm>
            <a:off x="640080" y="1691640"/>
            <a:ext cx="5394960" cy="4206240"/>
          </a:xfrm>
          <a:prstGeom prst="roundRect">
            <a:avLst>
              <a:gd name="adj" fmla="val 195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846320" cy="45720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Site</a:t>
            </a:r>
            <a:endParaRPr lang="en-US" sz="2400" dirty="0"/>
          </a:p>
        </p:txBody>
      </p:sp>
      <p:sp>
        <p:nvSpPr>
          <p:cNvPr id="6" name="Text 4"/>
          <p:cNvSpPr/>
          <p:nvPr/>
        </p:nvSpPr>
        <p:spPr>
          <a:xfrm>
            <a:off x="914400" y="2468880"/>
            <a:ext cx="4846320" cy="3108960"/>
          </a:xfrm>
          <a:prstGeom prst="rect">
            <a:avLst/>
          </a:prstGeom>
          <a:noFill/>
          <a:ln/>
        </p:spPr>
        <p:txBody>
          <a:bodyPr wrap="square" lIns="0" tIns="0" rIns="0" bIns="0" rtlCol="0" anchor="t"/>
          <a:lstStyle/>
          <a:p>
            <a:pPr indent="0" marL="0">
              <a:lnSpc>
                <a:spcPts val="2100"/>
              </a:lnSpc>
              <a:buNone/>
            </a:pPr>
            <a:r>
              <a:rPr lang="en-US" sz="1400" b="1" dirty="0">
                <a:solidFill>
                  <a:srgbClr val="0F2E3D"/>
                </a:solidFill>
                <a:latin typeface="Calibri" pitchFamily="34" charset="0"/>
                <a:ea typeface="Calibri" pitchFamily="34" charset="-122"/>
                <a:cs typeface="Calibri" pitchFamily="34" charset="-120"/>
              </a:rPr>
              <a:t>A hospital or clinic where the trial is actually carried out.
</a:t>
            </a:r>
            <a:pPr indent="0" marL="0">
              <a:lnSpc>
                <a:spcPts val="2100"/>
              </a:lnSpc>
              <a:buNone/>
            </a:pPr>
            <a:r>
              <a:rPr lang="en-US" sz="1400" dirty="0">
                <a:solidFill>
                  <a:srgbClr val="5A7682"/>
                </a:solidFill>
                <a:latin typeface="Calibri" pitchFamily="34" charset="0"/>
                <a:ea typeface="Calibri" pitchFamily="34" charset="-122"/>
                <a:cs typeface="Calibri" pitchFamily="34" charset="-120"/>
              </a:rPr>
              <a:t>One trial usually runs at many sites, often in several countries. Each site has an ID (e.g. 01, 02) and its own staff.</a:t>
            </a:r>
            <a:endParaRPr lang="en-US" sz="1400" dirty="0"/>
          </a:p>
          <a:p>
            <a:pPr indent="0" marL="0">
              <a:lnSpc>
                <a:spcPts val="2100"/>
              </a:lnSpc>
              <a:buNone/>
            </a:pPr>
            <a:endParaRPr lang="en-US" sz="1400" dirty="0"/>
          </a:p>
          <a:p>
            <a:pPr indent="0" marL="0">
              <a:lnSpc>
                <a:spcPts val="2100"/>
              </a:lnSpc>
              <a:buNone/>
            </a:pPr>
            <a:r>
              <a:rPr lang="en-US" sz="1400" dirty="0">
                <a:solidFill>
                  <a:srgbClr val="5A7682"/>
                </a:solidFill>
                <a:latin typeface="Calibri" pitchFamily="34" charset="0"/>
                <a:ea typeface="Calibri" pitchFamily="34" charset="-122"/>
                <a:cs typeface="Calibri" pitchFamily="34" charset="-120"/>
              </a:rPr>
              <a:t>More sites = faster enrollment, but more variation in how data gets recorded.</a:t>
            </a:r>
            <a:endParaRPr lang="en-US" sz="1400" dirty="0"/>
          </a:p>
        </p:txBody>
      </p:sp>
      <p:sp>
        <p:nvSpPr>
          <p:cNvPr id="7" name="Shape 5"/>
          <p:cNvSpPr/>
          <p:nvPr/>
        </p:nvSpPr>
        <p:spPr>
          <a:xfrm>
            <a:off x="6309360" y="1691640"/>
            <a:ext cx="5303520" cy="4206240"/>
          </a:xfrm>
          <a:prstGeom prst="roundRect">
            <a:avLst>
              <a:gd name="adj" fmla="val 1957"/>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583680" y="1920240"/>
            <a:ext cx="4754880" cy="457200"/>
          </a:xfrm>
          <a:prstGeom prst="rect">
            <a:avLst/>
          </a:prstGeom>
          <a:noFill/>
          <a:ln/>
        </p:spPr>
        <p:txBody>
          <a:bodyPr wrap="square" lIns="0" tIns="0" rIns="0" bIns="0" rtlCol="0" anchor="ctr"/>
          <a:lstStyle/>
          <a:p>
            <a:pPr indent="0" marL="0">
              <a:buNone/>
            </a:pPr>
            <a:r>
              <a:rPr lang="en-US" sz="2400" b="1" dirty="0">
                <a:solidFill>
                  <a:srgbClr val="6FC8B4"/>
                </a:solidFill>
                <a:latin typeface="Cambria" pitchFamily="34" charset="0"/>
                <a:ea typeface="Cambria" pitchFamily="34" charset="-122"/>
                <a:cs typeface="Cambria" pitchFamily="34" charset="-120"/>
              </a:rPr>
              <a:t>Subject</a:t>
            </a:r>
            <a:endParaRPr lang="en-US" sz="2400" dirty="0"/>
          </a:p>
        </p:txBody>
      </p:sp>
      <p:sp>
        <p:nvSpPr>
          <p:cNvPr id="9" name="Text 7"/>
          <p:cNvSpPr/>
          <p:nvPr/>
        </p:nvSpPr>
        <p:spPr>
          <a:xfrm>
            <a:off x="6583680" y="2468880"/>
            <a:ext cx="4754880" cy="2194560"/>
          </a:xfrm>
          <a:prstGeom prst="rect">
            <a:avLst/>
          </a:prstGeom>
          <a:noFill/>
          <a:ln/>
        </p:spPr>
        <p:txBody>
          <a:bodyPr wrap="square" lIns="0" tIns="0" rIns="0" bIns="0" rtlCol="0" anchor="t"/>
          <a:lstStyle/>
          <a:p>
            <a:pPr indent="0" marL="0">
              <a:lnSpc>
                <a:spcPts val="2100"/>
              </a:lnSpc>
              <a:buNone/>
            </a:pPr>
            <a:r>
              <a:rPr lang="en-US" sz="1400" b="1" dirty="0">
                <a:solidFill>
                  <a:srgbClr val="FFFFFF"/>
                </a:solidFill>
                <a:latin typeface="Calibri" pitchFamily="34" charset="0"/>
                <a:ea typeface="Calibri" pitchFamily="34" charset="-122"/>
                <a:cs typeface="Calibri" pitchFamily="34" charset="-120"/>
              </a:rPr>
              <a:t>One participant in the trial. Also called a patient or participant.
</a:t>
            </a:r>
            <a:pPr indent="0" marL="0">
              <a:lnSpc>
                <a:spcPts val="2100"/>
              </a:lnSpc>
              <a:buNone/>
            </a:pPr>
            <a:r>
              <a:rPr lang="en-US" sz="1400" dirty="0">
                <a:solidFill>
                  <a:srgbClr val="C7DCE0"/>
                </a:solidFill>
                <a:latin typeface="Calibri" pitchFamily="34" charset="0"/>
                <a:ea typeface="Calibri" pitchFamily="34" charset="-122"/>
                <a:cs typeface="Calibri" pitchFamily="34" charset="-120"/>
              </a:rPr>
              <a:t>Each subject gets a number that is unique within their site — which is exactly why SDTM needs USUBJID, an identifier unique across the whole study.</a:t>
            </a:r>
            <a:endParaRPr lang="en-US" sz="1400" dirty="0"/>
          </a:p>
        </p:txBody>
      </p:sp>
      <p:sp>
        <p:nvSpPr>
          <p:cNvPr id="10" name="Text 8"/>
          <p:cNvSpPr/>
          <p:nvPr/>
        </p:nvSpPr>
        <p:spPr>
          <a:xfrm>
            <a:off x="6583680" y="4892040"/>
            <a:ext cx="4754880" cy="457200"/>
          </a:xfrm>
          <a:prstGeom prst="rect">
            <a:avLst/>
          </a:prstGeom>
          <a:noFill/>
          <a:ln/>
        </p:spPr>
        <p:txBody>
          <a:bodyPr wrap="square" lIns="0" tIns="0" rIns="0" bIns="0" rtlCol="0" anchor="ctr"/>
          <a:lstStyle/>
          <a:p>
            <a:pPr indent="0" marL="0">
              <a:buNone/>
            </a:pPr>
            <a:r>
              <a:rPr lang="en-US" sz="1400" b="1" dirty="0">
                <a:solidFill>
                  <a:srgbClr val="E8833A"/>
                </a:solidFill>
                <a:latin typeface="Courier New" pitchFamily="34" charset="0"/>
                <a:ea typeface="Courier New" pitchFamily="34" charset="-122"/>
                <a:cs typeface="Courier New" pitchFamily="34" charset="-120"/>
              </a:rPr>
              <a:t>Subject 001 at Site 01  ≠  Subject 001 at Site 02</a:t>
            </a:r>
            <a:endParaRPr lang="en-US" sz="1400" dirty="0"/>
          </a:p>
        </p:txBody>
      </p:sp>
      <p:sp>
        <p:nvSpPr>
          <p:cNvPr id="11" name="Text 9"/>
          <p:cNvSpPr/>
          <p:nvPr/>
        </p:nvSpPr>
        <p:spPr>
          <a:xfrm>
            <a:off x="6583680" y="5303520"/>
            <a:ext cx="4754880" cy="365760"/>
          </a:xfrm>
          <a:prstGeom prst="rect">
            <a:avLst/>
          </a:prstGeom>
          <a:noFill/>
          <a:ln/>
        </p:spPr>
        <p:txBody>
          <a:bodyPr wrap="square" lIns="0" tIns="0" rIns="0" bIns="0" rtlCol="0" anchor="ctr"/>
          <a:lstStyle/>
          <a:p>
            <a:pPr indent="0" marL="0">
              <a:buNone/>
            </a:pPr>
            <a:r>
              <a:rPr lang="en-US" sz="1250" i="1" dirty="0">
                <a:solidFill>
                  <a:srgbClr val="9FC0C6"/>
                </a:solidFill>
                <a:latin typeface="Calibri" pitchFamily="34" charset="0"/>
                <a:ea typeface="Calibri" pitchFamily="34" charset="-122"/>
                <a:cs typeface="Calibri" pitchFamily="34" charset="-120"/>
              </a:rPr>
              <a:t>Two different people. This is the #1 identifier trap.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SUBJECT JOURNEY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actually happens to a participant</a:t>
            </a:r>
            <a:endParaRPr lang="en-US" sz="3000" dirty="0"/>
          </a:p>
        </p:txBody>
      </p:sp>
      <p:sp>
        <p:nvSpPr>
          <p:cNvPr id="4" name="Shape 2"/>
          <p:cNvSpPr/>
          <p:nvPr/>
        </p:nvSpPr>
        <p:spPr>
          <a:xfrm>
            <a:off x="566928" y="1783080"/>
            <a:ext cx="1810512" cy="3291840"/>
          </a:xfrm>
          <a:prstGeom prst="roundRect">
            <a:avLst>
              <a:gd name="adj" fmla="val 454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152144" y="2011680"/>
            <a:ext cx="640080" cy="640080"/>
          </a:xfrm>
          <a:prstGeom prst="ellipse">
            <a:avLst/>
          </a:prstGeom>
          <a:solidFill>
            <a:srgbClr val="0E7C86"/>
          </a:solidFill>
          <a:ln/>
        </p:spPr>
      </p:sp>
      <p:sp>
        <p:nvSpPr>
          <p:cNvPr id="6" name="Text 4"/>
          <p:cNvSpPr/>
          <p:nvPr/>
        </p:nvSpPr>
        <p:spPr>
          <a:xfrm>
            <a:off x="1152144" y="201168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640080"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Screening</a:t>
            </a:r>
            <a:endParaRPr lang="en-US" sz="1500" dirty="0"/>
          </a:p>
        </p:txBody>
      </p:sp>
      <p:sp>
        <p:nvSpPr>
          <p:cNvPr id="8" name="Text 6"/>
          <p:cNvSpPr/>
          <p:nvPr/>
        </p:nvSpPr>
        <p:spPr>
          <a:xfrm>
            <a:off x="694944"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Checked against eligibility criteria. Consent signed first.</a:t>
            </a:r>
            <a:endParaRPr lang="en-US" sz="1100" dirty="0"/>
          </a:p>
        </p:txBody>
      </p:sp>
      <p:sp>
        <p:nvSpPr>
          <p:cNvPr id="9" name="Shape 7"/>
          <p:cNvSpPr/>
          <p:nvPr/>
        </p:nvSpPr>
        <p:spPr>
          <a:xfrm>
            <a:off x="2450592" y="1783080"/>
            <a:ext cx="1810512" cy="3291840"/>
          </a:xfrm>
          <a:prstGeom prst="roundRect">
            <a:avLst>
              <a:gd name="adj" fmla="val 454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3035808" y="2011680"/>
            <a:ext cx="640080" cy="640080"/>
          </a:xfrm>
          <a:prstGeom prst="ellipse">
            <a:avLst/>
          </a:prstGeom>
          <a:solidFill>
            <a:srgbClr val="1FA8A0"/>
          </a:solidFill>
          <a:ln/>
        </p:spPr>
      </p:sp>
      <p:sp>
        <p:nvSpPr>
          <p:cNvPr id="11" name="Text 9"/>
          <p:cNvSpPr/>
          <p:nvPr/>
        </p:nvSpPr>
        <p:spPr>
          <a:xfrm>
            <a:off x="3035808" y="201168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2523744"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Baseline</a:t>
            </a:r>
            <a:endParaRPr lang="en-US" sz="1500" dirty="0"/>
          </a:p>
        </p:txBody>
      </p:sp>
      <p:sp>
        <p:nvSpPr>
          <p:cNvPr id="13" name="Text 11"/>
          <p:cNvSpPr/>
          <p:nvPr/>
        </p:nvSpPr>
        <p:spPr>
          <a:xfrm>
            <a:off x="2578608"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Measurements taken before treatment starts — the comparison point.</a:t>
            </a:r>
            <a:endParaRPr lang="en-US" sz="1100" dirty="0"/>
          </a:p>
        </p:txBody>
      </p:sp>
      <p:sp>
        <p:nvSpPr>
          <p:cNvPr id="14" name="Shape 12"/>
          <p:cNvSpPr/>
          <p:nvPr/>
        </p:nvSpPr>
        <p:spPr>
          <a:xfrm>
            <a:off x="4334256" y="1783080"/>
            <a:ext cx="1810512" cy="3291840"/>
          </a:xfrm>
          <a:prstGeom prst="roundRect">
            <a:avLst>
              <a:gd name="adj" fmla="val 454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4919472" y="2011680"/>
            <a:ext cx="640080" cy="640080"/>
          </a:xfrm>
          <a:prstGeom prst="ellipse">
            <a:avLst/>
          </a:prstGeom>
          <a:solidFill>
            <a:srgbClr val="E8833A"/>
          </a:solidFill>
          <a:ln/>
        </p:spPr>
      </p:sp>
      <p:sp>
        <p:nvSpPr>
          <p:cNvPr id="16" name="Text 14"/>
          <p:cNvSpPr/>
          <p:nvPr/>
        </p:nvSpPr>
        <p:spPr>
          <a:xfrm>
            <a:off x="4919472" y="2011680"/>
            <a:ext cx="640080" cy="640080"/>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4407408"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Randomization</a:t>
            </a:r>
            <a:endParaRPr lang="en-US" sz="1500" dirty="0"/>
          </a:p>
        </p:txBody>
      </p:sp>
      <p:sp>
        <p:nvSpPr>
          <p:cNvPr id="18" name="Text 16"/>
          <p:cNvSpPr/>
          <p:nvPr/>
        </p:nvSpPr>
        <p:spPr>
          <a:xfrm>
            <a:off x="4462272"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Assigned to a treatment arm, usually by chance.</a:t>
            </a:r>
            <a:endParaRPr lang="en-US" sz="1100" dirty="0"/>
          </a:p>
        </p:txBody>
      </p:sp>
      <p:sp>
        <p:nvSpPr>
          <p:cNvPr id="19" name="Shape 17"/>
          <p:cNvSpPr/>
          <p:nvPr/>
        </p:nvSpPr>
        <p:spPr>
          <a:xfrm>
            <a:off x="6217920" y="1783080"/>
            <a:ext cx="1810512" cy="3291840"/>
          </a:xfrm>
          <a:prstGeom prst="roundRect">
            <a:avLst>
              <a:gd name="adj" fmla="val 454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6803136" y="2011680"/>
            <a:ext cx="640080" cy="640080"/>
          </a:xfrm>
          <a:prstGeom prst="ellipse">
            <a:avLst/>
          </a:prstGeom>
          <a:solidFill>
            <a:srgbClr val="0F2E3D"/>
          </a:solidFill>
          <a:ln/>
        </p:spPr>
      </p:sp>
      <p:sp>
        <p:nvSpPr>
          <p:cNvPr id="21" name="Text 19"/>
          <p:cNvSpPr/>
          <p:nvPr/>
        </p:nvSpPr>
        <p:spPr>
          <a:xfrm>
            <a:off x="6803136" y="201168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6291072"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Treatment</a:t>
            </a:r>
            <a:endParaRPr lang="en-US" sz="1500" dirty="0"/>
          </a:p>
        </p:txBody>
      </p:sp>
      <p:sp>
        <p:nvSpPr>
          <p:cNvPr id="23" name="Text 21"/>
          <p:cNvSpPr/>
          <p:nvPr/>
        </p:nvSpPr>
        <p:spPr>
          <a:xfrm>
            <a:off x="6345936"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Takes the study drug; returns for scheduled visits.</a:t>
            </a:r>
            <a:endParaRPr lang="en-US" sz="1100" dirty="0"/>
          </a:p>
        </p:txBody>
      </p:sp>
      <p:sp>
        <p:nvSpPr>
          <p:cNvPr id="24" name="Shape 22"/>
          <p:cNvSpPr/>
          <p:nvPr/>
        </p:nvSpPr>
        <p:spPr>
          <a:xfrm>
            <a:off x="8101584" y="1783080"/>
            <a:ext cx="1810512" cy="3291840"/>
          </a:xfrm>
          <a:prstGeom prst="roundRect">
            <a:avLst>
              <a:gd name="adj" fmla="val 454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8686800" y="2011680"/>
            <a:ext cx="640080" cy="640080"/>
          </a:xfrm>
          <a:prstGeom prst="ellipse">
            <a:avLst/>
          </a:prstGeom>
          <a:solidFill>
            <a:srgbClr val="0E7C86"/>
          </a:solidFill>
          <a:ln/>
        </p:spPr>
      </p:sp>
      <p:sp>
        <p:nvSpPr>
          <p:cNvPr id="26" name="Text 24"/>
          <p:cNvSpPr/>
          <p:nvPr/>
        </p:nvSpPr>
        <p:spPr>
          <a:xfrm>
            <a:off x="8686800" y="201168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5"/>
          <p:cNvSpPr/>
          <p:nvPr/>
        </p:nvSpPr>
        <p:spPr>
          <a:xfrm>
            <a:off x="8174736"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Follow-up</a:t>
            </a:r>
            <a:endParaRPr lang="en-US" sz="1500" dirty="0"/>
          </a:p>
        </p:txBody>
      </p:sp>
      <p:sp>
        <p:nvSpPr>
          <p:cNvPr id="28" name="Text 26"/>
          <p:cNvSpPr/>
          <p:nvPr/>
        </p:nvSpPr>
        <p:spPr>
          <a:xfrm>
            <a:off x="8229600"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Monitored after treatment ends.</a:t>
            </a:r>
            <a:endParaRPr lang="en-US" sz="1100" dirty="0"/>
          </a:p>
        </p:txBody>
      </p:sp>
      <p:sp>
        <p:nvSpPr>
          <p:cNvPr id="29" name="Shape 27"/>
          <p:cNvSpPr/>
          <p:nvPr/>
        </p:nvSpPr>
        <p:spPr>
          <a:xfrm>
            <a:off x="9985248" y="1783080"/>
            <a:ext cx="1810512" cy="3291840"/>
          </a:xfrm>
          <a:prstGeom prst="roundRect">
            <a:avLst>
              <a:gd name="adj" fmla="val 454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0" name="Shape 28"/>
          <p:cNvSpPr/>
          <p:nvPr/>
        </p:nvSpPr>
        <p:spPr>
          <a:xfrm>
            <a:off x="10570464" y="2011680"/>
            <a:ext cx="640080" cy="640080"/>
          </a:xfrm>
          <a:prstGeom prst="ellipse">
            <a:avLst/>
          </a:prstGeom>
          <a:solidFill>
            <a:srgbClr val="1FA8A0"/>
          </a:solidFill>
          <a:ln/>
        </p:spPr>
      </p:sp>
      <p:sp>
        <p:nvSpPr>
          <p:cNvPr id="31" name="Text 29"/>
          <p:cNvSpPr/>
          <p:nvPr/>
        </p:nvSpPr>
        <p:spPr>
          <a:xfrm>
            <a:off x="10570464" y="201168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2" name="Text 30"/>
          <p:cNvSpPr/>
          <p:nvPr/>
        </p:nvSpPr>
        <p:spPr>
          <a:xfrm>
            <a:off x="10058400" y="2788920"/>
            <a:ext cx="1664208" cy="502920"/>
          </a:xfrm>
          <a:prstGeom prst="rect">
            <a:avLst/>
          </a:prstGeom>
          <a:noFill/>
          <a:ln/>
        </p:spPr>
        <p:txBody>
          <a:bodyPr wrap="square" lIns="0" tIns="0" rIns="0" bIns="0" rtlCol="0" anchor="ctr"/>
          <a:lstStyle/>
          <a:p>
            <a:pPr algn="ctr" indent="0" marL="0">
              <a:buNone/>
            </a:pPr>
            <a:r>
              <a:rPr lang="en-US" sz="1500" b="1" dirty="0">
                <a:solidFill>
                  <a:srgbClr val="0F2E3D"/>
                </a:solidFill>
                <a:latin typeface="Cambria" pitchFamily="34" charset="0"/>
                <a:ea typeface="Cambria" pitchFamily="34" charset="-122"/>
                <a:cs typeface="Cambria" pitchFamily="34" charset="-120"/>
              </a:rPr>
              <a:t>End of study</a:t>
            </a:r>
            <a:endParaRPr lang="en-US" sz="1500" dirty="0"/>
          </a:p>
        </p:txBody>
      </p:sp>
      <p:sp>
        <p:nvSpPr>
          <p:cNvPr id="33" name="Text 31"/>
          <p:cNvSpPr/>
          <p:nvPr/>
        </p:nvSpPr>
        <p:spPr>
          <a:xfrm>
            <a:off x="10113264" y="3337560"/>
            <a:ext cx="1554480" cy="160020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Completed — or discontinued early, with a reason recorded.</a:t>
            </a:r>
            <a:endParaRPr lang="en-US" sz="1100" dirty="0"/>
          </a:p>
        </p:txBody>
      </p:sp>
      <p:sp>
        <p:nvSpPr>
          <p:cNvPr id="34" name="Shape 32"/>
          <p:cNvSpPr/>
          <p:nvPr/>
        </p:nvSpPr>
        <p:spPr>
          <a:xfrm>
            <a:off x="640080" y="5349240"/>
            <a:ext cx="10972800" cy="914400"/>
          </a:xfrm>
          <a:prstGeom prst="roundRect">
            <a:avLst>
              <a:gd name="adj" fmla="val 9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5" name="Text 33"/>
          <p:cNvSpPr/>
          <p:nvPr/>
        </p:nvSpPr>
        <p:spPr>
          <a:xfrm>
            <a:off x="914400" y="5486400"/>
            <a:ext cx="10424160" cy="685800"/>
          </a:xfrm>
          <a:prstGeom prst="rect">
            <a:avLst/>
          </a:prstGeom>
          <a:noFill/>
          <a:ln/>
        </p:spPr>
        <p:txBody>
          <a:bodyPr wrap="square" lIns="0" tIns="0" rIns="0" bIns="0" rtlCol="0" anchor="ctr"/>
          <a:lstStyle/>
          <a:p>
            <a:pPr indent="0" marL="0">
              <a:buNone/>
            </a:pPr>
            <a:r>
              <a:rPr lang="en-US" sz="1500" b="1" dirty="0">
                <a:solidFill>
                  <a:srgbClr val="6FC8B4"/>
                </a:solidFill>
                <a:latin typeface="Calibri" pitchFamily="34" charset="0"/>
                <a:ea typeface="Calibri" pitchFamily="34" charset="-122"/>
                <a:cs typeface="Calibri" pitchFamily="34" charset="-120"/>
              </a:rPr>
              <a:t>Informed consent comes first.  </a:t>
            </a:r>
            <a:pPr indent="0" marL="0">
              <a:buNone/>
            </a:pPr>
            <a:r>
              <a:rPr lang="en-US" sz="1300" dirty="0">
                <a:solidFill>
                  <a:srgbClr val="C7DCE0"/>
                </a:solidFill>
                <a:latin typeface="Calibri" pitchFamily="34" charset="0"/>
                <a:ea typeface="Calibri" pitchFamily="34" charset="-122"/>
                <a:cs typeface="Calibri" pitchFamily="34" charset="-120"/>
              </a:rPr>
              <a:t>Nothing may be done for research purposes until the subject has voluntarily agreed, in writing, after being told what the study involves.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REMOVING BIAS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Randomization, control, and blinding</a:t>
            </a:r>
            <a:endParaRPr lang="en-US" sz="3000" dirty="0"/>
          </a:p>
        </p:txBody>
      </p:sp>
      <p:sp>
        <p:nvSpPr>
          <p:cNvPr id="4" name="Shape 2"/>
          <p:cNvSpPr/>
          <p:nvPr/>
        </p:nvSpPr>
        <p:spPr>
          <a:xfrm>
            <a:off x="640080" y="173736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2651760" cy="45720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Randomization</a:t>
            </a:r>
            <a:endParaRPr lang="en-US" sz="2000" dirty="0"/>
          </a:p>
        </p:txBody>
      </p:sp>
      <p:sp>
        <p:nvSpPr>
          <p:cNvPr id="6" name="Text 4"/>
          <p:cNvSpPr/>
          <p:nvPr/>
        </p:nvSpPr>
        <p:spPr>
          <a:xfrm>
            <a:off x="914400" y="2395728"/>
            <a:ext cx="4937760" cy="59436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Subjects are assigned to treatment groups by chance, not by choice.</a:t>
            </a:r>
            <a:endParaRPr lang="en-US" sz="1250" dirty="0"/>
          </a:p>
        </p:txBody>
      </p:sp>
      <p:sp>
        <p:nvSpPr>
          <p:cNvPr id="7" name="Shape 5"/>
          <p:cNvSpPr/>
          <p:nvPr/>
        </p:nvSpPr>
        <p:spPr>
          <a:xfrm>
            <a:off x="6126480" y="1965960"/>
            <a:ext cx="0" cy="914400"/>
          </a:xfrm>
          <a:prstGeom prst="line">
            <a:avLst/>
          </a:prstGeom>
          <a:noFill/>
          <a:ln w="12700">
            <a:solidFill>
              <a:srgbClr val="CFDEE1"/>
            </a:solidFill>
            <a:prstDash val="solid"/>
          </a:ln>
        </p:spPr>
      </p:sp>
      <p:sp>
        <p:nvSpPr>
          <p:cNvPr id="8" name="Text 6"/>
          <p:cNvSpPr/>
          <p:nvPr/>
        </p:nvSpPr>
        <p:spPr>
          <a:xfrm>
            <a:off x="6355080" y="2011680"/>
            <a:ext cx="5029200" cy="868680"/>
          </a:xfrm>
          <a:prstGeom prst="rect">
            <a:avLst/>
          </a:prstGeom>
          <a:noFill/>
          <a:ln/>
        </p:spPr>
        <p:txBody>
          <a:bodyPr wrap="square" lIns="0" tIns="0" rIns="0" bIns="0" rtlCol="0" anchor="ctr"/>
          <a:lstStyle/>
          <a:p>
            <a:pPr indent="0" marL="0">
              <a:buNone/>
            </a:pPr>
            <a:r>
              <a:rPr lang="en-US" sz="1300" i="1" dirty="0">
                <a:solidFill>
                  <a:srgbClr val="5A7682"/>
                </a:solidFill>
                <a:latin typeface="Calibri" pitchFamily="34" charset="0"/>
                <a:ea typeface="Calibri" pitchFamily="34" charset="-122"/>
                <a:cs typeface="Calibri" pitchFamily="34" charset="-120"/>
              </a:rPr>
              <a:t>Why it matters:  </a:t>
            </a:r>
            <a:pPr indent="0" marL="0">
              <a:buNone/>
            </a:pPr>
            <a:r>
              <a:rPr lang="en-US" sz="1300" dirty="0">
                <a:solidFill>
                  <a:srgbClr val="0F2E3D"/>
                </a:solidFill>
                <a:latin typeface="Calibri" pitchFamily="34" charset="0"/>
                <a:ea typeface="Calibri" pitchFamily="34" charset="-122"/>
                <a:cs typeface="Calibri" pitchFamily="34" charset="-120"/>
              </a:rPr>
              <a:t>Stops conscious or unconscious selection from skewing the groups.</a:t>
            </a:r>
            <a:endParaRPr lang="en-US" sz="1300" dirty="0"/>
          </a:p>
        </p:txBody>
      </p:sp>
      <p:sp>
        <p:nvSpPr>
          <p:cNvPr id="9" name="Shape 7"/>
          <p:cNvSpPr/>
          <p:nvPr/>
        </p:nvSpPr>
        <p:spPr>
          <a:xfrm>
            <a:off x="640080" y="320040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914400" y="3383280"/>
            <a:ext cx="2651760" cy="457200"/>
          </a:xfrm>
          <a:prstGeom prst="rect">
            <a:avLst/>
          </a:prstGeom>
          <a:noFill/>
          <a:ln/>
        </p:spPr>
        <p:txBody>
          <a:bodyPr wrap="square" lIns="0" tIns="0" rIns="0" bIns="0" rtlCol="0" anchor="ctr"/>
          <a:lstStyle/>
          <a:p>
            <a:pPr indent="0" marL="0">
              <a:buNone/>
            </a:pPr>
            <a:r>
              <a:rPr lang="en-US" sz="2000" b="1" dirty="0">
                <a:solidFill>
                  <a:srgbClr val="1FA8A0"/>
                </a:solidFill>
                <a:latin typeface="Cambria" pitchFamily="34" charset="0"/>
                <a:ea typeface="Cambria" pitchFamily="34" charset="-122"/>
                <a:cs typeface="Cambria" pitchFamily="34" charset="-120"/>
              </a:rPr>
              <a:t>Control arm</a:t>
            </a:r>
            <a:endParaRPr lang="en-US" sz="2000" dirty="0"/>
          </a:p>
        </p:txBody>
      </p:sp>
      <p:sp>
        <p:nvSpPr>
          <p:cNvPr id="11" name="Text 9"/>
          <p:cNvSpPr/>
          <p:nvPr/>
        </p:nvSpPr>
        <p:spPr>
          <a:xfrm>
            <a:off x="914400" y="3858768"/>
            <a:ext cx="4937760" cy="59436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A comparison group — placebo (an inactive look-alike) or an existing standard treatment.</a:t>
            </a:r>
            <a:endParaRPr lang="en-US" sz="1250" dirty="0"/>
          </a:p>
        </p:txBody>
      </p:sp>
      <p:sp>
        <p:nvSpPr>
          <p:cNvPr id="12" name="Shape 10"/>
          <p:cNvSpPr/>
          <p:nvPr/>
        </p:nvSpPr>
        <p:spPr>
          <a:xfrm>
            <a:off x="6126480" y="3429000"/>
            <a:ext cx="0" cy="914400"/>
          </a:xfrm>
          <a:prstGeom prst="line">
            <a:avLst/>
          </a:prstGeom>
          <a:noFill/>
          <a:ln w="12700">
            <a:solidFill>
              <a:srgbClr val="CFDEE1"/>
            </a:solidFill>
            <a:prstDash val="solid"/>
          </a:ln>
        </p:spPr>
      </p:sp>
      <p:sp>
        <p:nvSpPr>
          <p:cNvPr id="13" name="Text 11"/>
          <p:cNvSpPr/>
          <p:nvPr/>
        </p:nvSpPr>
        <p:spPr>
          <a:xfrm>
            <a:off x="6355080" y="3474720"/>
            <a:ext cx="5029200" cy="868680"/>
          </a:xfrm>
          <a:prstGeom prst="rect">
            <a:avLst/>
          </a:prstGeom>
          <a:noFill/>
          <a:ln/>
        </p:spPr>
        <p:txBody>
          <a:bodyPr wrap="square" lIns="0" tIns="0" rIns="0" bIns="0" rtlCol="0" anchor="ctr"/>
          <a:lstStyle/>
          <a:p>
            <a:pPr indent="0" marL="0">
              <a:buNone/>
            </a:pPr>
            <a:r>
              <a:rPr lang="en-US" sz="1300" i="1" dirty="0">
                <a:solidFill>
                  <a:srgbClr val="5A7682"/>
                </a:solidFill>
                <a:latin typeface="Calibri" pitchFamily="34" charset="0"/>
                <a:ea typeface="Calibri" pitchFamily="34" charset="-122"/>
                <a:cs typeface="Calibri" pitchFamily="34" charset="-120"/>
              </a:rPr>
              <a:t>Why it matters:  </a:t>
            </a:r>
            <a:pPr indent="0" marL="0">
              <a:buNone/>
            </a:pPr>
            <a:r>
              <a:rPr lang="en-US" sz="1300" dirty="0">
                <a:solidFill>
                  <a:srgbClr val="0F2E3D"/>
                </a:solidFill>
                <a:latin typeface="Calibri" pitchFamily="34" charset="0"/>
                <a:ea typeface="Calibri" pitchFamily="34" charset="-122"/>
                <a:cs typeface="Calibri" pitchFamily="34" charset="-120"/>
              </a:rPr>
              <a:t>Without a comparison you cannot tell whether the drug caused the change.</a:t>
            </a:r>
            <a:endParaRPr lang="en-US" sz="1300" dirty="0"/>
          </a:p>
        </p:txBody>
      </p:sp>
      <p:sp>
        <p:nvSpPr>
          <p:cNvPr id="14" name="Shape 12"/>
          <p:cNvSpPr/>
          <p:nvPr/>
        </p:nvSpPr>
        <p:spPr>
          <a:xfrm>
            <a:off x="640080" y="466344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14400" y="4846320"/>
            <a:ext cx="2651760" cy="457200"/>
          </a:xfrm>
          <a:prstGeom prst="rect">
            <a:avLst/>
          </a:prstGeom>
          <a:noFill/>
          <a:ln/>
        </p:spPr>
        <p:txBody>
          <a:bodyPr wrap="square" lIns="0" tIns="0" rIns="0" bIns="0" rtlCol="0" anchor="ctr"/>
          <a:lstStyle/>
          <a:p>
            <a:pPr indent="0" marL="0">
              <a:buNone/>
            </a:pPr>
            <a:r>
              <a:rPr lang="en-US" sz="2000" b="1" dirty="0">
                <a:solidFill>
                  <a:srgbClr val="B5651A"/>
                </a:solidFill>
                <a:latin typeface="Cambria" pitchFamily="34" charset="0"/>
                <a:ea typeface="Cambria" pitchFamily="34" charset="-122"/>
                <a:cs typeface="Cambria" pitchFamily="34" charset="-120"/>
              </a:rPr>
              <a:t>Blinding</a:t>
            </a:r>
            <a:endParaRPr lang="en-US" sz="2000" dirty="0"/>
          </a:p>
        </p:txBody>
      </p:sp>
      <p:sp>
        <p:nvSpPr>
          <p:cNvPr id="16" name="Text 14"/>
          <p:cNvSpPr/>
          <p:nvPr/>
        </p:nvSpPr>
        <p:spPr>
          <a:xfrm>
            <a:off x="914400" y="5321808"/>
            <a:ext cx="4937760" cy="59436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Hiding who got what. Single-blind: subject doesn't know. Double-blind: subject and investigator don't know.</a:t>
            </a:r>
            <a:endParaRPr lang="en-US" sz="1250" dirty="0"/>
          </a:p>
        </p:txBody>
      </p:sp>
      <p:sp>
        <p:nvSpPr>
          <p:cNvPr id="17" name="Shape 15"/>
          <p:cNvSpPr/>
          <p:nvPr/>
        </p:nvSpPr>
        <p:spPr>
          <a:xfrm>
            <a:off x="6126480" y="4892040"/>
            <a:ext cx="0" cy="914400"/>
          </a:xfrm>
          <a:prstGeom prst="line">
            <a:avLst/>
          </a:prstGeom>
          <a:noFill/>
          <a:ln w="12700">
            <a:solidFill>
              <a:srgbClr val="CFDEE1"/>
            </a:solidFill>
            <a:prstDash val="solid"/>
          </a:ln>
        </p:spPr>
      </p:sp>
      <p:sp>
        <p:nvSpPr>
          <p:cNvPr id="18" name="Text 16"/>
          <p:cNvSpPr/>
          <p:nvPr/>
        </p:nvSpPr>
        <p:spPr>
          <a:xfrm>
            <a:off x="6355080" y="4937760"/>
            <a:ext cx="5029200" cy="868680"/>
          </a:xfrm>
          <a:prstGeom prst="rect">
            <a:avLst/>
          </a:prstGeom>
          <a:noFill/>
          <a:ln/>
        </p:spPr>
        <p:txBody>
          <a:bodyPr wrap="square" lIns="0" tIns="0" rIns="0" bIns="0" rtlCol="0" anchor="ctr"/>
          <a:lstStyle/>
          <a:p>
            <a:pPr indent="0" marL="0">
              <a:buNone/>
            </a:pPr>
            <a:r>
              <a:rPr lang="en-US" sz="1300" i="1" dirty="0">
                <a:solidFill>
                  <a:srgbClr val="5A7682"/>
                </a:solidFill>
                <a:latin typeface="Calibri" pitchFamily="34" charset="0"/>
                <a:ea typeface="Calibri" pitchFamily="34" charset="-122"/>
                <a:cs typeface="Calibri" pitchFamily="34" charset="-120"/>
              </a:rPr>
              <a:t>Why it matters:  </a:t>
            </a:r>
            <a:pPr indent="0" marL="0">
              <a:buNone/>
            </a:pPr>
            <a:r>
              <a:rPr lang="en-US" sz="1300" dirty="0">
                <a:solidFill>
                  <a:srgbClr val="0F2E3D"/>
                </a:solidFill>
                <a:latin typeface="Calibri" pitchFamily="34" charset="0"/>
                <a:ea typeface="Calibri" pitchFamily="34" charset="-122"/>
                <a:cs typeface="Calibri" pitchFamily="34" charset="-120"/>
              </a:rPr>
              <a:t>Expectations change how people report and assess symptoms.</a:t>
            </a:r>
            <a:endParaRPr lang="en-US" sz="1300" dirty="0"/>
          </a:p>
        </p:txBody>
      </p:sp>
      <p:sp>
        <p:nvSpPr>
          <p:cNvPr id="19" name="Text 17"/>
          <p:cNvSpPr/>
          <p:nvPr/>
        </p:nvSpPr>
        <p:spPr>
          <a:xfrm>
            <a:off x="640080" y="6172200"/>
            <a:ext cx="10972800" cy="36576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“Arm” = one treatment group. In our mock study ABC-01 there are two arms: Drug A and Placebo.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actually gets collected</a:t>
            </a:r>
            <a:endParaRPr lang="en-US" sz="3000" dirty="0"/>
          </a:p>
        </p:txBody>
      </p:sp>
      <p:sp>
        <p:nvSpPr>
          <p:cNvPr id="4" name="Text 2"/>
          <p:cNvSpPr/>
          <p:nvPr/>
        </p:nvSpPr>
        <p:spPr>
          <a:xfrm>
            <a:off x="548640" y="1371600"/>
            <a:ext cx="11155680" cy="36576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At each visit, specific things are measured or asked. Each becomes a category of data — and later, an SDTM domain.</a:t>
            </a:r>
            <a:endParaRPr lang="en-US" sz="1400" dirty="0"/>
          </a:p>
        </p:txBody>
      </p:sp>
      <p:sp>
        <p:nvSpPr>
          <p:cNvPr id="5" name="Shape 3"/>
          <p:cNvSpPr/>
          <p:nvPr/>
        </p:nvSpPr>
        <p:spPr>
          <a:xfrm>
            <a:off x="640080" y="1828800"/>
            <a:ext cx="10972800" cy="804672"/>
          </a:xfrm>
          <a:prstGeom prst="roundRect">
            <a:avLst>
              <a:gd name="adj" fmla="val 1022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4"/>
          <p:cNvSpPr/>
          <p:nvPr/>
        </p:nvSpPr>
        <p:spPr>
          <a:xfrm>
            <a:off x="914400" y="1911096"/>
            <a:ext cx="3566160" cy="6400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Who the subject is</a:t>
            </a:r>
            <a:endParaRPr lang="en-US" sz="1500" dirty="0"/>
          </a:p>
        </p:txBody>
      </p:sp>
      <p:sp>
        <p:nvSpPr>
          <p:cNvPr id="7" name="Text 5"/>
          <p:cNvSpPr/>
          <p:nvPr/>
        </p:nvSpPr>
        <p:spPr>
          <a:xfrm>
            <a:off x="4572000" y="1911096"/>
            <a:ext cx="4846320" cy="6400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Age, sex, race, country, treatment arm</a:t>
            </a:r>
            <a:endParaRPr lang="en-US" sz="1300" dirty="0"/>
          </a:p>
        </p:txBody>
      </p:sp>
      <p:sp>
        <p:nvSpPr>
          <p:cNvPr id="8" name="Shape 6"/>
          <p:cNvSpPr/>
          <p:nvPr/>
        </p:nvSpPr>
        <p:spPr>
          <a:xfrm>
            <a:off x="9601200" y="1984248"/>
            <a:ext cx="1783080" cy="493776"/>
          </a:xfrm>
          <a:prstGeom prst="roundRect">
            <a:avLst>
              <a:gd name="adj" fmla="val 12963"/>
            </a:avLst>
          </a:prstGeom>
          <a:solidFill>
            <a:srgbClr val="0E7C86"/>
          </a:solidFill>
          <a:ln/>
        </p:spPr>
      </p:sp>
      <p:sp>
        <p:nvSpPr>
          <p:cNvPr id="9" name="Text 7"/>
          <p:cNvSpPr/>
          <p:nvPr/>
        </p:nvSpPr>
        <p:spPr>
          <a:xfrm>
            <a:off x="9601200" y="1984248"/>
            <a:ext cx="178308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DM</a:t>
            </a:r>
            <a:endParaRPr lang="en-US" sz="1250" dirty="0"/>
          </a:p>
        </p:txBody>
      </p:sp>
      <p:sp>
        <p:nvSpPr>
          <p:cNvPr id="10" name="Shape 8"/>
          <p:cNvSpPr/>
          <p:nvPr/>
        </p:nvSpPr>
        <p:spPr>
          <a:xfrm>
            <a:off x="640080" y="2706624"/>
            <a:ext cx="10972800" cy="804672"/>
          </a:xfrm>
          <a:prstGeom prst="roundRect">
            <a:avLst>
              <a:gd name="adj" fmla="val 102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914400" y="2788920"/>
            <a:ext cx="3566160" cy="6400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What happened to them</a:t>
            </a:r>
            <a:endParaRPr lang="en-US" sz="1500" dirty="0"/>
          </a:p>
        </p:txBody>
      </p:sp>
      <p:sp>
        <p:nvSpPr>
          <p:cNvPr id="12" name="Text 10"/>
          <p:cNvSpPr/>
          <p:nvPr/>
        </p:nvSpPr>
        <p:spPr>
          <a:xfrm>
            <a:off x="4572000" y="2788920"/>
            <a:ext cx="4846320" cy="6400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Side effects and medical problems</a:t>
            </a:r>
            <a:endParaRPr lang="en-US" sz="1300" dirty="0"/>
          </a:p>
        </p:txBody>
      </p:sp>
      <p:sp>
        <p:nvSpPr>
          <p:cNvPr id="13" name="Shape 11"/>
          <p:cNvSpPr/>
          <p:nvPr/>
        </p:nvSpPr>
        <p:spPr>
          <a:xfrm>
            <a:off x="9601200" y="2862072"/>
            <a:ext cx="1783080" cy="493776"/>
          </a:xfrm>
          <a:prstGeom prst="roundRect">
            <a:avLst>
              <a:gd name="adj" fmla="val 12963"/>
            </a:avLst>
          </a:prstGeom>
          <a:solidFill>
            <a:srgbClr val="E8833A"/>
          </a:solidFill>
          <a:ln/>
        </p:spPr>
      </p:sp>
      <p:sp>
        <p:nvSpPr>
          <p:cNvPr id="14" name="Text 12"/>
          <p:cNvSpPr/>
          <p:nvPr/>
        </p:nvSpPr>
        <p:spPr>
          <a:xfrm>
            <a:off x="9601200" y="2862072"/>
            <a:ext cx="1783080" cy="493776"/>
          </a:xfrm>
          <a:prstGeom prst="rect">
            <a:avLst/>
          </a:prstGeom>
          <a:noFill/>
          <a:ln/>
        </p:spPr>
        <p:txBody>
          <a:bodyPr wrap="square" lIns="0" tIns="0" rIns="0" bIns="0" rtlCol="0" anchor="ctr"/>
          <a:lstStyle/>
          <a:p>
            <a:pPr algn="ctr" indent="0" marL="0">
              <a:buNone/>
            </a:pPr>
            <a:r>
              <a:rPr lang="en-US" sz="1250" b="1" dirty="0">
                <a:solidFill>
                  <a:srgbClr val="0F2E3D"/>
                </a:solidFill>
                <a:latin typeface="Courier New" pitchFamily="34" charset="0"/>
                <a:ea typeface="Courier New" pitchFamily="34" charset="-122"/>
                <a:cs typeface="Courier New" pitchFamily="34" charset="-120"/>
              </a:rPr>
              <a:t>AE, MH</a:t>
            </a:r>
            <a:endParaRPr lang="en-US" sz="1250" dirty="0"/>
          </a:p>
        </p:txBody>
      </p:sp>
      <p:sp>
        <p:nvSpPr>
          <p:cNvPr id="15" name="Shape 13"/>
          <p:cNvSpPr/>
          <p:nvPr/>
        </p:nvSpPr>
        <p:spPr>
          <a:xfrm>
            <a:off x="640080" y="3584448"/>
            <a:ext cx="10972800" cy="804672"/>
          </a:xfrm>
          <a:prstGeom prst="roundRect">
            <a:avLst>
              <a:gd name="adj" fmla="val 1022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Text 14"/>
          <p:cNvSpPr/>
          <p:nvPr/>
        </p:nvSpPr>
        <p:spPr>
          <a:xfrm>
            <a:off x="914400" y="3666744"/>
            <a:ext cx="3566160" cy="6400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What they were given</a:t>
            </a:r>
            <a:endParaRPr lang="en-US" sz="1500" dirty="0"/>
          </a:p>
        </p:txBody>
      </p:sp>
      <p:sp>
        <p:nvSpPr>
          <p:cNvPr id="17" name="Text 15"/>
          <p:cNvSpPr/>
          <p:nvPr/>
        </p:nvSpPr>
        <p:spPr>
          <a:xfrm>
            <a:off x="4572000" y="3666744"/>
            <a:ext cx="4846320" cy="6400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Study drug doses; other medications taken</a:t>
            </a:r>
            <a:endParaRPr lang="en-US" sz="1300" dirty="0"/>
          </a:p>
        </p:txBody>
      </p:sp>
      <p:sp>
        <p:nvSpPr>
          <p:cNvPr id="18" name="Shape 16"/>
          <p:cNvSpPr/>
          <p:nvPr/>
        </p:nvSpPr>
        <p:spPr>
          <a:xfrm>
            <a:off x="9601200" y="3739896"/>
            <a:ext cx="1783080" cy="493776"/>
          </a:xfrm>
          <a:prstGeom prst="roundRect">
            <a:avLst>
              <a:gd name="adj" fmla="val 12963"/>
            </a:avLst>
          </a:prstGeom>
          <a:solidFill>
            <a:srgbClr val="1FA8A0"/>
          </a:solidFill>
          <a:ln/>
        </p:spPr>
      </p:sp>
      <p:sp>
        <p:nvSpPr>
          <p:cNvPr id="19" name="Text 17"/>
          <p:cNvSpPr/>
          <p:nvPr/>
        </p:nvSpPr>
        <p:spPr>
          <a:xfrm>
            <a:off x="9601200" y="3739896"/>
            <a:ext cx="178308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EX, CM</a:t>
            </a:r>
            <a:endParaRPr lang="en-US" sz="1250" dirty="0"/>
          </a:p>
        </p:txBody>
      </p:sp>
      <p:sp>
        <p:nvSpPr>
          <p:cNvPr id="20" name="Shape 18"/>
          <p:cNvSpPr/>
          <p:nvPr/>
        </p:nvSpPr>
        <p:spPr>
          <a:xfrm>
            <a:off x="640080" y="4462272"/>
            <a:ext cx="10972800" cy="804672"/>
          </a:xfrm>
          <a:prstGeom prst="roundRect">
            <a:avLst>
              <a:gd name="adj" fmla="val 102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914400" y="4544568"/>
            <a:ext cx="3566160" cy="6400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What was measured</a:t>
            </a:r>
            <a:endParaRPr lang="en-US" sz="1500" dirty="0"/>
          </a:p>
        </p:txBody>
      </p:sp>
      <p:sp>
        <p:nvSpPr>
          <p:cNvPr id="22" name="Text 20"/>
          <p:cNvSpPr/>
          <p:nvPr/>
        </p:nvSpPr>
        <p:spPr>
          <a:xfrm>
            <a:off x="4572000" y="4544568"/>
            <a:ext cx="4846320" cy="6400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Blood pressure, labs, ECGs, physical exam</a:t>
            </a:r>
            <a:endParaRPr lang="en-US" sz="1300" dirty="0"/>
          </a:p>
        </p:txBody>
      </p:sp>
      <p:sp>
        <p:nvSpPr>
          <p:cNvPr id="23" name="Shape 21"/>
          <p:cNvSpPr/>
          <p:nvPr/>
        </p:nvSpPr>
        <p:spPr>
          <a:xfrm>
            <a:off x="9601200" y="4617720"/>
            <a:ext cx="1783080" cy="493776"/>
          </a:xfrm>
          <a:prstGeom prst="roundRect">
            <a:avLst>
              <a:gd name="adj" fmla="val 12963"/>
            </a:avLst>
          </a:prstGeom>
          <a:solidFill>
            <a:srgbClr val="0F2E3D"/>
          </a:solidFill>
          <a:ln/>
        </p:spPr>
      </p:sp>
      <p:sp>
        <p:nvSpPr>
          <p:cNvPr id="24" name="Text 22"/>
          <p:cNvSpPr/>
          <p:nvPr/>
        </p:nvSpPr>
        <p:spPr>
          <a:xfrm>
            <a:off x="9601200" y="4617720"/>
            <a:ext cx="178308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VS, LB, EG, PE</a:t>
            </a:r>
            <a:endParaRPr lang="en-US" sz="1250" dirty="0"/>
          </a:p>
        </p:txBody>
      </p:sp>
      <p:sp>
        <p:nvSpPr>
          <p:cNvPr id="25" name="Shape 23"/>
          <p:cNvSpPr/>
          <p:nvPr/>
        </p:nvSpPr>
        <p:spPr>
          <a:xfrm>
            <a:off x="640080" y="5340096"/>
            <a:ext cx="10972800" cy="804672"/>
          </a:xfrm>
          <a:prstGeom prst="roundRect">
            <a:avLst>
              <a:gd name="adj" fmla="val 1022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6" name="Text 24"/>
          <p:cNvSpPr/>
          <p:nvPr/>
        </p:nvSpPr>
        <p:spPr>
          <a:xfrm>
            <a:off x="914400" y="5422392"/>
            <a:ext cx="3566160" cy="64008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How the study ended</a:t>
            </a:r>
            <a:endParaRPr lang="en-US" sz="1500" dirty="0"/>
          </a:p>
        </p:txBody>
      </p:sp>
      <p:sp>
        <p:nvSpPr>
          <p:cNvPr id="27" name="Text 25"/>
          <p:cNvSpPr/>
          <p:nvPr/>
        </p:nvSpPr>
        <p:spPr>
          <a:xfrm>
            <a:off x="4572000" y="5422392"/>
            <a:ext cx="4846320" cy="6400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Completed or withdrew, and why</a:t>
            </a:r>
            <a:endParaRPr lang="en-US" sz="1300" dirty="0"/>
          </a:p>
        </p:txBody>
      </p:sp>
      <p:sp>
        <p:nvSpPr>
          <p:cNvPr id="28" name="Shape 26"/>
          <p:cNvSpPr/>
          <p:nvPr/>
        </p:nvSpPr>
        <p:spPr>
          <a:xfrm>
            <a:off x="9601200" y="5495544"/>
            <a:ext cx="1783080" cy="493776"/>
          </a:xfrm>
          <a:prstGeom prst="roundRect">
            <a:avLst>
              <a:gd name="adj" fmla="val 12963"/>
            </a:avLst>
          </a:prstGeom>
          <a:solidFill>
            <a:srgbClr val="0E7C86"/>
          </a:solidFill>
          <a:ln/>
        </p:spPr>
      </p:sp>
      <p:sp>
        <p:nvSpPr>
          <p:cNvPr id="29" name="Text 27"/>
          <p:cNvSpPr/>
          <p:nvPr/>
        </p:nvSpPr>
        <p:spPr>
          <a:xfrm>
            <a:off x="9601200" y="5495544"/>
            <a:ext cx="178308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DS</a:t>
            </a:r>
            <a:endParaRPr lang="en-US" sz="1250" dirty="0"/>
          </a:p>
        </p:txBody>
      </p:sp>
      <p:sp>
        <p:nvSpPr>
          <p:cNvPr id="30" name="Text 28"/>
          <p:cNvSpPr/>
          <p:nvPr/>
        </p:nvSpPr>
        <p:spPr>
          <a:xfrm>
            <a:off x="640080" y="6355080"/>
            <a:ext cx="10972800" cy="320040"/>
          </a:xfrm>
          <a:prstGeom prst="rect">
            <a:avLst/>
          </a:prstGeom>
          <a:noFill/>
          <a:ln/>
        </p:spPr>
        <p:txBody>
          <a:bodyPr wrap="square" lIns="0" tIns="0" rIns="0" bIns="0" rtlCol="0" anchor="ctr"/>
          <a:lstStyle/>
          <a:p>
            <a:pPr indent="0" marL="0">
              <a:buNone/>
            </a:pPr>
            <a:r>
              <a:rPr lang="en-US" sz="1250" i="1" dirty="0">
                <a:solidFill>
                  <a:srgbClr val="0E7C86"/>
                </a:solidFill>
                <a:latin typeface="Calibri" pitchFamily="34" charset="0"/>
                <a:ea typeface="Calibri" pitchFamily="34" charset="-122"/>
                <a:cs typeface="Calibri" pitchFamily="34" charset="-120"/>
              </a:rPr>
              <a:t>You already met these two-letter codes in Module 01 — this is where they come from.</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INSTRUMENT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CRF: how a measurement becomes data</a:t>
            </a:r>
            <a:endParaRPr lang="en-US" sz="3000" dirty="0"/>
          </a:p>
        </p:txBody>
      </p:sp>
      <p:sp>
        <p:nvSpPr>
          <p:cNvPr id="4" name="Shape 2"/>
          <p:cNvSpPr/>
          <p:nvPr/>
        </p:nvSpPr>
        <p:spPr>
          <a:xfrm>
            <a:off x="640080" y="1691640"/>
            <a:ext cx="5486400" cy="4206240"/>
          </a:xfrm>
          <a:prstGeom prst="roundRect">
            <a:avLst>
              <a:gd name="adj" fmla="val 195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937760" cy="457200"/>
          </a:xfrm>
          <a:prstGeom prst="rect">
            <a:avLst/>
          </a:prstGeom>
          <a:noFill/>
          <a:ln/>
        </p:spPr>
        <p:txBody>
          <a:bodyPr wrap="square" lIns="0" tIns="0" rIns="0" bIns="0" rtlCol="0" anchor="ctr"/>
          <a:lstStyle/>
          <a:p>
            <a:pPr indent="0" marL="0">
              <a:buNone/>
            </a:pPr>
            <a:r>
              <a:rPr lang="en-US" sz="2100" b="1" dirty="0">
                <a:solidFill>
                  <a:srgbClr val="0E7C86"/>
                </a:solidFill>
                <a:latin typeface="Cambria" pitchFamily="34" charset="0"/>
                <a:ea typeface="Cambria" pitchFamily="34" charset="-122"/>
                <a:cs typeface="Cambria" pitchFamily="34" charset="-120"/>
              </a:rPr>
              <a:t>Case Report Form (CRF)</a:t>
            </a:r>
            <a:endParaRPr lang="en-US" sz="2100" dirty="0"/>
          </a:p>
        </p:txBody>
      </p:sp>
      <p:sp>
        <p:nvSpPr>
          <p:cNvPr id="6" name="Text 4"/>
          <p:cNvSpPr/>
          <p:nvPr/>
        </p:nvSpPr>
        <p:spPr>
          <a:xfrm>
            <a:off x="914400" y="2468880"/>
            <a:ext cx="4937760" cy="2377440"/>
          </a:xfrm>
          <a:prstGeom prst="rect">
            <a:avLst/>
          </a:prstGeom>
          <a:noFill/>
          <a:ln/>
        </p:spPr>
        <p:txBody>
          <a:bodyPr wrap="square" lIns="0" tIns="0" rIns="0" bIns="0" rtlCol="0" anchor="t"/>
          <a:lstStyle/>
          <a:p>
            <a:pPr indent="0" marL="0">
              <a:lnSpc>
                <a:spcPts val="2100"/>
              </a:lnSpc>
              <a:buNone/>
            </a:pPr>
            <a:r>
              <a:rPr lang="en-US" sz="1400" b="1" dirty="0">
                <a:solidFill>
                  <a:srgbClr val="0F2E3D"/>
                </a:solidFill>
                <a:latin typeface="Calibri" pitchFamily="34" charset="0"/>
                <a:ea typeface="Calibri" pitchFamily="34" charset="-122"/>
                <a:cs typeface="Calibri" pitchFamily="34" charset="-120"/>
              </a:rPr>
              <a:t>The form used to record the information the protocol requires for each subject.
</a:t>
            </a:r>
            <a:pPr indent="0" marL="0">
              <a:lnSpc>
                <a:spcPts val="2100"/>
              </a:lnSpc>
              <a:buNone/>
            </a:pPr>
            <a:r>
              <a:rPr lang="en-US" sz="1400" dirty="0">
                <a:solidFill>
                  <a:srgbClr val="5A7682"/>
                </a:solidFill>
                <a:latin typeface="Calibri" pitchFamily="34" charset="0"/>
                <a:ea typeface="Calibri" pitchFamily="34" charset="-122"/>
                <a:cs typeface="Calibri" pitchFamily="34" charset="-120"/>
              </a:rPr>
              <a:t>One form per topic — a demographics form, an adverse event form, a vital signs form. Historically paper; today almost always electronic (eCRF) inside an EDC system.</a:t>
            </a:r>
            <a:endParaRPr lang="en-US" sz="1400" dirty="0"/>
          </a:p>
        </p:txBody>
      </p:sp>
      <p:sp>
        <p:nvSpPr>
          <p:cNvPr id="7" name="Text 5"/>
          <p:cNvSpPr/>
          <p:nvPr/>
        </p:nvSpPr>
        <p:spPr>
          <a:xfrm>
            <a:off x="914400" y="5029200"/>
            <a:ext cx="4937760" cy="731520"/>
          </a:xfrm>
          <a:prstGeom prst="rect">
            <a:avLst/>
          </a:prstGeom>
          <a:noFill/>
          <a:ln/>
        </p:spPr>
        <p:txBody>
          <a:bodyPr wrap="square" lIns="0" tIns="0" rIns="0" bIns="0" rtlCol="0" anchor="ctr"/>
          <a:lstStyle/>
          <a:p>
            <a:pPr indent="0" marL="0">
              <a:buNone/>
            </a:pPr>
            <a:r>
              <a:rPr lang="en-US" sz="1350" i="1" dirty="0">
                <a:solidFill>
                  <a:srgbClr val="0F2E3D"/>
                </a:solidFill>
                <a:latin typeface="Calibri" pitchFamily="34" charset="0"/>
                <a:ea typeface="Calibri" pitchFamily="34" charset="-122"/>
                <a:cs typeface="Calibri" pitchFamily="34" charset="-120"/>
              </a:rPr>
              <a:t>One CRF form usually becomes one raw dataset — which you then map to a domain.</a:t>
            </a:r>
            <a:endParaRPr lang="en-US" sz="1350" dirty="0"/>
          </a:p>
        </p:txBody>
      </p:sp>
      <p:sp>
        <p:nvSpPr>
          <p:cNvPr id="8" name="Shape 6"/>
          <p:cNvSpPr/>
          <p:nvPr/>
        </p:nvSpPr>
        <p:spPr>
          <a:xfrm>
            <a:off x="6400800" y="1691640"/>
            <a:ext cx="5212080" cy="4206240"/>
          </a:xfrm>
          <a:prstGeom prst="roundRect">
            <a:avLst>
              <a:gd name="adj" fmla="val 19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675120" y="1874520"/>
            <a:ext cx="4663440" cy="320040"/>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VITAL SIGNS</a:t>
            </a:r>
            <a:endParaRPr lang="en-US" sz="1300" dirty="0"/>
          </a:p>
        </p:txBody>
      </p:sp>
      <p:sp>
        <p:nvSpPr>
          <p:cNvPr id="10" name="Shape 8"/>
          <p:cNvSpPr/>
          <p:nvPr/>
        </p:nvSpPr>
        <p:spPr>
          <a:xfrm>
            <a:off x="6675120" y="2240280"/>
            <a:ext cx="4663440" cy="0"/>
          </a:xfrm>
          <a:prstGeom prst="line">
            <a:avLst/>
          </a:prstGeom>
          <a:noFill/>
          <a:ln w="12700">
            <a:solidFill>
              <a:srgbClr val="CFDEE1"/>
            </a:solidFill>
            <a:prstDash val="solid"/>
          </a:ln>
        </p:spPr>
      </p:sp>
      <p:sp>
        <p:nvSpPr>
          <p:cNvPr id="11" name="Text 9"/>
          <p:cNvSpPr/>
          <p:nvPr/>
        </p:nvSpPr>
        <p:spPr>
          <a:xfrm>
            <a:off x="6720840" y="2395728"/>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Visit</a:t>
            </a:r>
            <a:endParaRPr lang="en-US" sz="1250" dirty="0"/>
          </a:p>
        </p:txBody>
      </p:sp>
      <p:sp>
        <p:nvSpPr>
          <p:cNvPr id="12" name="Shape 10"/>
          <p:cNvSpPr/>
          <p:nvPr/>
        </p:nvSpPr>
        <p:spPr>
          <a:xfrm>
            <a:off x="8595360" y="2395728"/>
            <a:ext cx="2651760" cy="320040"/>
          </a:xfrm>
          <a:prstGeom prst="roundRect">
            <a:avLst>
              <a:gd name="adj" fmla="val 11429"/>
            </a:avLst>
          </a:prstGeom>
          <a:solidFill>
            <a:srgbClr val="F3F7F8"/>
          </a:solidFill>
          <a:ln w="12700">
            <a:solidFill>
              <a:srgbClr val="CFDEE1"/>
            </a:solidFill>
            <a:prstDash val="solid"/>
          </a:ln>
        </p:spPr>
      </p:sp>
      <p:sp>
        <p:nvSpPr>
          <p:cNvPr id="13" name="Text 11"/>
          <p:cNvSpPr/>
          <p:nvPr/>
        </p:nvSpPr>
        <p:spPr>
          <a:xfrm>
            <a:off x="8686800" y="2395728"/>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SCREENING</a:t>
            </a:r>
            <a:endParaRPr lang="en-US" sz="1150" dirty="0"/>
          </a:p>
        </p:txBody>
      </p:sp>
      <p:sp>
        <p:nvSpPr>
          <p:cNvPr id="14" name="Text 12"/>
          <p:cNvSpPr/>
          <p:nvPr/>
        </p:nvSpPr>
        <p:spPr>
          <a:xfrm>
            <a:off x="6720840" y="2871216"/>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Date</a:t>
            </a:r>
            <a:endParaRPr lang="en-US" sz="1250" dirty="0"/>
          </a:p>
        </p:txBody>
      </p:sp>
      <p:sp>
        <p:nvSpPr>
          <p:cNvPr id="15" name="Shape 13"/>
          <p:cNvSpPr/>
          <p:nvPr/>
        </p:nvSpPr>
        <p:spPr>
          <a:xfrm>
            <a:off x="8595360" y="2871216"/>
            <a:ext cx="2651760" cy="320040"/>
          </a:xfrm>
          <a:prstGeom prst="roundRect">
            <a:avLst>
              <a:gd name="adj" fmla="val 11429"/>
            </a:avLst>
          </a:prstGeom>
          <a:solidFill>
            <a:srgbClr val="F3F7F8"/>
          </a:solidFill>
          <a:ln w="12700">
            <a:solidFill>
              <a:srgbClr val="CFDEE1"/>
            </a:solidFill>
            <a:prstDash val="solid"/>
          </a:ln>
        </p:spPr>
      </p:sp>
      <p:sp>
        <p:nvSpPr>
          <p:cNvPr id="16" name="Text 14"/>
          <p:cNvSpPr/>
          <p:nvPr/>
        </p:nvSpPr>
        <p:spPr>
          <a:xfrm>
            <a:off x="8686800" y="2871216"/>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20-FEB-2024</a:t>
            </a:r>
            <a:endParaRPr lang="en-US" sz="1150" dirty="0"/>
          </a:p>
        </p:txBody>
      </p:sp>
      <p:sp>
        <p:nvSpPr>
          <p:cNvPr id="17" name="Text 15"/>
          <p:cNvSpPr/>
          <p:nvPr/>
        </p:nvSpPr>
        <p:spPr>
          <a:xfrm>
            <a:off x="6720840" y="3346704"/>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Systolic BP</a:t>
            </a:r>
            <a:endParaRPr lang="en-US" sz="1250" dirty="0"/>
          </a:p>
        </p:txBody>
      </p:sp>
      <p:sp>
        <p:nvSpPr>
          <p:cNvPr id="18" name="Shape 16"/>
          <p:cNvSpPr/>
          <p:nvPr/>
        </p:nvSpPr>
        <p:spPr>
          <a:xfrm>
            <a:off x="8595360" y="3346704"/>
            <a:ext cx="2651760" cy="320040"/>
          </a:xfrm>
          <a:prstGeom prst="roundRect">
            <a:avLst>
              <a:gd name="adj" fmla="val 11429"/>
            </a:avLst>
          </a:prstGeom>
          <a:solidFill>
            <a:srgbClr val="F3F7F8"/>
          </a:solidFill>
          <a:ln w="12700">
            <a:solidFill>
              <a:srgbClr val="CFDEE1"/>
            </a:solidFill>
            <a:prstDash val="solid"/>
          </a:ln>
        </p:spPr>
      </p:sp>
      <p:sp>
        <p:nvSpPr>
          <p:cNvPr id="19" name="Text 17"/>
          <p:cNvSpPr/>
          <p:nvPr/>
        </p:nvSpPr>
        <p:spPr>
          <a:xfrm>
            <a:off x="8686800" y="3346704"/>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122  mmHg</a:t>
            </a:r>
            <a:endParaRPr lang="en-US" sz="1150" dirty="0"/>
          </a:p>
        </p:txBody>
      </p:sp>
      <p:sp>
        <p:nvSpPr>
          <p:cNvPr id="20" name="Text 18"/>
          <p:cNvSpPr/>
          <p:nvPr/>
        </p:nvSpPr>
        <p:spPr>
          <a:xfrm>
            <a:off x="6720840" y="3822192"/>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Diastolic BP</a:t>
            </a:r>
            <a:endParaRPr lang="en-US" sz="1250" dirty="0"/>
          </a:p>
        </p:txBody>
      </p:sp>
      <p:sp>
        <p:nvSpPr>
          <p:cNvPr id="21" name="Shape 19"/>
          <p:cNvSpPr/>
          <p:nvPr/>
        </p:nvSpPr>
        <p:spPr>
          <a:xfrm>
            <a:off x="8595360" y="3822192"/>
            <a:ext cx="2651760" cy="320040"/>
          </a:xfrm>
          <a:prstGeom prst="roundRect">
            <a:avLst>
              <a:gd name="adj" fmla="val 11429"/>
            </a:avLst>
          </a:prstGeom>
          <a:solidFill>
            <a:srgbClr val="F3F7F8"/>
          </a:solidFill>
          <a:ln w="12700">
            <a:solidFill>
              <a:srgbClr val="CFDEE1"/>
            </a:solidFill>
            <a:prstDash val="solid"/>
          </a:ln>
        </p:spPr>
      </p:sp>
      <p:sp>
        <p:nvSpPr>
          <p:cNvPr id="22" name="Text 20"/>
          <p:cNvSpPr/>
          <p:nvPr/>
        </p:nvSpPr>
        <p:spPr>
          <a:xfrm>
            <a:off x="8686800" y="3822192"/>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80  mmHg</a:t>
            </a:r>
            <a:endParaRPr lang="en-US" sz="1150" dirty="0"/>
          </a:p>
        </p:txBody>
      </p:sp>
      <p:sp>
        <p:nvSpPr>
          <p:cNvPr id="23" name="Text 21"/>
          <p:cNvSpPr/>
          <p:nvPr/>
        </p:nvSpPr>
        <p:spPr>
          <a:xfrm>
            <a:off x="6720840" y="4297680"/>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Pulse</a:t>
            </a:r>
            <a:endParaRPr lang="en-US" sz="1250" dirty="0"/>
          </a:p>
        </p:txBody>
      </p:sp>
      <p:sp>
        <p:nvSpPr>
          <p:cNvPr id="24" name="Shape 22"/>
          <p:cNvSpPr/>
          <p:nvPr/>
        </p:nvSpPr>
        <p:spPr>
          <a:xfrm>
            <a:off x="8595360" y="4297680"/>
            <a:ext cx="2651760" cy="320040"/>
          </a:xfrm>
          <a:prstGeom prst="roundRect">
            <a:avLst>
              <a:gd name="adj" fmla="val 11429"/>
            </a:avLst>
          </a:prstGeom>
          <a:solidFill>
            <a:srgbClr val="F3F7F8"/>
          </a:solidFill>
          <a:ln w="12700">
            <a:solidFill>
              <a:srgbClr val="CFDEE1"/>
            </a:solidFill>
            <a:prstDash val="solid"/>
          </a:ln>
        </p:spPr>
      </p:sp>
      <p:sp>
        <p:nvSpPr>
          <p:cNvPr id="25" name="Text 23"/>
          <p:cNvSpPr/>
          <p:nvPr/>
        </p:nvSpPr>
        <p:spPr>
          <a:xfrm>
            <a:off x="8686800" y="4297680"/>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68  beats/min</a:t>
            </a:r>
            <a:endParaRPr lang="en-US" sz="1150" dirty="0"/>
          </a:p>
        </p:txBody>
      </p:sp>
      <p:sp>
        <p:nvSpPr>
          <p:cNvPr id="26" name="Text 24"/>
          <p:cNvSpPr/>
          <p:nvPr/>
        </p:nvSpPr>
        <p:spPr>
          <a:xfrm>
            <a:off x="6720840" y="4773168"/>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Temperature</a:t>
            </a:r>
            <a:endParaRPr lang="en-US" sz="1250" dirty="0"/>
          </a:p>
        </p:txBody>
      </p:sp>
      <p:sp>
        <p:nvSpPr>
          <p:cNvPr id="27" name="Shape 25"/>
          <p:cNvSpPr/>
          <p:nvPr/>
        </p:nvSpPr>
        <p:spPr>
          <a:xfrm>
            <a:off x="8595360" y="4773168"/>
            <a:ext cx="2651760" cy="320040"/>
          </a:xfrm>
          <a:prstGeom prst="roundRect">
            <a:avLst>
              <a:gd name="adj" fmla="val 11429"/>
            </a:avLst>
          </a:prstGeom>
          <a:solidFill>
            <a:srgbClr val="F3F7F8"/>
          </a:solidFill>
          <a:ln w="12700">
            <a:solidFill>
              <a:srgbClr val="CFDEE1"/>
            </a:solidFill>
            <a:prstDash val="solid"/>
          </a:ln>
        </p:spPr>
      </p:sp>
      <p:sp>
        <p:nvSpPr>
          <p:cNvPr id="28" name="Text 26"/>
          <p:cNvSpPr/>
          <p:nvPr/>
        </p:nvSpPr>
        <p:spPr>
          <a:xfrm>
            <a:off x="8686800" y="4773168"/>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36.7  °C</a:t>
            </a:r>
            <a:endParaRPr lang="en-US" sz="1150" dirty="0"/>
          </a:p>
        </p:txBody>
      </p:sp>
      <p:sp>
        <p:nvSpPr>
          <p:cNvPr id="29" name="Text 27"/>
          <p:cNvSpPr/>
          <p:nvPr/>
        </p:nvSpPr>
        <p:spPr>
          <a:xfrm>
            <a:off x="6720840" y="5248656"/>
            <a:ext cx="182880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Weight</a:t>
            </a:r>
            <a:endParaRPr lang="en-US" sz="1250" dirty="0"/>
          </a:p>
        </p:txBody>
      </p:sp>
      <p:sp>
        <p:nvSpPr>
          <p:cNvPr id="30" name="Shape 28"/>
          <p:cNvSpPr/>
          <p:nvPr/>
        </p:nvSpPr>
        <p:spPr>
          <a:xfrm>
            <a:off x="8595360" y="5248656"/>
            <a:ext cx="2651760" cy="320040"/>
          </a:xfrm>
          <a:prstGeom prst="roundRect">
            <a:avLst>
              <a:gd name="adj" fmla="val 11429"/>
            </a:avLst>
          </a:prstGeom>
          <a:solidFill>
            <a:srgbClr val="F3F7F8"/>
          </a:solidFill>
          <a:ln w="12700">
            <a:solidFill>
              <a:srgbClr val="CFDEE1"/>
            </a:solidFill>
            <a:prstDash val="solid"/>
          </a:ln>
        </p:spPr>
      </p:sp>
      <p:sp>
        <p:nvSpPr>
          <p:cNvPr id="31" name="Text 29"/>
          <p:cNvSpPr/>
          <p:nvPr/>
        </p:nvSpPr>
        <p:spPr>
          <a:xfrm>
            <a:off x="8686800" y="5248656"/>
            <a:ext cx="2468880" cy="32004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70.5  kg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CAPTURE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form to database: EDC</a:t>
            </a:r>
            <a:endParaRPr lang="en-US" sz="3000" dirty="0"/>
          </a:p>
        </p:txBody>
      </p:sp>
      <p:sp>
        <p:nvSpPr>
          <p:cNvPr id="4" name="Shape 2"/>
          <p:cNvSpPr/>
          <p:nvPr/>
        </p:nvSpPr>
        <p:spPr>
          <a:xfrm>
            <a:off x="640080" y="1920240"/>
            <a:ext cx="3291840" cy="3108960"/>
          </a:xfrm>
          <a:prstGeom prst="roundRect">
            <a:avLst>
              <a:gd name="adj" fmla="val 264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640080" y="2103120"/>
            <a:ext cx="3291840" cy="548640"/>
          </a:xfrm>
          <a:prstGeom prst="rect">
            <a:avLst/>
          </a:prstGeom>
          <a:noFill/>
          <a:ln/>
        </p:spPr>
        <p:txBody>
          <a:bodyPr wrap="square" lIns="0" tIns="0" rIns="0" bIns="0" rtlCol="0" anchor="ctr"/>
          <a:lstStyle/>
          <a:p>
            <a:pPr algn="ctr" indent="0" marL="0">
              <a:buNone/>
            </a:pPr>
            <a:r>
              <a:rPr lang="en-US" sz="3400" b="1" dirty="0">
                <a:solidFill>
                  <a:srgbClr val="0E7C86"/>
                </a:solidFill>
                <a:latin typeface="Cambria" pitchFamily="34" charset="0"/>
                <a:ea typeface="Cambria" pitchFamily="34" charset="-122"/>
                <a:cs typeface="Cambria" pitchFamily="34" charset="-120"/>
              </a:rPr>
              <a:t>1</a:t>
            </a:r>
            <a:endParaRPr lang="en-US" sz="3400" dirty="0"/>
          </a:p>
        </p:txBody>
      </p:sp>
      <p:sp>
        <p:nvSpPr>
          <p:cNvPr id="6" name="Text 4"/>
          <p:cNvSpPr/>
          <p:nvPr/>
        </p:nvSpPr>
        <p:spPr>
          <a:xfrm>
            <a:off x="822960" y="2743200"/>
            <a:ext cx="29260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Site enters data</a:t>
            </a:r>
            <a:endParaRPr lang="en-US" sz="1600" dirty="0"/>
          </a:p>
        </p:txBody>
      </p:sp>
      <p:sp>
        <p:nvSpPr>
          <p:cNvPr id="7" name="Text 5"/>
          <p:cNvSpPr/>
          <p:nvPr/>
        </p:nvSpPr>
        <p:spPr>
          <a:xfrm>
            <a:off x="868680" y="3200400"/>
            <a:ext cx="2834640" cy="1463040"/>
          </a:xfrm>
          <a:prstGeom prst="rect">
            <a:avLst/>
          </a:prstGeom>
          <a:noFill/>
          <a:ln/>
        </p:spPr>
        <p:txBody>
          <a:bodyPr wrap="square" lIns="0" tIns="0" rIns="0" bIns="0" rtlCol="0" anchor="ctr"/>
          <a:lstStyle/>
          <a:p>
            <a:pPr algn="ctr" indent="0" marL="0">
              <a:buNone/>
            </a:pPr>
            <a:r>
              <a:rPr lang="en-US" sz="1250" dirty="0">
                <a:solidFill>
                  <a:srgbClr val="C7DCE0"/>
                </a:solidFill>
                <a:latin typeface="Calibri" pitchFamily="34" charset="0"/>
                <a:ea typeface="Calibri" pitchFamily="34" charset="-122"/>
                <a:cs typeface="Calibri" pitchFamily="34" charset="-120"/>
              </a:rPr>
              <a:t>A coordinator types the visit results into the eCRF, often days after the visit.</a:t>
            </a:r>
            <a:endParaRPr lang="en-US" sz="1250" dirty="0"/>
          </a:p>
        </p:txBody>
      </p:sp>
      <p:sp>
        <p:nvSpPr>
          <p:cNvPr id="8" name="Shape 6"/>
          <p:cNvSpPr/>
          <p:nvPr/>
        </p:nvSpPr>
        <p:spPr>
          <a:xfrm>
            <a:off x="4434840" y="1920240"/>
            <a:ext cx="3291840" cy="3108960"/>
          </a:xfrm>
          <a:prstGeom prst="roundRect">
            <a:avLst>
              <a:gd name="adj" fmla="val 264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4434840" y="2103120"/>
            <a:ext cx="3291840" cy="548640"/>
          </a:xfrm>
          <a:prstGeom prst="rect">
            <a:avLst/>
          </a:prstGeom>
          <a:noFill/>
          <a:ln/>
        </p:spPr>
        <p:txBody>
          <a:bodyPr wrap="square" lIns="0" tIns="0" rIns="0" bIns="0" rtlCol="0" anchor="ctr"/>
          <a:lstStyle/>
          <a:p>
            <a:pPr algn="ctr" indent="0" marL="0">
              <a:buNone/>
            </a:pPr>
            <a:r>
              <a:rPr lang="en-US" sz="3400" b="1" dirty="0">
                <a:solidFill>
                  <a:srgbClr val="1FA8A0"/>
                </a:solidFill>
                <a:latin typeface="Cambria" pitchFamily="34" charset="0"/>
                <a:ea typeface="Cambria" pitchFamily="34" charset="-122"/>
                <a:cs typeface="Cambria" pitchFamily="34" charset="-120"/>
              </a:rPr>
              <a:t>2</a:t>
            </a:r>
            <a:endParaRPr lang="en-US" sz="3400" dirty="0"/>
          </a:p>
        </p:txBody>
      </p:sp>
      <p:sp>
        <p:nvSpPr>
          <p:cNvPr id="10" name="Text 8"/>
          <p:cNvSpPr/>
          <p:nvPr/>
        </p:nvSpPr>
        <p:spPr>
          <a:xfrm>
            <a:off x="4617720" y="2743200"/>
            <a:ext cx="29260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Checks run</a:t>
            </a:r>
            <a:endParaRPr lang="en-US" sz="1600" dirty="0"/>
          </a:p>
        </p:txBody>
      </p:sp>
      <p:sp>
        <p:nvSpPr>
          <p:cNvPr id="11" name="Text 9"/>
          <p:cNvSpPr/>
          <p:nvPr/>
        </p:nvSpPr>
        <p:spPr>
          <a:xfrm>
            <a:off x="4663440" y="3200400"/>
            <a:ext cx="2834640" cy="1463040"/>
          </a:xfrm>
          <a:prstGeom prst="rect">
            <a:avLst/>
          </a:prstGeom>
          <a:noFill/>
          <a:ln/>
        </p:spPr>
        <p:txBody>
          <a:bodyPr wrap="square" lIns="0" tIns="0" rIns="0" bIns="0" rtlCol="0" anchor="ctr"/>
          <a:lstStyle/>
          <a:p>
            <a:pPr algn="ctr" indent="0" marL="0">
              <a:buNone/>
            </a:pPr>
            <a:r>
              <a:rPr lang="en-US" sz="1250" dirty="0">
                <a:solidFill>
                  <a:srgbClr val="C7DCE0"/>
                </a:solidFill>
                <a:latin typeface="Calibri" pitchFamily="34" charset="0"/>
                <a:ea typeface="Calibri" pitchFamily="34" charset="-122"/>
                <a:cs typeface="Calibri" pitchFamily="34" charset="-120"/>
              </a:rPr>
              <a:t>The EDC flags impossible or missing values. Queries go back to the site to fix.</a:t>
            </a:r>
            <a:endParaRPr lang="en-US" sz="1250" dirty="0"/>
          </a:p>
        </p:txBody>
      </p:sp>
      <p:sp>
        <p:nvSpPr>
          <p:cNvPr id="12" name="Shape 10"/>
          <p:cNvSpPr/>
          <p:nvPr/>
        </p:nvSpPr>
        <p:spPr>
          <a:xfrm>
            <a:off x="8229600" y="1920240"/>
            <a:ext cx="3383280" cy="3108960"/>
          </a:xfrm>
          <a:prstGeom prst="roundRect">
            <a:avLst>
              <a:gd name="adj" fmla="val 2647"/>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229600" y="2103120"/>
            <a:ext cx="3383280" cy="548640"/>
          </a:xfrm>
          <a:prstGeom prst="rect">
            <a:avLst/>
          </a:prstGeom>
          <a:noFill/>
          <a:ln/>
        </p:spPr>
        <p:txBody>
          <a:bodyPr wrap="square" lIns="0" tIns="0" rIns="0" bIns="0" rtlCol="0" anchor="ctr"/>
          <a:lstStyle/>
          <a:p>
            <a:pPr algn="ctr" indent="0" marL="0">
              <a:buNone/>
            </a:pPr>
            <a:r>
              <a:rPr lang="en-US" sz="3400" b="1" dirty="0">
                <a:solidFill>
                  <a:srgbClr val="E8833A"/>
                </a:solidFill>
                <a:latin typeface="Cambria" pitchFamily="34" charset="0"/>
                <a:ea typeface="Cambria" pitchFamily="34" charset="-122"/>
                <a:cs typeface="Cambria" pitchFamily="34" charset="-120"/>
              </a:rPr>
              <a:t>3</a:t>
            </a:r>
            <a:endParaRPr lang="en-US" sz="3400" dirty="0"/>
          </a:p>
        </p:txBody>
      </p:sp>
      <p:sp>
        <p:nvSpPr>
          <p:cNvPr id="14" name="Text 12"/>
          <p:cNvSpPr/>
          <p:nvPr/>
        </p:nvSpPr>
        <p:spPr>
          <a:xfrm>
            <a:off x="8412480" y="274320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 extracted</a:t>
            </a:r>
            <a:endParaRPr lang="en-US" sz="1600" dirty="0"/>
          </a:p>
        </p:txBody>
      </p:sp>
      <p:sp>
        <p:nvSpPr>
          <p:cNvPr id="15" name="Text 13"/>
          <p:cNvSpPr/>
          <p:nvPr/>
        </p:nvSpPr>
        <p:spPr>
          <a:xfrm>
            <a:off x="8458200" y="3200400"/>
            <a:ext cx="2926080" cy="1463040"/>
          </a:xfrm>
          <a:prstGeom prst="rect">
            <a:avLst/>
          </a:prstGeom>
          <a:noFill/>
          <a:ln/>
        </p:spPr>
        <p:txBody>
          <a:bodyPr wrap="square" lIns="0" tIns="0" rIns="0" bIns="0" rtlCol="0" anchor="ctr"/>
          <a:lstStyle/>
          <a:p>
            <a:pPr algn="ctr" indent="0" marL="0">
              <a:buNone/>
            </a:pPr>
            <a:r>
              <a:rPr lang="en-US" sz="1250" dirty="0">
                <a:solidFill>
                  <a:srgbClr val="C7DCE0"/>
                </a:solidFill>
                <a:latin typeface="Calibri" pitchFamily="34" charset="0"/>
                <a:ea typeface="Calibri" pitchFamily="34" charset="-122"/>
                <a:cs typeface="Calibri" pitchFamily="34" charset="-120"/>
              </a:rPr>
              <a:t>Programmers pull the raw data out as CSV or SAS files — where your work begins.</a:t>
            </a:r>
            <a:endParaRPr lang="en-US" sz="1250" dirty="0"/>
          </a:p>
        </p:txBody>
      </p:sp>
      <p:sp>
        <p:nvSpPr>
          <p:cNvPr id="16" name="Text 14"/>
          <p:cNvSpPr/>
          <p:nvPr/>
        </p:nvSpPr>
        <p:spPr>
          <a:xfrm>
            <a:off x="4041648" y="3246120"/>
            <a:ext cx="320040" cy="457200"/>
          </a:xfrm>
          <a:prstGeom prst="rect">
            <a:avLst/>
          </a:prstGeom>
          <a:noFill/>
          <a:ln/>
        </p:spPr>
        <p:txBody>
          <a:bodyPr wrap="square" lIns="0" tIns="0" rIns="0" bIns="0" rtlCol="0" anchor="ctr"/>
          <a:lstStyle/>
          <a:p>
            <a:pPr algn="ctr" indent="0" marL="0">
              <a:buNone/>
            </a:pPr>
            <a:r>
              <a:rPr lang="en-US" sz="2000" dirty="0">
                <a:solidFill>
                  <a:srgbClr val="6FC8B4"/>
                </a:solidFill>
              </a:rPr>
              <a:t>▶</a:t>
            </a:r>
            <a:endParaRPr lang="en-US" sz="2000" dirty="0"/>
          </a:p>
        </p:txBody>
      </p:sp>
      <p:sp>
        <p:nvSpPr>
          <p:cNvPr id="17" name="Text 15"/>
          <p:cNvSpPr/>
          <p:nvPr/>
        </p:nvSpPr>
        <p:spPr>
          <a:xfrm>
            <a:off x="7836408" y="3246120"/>
            <a:ext cx="320040" cy="457200"/>
          </a:xfrm>
          <a:prstGeom prst="rect">
            <a:avLst/>
          </a:prstGeom>
          <a:noFill/>
          <a:ln/>
        </p:spPr>
        <p:txBody>
          <a:bodyPr wrap="square" lIns="0" tIns="0" rIns="0" bIns="0" rtlCol="0" anchor="ctr"/>
          <a:lstStyle/>
          <a:p>
            <a:pPr algn="ctr" indent="0" marL="0">
              <a:buNone/>
            </a:pPr>
            <a:r>
              <a:rPr lang="en-US" sz="2000" dirty="0">
                <a:solidFill>
                  <a:srgbClr val="6FC8B4"/>
                </a:solidFill>
              </a:rPr>
              <a:t>▶</a:t>
            </a:r>
            <a:endParaRPr lang="en-US" sz="2000" dirty="0"/>
          </a:p>
        </p:txBody>
      </p:sp>
      <p:sp>
        <p:nvSpPr>
          <p:cNvPr id="18" name="Text 16"/>
          <p:cNvSpPr/>
          <p:nvPr/>
        </p:nvSpPr>
        <p:spPr>
          <a:xfrm>
            <a:off x="640080" y="5394960"/>
            <a:ext cx="10972800" cy="457200"/>
          </a:xfrm>
          <a:prstGeom prst="rect">
            <a:avLst/>
          </a:prstGeom>
          <a:noFill/>
          <a:ln/>
        </p:spPr>
        <p:txBody>
          <a:bodyPr wrap="square" lIns="0" tIns="0" rIns="0" bIns="0" rtlCol="0" anchor="ctr"/>
          <a:lstStyle/>
          <a:p>
            <a:pPr indent="0" marL="0">
              <a:buNone/>
            </a:pPr>
            <a:r>
              <a:rPr lang="en-US" sz="1350" i="1" dirty="0">
                <a:solidFill>
                  <a:srgbClr val="9FC0C6"/>
                </a:solidFill>
                <a:latin typeface="Calibri" pitchFamily="34" charset="0"/>
                <a:ea typeface="Calibri" pitchFamily="34" charset="-122"/>
                <a:cs typeface="Calibri" pitchFamily="34" charset="-120"/>
              </a:rPr>
              <a:t>EDC = Electronic Data Capture. Data cleaning is continuous — the database is “locked” only when the study is complete.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SPEAK THE LANGUAGE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Trial vocabulary you'll hear daily</a:t>
            </a:r>
            <a:endParaRPr lang="en-US" sz="3000" dirty="0"/>
          </a:p>
        </p:txBody>
      </p:sp>
      <p:sp>
        <p:nvSpPr>
          <p:cNvPr id="4" name="Shape 2"/>
          <p:cNvSpPr/>
          <p:nvPr/>
        </p:nvSpPr>
        <p:spPr>
          <a:xfrm>
            <a:off x="640080" y="1645920"/>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68680" y="1764792"/>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Protocol</a:t>
            </a:r>
            <a:endParaRPr lang="en-US" sz="1500" dirty="0"/>
          </a:p>
        </p:txBody>
      </p:sp>
      <p:sp>
        <p:nvSpPr>
          <p:cNvPr id="6" name="Text 4"/>
          <p:cNvSpPr/>
          <p:nvPr/>
        </p:nvSpPr>
        <p:spPr>
          <a:xfrm>
            <a:off x="868680" y="2121408"/>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study's written plan</a:t>
            </a:r>
            <a:endParaRPr lang="en-US" sz="1250" dirty="0"/>
          </a:p>
        </p:txBody>
      </p:sp>
      <p:sp>
        <p:nvSpPr>
          <p:cNvPr id="7" name="Shape 5"/>
          <p:cNvSpPr/>
          <p:nvPr/>
        </p:nvSpPr>
        <p:spPr>
          <a:xfrm>
            <a:off x="4389120" y="1645920"/>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4617720" y="1764792"/>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Site</a:t>
            </a:r>
            <a:endParaRPr lang="en-US" sz="1500" dirty="0"/>
          </a:p>
        </p:txBody>
      </p:sp>
      <p:sp>
        <p:nvSpPr>
          <p:cNvPr id="9" name="Text 7"/>
          <p:cNvSpPr/>
          <p:nvPr/>
        </p:nvSpPr>
        <p:spPr>
          <a:xfrm>
            <a:off x="4617720" y="2121408"/>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 hospital/clinic running the trial</a:t>
            </a:r>
            <a:endParaRPr lang="en-US" sz="1250" dirty="0"/>
          </a:p>
        </p:txBody>
      </p:sp>
      <p:sp>
        <p:nvSpPr>
          <p:cNvPr id="10" name="Shape 8"/>
          <p:cNvSpPr/>
          <p:nvPr/>
        </p:nvSpPr>
        <p:spPr>
          <a:xfrm>
            <a:off x="8138160" y="1645920"/>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8366760" y="1764792"/>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Subject</a:t>
            </a:r>
            <a:endParaRPr lang="en-US" sz="1500" dirty="0"/>
          </a:p>
        </p:txBody>
      </p:sp>
      <p:sp>
        <p:nvSpPr>
          <p:cNvPr id="12" name="Text 10"/>
          <p:cNvSpPr/>
          <p:nvPr/>
        </p:nvSpPr>
        <p:spPr>
          <a:xfrm>
            <a:off x="8366760" y="2121408"/>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One participant</a:t>
            </a:r>
            <a:endParaRPr lang="en-US" sz="1250" dirty="0"/>
          </a:p>
        </p:txBody>
      </p:sp>
      <p:sp>
        <p:nvSpPr>
          <p:cNvPr id="13" name="Shape 11"/>
          <p:cNvSpPr/>
          <p:nvPr/>
        </p:nvSpPr>
        <p:spPr>
          <a:xfrm>
            <a:off x="640080" y="2816352"/>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868680" y="2935224"/>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Arm</a:t>
            </a:r>
            <a:endParaRPr lang="en-US" sz="1500" dirty="0"/>
          </a:p>
        </p:txBody>
      </p:sp>
      <p:sp>
        <p:nvSpPr>
          <p:cNvPr id="15" name="Text 13"/>
          <p:cNvSpPr/>
          <p:nvPr/>
        </p:nvSpPr>
        <p:spPr>
          <a:xfrm>
            <a:off x="868680" y="3291840"/>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 treatment group (e.g. Drug A)</a:t>
            </a:r>
            <a:endParaRPr lang="en-US" sz="1250" dirty="0"/>
          </a:p>
        </p:txBody>
      </p:sp>
      <p:sp>
        <p:nvSpPr>
          <p:cNvPr id="16" name="Shape 14"/>
          <p:cNvSpPr/>
          <p:nvPr/>
        </p:nvSpPr>
        <p:spPr>
          <a:xfrm>
            <a:off x="4389120" y="2816352"/>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4617720" y="2935224"/>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Visit</a:t>
            </a:r>
            <a:endParaRPr lang="en-US" sz="1500" dirty="0"/>
          </a:p>
        </p:txBody>
      </p:sp>
      <p:sp>
        <p:nvSpPr>
          <p:cNvPr id="18" name="Text 16"/>
          <p:cNvSpPr/>
          <p:nvPr/>
        </p:nvSpPr>
        <p:spPr>
          <a:xfrm>
            <a:off x="4617720" y="3291840"/>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 scheduled appointment</a:t>
            </a:r>
            <a:endParaRPr lang="en-US" sz="1250" dirty="0"/>
          </a:p>
        </p:txBody>
      </p:sp>
      <p:sp>
        <p:nvSpPr>
          <p:cNvPr id="19" name="Shape 17"/>
          <p:cNvSpPr/>
          <p:nvPr/>
        </p:nvSpPr>
        <p:spPr>
          <a:xfrm>
            <a:off x="8138160" y="2816352"/>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Text 18"/>
          <p:cNvSpPr/>
          <p:nvPr/>
        </p:nvSpPr>
        <p:spPr>
          <a:xfrm>
            <a:off x="8366760" y="2935224"/>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Baseline</a:t>
            </a:r>
            <a:endParaRPr lang="en-US" sz="1500" dirty="0"/>
          </a:p>
        </p:txBody>
      </p:sp>
      <p:sp>
        <p:nvSpPr>
          <p:cNvPr id="21" name="Text 19"/>
          <p:cNvSpPr/>
          <p:nvPr/>
        </p:nvSpPr>
        <p:spPr>
          <a:xfrm>
            <a:off x="8366760" y="3291840"/>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pre-treatment reference value</a:t>
            </a:r>
            <a:endParaRPr lang="en-US" sz="1250" dirty="0"/>
          </a:p>
        </p:txBody>
      </p:sp>
      <p:sp>
        <p:nvSpPr>
          <p:cNvPr id="22" name="Shape 20"/>
          <p:cNvSpPr/>
          <p:nvPr/>
        </p:nvSpPr>
        <p:spPr>
          <a:xfrm>
            <a:off x="640080" y="3986784"/>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868680" y="4105656"/>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Endpoint</a:t>
            </a:r>
            <a:endParaRPr lang="en-US" sz="1500" dirty="0"/>
          </a:p>
        </p:txBody>
      </p:sp>
      <p:sp>
        <p:nvSpPr>
          <p:cNvPr id="24" name="Text 22"/>
          <p:cNvSpPr/>
          <p:nvPr/>
        </p:nvSpPr>
        <p:spPr>
          <a:xfrm>
            <a:off x="868680" y="4462272"/>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outcome that decides success</a:t>
            </a:r>
            <a:endParaRPr lang="en-US" sz="1250" dirty="0"/>
          </a:p>
        </p:txBody>
      </p:sp>
      <p:sp>
        <p:nvSpPr>
          <p:cNvPr id="25" name="Shape 23"/>
          <p:cNvSpPr/>
          <p:nvPr/>
        </p:nvSpPr>
        <p:spPr>
          <a:xfrm>
            <a:off x="4389120" y="3986784"/>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6" name="Text 24"/>
          <p:cNvSpPr/>
          <p:nvPr/>
        </p:nvSpPr>
        <p:spPr>
          <a:xfrm>
            <a:off x="4617720" y="4105656"/>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Adverse event</a:t>
            </a:r>
            <a:endParaRPr lang="en-US" sz="1500" dirty="0"/>
          </a:p>
        </p:txBody>
      </p:sp>
      <p:sp>
        <p:nvSpPr>
          <p:cNvPr id="27" name="Text 25"/>
          <p:cNvSpPr/>
          <p:nvPr/>
        </p:nvSpPr>
        <p:spPr>
          <a:xfrm>
            <a:off x="4617720" y="4462272"/>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Any untoward medical occurrence</a:t>
            </a:r>
            <a:endParaRPr lang="en-US" sz="1250" dirty="0"/>
          </a:p>
        </p:txBody>
      </p:sp>
      <p:sp>
        <p:nvSpPr>
          <p:cNvPr id="28" name="Shape 26"/>
          <p:cNvSpPr/>
          <p:nvPr/>
        </p:nvSpPr>
        <p:spPr>
          <a:xfrm>
            <a:off x="8138160" y="3986784"/>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8366760" y="4105656"/>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Eligibility</a:t>
            </a:r>
            <a:endParaRPr lang="en-US" sz="1500" dirty="0"/>
          </a:p>
        </p:txBody>
      </p:sp>
      <p:sp>
        <p:nvSpPr>
          <p:cNvPr id="30" name="Text 28"/>
          <p:cNvSpPr/>
          <p:nvPr/>
        </p:nvSpPr>
        <p:spPr>
          <a:xfrm>
            <a:off x="8366760" y="4462272"/>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Inclusion / exclusion criteria</a:t>
            </a:r>
            <a:endParaRPr lang="en-US" sz="1250" dirty="0"/>
          </a:p>
        </p:txBody>
      </p:sp>
      <p:sp>
        <p:nvSpPr>
          <p:cNvPr id="31" name="Shape 29"/>
          <p:cNvSpPr/>
          <p:nvPr/>
        </p:nvSpPr>
        <p:spPr>
          <a:xfrm>
            <a:off x="640080" y="5157216"/>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2" name="Text 30"/>
          <p:cNvSpPr/>
          <p:nvPr/>
        </p:nvSpPr>
        <p:spPr>
          <a:xfrm>
            <a:off x="868680" y="5276088"/>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Query</a:t>
            </a:r>
            <a:endParaRPr lang="en-US" sz="1500" dirty="0"/>
          </a:p>
        </p:txBody>
      </p:sp>
      <p:sp>
        <p:nvSpPr>
          <p:cNvPr id="33" name="Text 31"/>
          <p:cNvSpPr/>
          <p:nvPr/>
        </p:nvSpPr>
        <p:spPr>
          <a:xfrm>
            <a:off x="868680" y="5632704"/>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 question raised about a data value</a:t>
            </a:r>
            <a:endParaRPr lang="en-US" sz="1250" dirty="0"/>
          </a:p>
        </p:txBody>
      </p:sp>
      <p:sp>
        <p:nvSpPr>
          <p:cNvPr id="34" name="Shape 32"/>
          <p:cNvSpPr/>
          <p:nvPr/>
        </p:nvSpPr>
        <p:spPr>
          <a:xfrm>
            <a:off x="4389120" y="5157216"/>
            <a:ext cx="3566160" cy="1033272"/>
          </a:xfrm>
          <a:prstGeom prst="roundRect">
            <a:avLst>
              <a:gd name="adj" fmla="val 7965"/>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5" name="Text 33"/>
          <p:cNvSpPr/>
          <p:nvPr/>
        </p:nvSpPr>
        <p:spPr>
          <a:xfrm>
            <a:off x="4617720" y="5276088"/>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Database lock</a:t>
            </a:r>
            <a:endParaRPr lang="en-US" sz="1500" dirty="0"/>
          </a:p>
        </p:txBody>
      </p:sp>
      <p:sp>
        <p:nvSpPr>
          <p:cNvPr id="36" name="Text 34"/>
          <p:cNvSpPr/>
          <p:nvPr/>
        </p:nvSpPr>
        <p:spPr>
          <a:xfrm>
            <a:off x="4617720" y="5632704"/>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final freeze of the data</a:t>
            </a:r>
            <a:endParaRPr lang="en-US" sz="1250" dirty="0"/>
          </a:p>
        </p:txBody>
      </p:sp>
      <p:sp>
        <p:nvSpPr>
          <p:cNvPr id="37" name="Shape 35"/>
          <p:cNvSpPr/>
          <p:nvPr/>
        </p:nvSpPr>
        <p:spPr>
          <a:xfrm>
            <a:off x="8138160" y="5157216"/>
            <a:ext cx="3566160" cy="1033272"/>
          </a:xfrm>
          <a:prstGeom prst="roundRect">
            <a:avLst>
              <a:gd name="adj" fmla="val 796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8" name="Text 36"/>
          <p:cNvSpPr/>
          <p:nvPr/>
        </p:nvSpPr>
        <p:spPr>
          <a:xfrm>
            <a:off x="8366760" y="5276088"/>
            <a:ext cx="3108960" cy="32004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GCP</a:t>
            </a:r>
            <a:endParaRPr lang="en-US" sz="1500" dirty="0"/>
          </a:p>
        </p:txBody>
      </p:sp>
      <p:sp>
        <p:nvSpPr>
          <p:cNvPr id="39" name="Text 37"/>
          <p:cNvSpPr/>
          <p:nvPr/>
        </p:nvSpPr>
        <p:spPr>
          <a:xfrm>
            <a:off x="8366760" y="5632704"/>
            <a:ext cx="31546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Good Clinical Practice — the ethical standard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JOINING THE DOTS</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the visit to the regulator</a:t>
            </a:r>
            <a:endParaRPr lang="en-US" sz="3000" dirty="0"/>
          </a:p>
        </p:txBody>
      </p:sp>
      <p:sp>
        <p:nvSpPr>
          <p:cNvPr id="4" name="Shape 2"/>
          <p:cNvSpPr/>
          <p:nvPr/>
        </p:nvSpPr>
        <p:spPr>
          <a:xfrm>
            <a:off x="640080"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188720" y="2331720"/>
            <a:ext cx="594360" cy="594360"/>
          </a:xfrm>
          <a:prstGeom prst="ellipse">
            <a:avLst/>
          </a:prstGeom>
          <a:solidFill>
            <a:srgbClr val="0E7C86"/>
          </a:solidFill>
          <a:ln/>
        </p:spPr>
      </p:sp>
      <p:sp>
        <p:nvSpPr>
          <p:cNvPr id="6" name="Text 4"/>
          <p:cNvSpPr/>
          <p:nvPr/>
        </p:nvSpPr>
        <p:spPr>
          <a:xfrm>
            <a:off x="1188720"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685800"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Visit</a:t>
            </a:r>
            <a:endParaRPr lang="en-US" sz="1500" dirty="0"/>
          </a:p>
        </p:txBody>
      </p:sp>
      <p:sp>
        <p:nvSpPr>
          <p:cNvPr id="8" name="Text 6"/>
          <p:cNvSpPr/>
          <p:nvPr/>
        </p:nvSpPr>
        <p:spPr>
          <a:xfrm>
            <a:off x="749808"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A measurement is taken</a:t>
            </a:r>
            <a:endParaRPr lang="en-US" sz="1100" dirty="0"/>
          </a:p>
        </p:txBody>
      </p:sp>
      <p:sp>
        <p:nvSpPr>
          <p:cNvPr id="9" name="Shape 7"/>
          <p:cNvSpPr/>
          <p:nvPr/>
        </p:nvSpPr>
        <p:spPr>
          <a:xfrm>
            <a:off x="2496312"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3044952" y="2331720"/>
            <a:ext cx="594360" cy="594360"/>
          </a:xfrm>
          <a:prstGeom prst="ellipse">
            <a:avLst/>
          </a:prstGeom>
          <a:solidFill>
            <a:srgbClr val="1FA8A0"/>
          </a:solidFill>
          <a:ln/>
        </p:spPr>
      </p:sp>
      <p:sp>
        <p:nvSpPr>
          <p:cNvPr id="11" name="Text 9"/>
          <p:cNvSpPr/>
          <p:nvPr/>
        </p:nvSpPr>
        <p:spPr>
          <a:xfrm>
            <a:off x="3044952"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2542032"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CRF / EDC</a:t>
            </a:r>
            <a:endParaRPr lang="en-US" sz="1500" dirty="0"/>
          </a:p>
        </p:txBody>
      </p:sp>
      <p:sp>
        <p:nvSpPr>
          <p:cNvPr id="13" name="Text 11"/>
          <p:cNvSpPr/>
          <p:nvPr/>
        </p:nvSpPr>
        <p:spPr>
          <a:xfrm>
            <a:off x="2606040"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It is recorded as raw data</a:t>
            </a:r>
            <a:endParaRPr lang="en-US" sz="1100" dirty="0"/>
          </a:p>
        </p:txBody>
      </p:sp>
      <p:sp>
        <p:nvSpPr>
          <p:cNvPr id="14" name="Shape 12"/>
          <p:cNvSpPr/>
          <p:nvPr/>
        </p:nvSpPr>
        <p:spPr>
          <a:xfrm>
            <a:off x="4352544"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4901184" y="2331720"/>
            <a:ext cx="594360" cy="594360"/>
          </a:xfrm>
          <a:prstGeom prst="ellipse">
            <a:avLst/>
          </a:prstGeom>
          <a:solidFill>
            <a:srgbClr val="6FC8B4"/>
          </a:solidFill>
          <a:ln/>
        </p:spPr>
      </p:sp>
      <p:sp>
        <p:nvSpPr>
          <p:cNvPr id="16" name="Text 14"/>
          <p:cNvSpPr/>
          <p:nvPr/>
        </p:nvSpPr>
        <p:spPr>
          <a:xfrm>
            <a:off x="4901184" y="2331720"/>
            <a:ext cx="594360" cy="59436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4398264"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SDTM</a:t>
            </a:r>
            <a:endParaRPr lang="en-US" sz="1500" dirty="0"/>
          </a:p>
        </p:txBody>
      </p:sp>
      <p:sp>
        <p:nvSpPr>
          <p:cNvPr id="18" name="Text 16"/>
          <p:cNvSpPr/>
          <p:nvPr/>
        </p:nvSpPr>
        <p:spPr>
          <a:xfrm>
            <a:off x="4462272"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It is standardized</a:t>
            </a:r>
            <a:endParaRPr lang="en-US" sz="1100" dirty="0"/>
          </a:p>
        </p:txBody>
      </p:sp>
      <p:sp>
        <p:nvSpPr>
          <p:cNvPr id="19" name="Shape 17"/>
          <p:cNvSpPr/>
          <p:nvPr/>
        </p:nvSpPr>
        <p:spPr>
          <a:xfrm>
            <a:off x="6208776"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6757416" y="2331720"/>
            <a:ext cx="594360" cy="594360"/>
          </a:xfrm>
          <a:prstGeom prst="ellipse">
            <a:avLst/>
          </a:prstGeom>
          <a:solidFill>
            <a:srgbClr val="E8833A"/>
          </a:solidFill>
          <a:ln/>
        </p:spPr>
      </p:sp>
      <p:sp>
        <p:nvSpPr>
          <p:cNvPr id="21" name="Text 19"/>
          <p:cNvSpPr/>
          <p:nvPr/>
        </p:nvSpPr>
        <p:spPr>
          <a:xfrm>
            <a:off x="6757416"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254496"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ADaM</a:t>
            </a:r>
            <a:endParaRPr lang="en-US" sz="1500" dirty="0"/>
          </a:p>
        </p:txBody>
      </p:sp>
      <p:sp>
        <p:nvSpPr>
          <p:cNvPr id="23" name="Text 21"/>
          <p:cNvSpPr/>
          <p:nvPr/>
        </p:nvSpPr>
        <p:spPr>
          <a:xfrm>
            <a:off x="6318504"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It is made analysis-ready</a:t>
            </a:r>
            <a:endParaRPr lang="en-US" sz="1100" dirty="0"/>
          </a:p>
        </p:txBody>
      </p:sp>
      <p:sp>
        <p:nvSpPr>
          <p:cNvPr id="24" name="Shape 22"/>
          <p:cNvSpPr/>
          <p:nvPr/>
        </p:nvSpPr>
        <p:spPr>
          <a:xfrm>
            <a:off x="8065008"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8613648" y="2331720"/>
            <a:ext cx="594360" cy="594360"/>
          </a:xfrm>
          <a:prstGeom prst="ellipse">
            <a:avLst/>
          </a:prstGeom>
          <a:solidFill>
            <a:srgbClr val="0E7C86"/>
          </a:solidFill>
          <a:ln/>
        </p:spPr>
      </p:sp>
      <p:sp>
        <p:nvSpPr>
          <p:cNvPr id="26" name="Text 24"/>
          <p:cNvSpPr/>
          <p:nvPr/>
        </p:nvSpPr>
        <p:spPr>
          <a:xfrm>
            <a:off x="8613648"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8110728"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TLFs</a:t>
            </a:r>
            <a:endParaRPr lang="en-US" sz="1500" dirty="0"/>
          </a:p>
        </p:txBody>
      </p:sp>
      <p:sp>
        <p:nvSpPr>
          <p:cNvPr id="28" name="Text 26"/>
          <p:cNvSpPr/>
          <p:nvPr/>
        </p:nvSpPr>
        <p:spPr>
          <a:xfrm>
            <a:off x="8174736"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It becomes a result</a:t>
            </a:r>
            <a:endParaRPr lang="en-US" sz="1100" dirty="0"/>
          </a:p>
        </p:txBody>
      </p:sp>
      <p:sp>
        <p:nvSpPr>
          <p:cNvPr id="29" name="Shape 27"/>
          <p:cNvSpPr/>
          <p:nvPr/>
        </p:nvSpPr>
        <p:spPr>
          <a:xfrm>
            <a:off x="9921240" y="2103120"/>
            <a:ext cx="1691640" cy="2651760"/>
          </a:xfrm>
          <a:prstGeom prst="roundRect">
            <a:avLst>
              <a:gd name="adj" fmla="val 486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0" name="Shape 28"/>
          <p:cNvSpPr/>
          <p:nvPr/>
        </p:nvSpPr>
        <p:spPr>
          <a:xfrm>
            <a:off x="10469880" y="2331720"/>
            <a:ext cx="594360" cy="594360"/>
          </a:xfrm>
          <a:prstGeom prst="ellipse">
            <a:avLst/>
          </a:prstGeom>
          <a:solidFill>
            <a:srgbClr val="1FA8A0"/>
          </a:solidFill>
          <a:ln/>
        </p:spPr>
      </p:sp>
      <p:sp>
        <p:nvSpPr>
          <p:cNvPr id="31" name="Text 29"/>
          <p:cNvSpPr/>
          <p:nvPr/>
        </p:nvSpPr>
        <p:spPr>
          <a:xfrm>
            <a:off x="10469880" y="2331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9966960" y="3063240"/>
            <a:ext cx="1600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Submission</a:t>
            </a:r>
            <a:endParaRPr lang="en-US" sz="1500" dirty="0"/>
          </a:p>
        </p:txBody>
      </p:sp>
      <p:sp>
        <p:nvSpPr>
          <p:cNvPr id="33" name="Text 31"/>
          <p:cNvSpPr/>
          <p:nvPr/>
        </p:nvSpPr>
        <p:spPr>
          <a:xfrm>
            <a:off x="10030968" y="3520440"/>
            <a:ext cx="1463040" cy="1097280"/>
          </a:xfrm>
          <a:prstGeom prst="rect">
            <a:avLst/>
          </a:prstGeom>
          <a:noFill/>
          <a:ln/>
        </p:spPr>
        <p:txBody>
          <a:bodyPr wrap="square" lIns="0" tIns="0" rIns="0" bIns="0" rtlCol="0" anchor="ctr"/>
          <a:lstStyle/>
          <a:p>
            <a:pPr algn="ctr" indent="0" marL="0">
              <a:buNone/>
            </a:pPr>
            <a:r>
              <a:rPr lang="en-US" sz="1100" dirty="0">
                <a:solidFill>
                  <a:srgbClr val="C7DCE0"/>
                </a:solidFill>
                <a:latin typeface="Calibri" pitchFamily="34" charset="0"/>
                <a:ea typeface="Calibri" pitchFamily="34" charset="-122"/>
                <a:cs typeface="Calibri" pitchFamily="34" charset="-120"/>
              </a:rPr>
              <a:t>It is reviewed by regulators</a:t>
            </a:r>
            <a:endParaRPr lang="en-US" sz="1100" dirty="0"/>
          </a:p>
        </p:txBody>
      </p:sp>
      <p:sp>
        <p:nvSpPr>
          <p:cNvPr id="34" name="Text 32"/>
          <p:cNvSpPr/>
          <p:nvPr/>
        </p:nvSpPr>
        <p:spPr>
          <a:xfrm>
            <a:off x="640080" y="5212080"/>
            <a:ext cx="10972800" cy="45720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Module 01 showed you the standards. Module 02 showed you where the data comes from. From Module 03 on, you build it yourself.</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CLEAR THESE UP NOW</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Common misconceptions</a:t>
            </a:r>
            <a:endParaRPr lang="en-US" sz="3000" dirty="0"/>
          </a:p>
        </p:txBody>
      </p:sp>
      <p:sp>
        <p:nvSpPr>
          <p:cNvPr id="4" name="Shape 2"/>
          <p:cNvSpPr/>
          <p:nvPr/>
        </p:nvSpPr>
        <p:spPr>
          <a:xfrm>
            <a:off x="640080" y="169164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075688"/>
            <a:ext cx="548640" cy="548640"/>
          </a:xfrm>
          <a:prstGeom prst="ellipse">
            <a:avLst/>
          </a:prstGeom>
          <a:solidFill>
            <a:srgbClr val="E8833A"/>
          </a:solidFill>
          <a:ln/>
        </p:spPr>
      </p:sp>
      <p:sp>
        <p:nvSpPr>
          <p:cNvPr id="6" name="Text 4"/>
          <p:cNvSpPr/>
          <p:nvPr/>
        </p:nvSpPr>
        <p:spPr>
          <a:xfrm>
            <a:off x="86868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60020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“The data arrives clean.”
</a:t>
            </a:r>
            <a:pPr indent="0" marL="0">
              <a:buNone/>
            </a:pPr>
            <a:r>
              <a:rPr lang="en-US" sz="1180" dirty="0">
                <a:solidFill>
                  <a:srgbClr val="5A7682"/>
                </a:solidFill>
                <a:latin typeface="Calibri" pitchFamily="34" charset="0"/>
                <a:ea typeface="Calibri" pitchFamily="34" charset="-122"/>
                <a:cs typeface="Calibri" pitchFamily="34" charset="-120"/>
              </a:rPr>
              <a:t>It doesn't. Sites differ, formats differ, and queries are still open when you start.</a:t>
            </a:r>
            <a:endParaRPr lang="en-US" sz="1400" dirty="0"/>
          </a:p>
        </p:txBody>
      </p:sp>
      <p:sp>
        <p:nvSpPr>
          <p:cNvPr id="8" name="Shape 6"/>
          <p:cNvSpPr/>
          <p:nvPr/>
        </p:nvSpPr>
        <p:spPr>
          <a:xfrm>
            <a:off x="6217920" y="169164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46520" y="2075688"/>
            <a:ext cx="548640" cy="548640"/>
          </a:xfrm>
          <a:prstGeom prst="ellipse">
            <a:avLst/>
          </a:prstGeom>
          <a:solidFill>
            <a:srgbClr val="E8833A"/>
          </a:solidFill>
          <a:ln/>
        </p:spPr>
      </p:sp>
      <p:sp>
        <p:nvSpPr>
          <p:cNvPr id="10" name="Text 8"/>
          <p:cNvSpPr/>
          <p:nvPr/>
        </p:nvSpPr>
        <p:spPr>
          <a:xfrm>
            <a:off x="644652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717804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“Subject numbers are unique.”
</a:t>
            </a:r>
            <a:pPr indent="0" marL="0">
              <a:buNone/>
            </a:pPr>
            <a:r>
              <a:rPr lang="en-US" sz="1180" dirty="0">
                <a:solidFill>
                  <a:srgbClr val="5A7682"/>
                </a:solidFill>
                <a:latin typeface="Calibri" pitchFamily="34" charset="0"/>
                <a:ea typeface="Calibri" pitchFamily="34" charset="-122"/>
                <a:cs typeface="Calibri" pitchFamily="34" charset="-120"/>
              </a:rPr>
              <a:t>Only within a site. Study-wide uniqueness is something you construct.</a:t>
            </a:r>
            <a:endParaRPr lang="en-US" sz="1400" dirty="0"/>
          </a:p>
        </p:txBody>
      </p:sp>
      <p:sp>
        <p:nvSpPr>
          <p:cNvPr id="12" name="Shape 10"/>
          <p:cNvSpPr/>
          <p:nvPr/>
        </p:nvSpPr>
        <p:spPr>
          <a:xfrm>
            <a:off x="640080" y="315468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538728"/>
            <a:ext cx="548640" cy="548640"/>
          </a:xfrm>
          <a:prstGeom prst="ellipse">
            <a:avLst/>
          </a:prstGeom>
          <a:solidFill>
            <a:srgbClr val="E8833A"/>
          </a:solidFill>
          <a:ln/>
        </p:spPr>
      </p:sp>
      <p:sp>
        <p:nvSpPr>
          <p:cNvPr id="14" name="Text 12"/>
          <p:cNvSpPr/>
          <p:nvPr/>
        </p:nvSpPr>
        <p:spPr>
          <a:xfrm>
            <a:off x="86868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60020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“Missing means zero.”
</a:t>
            </a:r>
            <a:pPr indent="0" marL="0">
              <a:buNone/>
            </a:pPr>
            <a:r>
              <a:rPr lang="en-US" sz="1180" dirty="0">
                <a:solidFill>
                  <a:srgbClr val="5A7682"/>
                </a:solidFill>
                <a:latin typeface="Calibri" pitchFamily="34" charset="0"/>
                <a:ea typeface="Calibri" pitchFamily="34" charset="-122"/>
                <a:cs typeface="Calibri" pitchFamily="34" charset="-120"/>
              </a:rPr>
              <a:t>Missing means not collected or not done. Never invent a value to fill a gap.</a:t>
            </a:r>
            <a:endParaRPr lang="en-US" sz="1400" dirty="0"/>
          </a:p>
        </p:txBody>
      </p:sp>
      <p:sp>
        <p:nvSpPr>
          <p:cNvPr id="16" name="Shape 14"/>
          <p:cNvSpPr/>
          <p:nvPr/>
        </p:nvSpPr>
        <p:spPr>
          <a:xfrm>
            <a:off x="6217920" y="315468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46520" y="3538728"/>
            <a:ext cx="548640" cy="548640"/>
          </a:xfrm>
          <a:prstGeom prst="ellipse">
            <a:avLst/>
          </a:prstGeom>
          <a:solidFill>
            <a:srgbClr val="E8833A"/>
          </a:solidFill>
          <a:ln/>
        </p:spPr>
      </p:sp>
      <p:sp>
        <p:nvSpPr>
          <p:cNvPr id="18" name="Text 16"/>
          <p:cNvSpPr/>
          <p:nvPr/>
        </p:nvSpPr>
        <p:spPr>
          <a:xfrm>
            <a:off x="644652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17804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“We can change what we measure.”
</a:t>
            </a:r>
            <a:pPr indent="0" marL="0">
              <a:buNone/>
            </a:pPr>
            <a:r>
              <a:rPr lang="en-US" sz="1180" dirty="0">
                <a:solidFill>
                  <a:srgbClr val="5A7682"/>
                </a:solidFill>
                <a:latin typeface="Calibri" pitchFamily="34" charset="0"/>
                <a:ea typeface="Calibri" pitchFamily="34" charset="-122"/>
                <a:cs typeface="Calibri" pitchFamily="34" charset="-120"/>
              </a:rPr>
              <a:t>The protocol fixes it in advance. Deviations are documented, not silently fixed.</a:t>
            </a:r>
            <a:endParaRPr lang="en-US" sz="1400" dirty="0"/>
          </a:p>
        </p:txBody>
      </p:sp>
      <p:sp>
        <p:nvSpPr>
          <p:cNvPr id="20" name="Shape 18"/>
          <p:cNvSpPr/>
          <p:nvPr/>
        </p:nvSpPr>
        <p:spPr>
          <a:xfrm>
            <a:off x="640080" y="461772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001768"/>
            <a:ext cx="548640" cy="548640"/>
          </a:xfrm>
          <a:prstGeom prst="ellipse">
            <a:avLst/>
          </a:prstGeom>
          <a:solidFill>
            <a:srgbClr val="E8833A"/>
          </a:solidFill>
          <a:ln/>
        </p:spPr>
      </p:sp>
      <p:sp>
        <p:nvSpPr>
          <p:cNvPr id="22" name="Text 20"/>
          <p:cNvSpPr/>
          <p:nvPr/>
        </p:nvSpPr>
        <p:spPr>
          <a:xfrm>
            <a:off x="86868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60020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“Baseline is just the first record.”
</a:t>
            </a:r>
            <a:pPr indent="0" marL="0">
              <a:buNone/>
            </a:pPr>
            <a:r>
              <a:rPr lang="en-US" sz="1180" dirty="0">
                <a:solidFill>
                  <a:srgbClr val="5A7682"/>
                </a:solidFill>
                <a:latin typeface="Calibri" pitchFamily="34" charset="0"/>
                <a:ea typeface="Calibri" pitchFamily="34" charset="-122"/>
                <a:cs typeface="Calibri" pitchFamily="34" charset="-120"/>
              </a:rPr>
              <a:t>Baseline is defined by the protocol — usually the last value before first dose.</a:t>
            </a:r>
            <a:endParaRPr lang="en-US" sz="1400" dirty="0"/>
          </a:p>
        </p:txBody>
      </p:sp>
      <p:sp>
        <p:nvSpPr>
          <p:cNvPr id="24" name="Shape 22"/>
          <p:cNvSpPr/>
          <p:nvPr/>
        </p:nvSpPr>
        <p:spPr>
          <a:xfrm>
            <a:off x="6217920" y="461772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46520" y="5001768"/>
            <a:ext cx="548640" cy="548640"/>
          </a:xfrm>
          <a:prstGeom prst="ellipse">
            <a:avLst/>
          </a:prstGeom>
          <a:solidFill>
            <a:srgbClr val="E8833A"/>
          </a:solidFill>
          <a:ln/>
        </p:spPr>
      </p:sp>
      <p:sp>
        <p:nvSpPr>
          <p:cNvPr id="26" name="Text 24"/>
          <p:cNvSpPr/>
          <p:nvPr/>
        </p:nvSpPr>
        <p:spPr>
          <a:xfrm>
            <a:off x="644652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717804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“Programmers don't need clinical knowledge.”
</a:t>
            </a:r>
            <a:pPr indent="0" marL="0">
              <a:buNone/>
            </a:pPr>
            <a:r>
              <a:rPr lang="en-US" sz="1180" dirty="0">
                <a:solidFill>
                  <a:srgbClr val="5A7682"/>
                </a:solidFill>
                <a:latin typeface="Calibri" pitchFamily="34" charset="0"/>
                <a:ea typeface="Calibri" pitchFamily="34" charset="-122"/>
                <a:cs typeface="Calibri" pitchFamily="34" charset="-120"/>
              </a:rPr>
              <a:t>You must know what a value means to judge whether your mapping is right.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45720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603504" y="77724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Glossary of acronyms</a:t>
            </a:r>
            <a:endParaRPr lang="en-US" sz="3000" dirty="0"/>
          </a:p>
        </p:txBody>
      </p:sp>
      <p:sp>
        <p:nvSpPr>
          <p:cNvPr id="4" name="Shape 2"/>
          <p:cNvSpPr/>
          <p:nvPr/>
        </p:nvSpPr>
        <p:spPr>
          <a:xfrm>
            <a:off x="640080" y="160020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22960" y="1655064"/>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CRO</a:t>
            </a:r>
            <a:endParaRPr lang="en-US" sz="1200" dirty="0"/>
          </a:p>
        </p:txBody>
      </p:sp>
      <p:sp>
        <p:nvSpPr>
          <p:cNvPr id="6" name="Shape 4"/>
          <p:cNvSpPr/>
          <p:nvPr/>
        </p:nvSpPr>
        <p:spPr>
          <a:xfrm>
            <a:off x="2743200" y="1728216"/>
            <a:ext cx="0" cy="438912"/>
          </a:xfrm>
          <a:prstGeom prst="line">
            <a:avLst/>
          </a:prstGeom>
          <a:noFill/>
          <a:ln w="12700">
            <a:solidFill>
              <a:srgbClr val="2A5566"/>
            </a:solidFill>
            <a:prstDash val="solid"/>
          </a:ln>
        </p:spPr>
      </p:sp>
      <p:sp>
        <p:nvSpPr>
          <p:cNvPr id="7" name="Text 5"/>
          <p:cNvSpPr/>
          <p:nvPr/>
        </p:nvSpPr>
        <p:spPr>
          <a:xfrm>
            <a:off x="2880360" y="1655064"/>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Contract Research Organization</a:t>
            </a:r>
            <a:endParaRPr lang="en-US" sz="1100" dirty="0"/>
          </a:p>
        </p:txBody>
      </p:sp>
      <p:sp>
        <p:nvSpPr>
          <p:cNvPr id="8" name="Shape 6"/>
          <p:cNvSpPr/>
          <p:nvPr/>
        </p:nvSpPr>
        <p:spPr>
          <a:xfrm>
            <a:off x="6217920" y="160020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400800" y="1655064"/>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PI</a:t>
            </a:r>
            <a:endParaRPr lang="en-US" sz="1200" dirty="0"/>
          </a:p>
        </p:txBody>
      </p:sp>
      <p:sp>
        <p:nvSpPr>
          <p:cNvPr id="10" name="Shape 8"/>
          <p:cNvSpPr/>
          <p:nvPr/>
        </p:nvSpPr>
        <p:spPr>
          <a:xfrm>
            <a:off x="8321040" y="1728216"/>
            <a:ext cx="0" cy="438912"/>
          </a:xfrm>
          <a:prstGeom prst="line">
            <a:avLst/>
          </a:prstGeom>
          <a:noFill/>
          <a:ln w="12700">
            <a:solidFill>
              <a:srgbClr val="2A5566"/>
            </a:solidFill>
            <a:prstDash val="solid"/>
          </a:ln>
        </p:spPr>
      </p:sp>
      <p:sp>
        <p:nvSpPr>
          <p:cNvPr id="11" name="Text 9"/>
          <p:cNvSpPr/>
          <p:nvPr/>
        </p:nvSpPr>
        <p:spPr>
          <a:xfrm>
            <a:off x="8458200" y="1655064"/>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Principal Investigator</a:t>
            </a:r>
            <a:endParaRPr lang="en-US" sz="1100" dirty="0"/>
          </a:p>
        </p:txBody>
      </p:sp>
      <p:sp>
        <p:nvSpPr>
          <p:cNvPr id="12" name="Shape 10"/>
          <p:cNvSpPr/>
          <p:nvPr/>
        </p:nvSpPr>
        <p:spPr>
          <a:xfrm>
            <a:off x="640080" y="2395728"/>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22960" y="2450592"/>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IRB / IEC</a:t>
            </a:r>
            <a:endParaRPr lang="en-US" sz="1200" dirty="0"/>
          </a:p>
        </p:txBody>
      </p:sp>
      <p:sp>
        <p:nvSpPr>
          <p:cNvPr id="14" name="Shape 12"/>
          <p:cNvSpPr/>
          <p:nvPr/>
        </p:nvSpPr>
        <p:spPr>
          <a:xfrm>
            <a:off x="2743200" y="2523744"/>
            <a:ext cx="0" cy="438912"/>
          </a:xfrm>
          <a:prstGeom prst="line">
            <a:avLst/>
          </a:prstGeom>
          <a:noFill/>
          <a:ln w="12700">
            <a:solidFill>
              <a:srgbClr val="2A5566"/>
            </a:solidFill>
            <a:prstDash val="solid"/>
          </a:ln>
        </p:spPr>
      </p:sp>
      <p:sp>
        <p:nvSpPr>
          <p:cNvPr id="15" name="Text 13"/>
          <p:cNvSpPr/>
          <p:nvPr/>
        </p:nvSpPr>
        <p:spPr>
          <a:xfrm>
            <a:off x="2880360" y="2450592"/>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Institutional Review Board / Independent Ethics Committee</a:t>
            </a:r>
            <a:endParaRPr lang="en-US" sz="1100" dirty="0"/>
          </a:p>
        </p:txBody>
      </p:sp>
      <p:sp>
        <p:nvSpPr>
          <p:cNvPr id="16" name="Shape 14"/>
          <p:cNvSpPr/>
          <p:nvPr/>
        </p:nvSpPr>
        <p:spPr>
          <a:xfrm>
            <a:off x="6217920" y="2395728"/>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6400800" y="2450592"/>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GCP</a:t>
            </a:r>
            <a:endParaRPr lang="en-US" sz="1200" dirty="0"/>
          </a:p>
        </p:txBody>
      </p:sp>
      <p:sp>
        <p:nvSpPr>
          <p:cNvPr id="18" name="Shape 16"/>
          <p:cNvSpPr/>
          <p:nvPr/>
        </p:nvSpPr>
        <p:spPr>
          <a:xfrm>
            <a:off x="8321040" y="2523744"/>
            <a:ext cx="0" cy="438912"/>
          </a:xfrm>
          <a:prstGeom prst="line">
            <a:avLst/>
          </a:prstGeom>
          <a:noFill/>
          <a:ln w="12700">
            <a:solidFill>
              <a:srgbClr val="2A5566"/>
            </a:solidFill>
            <a:prstDash val="solid"/>
          </a:ln>
        </p:spPr>
      </p:sp>
      <p:sp>
        <p:nvSpPr>
          <p:cNvPr id="19" name="Text 17"/>
          <p:cNvSpPr/>
          <p:nvPr/>
        </p:nvSpPr>
        <p:spPr>
          <a:xfrm>
            <a:off x="8458200" y="2450592"/>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Good Clinical Practice (ICH E6)</a:t>
            </a:r>
            <a:endParaRPr lang="en-US" sz="1100" dirty="0"/>
          </a:p>
        </p:txBody>
      </p:sp>
      <p:sp>
        <p:nvSpPr>
          <p:cNvPr id="20" name="Shape 18"/>
          <p:cNvSpPr/>
          <p:nvPr/>
        </p:nvSpPr>
        <p:spPr>
          <a:xfrm>
            <a:off x="640080" y="3191256"/>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822960" y="3246120"/>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ICH</a:t>
            </a:r>
            <a:endParaRPr lang="en-US" sz="1200" dirty="0"/>
          </a:p>
        </p:txBody>
      </p:sp>
      <p:sp>
        <p:nvSpPr>
          <p:cNvPr id="22" name="Shape 20"/>
          <p:cNvSpPr/>
          <p:nvPr/>
        </p:nvSpPr>
        <p:spPr>
          <a:xfrm>
            <a:off x="2743200" y="3319272"/>
            <a:ext cx="0" cy="438912"/>
          </a:xfrm>
          <a:prstGeom prst="line">
            <a:avLst/>
          </a:prstGeom>
          <a:noFill/>
          <a:ln w="12700">
            <a:solidFill>
              <a:srgbClr val="2A5566"/>
            </a:solidFill>
            <a:prstDash val="solid"/>
          </a:ln>
        </p:spPr>
      </p:sp>
      <p:sp>
        <p:nvSpPr>
          <p:cNvPr id="23" name="Text 21"/>
          <p:cNvSpPr/>
          <p:nvPr/>
        </p:nvSpPr>
        <p:spPr>
          <a:xfrm>
            <a:off x="2880360" y="3246120"/>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International Council for Harmonisation</a:t>
            </a:r>
            <a:endParaRPr lang="en-US" sz="1100" dirty="0"/>
          </a:p>
        </p:txBody>
      </p:sp>
      <p:sp>
        <p:nvSpPr>
          <p:cNvPr id="24" name="Shape 22"/>
          <p:cNvSpPr/>
          <p:nvPr/>
        </p:nvSpPr>
        <p:spPr>
          <a:xfrm>
            <a:off x="6217920" y="3191256"/>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6400800" y="3246120"/>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CRF / eCRF</a:t>
            </a:r>
            <a:endParaRPr lang="en-US" sz="1200" dirty="0"/>
          </a:p>
        </p:txBody>
      </p:sp>
      <p:sp>
        <p:nvSpPr>
          <p:cNvPr id="26" name="Shape 24"/>
          <p:cNvSpPr/>
          <p:nvPr/>
        </p:nvSpPr>
        <p:spPr>
          <a:xfrm>
            <a:off x="8321040" y="3319272"/>
            <a:ext cx="0" cy="438912"/>
          </a:xfrm>
          <a:prstGeom prst="line">
            <a:avLst/>
          </a:prstGeom>
          <a:noFill/>
          <a:ln w="12700">
            <a:solidFill>
              <a:srgbClr val="2A5566"/>
            </a:solidFill>
            <a:prstDash val="solid"/>
          </a:ln>
        </p:spPr>
      </p:sp>
      <p:sp>
        <p:nvSpPr>
          <p:cNvPr id="27" name="Text 25"/>
          <p:cNvSpPr/>
          <p:nvPr/>
        </p:nvSpPr>
        <p:spPr>
          <a:xfrm>
            <a:off x="8458200" y="3246120"/>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Case Report Form (electronic)</a:t>
            </a:r>
            <a:endParaRPr lang="en-US" sz="1100" dirty="0"/>
          </a:p>
        </p:txBody>
      </p:sp>
      <p:sp>
        <p:nvSpPr>
          <p:cNvPr id="28" name="Shape 26"/>
          <p:cNvSpPr/>
          <p:nvPr/>
        </p:nvSpPr>
        <p:spPr>
          <a:xfrm>
            <a:off x="640080" y="3986784"/>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822960" y="4041648"/>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EDC</a:t>
            </a:r>
            <a:endParaRPr lang="en-US" sz="1200" dirty="0"/>
          </a:p>
        </p:txBody>
      </p:sp>
      <p:sp>
        <p:nvSpPr>
          <p:cNvPr id="30" name="Shape 28"/>
          <p:cNvSpPr/>
          <p:nvPr/>
        </p:nvSpPr>
        <p:spPr>
          <a:xfrm>
            <a:off x="2743200" y="4114800"/>
            <a:ext cx="0" cy="438912"/>
          </a:xfrm>
          <a:prstGeom prst="line">
            <a:avLst/>
          </a:prstGeom>
          <a:noFill/>
          <a:ln w="12700">
            <a:solidFill>
              <a:srgbClr val="2A5566"/>
            </a:solidFill>
            <a:prstDash val="solid"/>
          </a:ln>
        </p:spPr>
      </p:sp>
      <p:sp>
        <p:nvSpPr>
          <p:cNvPr id="31" name="Text 29"/>
          <p:cNvSpPr/>
          <p:nvPr/>
        </p:nvSpPr>
        <p:spPr>
          <a:xfrm>
            <a:off x="2880360" y="4041648"/>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Electronic Data Capture</a:t>
            </a:r>
            <a:endParaRPr lang="en-US" sz="1100" dirty="0"/>
          </a:p>
        </p:txBody>
      </p:sp>
      <p:sp>
        <p:nvSpPr>
          <p:cNvPr id="32" name="Shape 30"/>
          <p:cNvSpPr/>
          <p:nvPr/>
        </p:nvSpPr>
        <p:spPr>
          <a:xfrm>
            <a:off x="6217920" y="3986784"/>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3" name="Text 31"/>
          <p:cNvSpPr/>
          <p:nvPr/>
        </p:nvSpPr>
        <p:spPr>
          <a:xfrm>
            <a:off x="6400800" y="4041648"/>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SoA</a:t>
            </a:r>
            <a:endParaRPr lang="en-US" sz="1200" dirty="0"/>
          </a:p>
        </p:txBody>
      </p:sp>
      <p:sp>
        <p:nvSpPr>
          <p:cNvPr id="34" name="Shape 32"/>
          <p:cNvSpPr/>
          <p:nvPr/>
        </p:nvSpPr>
        <p:spPr>
          <a:xfrm>
            <a:off x="8321040" y="4114800"/>
            <a:ext cx="0" cy="438912"/>
          </a:xfrm>
          <a:prstGeom prst="line">
            <a:avLst/>
          </a:prstGeom>
          <a:noFill/>
          <a:ln w="12700">
            <a:solidFill>
              <a:srgbClr val="2A5566"/>
            </a:solidFill>
            <a:prstDash val="solid"/>
          </a:ln>
        </p:spPr>
      </p:sp>
      <p:sp>
        <p:nvSpPr>
          <p:cNvPr id="35" name="Text 33"/>
          <p:cNvSpPr/>
          <p:nvPr/>
        </p:nvSpPr>
        <p:spPr>
          <a:xfrm>
            <a:off x="8458200" y="4041648"/>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Schedule of Assessments</a:t>
            </a:r>
            <a:endParaRPr lang="en-US" sz="1100" dirty="0"/>
          </a:p>
        </p:txBody>
      </p:sp>
      <p:sp>
        <p:nvSpPr>
          <p:cNvPr id="36" name="Shape 34"/>
          <p:cNvSpPr/>
          <p:nvPr/>
        </p:nvSpPr>
        <p:spPr>
          <a:xfrm>
            <a:off x="640080" y="4782312"/>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7" name="Text 35"/>
          <p:cNvSpPr/>
          <p:nvPr/>
        </p:nvSpPr>
        <p:spPr>
          <a:xfrm>
            <a:off x="822960" y="4837176"/>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AE</a:t>
            </a:r>
            <a:endParaRPr lang="en-US" sz="1200" dirty="0"/>
          </a:p>
        </p:txBody>
      </p:sp>
      <p:sp>
        <p:nvSpPr>
          <p:cNvPr id="38" name="Shape 36"/>
          <p:cNvSpPr/>
          <p:nvPr/>
        </p:nvSpPr>
        <p:spPr>
          <a:xfrm>
            <a:off x="2743200" y="4910328"/>
            <a:ext cx="0" cy="438912"/>
          </a:xfrm>
          <a:prstGeom prst="line">
            <a:avLst/>
          </a:prstGeom>
          <a:noFill/>
          <a:ln w="12700">
            <a:solidFill>
              <a:srgbClr val="2A5566"/>
            </a:solidFill>
            <a:prstDash val="solid"/>
          </a:ln>
        </p:spPr>
      </p:sp>
      <p:sp>
        <p:nvSpPr>
          <p:cNvPr id="39" name="Text 37"/>
          <p:cNvSpPr/>
          <p:nvPr/>
        </p:nvSpPr>
        <p:spPr>
          <a:xfrm>
            <a:off x="2880360" y="4837176"/>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Adverse Event</a:t>
            </a:r>
            <a:endParaRPr lang="en-US" sz="1100" dirty="0"/>
          </a:p>
        </p:txBody>
      </p:sp>
      <p:sp>
        <p:nvSpPr>
          <p:cNvPr id="40" name="Shape 38"/>
          <p:cNvSpPr/>
          <p:nvPr/>
        </p:nvSpPr>
        <p:spPr>
          <a:xfrm>
            <a:off x="6217920" y="4782312"/>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1" name="Text 39"/>
          <p:cNvSpPr/>
          <p:nvPr/>
        </p:nvSpPr>
        <p:spPr>
          <a:xfrm>
            <a:off x="6400800" y="4837176"/>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FDA / EMA / PMDA</a:t>
            </a:r>
            <a:endParaRPr lang="en-US" sz="1200" dirty="0"/>
          </a:p>
        </p:txBody>
      </p:sp>
      <p:sp>
        <p:nvSpPr>
          <p:cNvPr id="42" name="Shape 40"/>
          <p:cNvSpPr/>
          <p:nvPr/>
        </p:nvSpPr>
        <p:spPr>
          <a:xfrm>
            <a:off x="8321040" y="4910328"/>
            <a:ext cx="0" cy="438912"/>
          </a:xfrm>
          <a:prstGeom prst="line">
            <a:avLst/>
          </a:prstGeom>
          <a:noFill/>
          <a:ln w="12700">
            <a:solidFill>
              <a:srgbClr val="2A5566"/>
            </a:solidFill>
            <a:prstDash val="solid"/>
          </a:ln>
        </p:spPr>
      </p:sp>
      <p:sp>
        <p:nvSpPr>
          <p:cNvPr id="43" name="Text 41"/>
          <p:cNvSpPr/>
          <p:nvPr/>
        </p:nvSpPr>
        <p:spPr>
          <a:xfrm>
            <a:off x="8458200" y="4837176"/>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US / European / Japanese regulators</a:t>
            </a:r>
            <a:endParaRPr lang="en-US" sz="1100" dirty="0"/>
          </a:p>
        </p:txBody>
      </p:sp>
      <p:sp>
        <p:nvSpPr>
          <p:cNvPr id="44" name="Shape 42"/>
          <p:cNvSpPr/>
          <p:nvPr/>
        </p:nvSpPr>
        <p:spPr>
          <a:xfrm>
            <a:off x="640080" y="557784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5" name="Text 43"/>
          <p:cNvSpPr/>
          <p:nvPr/>
        </p:nvSpPr>
        <p:spPr>
          <a:xfrm>
            <a:off x="822960" y="5632704"/>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TLF</a:t>
            </a:r>
            <a:endParaRPr lang="en-US" sz="1200" dirty="0"/>
          </a:p>
        </p:txBody>
      </p:sp>
      <p:sp>
        <p:nvSpPr>
          <p:cNvPr id="46" name="Shape 44"/>
          <p:cNvSpPr/>
          <p:nvPr/>
        </p:nvSpPr>
        <p:spPr>
          <a:xfrm>
            <a:off x="2743200" y="5705856"/>
            <a:ext cx="0" cy="438912"/>
          </a:xfrm>
          <a:prstGeom prst="line">
            <a:avLst/>
          </a:prstGeom>
          <a:noFill/>
          <a:ln w="12700">
            <a:solidFill>
              <a:srgbClr val="2A5566"/>
            </a:solidFill>
            <a:prstDash val="solid"/>
          </a:ln>
        </p:spPr>
      </p:sp>
      <p:sp>
        <p:nvSpPr>
          <p:cNvPr id="47" name="Text 45"/>
          <p:cNvSpPr/>
          <p:nvPr/>
        </p:nvSpPr>
        <p:spPr>
          <a:xfrm>
            <a:off x="2880360" y="5632704"/>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Tables, Listings and Figures</a:t>
            </a:r>
            <a:endParaRPr lang="en-US" sz="1100" dirty="0"/>
          </a:p>
        </p:txBody>
      </p:sp>
      <p:sp>
        <p:nvSpPr>
          <p:cNvPr id="48" name="Shape 46"/>
          <p:cNvSpPr/>
          <p:nvPr/>
        </p:nvSpPr>
        <p:spPr>
          <a:xfrm>
            <a:off x="6217920" y="557784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9" name="Text 47"/>
          <p:cNvSpPr/>
          <p:nvPr/>
        </p:nvSpPr>
        <p:spPr>
          <a:xfrm>
            <a:off x="6400800" y="5632704"/>
            <a:ext cx="1874520" cy="585216"/>
          </a:xfrm>
          <a:prstGeom prst="rect">
            <a:avLst/>
          </a:prstGeom>
          <a:noFill/>
          <a:ln/>
        </p:spPr>
        <p:txBody>
          <a:bodyPr wrap="square" lIns="0" tIns="0" rIns="0" bIns="0" rtlCol="0" anchor="ctr"/>
          <a:lstStyle/>
          <a:p>
            <a:pPr indent="0" marL="0">
              <a:buNone/>
            </a:pPr>
            <a:r>
              <a:rPr lang="en-US" sz="1200" b="1" dirty="0">
                <a:solidFill>
                  <a:srgbClr val="6FC8B4"/>
                </a:solidFill>
                <a:latin typeface="Courier New" pitchFamily="34" charset="0"/>
                <a:ea typeface="Courier New" pitchFamily="34" charset="-122"/>
                <a:cs typeface="Courier New" pitchFamily="34" charset="-120"/>
              </a:rPr>
              <a:t>Database lock</a:t>
            </a:r>
            <a:endParaRPr lang="en-US" sz="1200" dirty="0"/>
          </a:p>
        </p:txBody>
      </p:sp>
      <p:sp>
        <p:nvSpPr>
          <p:cNvPr id="50" name="Shape 48"/>
          <p:cNvSpPr/>
          <p:nvPr/>
        </p:nvSpPr>
        <p:spPr>
          <a:xfrm>
            <a:off x="8321040" y="5705856"/>
            <a:ext cx="0" cy="438912"/>
          </a:xfrm>
          <a:prstGeom prst="line">
            <a:avLst/>
          </a:prstGeom>
          <a:noFill/>
          <a:ln w="12700">
            <a:solidFill>
              <a:srgbClr val="2A5566"/>
            </a:solidFill>
            <a:prstDash val="solid"/>
          </a:ln>
        </p:spPr>
      </p:sp>
      <p:sp>
        <p:nvSpPr>
          <p:cNvPr id="51" name="Text 49"/>
          <p:cNvSpPr/>
          <p:nvPr/>
        </p:nvSpPr>
        <p:spPr>
          <a:xfrm>
            <a:off x="8458200" y="5632704"/>
            <a:ext cx="3063240" cy="585216"/>
          </a:xfrm>
          <a:prstGeom prst="rect">
            <a:avLst/>
          </a:prstGeom>
          <a:noFill/>
          <a:ln/>
        </p:spPr>
        <p:txBody>
          <a:bodyPr wrap="square" lIns="0" tIns="0" rIns="0" bIns="0" rtlCol="0" anchor="ctr"/>
          <a:lstStyle/>
          <a:p>
            <a:pPr indent="0" marL="0">
              <a:buNone/>
            </a:pPr>
            <a:r>
              <a:rPr lang="en-US" sz="1100" dirty="0">
                <a:solidFill>
                  <a:srgbClr val="E7F0F1"/>
                </a:solidFill>
                <a:latin typeface="Calibri" pitchFamily="34" charset="0"/>
                <a:ea typeface="Calibri" pitchFamily="34" charset="-122"/>
                <a:cs typeface="Calibri" pitchFamily="34" charset="-120"/>
              </a:rPr>
              <a:t>Final freeze of the trial data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2801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645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know the story — now learn the tools</a:t>
            </a:r>
            <a:endParaRPr lang="en-US" sz="3200" dirty="0"/>
          </a:p>
        </p:txBody>
      </p:sp>
      <p:sp>
        <p:nvSpPr>
          <p:cNvPr id="6" name="Shape 4"/>
          <p:cNvSpPr/>
          <p:nvPr/>
        </p:nvSpPr>
        <p:spPr>
          <a:xfrm>
            <a:off x="640080" y="2743200"/>
            <a:ext cx="566928" cy="566928"/>
          </a:xfrm>
          <a:prstGeom prst="ellipse">
            <a:avLst/>
          </a:prstGeom>
          <a:solidFill>
            <a:srgbClr val="0E7C86"/>
          </a:solidFill>
          <a:ln/>
        </p:spPr>
      </p:sp>
      <p:sp>
        <p:nvSpPr>
          <p:cNvPr id="7" name="Text 5"/>
          <p:cNvSpPr/>
          <p:nvPr/>
        </p:nvSpPr>
        <p:spPr>
          <a:xfrm>
            <a:off x="640080" y="274320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724912"/>
            <a:ext cx="9875520" cy="60350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Module 03   </a:t>
            </a:r>
            <a:pPr indent="0" marL="0">
              <a:buNone/>
            </a:pPr>
            <a:r>
              <a:rPr lang="en-US" sz="1400" dirty="0">
                <a:solidFill>
                  <a:srgbClr val="C7DCE0"/>
                </a:solidFill>
                <a:latin typeface="Calibri" pitchFamily="34" charset="0"/>
                <a:ea typeface="Calibri" pitchFamily="34" charset="-122"/>
                <a:cs typeface="Calibri" pitchFamily="34" charset="-120"/>
              </a:rPr>
              <a:t>Your toolkit: SAS &amp; R side by side</a:t>
            </a:r>
            <a:endParaRPr lang="en-US" sz="1700" dirty="0"/>
          </a:p>
        </p:txBody>
      </p:sp>
      <p:sp>
        <p:nvSpPr>
          <p:cNvPr id="9" name="Shape 7"/>
          <p:cNvSpPr/>
          <p:nvPr/>
        </p:nvSpPr>
        <p:spPr>
          <a:xfrm>
            <a:off x="640080" y="3611880"/>
            <a:ext cx="566928" cy="566928"/>
          </a:xfrm>
          <a:prstGeom prst="ellipse">
            <a:avLst/>
          </a:prstGeom>
          <a:solidFill>
            <a:srgbClr val="1FA8A0"/>
          </a:solidFill>
          <a:ln/>
        </p:spPr>
      </p:sp>
      <p:sp>
        <p:nvSpPr>
          <p:cNvPr id="10" name="Text 8"/>
          <p:cNvSpPr/>
          <p:nvPr/>
        </p:nvSpPr>
        <p:spPr>
          <a:xfrm>
            <a:off x="640080" y="361188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593592"/>
            <a:ext cx="9875520" cy="60350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Notebook 01   </a:t>
            </a:r>
            <a:pPr indent="0" marL="0">
              <a:buNone/>
            </a:pPr>
            <a:r>
              <a:rPr lang="en-US" sz="1400" dirty="0">
                <a:solidFill>
                  <a:srgbClr val="C7DCE0"/>
                </a:solidFill>
                <a:latin typeface="Calibri" pitchFamily="34" charset="0"/>
                <a:ea typeface="Calibri" pitchFamily="34" charset="-122"/>
                <a:cs typeface="Calibri" pitchFamily="34" charset="-120"/>
              </a:rPr>
              <a:t>SAS basics — DATA steps and PROCs</a:t>
            </a:r>
            <a:endParaRPr lang="en-US" sz="1700" dirty="0"/>
          </a:p>
        </p:txBody>
      </p:sp>
      <p:sp>
        <p:nvSpPr>
          <p:cNvPr id="12" name="Shape 10"/>
          <p:cNvSpPr/>
          <p:nvPr/>
        </p:nvSpPr>
        <p:spPr>
          <a:xfrm>
            <a:off x="640080" y="4480560"/>
            <a:ext cx="566928" cy="566928"/>
          </a:xfrm>
          <a:prstGeom prst="ellipse">
            <a:avLst/>
          </a:prstGeom>
          <a:solidFill>
            <a:srgbClr val="6FC8B4"/>
          </a:solidFill>
          <a:ln/>
        </p:spPr>
      </p:sp>
      <p:sp>
        <p:nvSpPr>
          <p:cNvPr id="13" name="Text 11"/>
          <p:cNvSpPr/>
          <p:nvPr/>
        </p:nvSpPr>
        <p:spPr>
          <a:xfrm>
            <a:off x="640080" y="448056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462272"/>
            <a:ext cx="9875520" cy="60350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Notebook 01 (R)   </a:t>
            </a:r>
            <a:pPr indent="0" marL="0">
              <a:buNone/>
            </a:pPr>
            <a:r>
              <a:rPr lang="en-US" sz="1400" dirty="0">
                <a:solidFill>
                  <a:srgbClr val="C7DCE0"/>
                </a:solidFill>
                <a:latin typeface="Calibri" pitchFamily="34" charset="0"/>
                <a:ea typeface="Calibri" pitchFamily="34" charset="-122"/>
                <a:cs typeface="Calibri" pitchFamily="34" charset="-120"/>
              </a:rPr>
              <a:t>R &amp; tidyverse basics — the same skills</a:t>
            </a:r>
            <a:endParaRPr lang="en-US" sz="1700" dirty="0"/>
          </a:p>
        </p:txBody>
      </p:sp>
      <p:sp>
        <p:nvSpPr>
          <p:cNvPr id="15" name="Shape 13"/>
          <p:cNvSpPr/>
          <p:nvPr/>
        </p:nvSpPr>
        <p:spPr>
          <a:xfrm>
            <a:off x="640080" y="5349240"/>
            <a:ext cx="566928" cy="566928"/>
          </a:xfrm>
          <a:prstGeom prst="ellipse">
            <a:avLst/>
          </a:prstGeom>
          <a:solidFill>
            <a:srgbClr val="E8833A"/>
          </a:solidFill>
          <a:ln/>
        </p:spPr>
      </p:sp>
      <p:sp>
        <p:nvSpPr>
          <p:cNvPr id="16" name="Text 14"/>
          <p:cNvSpPr/>
          <p:nvPr/>
        </p:nvSpPr>
        <p:spPr>
          <a:xfrm>
            <a:off x="640080" y="534924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4</a:t>
            </a:r>
            <a:endParaRPr lang="en-US" sz="1700" dirty="0"/>
          </a:p>
        </p:txBody>
      </p:sp>
      <p:sp>
        <p:nvSpPr>
          <p:cNvPr id="17" name="Text 15"/>
          <p:cNvSpPr/>
          <p:nvPr/>
        </p:nvSpPr>
        <p:spPr>
          <a:xfrm>
            <a:off x="1417320" y="5330952"/>
            <a:ext cx="9875520" cy="60350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Then   </a:t>
            </a:r>
            <a:pPr indent="0" marL="0">
              <a:buNone/>
            </a:pPr>
            <a:r>
              <a:rPr lang="en-US" sz="1400" dirty="0">
                <a:solidFill>
                  <a:srgbClr val="C7DCE0"/>
                </a:solidFill>
                <a:latin typeface="Calibri" pitchFamily="34" charset="0"/>
                <a:ea typeface="Calibri" pitchFamily="34" charset="-122"/>
                <a:cs typeface="Calibri" pitchFamily="34" charset="-120"/>
              </a:rPr>
              <a:t>Reading the raw ABC-01 data and building your first domain</a:t>
            </a:r>
            <a:endParaRPr lang="en-US" sz="1700" dirty="0"/>
          </a:p>
        </p:txBody>
      </p:sp>
      <p:sp>
        <p:nvSpPr>
          <p:cNvPr id="18" name="Text 16"/>
          <p:cNvSpPr/>
          <p:nvPr/>
        </p:nvSpPr>
        <p:spPr>
          <a:xfrm>
            <a:off x="640080" y="6035040"/>
            <a:ext cx="10515600" cy="45720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Keep the mock study ABC-01 open — from here on, everything you build uses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Trials 101: How a Trial Produces Data</dc:title>
  <dc:subject>PptxGenJS Presentation</dc:subject>
  <dc:creator>Clinical Programming Bootcamp</dc:creator>
  <cp:lastModifiedBy>Clinical Programming Bootcamp</cp:lastModifiedBy>
  <cp:revision>1</cp:revision>
  <dcterms:created xsi:type="dcterms:W3CDTF">2026-07-18T16:25:04Z</dcterms:created>
  <dcterms:modified xsi:type="dcterms:W3CDTF">2026-07-18T16:25:04Z</dcterms:modified>
</cp:coreProperties>
</file>