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10 opens the last content day. The framing: everything so far built data; this module judges it. The single idea to land is that a conformance check is just a query expecting zero rows — demystify Pinnacle 21 from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 edition is free and widely used; Enterprise adds workflow and more checks. The zero-rows framing is the thesis of the whole module. Stress that the FDA runs its OWN validation — you are not trying to fool your own tool, you are previewing what the regulator will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re-classification point is the sophisticated one and is Exercise 5 in Notebook 12. Trainees assume the tool's severity is authoritative; it is a sensible default that the sponsor owns. 'It's only a warning' is never a reason to ignore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buckets are the mental model for the entire rule library. Every one of the thousands of Pinnacle 21 rules is a specific instance of one of these four questions. Map the checks the trainees already wrote (no Day 0, --BLFL Y-or-null) onto the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intellectual core of the module and Exercise 4 in Notebook 12. The 'both wrong by the same amount' scenario is the killer: internal checks compare a value to another value derived from the same source, so a shared error is invisible. Only cross-source comparison finds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 not hide it' point is the professional-ethics beat of the module, echoing the LB abnormal-lab slide from Day 7. A validation finding is data, not an obstacle. Deleting the orphan SUPPAE row makes the report clean and the submission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cSDRG is covered lightly here and again in Deck 12. The 4-of-8-in-LB example is real to ABC-01 and concrete. The takeaway: the goal is not zero findings at any cost, it is that every finding is either fixed or explained. An unexplained clean report can hide suppressed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into Notebook 12 with mistake 1 as the mechanical thing to get right and mistakes 3-4 as the professional judgement to carry. The notebook makes all five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33B4C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548640"/>
            <a:ext cx="2926080" cy="2926080"/>
          </a:xfrm>
          <a:prstGeom prst="ellipse">
            <a:avLst/>
          </a:prstGeom>
          <a:solidFill>
            <a:srgbClr val="C0455B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137160"/>
            <a:ext cx="1554480" cy="15544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PROGRAMMING BOOTCAMP  ·  MODULE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22860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Validation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this submission survive Pinnacle 21?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built seven domains. Now look at them the way a regulator's validation tool does — as one package that must hold together.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Notebook 12 · QC &amp; Validation Checks (SAS)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EVERYONE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Pinnacle 21 — what it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magic. It is a library of rules.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21 (Community and Enterprise) reads your SDTM/ADaM datasets and define.xml, runs thousands of published CDISC conformance rules against them, and produces a report. Sponsors run it before every submission; the FDA runs its own copy when the package arrives.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3F7F8"/>
          </a:solidFill>
          <a:ln w="25400">
            <a:solidFill>
              <a:srgbClr val="1FA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DATASETS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dm.xpt · ae.xpt · 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41648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2E3D"/>
                </a:solidFill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34840" y="32004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3F7F8"/>
          </a:solidFill>
          <a:ln w="25400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RULES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CDISC conformance library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36408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2E3D"/>
                </a:solidFill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0" y="32004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3F7F8"/>
          </a:solidFill>
          <a:ln w="25400">
            <a:solidFill>
              <a:srgbClr val="C045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4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REPORT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 · warnings · notices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E7F4F2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9834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sentence to remember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conformance check is a query that should return zero rows.  </a:t>
            </a:r>
            <a:pPr indent="0" marL="0">
              <a:buNone/>
            </a:pPr>
            <a:r>
              <a:rPr lang="en-US" sz="13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returns any, that is a finding. Thousands of rules, one shape. Once you see that, Pinnacle 21 stops being a black box and becomes something you could write yourself — which is exactly what Notebook 12 has you 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FINDINGS ARE EQUAL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Error, Warning, Notice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82296" cy="1417320"/>
          </a:xfrm>
          <a:prstGeom prst="rect">
            <a:avLst/>
          </a:prstGeom>
          <a:solidFill>
            <a:srgbClr val="C045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379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4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submission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874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the data MUST satisfy. An error means the package is not fit to send until it is fixed or formally explained.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38160" y="1874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4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outside {M,F,U} · a missing Required variable · an orphan record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218688"/>
            <a:ext cx="82296" cy="14173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64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37856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or fix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40156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wrong, but the record is still usable. You fix it, or you justify it in the reviewer's guide.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340156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unexpected severity value · a study day that looks extreme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45736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745736"/>
            <a:ext cx="82296" cy="1417320"/>
          </a:xfrm>
          <a:prstGeom prst="rect">
            <a:avLst/>
          </a:prstGeom>
          <a:solidFill>
            <a:srgbClr val="1FA8A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92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4400" y="53126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awareness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928616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Informational. Often expected given the study design. You confirm it is intended.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4928616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with no records · a permissible variable left null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a JUDGEMENT about impact, not a fixed label. A sponsor re-classifies findings based on what the study is trying to prove — an unexpected AESEV is a warning in most studies and an error in one whose endpoint is severity-based.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RULES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questions, asked thousands of 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63B4B"/>
          </a:solidFill>
          <a:ln w="1651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751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INTEGRITY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record uniquely identifiable, and does everything link?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20848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USUBJID + --SEQ unique · no orphan subjects · SUPP points at a real parent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63B4B"/>
          </a:solidFill>
          <a:ln w="16510">
            <a:solidFill>
              <a:srgbClr val="6FC8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everything the standard demands actually present?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3246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variables populated · expected domains exist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63B4B"/>
          </a:solidFill>
          <a:ln w="16510">
            <a:solidFill>
              <a:srgbClr val="E88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TERMS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681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coded value come from its codelist?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44074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in {M,F,U} · AESER in {Y,N} · units from the UNIT codelist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12664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63B4B"/>
          </a:solidFill>
          <a:ln w="16510">
            <a:solidFill>
              <a:srgbClr val="1F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58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LOGIC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8430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values make clinical and temporal sense?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556869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Day 0 · end date &gt;= start date · --BLFL is Y-or-null · result within plausible range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12 writes at least one real check in every category — and the whole ABC-01 library passes all of them, because you built it correctly.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CHECKS THAT MATTER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domain can be perfect and still be wrong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FDF1E7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consistency is not correctness.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single-domain rule can pass while the SET of datasets is incoherent. These cross-domain checks are the only ones that catch it — and they are the ones a beginner forgets, because each dataset looks fine on its own.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383280" cy="420624"/>
          </a:xfrm>
          <a:prstGeom prst="rect">
            <a:avLst/>
          </a:prstGeom>
          <a:solidFill>
            <a:srgbClr val="0F2E3D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063240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3063240"/>
            <a:ext cx="4572000" cy="420624"/>
          </a:xfrm>
          <a:prstGeom prst="rect">
            <a:avLst/>
          </a:prstGeom>
          <a:solidFill>
            <a:srgbClr val="0F2E3D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8224" y="3063240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compares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3063240"/>
            <a:ext cx="3017520" cy="420624"/>
          </a:xfrm>
          <a:prstGeom prst="rect">
            <a:avLst/>
          </a:prstGeom>
          <a:solidFill>
            <a:srgbClr val="0F2E3D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50224" y="3063240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83864"/>
            <a:ext cx="3383280" cy="420624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483864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orphan subjects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3483864"/>
            <a:ext cx="4572000" cy="420624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8224" y="3483864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USUBJID vs DM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95360" y="3483864"/>
            <a:ext cx="3017520" cy="420624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0224" y="3483864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with data but no demographics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04488"/>
            <a:ext cx="3383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04488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 linkage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3904488"/>
            <a:ext cx="4572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3904488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SUPPAE.IDVARVAL vs AE.AESEQ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95360" y="3904488"/>
            <a:ext cx="30175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390448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qualifier pointing at nothing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325112"/>
            <a:ext cx="3383280" cy="420624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32511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4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RFSTDTC agreement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23360" y="4325112"/>
            <a:ext cx="4572000" cy="420624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78224" y="432511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4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first dose vs DM.RFSTDTC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95360" y="4325112"/>
            <a:ext cx="3017520" cy="420624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0224" y="4325112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4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study day measured from a wrong clock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02920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E7F4F2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5148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RFSTDTC agreement is the deepest check in the suite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 and DM disagree about first dose, every --DY shifts — and shifts CONSISTENTLY, so no within-domain check notices. The error is only visible by comparing two independent records of the same fact. That is the whole reason a submission is validated as a package, never one file at a time.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findings table looks like — and how to read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188720" cy="384048"/>
          </a:xfrm>
          <a:prstGeom prst="rect">
            <a:avLst/>
          </a:prstGeom>
          <a:solidFill>
            <a:srgbClr val="0E2A3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7830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783080"/>
            <a:ext cx="1371600" cy="384048"/>
          </a:xfrm>
          <a:prstGeom prst="rect">
            <a:avLst/>
          </a:prstGeom>
          <a:solidFill>
            <a:srgbClr val="0E2A3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83664" y="17830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783080"/>
            <a:ext cx="1371600" cy="384048"/>
          </a:xfrm>
          <a:prstGeom prst="rect">
            <a:avLst/>
          </a:prstGeom>
          <a:solidFill>
            <a:srgbClr val="0E2A3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5264" y="17830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6309360" cy="384048"/>
          </a:xfrm>
          <a:prstGeom prst="rect">
            <a:avLst/>
          </a:prstGeom>
          <a:solidFill>
            <a:srgbClr val="0E2A3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78308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881360" y="1783080"/>
            <a:ext cx="731520" cy="384048"/>
          </a:xfrm>
          <a:prstGeom prst="rect">
            <a:avLst/>
          </a:prstGeom>
          <a:solidFill>
            <a:srgbClr val="0E2A3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36224" y="17830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167128"/>
            <a:ext cx="118872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16712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4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2167128"/>
            <a:ext cx="137160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83664" y="21671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167128"/>
            <a:ext cx="137160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216712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SD0002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167128"/>
            <a:ext cx="630936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16712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ARMCD is Required and must be populated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881360" y="2167128"/>
            <a:ext cx="73152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36224" y="216712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2551176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255117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4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2551176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83664" y="255117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551176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5264" y="255117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SD0001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2551176"/>
            <a:ext cx="6309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25511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AESTDY must never be 0 - there is no Day 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881360" y="2551176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36224" y="255117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2935224"/>
            <a:ext cx="118872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293522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4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0" y="2935224"/>
            <a:ext cx="137160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83664" y="293522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2935224"/>
            <a:ext cx="137160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55264" y="293522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SD0011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2935224"/>
            <a:ext cx="630936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293522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SUPPAE row with no matching AE parent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881360" y="2935224"/>
            <a:ext cx="73152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36224" y="293522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3319272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" y="33192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4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0" y="3319272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83664" y="33192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3319272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5264" y="33192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SD0004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0" y="3319272"/>
            <a:ext cx="6309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26864" y="331927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VSBLFL must be Y or null - never 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881360" y="3319272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6224" y="331927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3703320"/>
            <a:ext cx="118872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" y="37033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28800" y="3703320"/>
            <a:ext cx="137160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83664" y="37033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00400" y="3703320"/>
            <a:ext cx="137160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55264" y="37033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SD0012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0" y="3703320"/>
            <a:ext cx="630936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26864" y="37033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first dose disagrees with DM.RFSTDTC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0881360" y="3703320"/>
            <a:ext cx="731520" cy="384048"/>
          </a:xfrm>
          <a:prstGeom prst="rect">
            <a:avLst/>
          </a:prstGeom>
          <a:solidFill>
            <a:srgbClr val="F3F7F8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36224" y="370332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0080" y="408736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" y="408736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828800" y="4087368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83664" y="40873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200400" y="4087368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55264" y="40873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CT0002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72000" y="4087368"/>
            <a:ext cx="6309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26864" y="408736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AESEV outside expected severity codelist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0881360" y="408736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E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936224" y="408736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0080" y="4434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injected-defect run from Notebook 12 — four planted errors, all caught.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40080" y="48920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A4152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91440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reviewer reads it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91440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first, worst domain first. Each finding names a RULE (traceable to CDISC), a COUNT, and enough to locate it. Zero rows is a pass — an empty report is the goal.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263640" y="48920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3A2530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53796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D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must NOT do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653796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0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"fix" a finding by deleting the record or blanking the value. A finding is a QUESTION about the data. You resolve it by correcting the source or explaining it — never by hiding 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FINDING IS EXPECTED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Reviewer's Guide (cSDRG)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finding is a defect. Some are consequences of how the study was designed.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ABC-01 would raise a NOTICE that only 4 of 8 subjects appear in LB. That is not an error — this protocol collects labs on a subset. But the validation tool cannot know that, so it flags it, and YOU must tell the reviewer it is intended.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explanation lives in the cSDRG — the clinical Study Data Reviewer's Guide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37083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submitted alongside the datasets that explains the study's data to a reviewer.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37947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holds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437083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decisions, known validation findings and why each is acceptable, deviations from the standard.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37947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E7F4F2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437083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a flagged-but-intended finding from a red mark into a documented, defensible choice.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submission is datasets PLUS documentation. A clean-but-unexplained package and a flagged-but-fully-explained one — the reviewer trusts the second.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NOTEBOOK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QC goes wrong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00" cy="859536"/>
          </a:xfrm>
          <a:prstGeom prst="roundRect">
            <a:avLst>
              <a:gd name="adj" fmla="val 8511"/>
            </a:avLst>
          </a:prstGeom>
          <a:solidFill>
            <a:srgbClr val="1A4152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493776" cy="493776"/>
          </a:xfrm>
          <a:prstGeom prst="ellipse">
            <a:avLst/>
          </a:prstGeom>
          <a:solidFill>
            <a:srgbClr val="C0455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36192" y="1938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check for the GOOD 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36192" y="22860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conformance check finds VIOLATIONS. The WHERE describes what must never happen.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2084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expect zero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61488"/>
            <a:ext cx="10972800" cy="859536"/>
          </a:xfrm>
          <a:prstGeom prst="roundRect">
            <a:avLst>
              <a:gd name="adj" fmla="val 8511"/>
            </a:avLst>
          </a:prstGeom>
          <a:solidFill>
            <a:srgbClr val="163B4B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944368"/>
            <a:ext cx="493776" cy="493776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44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36192" y="28712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checking one domain at a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36192" y="321868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errors live BETWEEN datasets, not inside them.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compare EX to DM, SUPP to parent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94176"/>
            <a:ext cx="10972800" cy="859536"/>
          </a:xfrm>
          <a:prstGeom prst="roundRect">
            <a:avLst>
              <a:gd name="adj" fmla="val 8511"/>
            </a:avLst>
          </a:prstGeom>
          <a:solidFill>
            <a:srgbClr val="1A4152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877056"/>
            <a:ext cx="493776" cy="493776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77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36192" y="38039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clean report as correct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36192" y="415137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proves conformance, not truth. Both can be wrong together.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3950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conformance is not correctness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626864"/>
            <a:ext cx="10972800" cy="859536"/>
          </a:xfrm>
          <a:prstGeom prst="roundRect">
            <a:avLst>
              <a:gd name="adj" fmla="val 8511"/>
            </a:avLst>
          </a:prstGeom>
          <a:solidFill>
            <a:srgbClr val="163B4B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809744"/>
            <a:ext cx="493776" cy="49377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8097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36192" y="47365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a finding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36192" y="508406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record makes the report clean and the submission wrong.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8828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 the source or explain 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59552"/>
            <a:ext cx="10972800" cy="859536"/>
          </a:xfrm>
          <a:prstGeom prst="roundRect">
            <a:avLst>
              <a:gd name="adj" fmla="val 8511"/>
            </a:avLst>
          </a:prstGeom>
          <a:solidFill>
            <a:srgbClr val="1A4152"/>
          </a:solidFill>
          <a:ln w="12700">
            <a:solidFill>
              <a:srgbClr val="2457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742432"/>
            <a:ext cx="493776" cy="493776"/>
          </a:xfrm>
          <a:prstGeom prst="ellipse">
            <a:avLst/>
          </a:prstGeom>
          <a:solidFill>
            <a:srgbClr val="6FC8B4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742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36192" y="56692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every finding blocks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36192" y="601675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a judgement. A WARNING is explained, not necessarily fixed.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5815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 severity, use the cSDRG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Notebook 12 · QC &amp; Validation Checks   →   Deck 11 · Relationships &amp; Trial Design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Quality &amp; Validation</dc:title>
  <dc:subject>PptxGenJS Presentation</dc:subject>
  <dc:creator>Clinical Programming Bootcamp</dc:creator>
  <cp:lastModifiedBy>Clinical Programming Bootcamp</cp:lastModifiedBy>
  <cp:revision>1</cp:revision>
  <dcterms:created xsi:type="dcterms:W3CDTF">2026-07-19T19:47:56Z</dcterms:created>
  <dcterms:modified xsi:type="dcterms:W3CDTF">2026-07-19T19:47:56Z</dcterms:modified>
</cp:coreProperties>
</file>