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10 opens the last content day. The framing: everything so far built data; this module judges it. The single idea to land is that a conformance check is just a query expecting zero rows — demystify Pinnacle 21 from the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Community edition is free and widely used; Enterprise adds workflow and more checks. The zero-rows framing is the thesis of the whole module. Stress that the FDA runs its OWN validation — you are not trying to fool your own tool, you are previewing what the regulator will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re-classification point is the sophisticated one and is Exercise 5 in Notebook 12. Trainees assume the tool's severity is authoritative; it is a sensible default that the sponsor owns. 'It's only a warning' is never a reason to ignore something.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buckets are the mental model for the entire rule library. Every one of the thousands of Pinnacle 21 rules is a specific instance of one of these four questions. Map the checks the trainees already wrote (no Day 0, --BLFL Y-or-null) onto the categories.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intellectual core of the module and Exercise 4 in Notebook 12. The 'both wrong by the same amount' scenario is the killer: internal checks compare a value to another value derived from the same source, so a shared error is invisible. Only cross-source comparison finds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 not hide it' point is the professional-ethics beat of the module, echoing the LB abnormal-lab slide from Day 7. A validation finding is data, not an obstacle. Deleting the orphan SUPPAE row makes the report clean and the submission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cSDRG is covered lightly here and again in Deck 12. The 4-of-8-in-LB example is real to ABC-01 and concrete. The takeaway: the goal is not zero findings at any cost, it is that every finding is either fixed or explained. An unexplained clean report can hide suppressed problems.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into Notebook 12 with mistake 1 as the mechanical thing to get right and mistakes 3-4 as the professional judgement to carry. The notebook makes all five concrete.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754880" cy="4754880"/>
          </a:xfrm>
          <a:prstGeom prst="ellipse">
            <a:avLst/>
          </a:prstGeom>
          <a:solidFill>
            <a:srgbClr val="133B4C"/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-548640"/>
            <a:ext cx="2926080" cy="2926080"/>
          </a:xfrm>
          <a:prstGeom prst="ellipse">
            <a:avLst/>
          </a:prstGeom>
          <a:solidFill>
            <a:srgbClr val="C0455B"/>
          </a:solidFill>
          <a:ln/>
        </p:spPr>
      </p:sp>
      <p:sp>
        <p:nvSpPr>
          <p:cNvPr id="4" name="Shape 2"/>
          <p:cNvSpPr/>
          <p:nvPr/>
        </p:nvSpPr>
        <p:spPr>
          <a:xfrm>
            <a:off x="10469880" y="137160"/>
            <a:ext cx="1554480" cy="155448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PROGRAMMING BOOTCAMP  ·  MODULE 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03504" y="228600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Quality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Validation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388620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this submission survive Pinnacle 21?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built seven domains. Now look at them the way a regulator's validation tool does — as one package that must hold together.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Notebook 12 · QC &amp; Validation Checks (SAS)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EVERYONE RUNS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Pinnacle 21 — what it actually does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not magic. It is a library of rules.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Pinnacle 21 (Community and Enterprise) reads your SDTM/ADaM datasets and define.xml, runs thousands of published CDISC conformance rules against them, and produces a report. Sponsors run it before every submission; the FDA runs its own copy when the package arrives.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F3F7F8"/>
          </a:solidFill>
          <a:ln w="25400">
            <a:solidFill>
              <a:srgbClr val="1FA8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290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DATASETS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3931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6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dm.xpt · ae.xpt · 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41648" y="3703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F2E3D"/>
                </a:solidFill>
              </a:rPr>
              <a:t>▶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434840" y="320040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F3F7F8"/>
          </a:solidFill>
          <a:ln w="25400">
            <a:solidFill>
              <a:srgbClr val="E883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34290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RULES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17720" y="3931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6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CDISC conformance library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36408" y="37033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F2E3D"/>
                </a:solidFill>
              </a:rPr>
              <a:t>▶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0" y="320040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F3F7F8"/>
          </a:solidFill>
          <a:ln w="25400">
            <a:solidFill>
              <a:srgbClr val="C045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0" y="342900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04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REPORT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12480" y="39319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6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errors · warnings · notices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84632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7F4F2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4400" y="49834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sentence to remember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534924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conformance check is a query that should return zero rows.  </a:t>
            </a:r>
            <a:pPr indent="0" marL="0">
              <a:buNone/>
            </a:pPr>
            <a:r>
              <a:rPr lang="en-US" sz="13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returns any, that is a finding. Thousands of rules, one shape. Once you see that, Pinnacle 21 stops being a black box and becomes something you could write yourself — which is exactly what Notebook 12 has you do.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FINDINGS ARE EQUAL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Error, Warning, Notice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91640"/>
            <a:ext cx="82296" cy="1417320"/>
          </a:xfrm>
          <a:prstGeom prst="rect">
            <a:avLst/>
          </a:prstGeom>
          <a:solidFill>
            <a:srgbClr val="C0455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3794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04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2585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the submission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87452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the data MUST satisfy. An error means the package is not fit to send until it is fixed or formally explained.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138160" y="187452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04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outside {M,F,U} · a missing Required variable · an orphan record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218688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3218688"/>
            <a:ext cx="82296" cy="1417320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3649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WARNING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914400" y="378561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or fix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0" y="340156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Probably wrong, but the record is still usable. You fix it, or you justify it in the reviewer's guide.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38160" y="3401568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unexpected severity value · a study day that looks extreme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745736"/>
            <a:ext cx="10972800" cy="1417320"/>
          </a:xfrm>
          <a:prstGeom prst="roundRect">
            <a:avLst>
              <a:gd name="adj" fmla="val 5806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745736"/>
            <a:ext cx="82296" cy="1417320"/>
          </a:xfrm>
          <a:prstGeom prst="rect">
            <a:avLst/>
          </a:prstGeom>
          <a:solidFill>
            <a:srgbClr val="1FA8A0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8920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A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14400" y="531266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awareness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83280" y="4928616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Informational. Often expected given the study design. You confirm it is intended.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38160" y="4928616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 with no records · a permissible variable left null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6309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is a JUDGEMENT about impact, not a fixed label. A sponsor re-classifies findings based on what the study is trying to prove — an unexpected AESEV is a warning in most studies and an error in one whose endpoint is severity-based.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RULES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questions, asked thousands of ways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72800" cy="1051560"/>
          </a:xfrm>
          <a:prstGeom prst="roundRect">
            <a:avLst>
              <a:gd name="adj" fmla="val 6957"/>
            </a:avLst>
          </a:prstGeom>
          <a:solidFill>
            <a:srgbClr val="163B4B"/>
          </a:solidFill>
          <a:ln w="1651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751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INTEGRITY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every record uniquely identifiable, and does everything link?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0" y="2084832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USUBJID + --SEQ unique · no orphan subjects · SUPP points at a real parent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990088"/>
            <a:ext cx="10972800" cy="1051560"/>
          </a:xfrm>
          <a:prstGeom prst="roundRect">
            <a:avLst>
              <a:gd name="adj" fmla="val 6957"/>
            </a:avLst>
          </a:prstGeom>
          <a:solidFill>
            <a:srgbClr val="163B4B"/>
          </a:solidFill>
          <a:ln w="16510">
            <a:solidFill>
              <a:srgbClr val="6FC8B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1363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REQUIRED DATA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everything the standard demands actually present?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0" y="32461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variables populated · expected domains exist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151376"/>
            <a:ext cx="10972800" cy="1051560"/>
          </a:xfrm>
          <a:prstGeom prst="roundRect">
            <a:avLst>
              <a:gd name="adj" fmla="val 6957"/>
            </a:avLst>
          </a:prstGeom>
          <a:solidFill>
            <a:srgbClr val="163B4B"/>
          </a:solidFill>
          <a:ln w="16510">
            <a:solidFill>
              <a:srgbClr val="E883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297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CONTROLLED TERMS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6817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every coded value come from its codelist?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0" y="4407408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SEX in {M,F,U} · AESER in {Y,N} · units from the UNIT codelist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312664"/>
            <a:ext cx="10972800" cy="1051560"/>
          </a:xfrm>
          <a:prstGeom prst="roundRect">
            <a:avLst>
              <a:gd name="adj" fmla="val 6957"/>
            </a:avLst>
          </a:prstGeom>
          <a:solidFill>
            <a:srgbClr val="163B4B"/>
          </a:solidFill>
          <a:ln w="16510">
            <a:solidFill>
              <a:srgbClr val="1FA8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589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LOGIC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58430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values make clinical and temporal sense?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0" y="5568696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Day 0 · end date &gt;= start date · --BLFL is Y-or-null · result within plausible range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12 writes at least one real check in every category — and the whole ABC-01 library passes all of them, because you built it correctly.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CHECKS THAT MATTER MOST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domain can be perfect and still be wrong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FDF1E7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6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consistency is not correctness.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single-domain rule can pass while the SET of datasets is incoherent. These cross-domain checks are the only ones that catch it — and they are the ones a beginner forgets, because each dataset looks fine on its own.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3383280" cy="420624"/>
          </a:xfrm>
          <a:prstGeom prst="rect">
            <a:avLst/>
          </a:prstGeom>
          <a:solidFill>
            <a:srgbClr val="0F2E3D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3063240"/>
            <a:ext cx="3273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023360" y="3063240"/>
            <a:ext cx="4572000" cy="420624"/>
          </a:xfrm>
          <a:prstGeom prst="rect">
            <a:avLst/>
          </a:prstGeom>
          <a:solidFill>
            <a:srgbClr val="0F2E3D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78224" y="3063240"/>
            <a:ext cx="4462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compares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595360" y="3063240"/>
            <a:ext cx="3017520" cy="420624"/>
          </a:xfrm>
          <a:prstGeom prst="rect">
            <a:avLst/>
          </a:prstGeom>
          <a:solidFill>
            <a:srgbClr val="0F2E3D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50224" y="3063240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fails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483864"/>
            <a:ext cx="3383280" cy="420624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3483864"/>
            <a:ext cx="3273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orphan subjects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23360" y="3483864"/>
            <a:ext cx="4572000" cy="420624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8224" y="3483864"/>
            <a:ext cx="4462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domain USUBJID vs DM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595360" y="3483864"/>
            <a:ext cx="3017520" cy="420624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50224" y="3483864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subject with data but no demographics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3383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" y="3904488"/>
            <a:ext cx="3273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 linkage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023360" y="3904488"/>
            <a:ext cx="4572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3904488"/>
            <a:ext cx="4462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SUPPAE.IDVARVAL vs AE.AESEQ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595360" y="3904488"/>
            <a:ext cx="30175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50224" y="390448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qualifier pointing at nothing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325112"/>
            <a:ext cx="3383280" cy="420624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944" y="4325112"/>
            <a:ext cx="3273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4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RFSTDTC agreement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023360" y="4325112"/>
            <a:ext cx="4572000" cy="420624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8224" y="4325112"/>
            <a:ext cx="44622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4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first dose vs DM.RFSTDTC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595360" y="4325112"/>
            <a:ext cx="3017520" cy="420624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650224" y="4325112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4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study day measured from a wrong clock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" y="5029200"/>
            <a:ext cx="10972800" cy="1280160"/>
          </a:xfrm>
          <a:prstGeom prst="roundRect">
            <a:avLst>
              <a:gd name="adj" fmla="val 6429"/>
            </a:avLst>
          </a:prstGeom>
          <a:solidFill>
            <a:srgbClr val="E7F4F2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14400" y="514807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RFSTDTC agreement is the deepest check in the suite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EX and DM disagree about first dose, every --DY shifts — and shifts CONSISTENTLY, so no within-domain check notices. The error is only visible by comparing two independent records of the same fact. That is the whole reason a submission is validated as a package, never one file at a time.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REPORT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findings table looks like — and how to read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188720" cy="384048"/>
          </a:xfrm>
          <a:prstGeom prst="rect">
            <a:avLst/>
          </a:prstGeom>
          <a:solidFill>
            <a:srgbClr val="0E2A3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78308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0" y="1783080"/>
            <a:ext cx="1371600" cy="384048"/>
          </a:xfrm>
          <a:prstGeom prst="rect">
            <a:avLst/>
          </a:prstGeom>
          <a:solidFill>
            <a:srgbClr val="0E2A3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83664" y="1783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783080"/>
            <a:ext cx="1371600" cy="384048"/>
          </a:xfrm>
          <a:prstGeom prst="rect">
            <a:avLst/>
          </a:prstGeom>
          <a:solidFill>
            <a:srgbClr val="0E2A3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55264" y="178308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1783080"/>
            <a:ext cx="6309360" cy="384048"/>
          </a:xfrm>
          <a:prstGeom prst="rect">
            <a:avLst/>
          </a:prstGeom>
          <a:solidFill>
            <a:srgbClr val="0E2A3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78308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881360" y="1783080"/>
            <a:ext cx="731520" cy="384048"/>
          </a:xfrm>
          <a:prstGeom prst="rect">
            <a:avLst/>
          </a:prstGeom>
          <a:solidFill>
            <a:srgbClr val="0E2A3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36224" y="1783080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167128"/>
            <a:ext cx="118872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944" y="2167128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4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28800" y="2167128"/>
            <a:ext cx="137160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1671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0" y="2167128"/>
            <a:ext cx="137160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55264" y="216712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SD0002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0" y="2167128"/>
            <a:ext cx="630936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26864" y="216712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ARMCD is Required and must be populated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881360" y="2167128"/>
            <a:ext cx="73152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36224" y="216712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2551176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" y="2551176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4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828800" y="2551176"/>
            <a:ext cx="13716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83664" y="2551176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0" y="2551176"/>
            <a:ext cx="13716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55264" y="2551176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SD0001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0" y="2551176"/>
            <a:ext cx="6309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26864" y="25511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AESTDY must never be 0 - there is no Day 0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0881360" y="2551176"/>
            <a:ext cx="7315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936224" y="2551176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" y="2935224"/>
            <a:ext cx="118872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" y="2935224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4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28800" y="2935224"/>
            <a:ext cx="137160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83664" y="2935224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200400" y="2935224"/>
            <a:ext cx="137160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55264" y="2935224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SD0011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0" y="2935224"/>
            <a:ext cx="630936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26864" y="293522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SUPPAE row with no matching AE parent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0881360" y="2935224"/>
            <a:ext cx="73152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936224" y="293522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0080" y="3319272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94944" y="3319272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4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828800" y="3319272"/>
            <a:ext cx="13716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83664" y="3319272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200400" y="3319272"/>
            <a:ext cx="13716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55264" y="3319272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SD0004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572000" y="3319272"/>
            <a:ext cx="6309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26864" y="331927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VSBLFL must be Y or null - never 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0881360" y="3319272"/>
            <a:ext cx="7315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936224" y="3319272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" y="3703320"/>
            <a:ext cx="118872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94944" y="370332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1828800" y="3703320"/>
            <a:ext cx="137160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883664" y="3703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200400" y="3703320"/>
            <a:ext cx="137160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55264" y="3703320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SD0012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4572000" y="3703320"/>
            <a:ext cx="630936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26864" y="37033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first dose disagrees with DM.RFSTDTC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10881360" y="3703320"/>
            <a:ext cx="731520" cy="384048"/>
          </a:xfrm>
          <a:prstGeom prst="rect">
            <a:avLst/>
          </a:prstGeom>
          <a:solidFill>
            <a:srgbClr val="F3F7F8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936224" y="3703320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4087368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94944" y="4087368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A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1828800" y="4087368"/>
            <a:ext cx="13716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883664" y="408736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200400" y="4087368"/>
            <a:ext cx="13716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255264" y="4087368"/>
            <a:ext cx="1261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CT0002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4572000" y="4087368"/>
            <a:ext cx="6309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26864" y="408736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AESEV outside expected severity codelist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10881360" y="4087368"/>
            <a:ext cx="7315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FDEE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936224" y="408736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injected-defect run from Notebook 12 — four planted errors, all caught.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640080" y="489204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1A4152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76" name="Text 74"/>
          <p:cNvSpPr/>
          <p:nvPr/>
        </p:nvSpPr>
        <p:spPr>
          <a:xfrm>
            <a:off x="914400" y="5029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reviewer reads it</a:t>
            </a:r>
            <a:endParaRPr lang="en-US" sz="1500" dirty="0"/>
          </a:p>
        </p:txBody>
      </p:sp>
      <p:sp>
        <p:nvSpPr>
          <p:cNvPr id="77" name="Text 75"/>
          <p:cNvSpPr/>
          <p:nvPr/>
        </p:nvSpPr>
        <p:spPr>
          <a:xfrm>
            <a:off x="914400" y="53949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first, worst domain first. Each finding names a RULE (traceable to CDISC), a COUNT, and enough to locate it. Zero rows is a pass — an empty report is the goal.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6263640" y="4892040"/>
            <a:ext cx="5349240" cy="1417320"/>
          </a:xfrm>
          <a:prstGeom prst="roundRect">
            <a:avLst>
              <a:gd name="adj" fmla="val 5806"/>
            </a:avLst>
          </a:prstGeom>
          <a:solidFill>
            <a:srgbClr val="3A2530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6537960" y="5029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9D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must NOT do</a:t>
            </a:r>
            <a:endParaRPr lang="en-US" sz="1500" dirty="0"/>
          </a:p>
        </p:txBody>
      </p:sp>
      <p:sp>
        <p:nvSpPr>
          <p:cNvPr id="80" name="Text 78"/>
          <p:cNvSpPr/>
          <p:nvPr/>
        </p:nvSpPr>
        <p:spPr>
          <a:xfrm>
            <a:off x="6537960" y="53949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0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"fix" a finding by deleting the record or blanking the value. A finding is a QUESTION about the data. You resolve it by correcting the source or explaining it — never by hiding it.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FINDING IS EXPECTED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Reviewer's Guide (cSDRG)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28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every finding is a defect. Some are consequences of how the study was designed.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2402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ABC-01 would raise a NOTICE that only 4 of 8 subjects appear in LB. That is not an error — this protocol collects labs on a subset. But the validation tool cannot know that, so it flags it, and YOU must tell the reviewer it is intended.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explanation lives in the cSDRG — the clinical Study Data Reviewer's Guide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794760"/>
            <a:ext cx="35204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950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is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4370832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 submitted alongside the datasets that explains the study's data to a reviewer.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89120" y="3794760"/>
            <a:ext cx="35204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17720" y="3950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holds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4370832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decisions, known validation findings and why each is acceptable, deviations from the standard.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3794760"/>
            <a:ext cx="3520440" cy="2103120"/>
          </a:xfrm>
          <a:prstGeom prst="roundRect">
            <a:avLst>
              <a:gd name="adj" fmla="val 3913"/>
            </a:avLst>
          </a:prstGeom>
          <a:solidFill>
            <a:srgbClr val="E7F4F2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66760" y="39502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66760" y="4370832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turns a flagged-but-intended finding from a red mark into a documented, defensible choice.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submission is datasets PLUS documentation. A clean-but-unexplained package and a flagged-but-fully-explained one — the reviewer trusts the second.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NOTEBOOK 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ways QC goes wrong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72800" cy="859536"/>
          </a:xfrm>
          <a:prstGeom prst="roundRect">
            <a:avLst>
              <a:gd name="adj" fmla="val 8511"/>
            </a:avLst>
          </a:prstGeom>
          <a:solidFill>
            <a:srgbClr val="1A4152"/>
          </a:solidFill>
          <a:ln w="12700">
            <a:solidFill>
              <a:srgbClr val="2457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011680"/>
            <a:ext cx="493776" cy="493776"/>
          </a:xfrm>
          <a:prstGeom prst="ellipse">
            <a:avLst/>
          </a:prstGeom>
          <a:solidFill>
            <a:srgbClr val="C0455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36192" y="19385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the check for the GOOD state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36192" y="2286000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conformance check finds VIOLATIONS. The WHERE describes what must never happen.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0" y="20848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expect zero rows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61488"/>
            <a:ext cx="10972800" cy="859536"/>
          </a:xfrm>
          <a:prstGeom prst="roundRect">
            <a:avLst>
              <a:gd name="adj" fmla="val 8511"/>
            </a:avLst>
          </a:prstGeom>
          <a:solidFill>
            <a:srgbClr val="163B4B"/>
          </a:solidFill>
          <a:ln w="12700">
            <a:solidFill>
              <a:srgbClr val="2457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8680" y="2944368"/>
            <a:ext cx="493776" cy="493776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9443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36192" y="28712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checking one domain at a time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36192" y="3218688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 errors live BETWEEN datasets, not inside them.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0" y="30175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compare EX to DM, SUPP to parent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94176"/>
            <a:ext cx="10972800" cy="859536"/>
          </a:xfrm>
          <a:prstGeom prst="roundRect">
            <a:avLst>
              <a:gd name="adj" fmla="val 8511"/>
            </a:avLst>
          </a:prstGeom>
          <a:solidFill>
            <a:srgbClr val="1A4152"/>
          </a:solidFill>
          <a:ln w="12700">
            <a:solidFill>
              <a:srgbClr val="2457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3877056"/>
            <a:ext cx="493776" cy="493776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38770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36192" y="380390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a clean report as correct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536192" y="4151376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proves conformance, not truth. Both can be wrong together.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0" y="39502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conformance is not correctness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626864"/>
            <a:ext cx="10972800" cy="859536"/>
          </a:xfrm>
          <a:prstGeom prst="roundRect">
            <a:avLst>
              <a:gd name="adj" fmla="val 8511"/>
            </a:avLst>
          </a:prstGeom>
          <a:solidFill>
            <a:srgbClr val="163B4B"/>
          </a:solidFill>
          <a:ln w="12700">
            <a:solidFill>
              <a:srgbClr val="2457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" y="4809744"/>
            <a:ext cx="493776" cy="49377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480974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536192" y="473659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Hiding a finding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36192" y="5084064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Deleting the record makes the report clean and the submission wrong.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72400" y="48828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fix the source or explain it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59552"/>
            <a:ext cx="10972800" cy="859536"/>
          </a:xfrm>
          <a:prstGeom prst="roundRect">
            <a:avLst>
              <a:gd name="adj" fmla="val 8511"/>
            </a:avLst>
          </a:prstGeom>
          <a:solidFill>
            <a:srgbClr val="1A4152"/>
          </a:solidFill>
          <a:ln w="12700">
            <a:solidFill>
              <a:srgbClr val="2457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8680" y="5742432"/>
            <a:ext cx="493776" cy="493776"/>
          </a:xfrm>
          <a:prstGeom prst="ellipse">
            <a:avLst/>
          </a:prstGeom>
          <a:solidFill>
            <a:srgbClr val="6FC8B4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57424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536192" y="566928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every finding blocks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536192" y="6016752"/>
            <a:ext cx="6126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FCB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is a judgement. A WARNING is explained, not necessarily fixed.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772400" y="58155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read severity, use the cSDRG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 Notebook 12 · QC &amp; Validation Checks   →   Deck 11 · Relationships &amp; Trial Design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Quality &amp; Validation</dc:title>
  <dc:subject>PptxGenJS Presentation</dc:subject>
  <dc:creator>Clinical Programming Bootcamp</dc:creator>
  <cp:lastModifiedBy>Clinical Programming Bootcamp</cp:lastModifiedBy>
  <cp:revision>1</cp:revision>
  <dcterms:created xsi:type="dcterms:W3CDTF">2026-07-26T04:23:21Z</dcterms:created>
  <dcterms:modified xsi:type="dcterms:W3CDTF">2026-07-26T04:23:21Z</dcterms:modified>
</cp:coreProperties>
</file>