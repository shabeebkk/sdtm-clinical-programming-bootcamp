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18 closes the ADaM track. Two halves: ADTTE in the morning, then the payoff notebook which is deliberately the shortest in the course. Save time for the last slide — the traceability chain is the thing you want them to leave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ADTTE is built on ADAE, which is built on AE. Point out that the notebook reads adam/adae.csv, not sdtm/ae.csv — each layer trusts the one below, and TRTEMFL still means the one thing SDTM documented, three layers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1 makes them run cnsr(0). The one-sentence answer for a non-statistician: that curve describes a study in which the only thing that ever happened was that two people finished, and the six who actually had an event are counted as having quietly walked away without one. Same class of bug as everything else in this course — correct-looking output from incorrect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numbers computed from ABC-01. The censored subjects sit in the risk set for all 28 days — making each real event a smaller proportional drop — then leave without causing a drop. That IS the mechanism: contribute the information you have, and nothing you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ABC-01 both censorings are LAST DOSE on completers — the benign case. Exercise 4 asks for two more reasons. Worth mentioning competing risks briefly: death from an unrelated cause when the endpoint is not death needs more than simple censoring, and that is beyond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Pinnacle 21 would pass a dataset in which HEIGHTBL is missing for all 8 subjects — it is a valid numeric variable that happens to be null. Every silent bug in this course would pass conformance. Point at data/audit_adam.py: 85 checks, each re-deriving a rule independently from SDTM, and mutation-tested to prove they can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whole ADaM track has been building toward. Read the decision list aloud and let it land: none of these are in the table program. Ask the room what happens on the day someone changes the definition of 'related' — with ADaM, one variable and every table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ADaM track. If they remember one thing, make it this slide: ADaM is not a standard for its own sake, it is a single documented place for every decision, so that a reviewer who disagrees with one of them knows exactly which number to recompute and where. Congratulate them — they have now taken raw CRF data all the way to a submission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133B4C"/>
          </a:solidFill>
          <a:ln/>
        </p:spPr>
      </p:sp>
      <p:sp>
        <p:nvSpPr>
          <p:cNvPr id="3" name="Shape 1"/>
          <p:cNvSpPr/>
          <p:nvPr/>
        </p:nvSpPr>
        <p:spPr>
          <a:xfrm>
            <a:off x="9784080" y="-548640"/>
            <a:ext cx="2926080" cy="2926080"/>
          </a:xfrm>
          <a:prstGeom prst="ellipse">
            <a:avLst/>
          </a:prstGeom>
          <a:solidFill>
            <a:srgbClr val="0E7C86"/>
          </a:solidFill>
          <a:ln/>
        </p:spPr>
      </p:sp>
      <p:sp>
        <p:nvSpPr>
          <p:cNvPr id="4" name="Shape 2"/>
          <p:cNvSpPr/>
          <p:nvPr/>
        </p:nvSpPr>
        <p:spPr>
          <a:xfrm>
            <a:off x="10469880" y="137160"/>
            <a:ext cx="1554480" cy="1554480"/>
          </a:xfrm>
          <a:prstGeom prst="ellipse">
            <a:avLst/>
          </a:prstGeom>
          <a:solidFill>
            <a:srgbClr val="E8833A"/>
          </a:solidFill>
          <a:ln/>
        </p:spPr>
      </p:sp>
      <p:sp>
        <p:nvSpPr>
          <p:cNvPr id="5" name="Text 3"/>
          <p:cNvSpPr/>
          <p:nvPr/>
        </p:nvSpPr>
        <p:spPr>
          <a:xfrm>
            <a:off x="640080" y="1828800"/>
            <a:ext cx="8229600" cy="365760"/>
          </a:xfrm>
          <a:prstGeom prst="rect">
            <a:avLst/>
          </a:prstGeom>
          <a:noFill/>
          <a:ln/>
        </p:spPr>
        <p:txBody>
          <a:bodyPr wrap="square" lIns="0" tIns="0" rIns="0" bIns="0" rtlCol="0" anchor="ctr"/>
          <a:lstStyle/>
          <a:p>
            <a:pPr indent="0" marL="0">
              <a:buNone/>
            </a:pPr>
            <a:r>
              <a:rPr lang="en-US" sz="1400" b="1" spc="200" kern="0" dirty="0">
                <a:solidFill>
                  <a:srgbClr val="6FC8B4"/>
                </a:solidFill>
                <a:latin typeface="Calibri" pitchFamily="34" charset="0"/>
                <a:ea typeface="Calibri" pitchFamily="34" charset="-122"/>
                <a:cs typeface="Calibri" pitchFamily="34" charset="-120"/>
              </a:rPr>
              <a:t>CLINICAL PROGRAMMING BOOTCAMP  ·  MODULE 18</a:t>
            </a:r>
            <a:endParaRPr lang="en-US" sz="1400" dirty="0"/>
          </a:p>
        </p:txBody>
      </p:sp>
      <p:sp>
        <p:nvSpPr>
          <p:cNvPr id="6" name="Text 4"/>
          <p:cNvSpPr/>
          <p:nvPr/>
        </p:nvSpPr>
        <p:spPr>
          <a:xfrm>
            <a:off x="603504" y="2286000"/>
            <a:ext cx="8778240" cy="155448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Time-to-Event,</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and the Payoff</a:t>
            </a:r>
            <a:endParaRPr lang="en-US" sz="4200" dirty="0"/>
          </a:p>
        </p:txBody>
      </p:sp>
      <p:sp>
        <p:nvSpPr>
          <p:cNvPr id="7" name="Text 5"/>
          <p:cNvSpPr/>
          <p:nvPr/>
        </p:nvSpPr>
        <p:spPr>
          <a:xfrm>
            <a:off x="640080" y="3794760"/>
            <a:ext cx="8778240" cy="548640"/>
          </a:xfrm>
          <a:prstGeom prst="rect">
            <a:avLst/>
          </a:prstGeom>
          <a:noFill/>
          <a:ln/>
        </p:spPr>
        <p:txBody>
          <a:bodyPr wrap="square" lIns="0" tIns="0" rIns="0" bIns="0" rtlCol="0" anchor="ctr"/>
          <a:lstStyle/>
          <a:p>
            <a:pPr indent="0" marL="0">
              <a:buNone/>
            </a:pPr>
            <a:r>
              <a:rPr lang="en-US" sz="2400" dirty="0">
                <a:solidFill>
                  <a:srgbClr val="6FC8B4"/>
                </a:solidFill>
                <a:latin typeface="Cambria" pitchFamily="34" charset="0"/>
                <a:ea typeface="Cambria" pitchFamily="34" charset="-122"/>
                <a:cs typeface="Cambria" pitchFamily="34" charset="-120"/>
              </a:rPr>
              <a:t>Censoring · ADaM validation · one real table</a:t>
            </a:r>
            <a:endParaRPr lang="en-US" sz="2400" dirty="0"/>
          </a:p>
        </p:txBody>
      </p:sp>
      <p:sp>
        <p:nvSpPr>
          <p:cNvPr id="8" name="Text 6"/>
          <p:cNvSpPr/>
          <p:nvPr/>
        </p:nvSpPr>
        <p:spPr>
          <a:xfrm>
            <a:off x="640080" y="4572000"/>
            <a:ext cx="8412480" cy="731520"/>
          </a:xfrm>
          <a:prstGeom prst="rect">
            <a:avLst/>
          </a:prstGeom>
          <a:noFill/>
          <a:ln/>
        </p:spPr>
        <p:txBody>
          <a:bodyPr wrap="square" lIns="0" tIns="0" rIns="0" bIns="0" rtlCol="0" anchor="ctr"/>
          <a:lstStyle/>
          <a:p>
            <a:pPr indent="0" marL="0">
              <a:buNone/>
            </a:pPr>
            <a:r>
              <a:rPr lang="en-US" sz="1600" dirty="0">
                <a:solidFill>
                  <a:srgbClr val="C7DCE0"/>
                </a:solidFill>
                <a:latin typeface="Calibri" pitchFamily="34" charset="0"/>
                <a:ea typeface="Calibri" pitchFamily="34" charset="-122"/>
                <a:cs typeface="Calibri" pitchFamily="34" charset="-120"/>
              </a:rPr>
              <a:t>The last day. Two subjects nothing happened to, and why they matter most.</a:t>
            </a:r>
            <a:endParaRPr lang="en-US" sz="1600" dirty="0"/>
          </a:p>
        </p:txBody>
      </p:sp>
      <p:sp>
        <p:nvSpPr>
          <p:cNvPr id="9" name="Text 7"/>
          <p:cNvSpPr/>
          <p:nvPr/>
        </p:nvSpPr>
        <p:spPr>
          <a:xfrm>
            <a:off x="640080" y="5943600"/>
            <a:ext cx="10972800" cy="365760"/>
          </a:xfrm>
          <a:prstGeom prst="rect">
            <a:avLst/>
          </a:prstGeom>
          <a:noFill/>
          <a:ln/>
        </p:spPr>
        <p:txBody>
          <a:bodyPr wrap="square" lIns="0" tIns="0" rIns="0" bIns="0" rtlCol="0" anchor="ctr"/>
          <a:lstStyle/>
          <a:p>
            <a:pPr indent="0" marL="0">
              <a:buNone/>
            </a:pPr>
            <a:r>
              <a:rPr lang="en-US" sz="1200" i="1" dirty="0">
                <a:solidFill>
                  <a:srgbClr val="8FAEB8"/>
                </a:solidFill>
                <a:latin typeface="Calibri" pitchFamily="34" charset="0"/>
                <a:ea typeface="Calibri" pitchFamily="34" charset="-122"/>
                <a:cs typeface="Calibri" pitchFamily="34" charset="-120"/>
              </a:rPr>
              <a:t>Hands-on: Notebook 18 (ADTTE) and Notebook 19 (from ADaM to a table)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A DIFFERENT QUESTION</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Not whether — how long</a:t>
            </a:r>
            <a:endParaRPr lang="en-US" sz="3000" dirty="0"/>
          </a:p>
        </p:txBody>
      </p:sp>
      <p:sp>
        <p:nvSpPr>
          <p:cNvPr id="4" name="Shape 2"/>
          <p:cNvSpPr/>
          <p:nvPr/>
        </p:nvSpPr>
        <p:spPr>
          <a:xfrm>
            <a:off x="640080" y="1691640"/>
            <a:ext cx="10972800" cy="1371600"/>
          </a:xfrm>
          <a:prstGeom prst="roundRect">
            <a:avLst>
              <a:gd name="adj" fmla="val 60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640080" y="1691640"/>
            <a:ext cx="82296" cy="1371600"/>
          </a:xfrm>
          <a:prstGeom prst="rect">
            <a:avLst/>
          </a:prstGeom>
          <a:solidFill>
            <a:srgbClr val="0E7C86"/>
          </a:solidFill>
          <a:ln/>
        </p:spPr>
      </p:sp>
      <p:sp>
        <p:nvSpPr>
          <p:cNvPr id="6" name="Text 4"/>
          <p:cNvSpPr/>
          <p:nvPr/>
        </p:nvSpPr>
        <p:spPr>
          <a:xfrm>
            <a:off x="960120" y="1856232"/>
            <a:ext cx="2194560" cy="365760"/>
          </a:xfrm>
          <a:prstGeom prst="rect">
            <a:avLst/>
          </a:prstGeom>
          <a:noFill/>
          <a:ln/>
        </p:spPr>
        <p:txBody>
          <a:bodyPr wrap="square" lIns="0" tIns="0" rIns="0" bIns="0" rtlCol="0" anchor="ctr"/>
          <a:lstStyle/>
          <a:p>
            <a:pPr indent="0" marL="0">
              <a:buNone/>
            </a:pPr>
            <a:r>
              <a:rPr lang="en-US" sz="1800" b="1" dirty="0">
                <a:solidFill>
                  <a:srgbClr val="0E7C86"/>
                </a:solidFill>
                <a:latin typeface="Cambria" pitchFamily="34" charset="0"/>
                <a:ea typeface="Cambria" pitchFamily="34" charset="-122"/>
                <a:cs typeface="Cambria" pitchFamily="34" charset="-120"/>
              </a:rPr>
              <a:t>ADAE asks</a:t>
            </a:r>
            <a:endParaRPr lang="en-US" sz="1800" dirty="0"/>
          </a:p>
        </p:txBody>
      </p:sp>
      <p:sp>
        <p:nvSpPr>
          <p:cNvPr id="7" name="Text 5"/>
          <p:cNvSpPr/>
          <p:nvPr/>
        </p:nvSpPr>
        <p:spPr>
          <a:xfrm>
            <a:off x="3291840" y="1828800"/>
            <a:ext cx="5669280" cy="685800"/>
          </a:xfrm>
          <a:prstGeom prst="rect">
            <a:avLst/>
          </a:prstGeom>
          <a:noFill/>
          <a:ln/>
        </p:spPr>
        <p:txBody>
          <a:bodyPr wrap="square" lIns="0" tIns="0" rIns="0" bIns="0" rtlCol="0" anchor="ctr"/>
          <a:lstStyle/>
          <a:p>
            <a:pPr indent="0" marL="0">
              <a:lnSpc>
                <a:spcPts val="2000"/>
              </a:lnSpc>
              <a:buNone/>
            </a:pPr>
            <a:r>
              <a:rPr lang="en-US" sz="1500" dirty="0">
                <a:solidFill>
                  <a:srgbClr val="0F2E3D"/>
                </a:solidFill>
                <a:latin typeface="Calibri" pitchFamily="34" charset="0"/>
                <a:ea typeface="Calibri" pitchFamily="34" charset="-122"/>
                <a:cs typeface="Calibri" pitchFamily="34" charset="-120"/>
              </a:rPr>
              <a:t>Did this subject have an event?</a:t>
            </a:r>
            <a:endParaRPr lang="en-US" sz="1500" dirty="0"/>
          </a:p>
        </p:txBody>
      </p:sp>
      <p:sp>
        <p:nvSpPr>
          <p:cNvPr id="8" name="Text 6"/>
          <p:cNvSpPr/>
          <p:nvPr/>
        </p:nvSpPr>
        <p:spPr>
          <a:xfrm>
            <a:off x="3291840" y="2560320"/>
            <a:ext cx="5669280" cy="365760"/>
          </a:xfrm>
          <a:prstGeom prst="rect">
            <a:avLst/>
          </a:prstGeom>
          <a:noFill/>
          <a:ln/>
        </p:spPr>
        <p:txBody>
          <a:bodyPr wrap="square" lIns="0" tIns="0" rIns="0" bIns="0" rtlCol="0" anchor="ctr"/>
          <a:lstStyle/>
          <a:p>
            <a:pPr indent="0" marL="0">
              <a:buNone/>
            </a:pPr>
            <a:r>
              <a:rPr lang="en-US" sz="1300" dirty="0">
                <a:solidFill>
                  <a:srgbClr val="5A7682"/>
                </a:solidFill>
                <a:latin typeface="Courier New" pitchFamily="34" charset="0"/>
                <a:ea typeface="Courier New" pitchFamily="34" charset="-122"/>
                <a:cs typeface="Courier New" pitchFamily="34" charset="-120"/>
              </a:rPr>
              <a:t>Y / N</a:t>
            </a:r>
            <a:endParaRPr lang="en-US" sz="1300" dirty="0"/>
          </a:p>
        </p:txBody>
      </p:sp>
      <p:sp>
        <p:nvSpPr>
          <p:cNvPr id="9" name="Shape 7"/>
          <p:cNvSpPr/>
          <p:nvPr/>
        </p:nvSpPr>
        <p:spPr>
          <a:xfrm>
            <a:off x="640080" y="3200400"/>
            <a:ext cx="10972800" cy="1371600"/>
          </a:xfrm>
          <a:prstGeom prst="roundRect">
            <a:avLst>
              <a:gd name="adj" fmla="val 60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Shape 8"/>
          <p:cNvSpPr/>
          <p:nvPr/>
        </p:nvSpPr>
        <p:spPr>
          <a:xfrm>
            <a:off x="640080" y="3200400"/>
            <a:ext cx="82296" cy="1371600"/>
          </a:xfrm>
          <a:prstGeom prst="rect">
            <a:avLst/>
          </a:prstGeom>
          <a:solidFill>
            <a:srgbClr val="E8833A"/>
          </a:solidFill>
          <a:ln/>
        </p:spPr>
      </p:sp>
      <p:sp>
        <p:nvSpPr>
          <p:cNvPr id="11" name="Text 9"/>
          <p:cNvSpPr/>
          <p:nvPr/>
        </p:nvSpPr>
        <p:spPr>
          <a:xfrm>
            <a:off x="960120" y="3364992"/>
            <a:ext cx="2194560" cy="365760"/>
          </a:xfrm>
          <a:prstGeom prst="rect">
            <a:avLst/>
          </a:prstGeom>
          <a:noFill/>
          <a:ln/>
        </p:spPr>
        <p:txBody>
          <a:bodyPr wrap="square" lIns="0" tIns="0" rIns="0" bIns="0" rtlCol="0" anchor="ctr"/>
          <a:lstStyle/>
          <a:p>
            <a:pPr indent="0" marL="0">
              <a:buNone/>
            </a:pPr>
            <a:r>
              <a:rPr lang="en-US" sz="1800" b="1" dirty="0">
                <a:solidFill>
                  <a:srgbClr val="E8833A"/>
                </a:solidFill>
                <a:latin typeface="Cambria" pitchFamily="34" charset="0"/>
                <a:ea typeface="Cambria" pitchFamily="34" charset="-122"/>
                <a:cs typeface="Cambria" pitchFamily="34" charset="-120"/>
              </a:rPr>
              <a:t>ADTTE asks</a:t>
            </a:r>
            <a:endParaRPr lang="en-US" sz="1800" dirty="0"/>
          </a:p>
        </p:txBody>
      </p:sp>
      <p:sp>
        <p:nvSpPr>
          <p:cNvPr id="12" name="Text 10"/>
          <p:cNvSpPr/>
          <p:nvPr/>
        </p:nvSpPr>
        <p:spPr>
          <a:xfrm>
            <a:off x="3291840" y="3337560"/>
            <a:ext cx="5669280" cy="685800"/>
          </a:xfrm>
          <a:prstGeom prst="rect">
            <a:avLst/>
          </a:prstGeom>
          <a:noFill/>
          <a:ln/>
        </p:spPr>
        <p:txBody>
          <a:bodyPr wrap="square" lIns="0" tIns="0" rIns="0" bIns="0" rtlCol="0" anchor="ctr"/>
          <a:lstStyle/>
          <a:p>
            <a:pPr indent="0" marL="0">
              <a:lnSpc>
                <a:spcPts val="2000"/>
              </a:lnSpc>
              <a:buNone/>
            </a:pPr>
            <a:r>
              <a:rPr lang="en-US" sz="1500" dirty="0">
                <a:solidFill>
                  <a:srgbClr val="0F2E3D"/>
                </a:solidFill>
                <a:latin typeface="Calibri" pitchFamily="34" charset="0"/>
                <a:ea typeface="Calibri" pitchFamily="34" charset="-122"/>
                <a:cs typeface="Calibri" pitchFamily="34" charset="-120"/>
              </a:rPr>
              <a:t>How long until they did — and what about the ones who never did?</a:t>
            </a:r>
            <a:endParaRPr lang="en-US" sz="1500" dirty="0"/>
          </a:p>
        </p:txBody>
      </p:sp>
      <p:sp>
        <p:nvSpPr>
          <p:cNvPr id="13" name="Text 11"/>
          <p:cNvSpPr/>
          <p:nvPr/>
        </p:nvSpPr>
        <p:spPr>
          <a:xfrm>
            <a:off x="3291840" y="4069080"/>
            <a:ext cx="5669280" cy="365760"/>
          </a:xfrm>
          <a:prstGeom prst="rect">
            <a:avLst/>
          </a:prstGeom>
          <a:noFill/>
          <a:ln/>
        </p:spPr>
        <p:txBody>
          <a:bodyPr wrap="square" lIns="0" tIns="0" rIns="0" bIns="0" rtlCol="0" anchor="ctr"/>
          <a:lstStyle/>
          <a:p>
            <a:pPr indent="0" marL="0">
              <a:buNone/>
            </a:pPr>
            <a:r>
              <a:rPr lang="en-US" sz="1300" dirty="0">
                <a:solidFill>
                  <a:srgbClr val="5A7682"/>
                </a:solidFill>
                <a:latin typeface="Courier New" pitchFamily="34" charset="0"/>
                <a:ea typeface="Courier New" pitchFamily="34" charset="-122"/>
                <a:cs typeface="Courier New" pitchFamily="34" charset="-120"/>
              </a:rPr>
              <a:t>days + a censoring flag</a:t>
            </a:r>
            <a:endParaRPr lang="en-US" sz="1300" dirty="0"/>
          </a:p>
        </p:txBody>
      </p:sp>
      <p:sp>
        <p:nvSpPr>
          <p:cNvPr id="14" name="Shape 12"/>
          <p:cNvSpPr/>
          <p:nvPr/>
        </p:nvSpPr>
        <p:spPr>
          <a:xfrm>
            <a:off x="640080" y="4846320"/>
            <a:ext cx="10972800" cy="1371600"/>
          </a:xfrm>
          <a:prstGeom prst="roundRect">
            <a:avLst>
              <a:gd name="adj" fmla="val 6000"/>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5" name="Text 13"/>
          <p:cNvSpPr/>
          <p:nvPr/>
        </p:nvSpPr>
        <p:spPr>
          <a:xfrm>
            <a:off x="960120" y="5029200"/>
            <a:ext cx="10424160" cy="4114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One row per subject per parameter — EVERY safety subject, event or not.</a:t>
            </a:r>
            <a:endParaRPr lang="en-US" sz="1900" dirty="0"/>
          </a:p>
        </p:txBody>
      </p:sp>
      <p:sp>
        <p:nvSpPr>
          <p:cNvPr id="16" name="Text 14"/>
          <p:cNvSpPr/>
          <p:nvPr/>
        </p:nvSpPr>
        <p:spPr>
          <a:xfrm>
            <a:off x="960120" y="5486400"/>
            <a:ext cx="10424160" cy="594360"/>
          </a:xfrm>
          <a:prstGeom prst="rect">
            <a:avLst/>
          </a:prstGeom>
          <a:noFill/>
          <a:ln/>
        </p:spPr>
        <p:txBody>
          <a:bodyPr wrap="square" lIns="0" tIns="0" rIns="0" bIns="0" rtlCol="0" anchor="ctr"/>
          <a:lstStyle/>
          <a:p>
            <a:pPr indent="0" marL="0">
              <a:lnSpc>
                <a:spcPts val="2000"/>
              </a:lnSpc>
              <a:buNone/>
            </a:pPr>
            <a:r>
              <a:rPr lang="en-US" sz="1400" dirty="0">
                <a:solidFill>
                  <a:srgbClr val="C7DCE0"/>
                </a:solidFill>
                <a:latin typeface="Calibri" pitchFamily="34" charset="0"/>
                <a:ea typeface="Calibri" pitchFamily="34" charset="-122"/>
                <a:cs typeface="Calibri" pitchFamily="34" charset="-120"/>
              </a:rPr>
              <a:t>ABC-01: 8 rows.  6 events.  2 censored.   If you built 6 rows, you dropped the censored subjects — and that is the mistake this whole module exists to prevent.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TRAP</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CNSR runs backwards from every other flag in ADaM</a:t>
            </a:r>
            <a:endParaRPr lang="en-US" sz="3000" dirty="0"/>
          </a:p>
        </p:txBody>
      </p:sp>
      <p:sp>
        <p:nvSpPr>
          <p:cNvPr id="4" name="Shape 2"/>
          <p:cNvSpPr/>
          <p:nvPr/>
        </p:nvSpPr>
        <p:spPr>
          <a:xfrm>
            <a:off x="640080" y="1645920"/>
            <a:ext cx="5394960" cy="1463040"/>
          </a:xfrm>
          <a:prstGeom prst="roundRect">
            <a:avLst>
              <a:gd name="adj" fmla="val 5625"/>
            </a:avLst>
          </a:prstGeom>
          <a:solidFill>
            <a:srgbClr val="E8F4F1"/>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60120" y="1828800"/>
            <a:ext cx="4846320" cy="457200"/>
          </a:xfrm>
          <a:prstGeom prst="rect">
            <a:avLst/>
          </a:prstGeom>
          <a:noFill/>
          <a:ln/>
        </p:spPr>
        <p:txBody>
          <a:bodyPr wrap="square" lIns="0" tIns="0" rIns="0" bIns="0" rtlCol="0" anchor="ctr"/>
          <a:lstStyle/>
          <a:p>
            <a:pPr indent="0" marL="0">
              <a:buNone/>
            </a:pPr>
            <a:r>
              <a:rPr lang="en-US" sz="2400" b="1" dirty="0">
                <a:solidFill>
                  <a:srgbClr val="1FA8A0"/>
                </a:solidFill>
                <a:latin typeface="Courier New" pitchFamily="34" charset="0"/>
                <a:ea typeface="Courier New" pitchFamily="34" charset="-122"/>
                <a:cs typeface="Courier New" pitchFamily="34" charset="-120"/>
              </a:rPr>
              <a:t>CNSR = 0</a:t>
            </a:r>
            <a:endParaRPr lang="en-US" sz="2400" dirty="0"/>
          </a:p>
        </p:txBody>
      </p:sp>
      <p:sp>
        <p:nvSpPr>
          <p:cNvPr id="6" name="Text 4"/>
          <p:cNvSpPr/>
          <p:nvPr/>
        </p:nvSpPr>
        <p:spPr>
          <a:xfrm>
            <a:off x="960120" y="2377440"/>
            <a:ext cx="4846320" cy="36576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the event HAPPENED</a:t>
            </a:r>
            <a:endParaRPr lang="en-US" sz="1600" dirty="0"/>
          </a:p>
        </p:txBody>
      </p:sp>
      <p:sp>
        <p:nvSpPr>
          <p:cNvPr id="7" name="Shape 5"/>
          <p:cNvSpPr/>
          <p:nvPr/>
        </p:nvSpPr>
        <p:spPr>
          <a:xfrm>
            <a:off x="6309360" y="1645920"/>
            <a:ext cx="5303520" cy="1463040"/>
          </a:xfrm>
          <a:prstGeom prst="roundRect">
            <a:avLst>
              <a:gd name="adj" fmla="val 5625"/>
            </a:avLst>
          </a:prstGeom>
          <a:solidFill>
            <a:srgbClr val="FBEAE4"/>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8" name="Text 6"/>
          <p:cNvSpPr/>
          <p:nvPr/>
        </p:nvSpPr>
        <p:spPr>
          <a:xfrm>
            <a:off x="6629400" y="1828800"/>
            <a:ext cx="4754880" cy="457200"/>
          </a:xfrm>
          <a:prstGeom prst="rect">
            <a:avLst/>
          </a:prstGeom>
          <a:noFill/>
          <a:ln/>
        </p:spPr>
        <p:txBody>
          <a:bodyPr wrap="square" lIns="0" tIns="0" rIns="0" bIns="0" rtlCol="0" anchor="ctr"/>
          <a:lstStyle/>
          <a:p>
            <a:pPr indent="0" marL="0">
              <a:buNone/>
            </a:pPr>
            <a:r>
              <a:rPr lang="en-US" sz="2400" b="1" dirty="0">
                <a:solidFill>
                  <a:srgbClr val="C4442E"/>
                </a:solidFill>
                <a:latin typeface="Courier New" pitchFamily="34" charset="0"/>
                <a:ea typeface="Courier New" pitchFamily="34" charset="-122"/>
                <a:cs typeface="Courier New" pitchFamily="34" charset="-120"/>
              </a:rPr>
              <a:t>CNSR = 1</a:t>
            </a:r>
            <a:endParaRPr lang="en-US" sz="2400" dirty="0"/>
          </a:p>
        </p:txBody>
      </p:sp>
      <p:sp>
        <p:nvSpPr>
          <p:cNvPr id="9" name="Text 7"/>
          <p:cNvSpPr/>
          <p:nvPr/>
        </p:nvSpPr>
        <p:spPr>
          <a:xfrm>
            <a:off x="6629400" y="2331720"/>
            <a:ext cx="4754880" cy="640080"/>
          </a:xfrm>
          <a:prstGeom prst="rect">
            <a:avLst/>
          </a:prstGeom>
          <a:noFill/>
          <a:ln/>
        </p:spPr>
        <p:txBody>
          <a:bodyPr wrap="square" lIns="0" tIns="0" rIns="0" bIns="0" rtlCol="0" anchor="ctr"/>
          <a:lstStyle/>
          <a:p>
            <a:pPr indent="0" marL="0">
              <a:lnSpc>
                <a:spcPts val="1900"/>
              </a:lnSpc>
              <a:buNone/>
            </a:pPr>
            <a:r>
              <a:rPr lang="en-US" sz="1500" b="1" dirty="0">
                <a:solidFill>
                  <a:srgbClr val="0F2E3D"/>
                </a:solidFill>
                <a:latin typeface="Calibri" pitchFamily="34" charset="0"/>
                <a:ea typeface="Calibri" pitchFamily="34" charset="-122"/>
                <a:cs typeface="Calibri" pitchFamily="34" charset="-120"/>
              </a:rPr>
              <a:t>CENSORED — it had not happened when we stopped looking</a:t>
            </a:r>
            <a:endParaRPr lang="en-US" sz="1500" dirty="0"/>
          </a:p>
        </p:txBody>
      </p:sp>
      <p:sp>
        <p:nvSpPr>
          <p:cNvPr id="10" name="Text 8"/>
          <p:cNvSpPr/>
          <p:nvPr/>
        </p:nvSpPr>
        <p:spPr>
          <a:xfrm>
            <a:off x="640080" y="3291840"/>
            <a:ext cx="10972800" cy="365760"/>
          </a:xfrm>
          <a:prstGeom prst="rect">
            <a:avLst/>
          </a:prstGeom>
          <a:noFill/>
          <a:ln/>
        </p:spPr>
        <p:txBody>
          <a:bodyPr wrap="square" lIns="0" tIns="0" rIns="0" bIns="0" rtlCol="0" anchor="ctr"/>
          <a:lstStyle/>
          <a:p>
            <a:pPr indent="0" marL="0">
              <a:buNone/>
            </a:pPr>
            <a:r>
              <a:rPr lang="en-US" sz="1450" i="1" dirty="0">
                <a:solidFill>
                  <a:srgbClr val="0E7C86"/>
                </a:solidFill>
                <a:latin typeface="Calibri" pitchFamily="34" charset="0"/>
                <a:ea typeface="Calibri" pitchFamily="34" charset="-122"/>
                <a:cs typeface="Calibri" pitchFamily="34" charset="-120"/>
              </a:rPr>
              <a:t>Everywhere else in ADaM, 1 and 'Y' mean “yes, this is true”. Read it twice, every time.</a:t>
            </a:r>
            <a:endParaRPr lang="en-US" sz="1450" dirty="0"/>
          </a:p>
        </p:txBody>
      </p:sp>
      <p:sp>
        <p:nvSpPr>
          <p:cNvPr id="11" name="Shape 9"/>
          <p:cNvSpPr/>
          <p:nvPr/>
        </p:nvSpPr>
        <p:spPr>
          <a:xfrm>
            <a:off x="640080" y="3794760"/>
            <a:ext cx="10972800" cy="1558544"/>
          </a:xfrm>
          <a:prstGeom prst="roundRect">
            <a:avLst>
              <a:gd name="adj" fmla="val 4694"/>
            </a:avLst>
          </a:prstGeom>
          <a:solidFill>
            <a:srgbClr val="13323F"/>
          </a:solidFill>
          <a:ln w="19050">
            <a:solidFill>
              <a:srgbClr val="0E7C86"/>
            </a:solidFill>
            <a:prstDash val="solid"/>
          </a:ln>
        </p:spPr>
      </p:sp>
      <p:sp>
        <p:nvSpPr>
          <p:cNvPr id="12" name="Text 10"/>
          <p:cNvSpPr/>
          <p:nvPr/>
        </p:nvSpPr>
        <p:spPr>
          <a:xfrm>
            <a:off x="868680" y="3886200"/>
            <a:ext cx="5486400" cy="320040"/>
          </a:xfrm>
          <a:prstGeom prst="rect">
            <a:avLst/>
          </a:prstGeom>
          <a:noFill/>
          <a:ln/>
        </p:spPr>
        <p:txBody>
          <a:bodyPr wrap="square" lIns="0" tIns="0" rIns="0" bIns="0" rtlCol="0" anchor="ctr"/>
          <a:lstStyle/>
          <a:p>
            <a:pPr indent="0" marL="0">
              <a:buNone/>
            </a:pPr>
            <a:r>
              <a:rPr lang="en-US" sz="1400" b="1" dirty="0">
                <a:solidFill>
                  <a:srgbClr val="0E7C86"/>
                </a:solidFill>
                <a:latin typeface="Cambria" pitchFamily="34" charset="0"/>
                <a:ea typeface="Cambria" pitchFamily="34" charset="-122"/>
                <a:cs typeface="Cambria" pitchFamily="34" charset="-120"/>
              </a:rPr>
              <a:t>AND IT APPEARS AGAIN HERE</a:t>
            </a:r>
            <a:endParaRPr lang="en-US" sz="1400" dirty="0"/>
          </a:p>
        </p:txBody>
      </p:sp>
      <p:sp>
        <p:nvSpPr>
          <p:cNvPr id="13" name="Text 11"/>
          <p:cNvSpPr/>
          <p:nvPr/>
        </p:nvSpPr>
        <p:spPr>
          <a:xfrm>
            <a:off x="868680" y="4251960"/>
            <a:ext cx="10561320" cy="9916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proc lifetest data = adtte;</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time aval * cnsr(1);      /* &lt;- "1 means censored"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strata trtp;</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run;</a:t>
            </a:r>
            <a:endParaRPr lang="en-US" sz="1200" dirty="0"/>
          </a:p>
        </p:txBody>
      </p:sp>
      <p:sp>
        <p:nvSpPr>
          <p:cNvPr id="14" name="Shape 12"/>
          <p:cNvSpPr/>
          <p:nvPr/>
        </p:nvSpPr>
        <p:spPr>
          <a:xfrm>
            <a:off x="640080" y="5532120"/>
            <a:ext cx="10972800" cy="1005840"/>
          </a:xfrm>
          <a:prstGeom prst="roundRect">
            <a:avLst>
              <a:gd name="adj" fmla="val 8182"/>
            </a:avLst>
          </a:prstGeom>
          <a:solidFill>
            <a:srgbClr val="FBEAE4"/>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5" name="Shape 13"/>
          <p:cNvSpPr/>
          <p:nvPr/>
        </p:nvSpPr>
        <p:spPr>
          <a:xfrm>
            <a:off x="640080" y="5532120"/>
            <a:ext cx="82296" cy="1005840"/>
          </a:xfrm>
          <a:prstGeom prst="rect">
            <a:avLst/>
          </a:prstGeom>
          <a:solidFill>
            <a:srgbClr val="C4442E"/>
          </a:solidFill>
          <a:ln/>
        </p:spPr>
      </p:sp>
      <p:sp>
        <p:nvSpPr>
          <p:cNvPr id="16" name="Text 14"/>
          <p:cNvSpPr/>
          <p:nvPr/>
        </p:nvSpPr>
        <p:spPr>
          <a:xfrm>
            <a:off x="960120" y="5715000"/>
            <a:ext cx="10424160" cy="685800"/>
          </a:xfrm>
          <a:prstGeom prst="rect">
            <a:avLst/>
          </a:prstGeom>
          <a:noFill/>
          <a:ln/>
        </p:spPr>
        <p:txBody>
          <a:bodyPr wrap="square" lIns="0" tIns="0" rIns="0" bIns="0" rtlCol="0" anchor="ctr"/>
          <a:lstStyle/>
          <a:p>
            <a:pPr indent="0" marL="0">
              <a:lnSpc>
                <a:spcPts val="1900"/>
              </a:lnSpc>
              <a:buNone/>
            </a:pPr>
            <a:r>
              <a:rPr lang="en-US" sz="1350" b="1" dirty="0">
                <a:solidFill>
                  <a:srgbClr val="0F2E3D"/>
                </a:solidFill>
                <a:latin typeface="Calibri" pitchFamily="34" charset="0"/>
                <a:ea typeface="Calibri" pitchFamily="34" charset="-122"/>
                <a:cs typeface="Calibri" pitchFamily="34" charset="-120"/>
              </a:rPr>
              <a:t>Write cnsr(0) and every event becomes censored, every censored subject becomes an event. </a:t>
            </a:r>
            <a:pPr indent="0" marL="0">
              <a:lnSpc>
                <a:spcPts val="1900"/>
              </a:lnSpc>
              <a:buNone/>
            </a:pPr>
            <a:r>
              <a:rPr lang="en-US" sz="1350" dirty="0">
                <a:solidFill>
                  <a:srgbClr val="5A7682"/>
                </a:solidFill>
                <a:latin typeface="Calibri" pitchFamily="34" charset="0"/>
                <a:ea typeface="Calibri" pitchFamily="34" charset="-122"/>
                <a:cs typeface="Calibri" pitchFamily="34" charset="-120"/>
              </a:rPr>
              <a:t>No error. No warning. A curve that is exactly backwards, and a median SAS reports as “not estimable”.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WHY CENSORING IS NOT A NUISANCE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Three ways to answer “how long?” — two are wrong</a:t>
            </a:r>
            <a:endParaRPr lang="en-US" sz="3000" dirty="0"/>
          </a:p>
        </p:txBody>
      </p:sp>
      <p:sp>
        <p:nvSpPr>
          <p:cNvPr id="4" name="Shape 2"/>
          <p:cNvSpPr/>
          <p:nvPr/>
        </p:nvSpPr>
        <p:spPr>
          <a:xfrm>
            <a:off x="640080" y="1645920"/>
            <a:ext cx="3611880" cy="3200400"/>
          </a:xfrm>
          <a:prstGeom prst="roundRect">
            <a:avLst>
              <a:gd name="adj" fmla="val 2571"/>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640080" y="1645920"/>
            <a:ext cx="3611880" cy="109728"/>
          </a:xfrm>
          <a:prstGeom prst="rect">
            <a:avLst/>
          </a:prstGeom>
          <a:solidFill>
            <a:srgbClr val="C4442E"/>
          </a:solidFill>
          <a:ln/>
        </p:spPr>
      </p:sp>
      <p:sp>
        <p:nvSpPr>
          <p:cNvPr id="6" name="Text 4"/>
          <p:cNvSpPr/>
          <p:nvPr/>
        </p:nvSpPr>
        <p:spPr>
          <a:xfrm>
            <a:off x="896112" y="1874520"/>
            <a:ext cx="3108960" cy="731520"/>
          </a:xfrm>
          <a:prstGeom prst="rect">
            <a:avLst/>
          </a:prstGeom>
          <a:noFill/>
          <a:ln/>
        </p:spPr>
        <p:txBody>
          <a:bodyPr wrap="square" lIns="0" tIns="0" rIns="0" bIns="0" rtlCol="0" anchor="ctr"/>
          <a:lstStyle/>
          <a:p>
            <a:pPr indent="0" marL="0">
              <a:lnSpc>
                <a:spcPts val="1900"/>
              </a:lnSpc>
              <a:buNone/>
            </a:pPr>
            <a:r>
              <a:rPr lang="en-US" sz="1400" b="1" dirty="0">
                <a:solidFill>
                  <a:srgbClr val="0F2E3D"/>
                </a:solidFill>
                <a:latin typeface="Calibri" pitchFamily="34" charset="0"/>
                <a:ea typeface="Calibri" pitchFamily="34" charset="-122"/>
                <a:cs typeface="Calibri" pitchFamily="34" charset="-120"/>
              </a:rPr>
              <a:t>Mean among subjects</a:t>
            </a:r>
            <a:endParaRPr lang="en-US" sz="1400" dirty="0"/>
          </a:p>
          <a:p>
            <a:pPr indent="0" marL="0">
              <a:lnSpc>
                <a:spcPts val="1900"/>
              </a:lnSpc>
              <a:buNone/>
            </a:pPr>
            <a:r>
              <a:rPr lang="en-US" sz="1400" b="1" dirty="0">
                <a:solidFill>
                  <a:srgbClr val="0F2E3D"/>
                </a:solidFill>
                <a:latin typeface="Calibri" pitchFamily="34" charset="0"/>
                <a:ea typeface="Calibri" pitchFamily="34" charset="-122"/>
                <a:cs typeface="Calibri" pitchFamily="34" charset="-120"/>
              </a:rPr>
              <a:t>WHO HAD an event</a:t>
            </a:r>
            <a:endParaRPr lang="en-US" sz="1400" dirty="0"/>
          </a:p>
        </p:txBody>
      </p:sp>
      <p:sp>
        <p:nvSpPr>
          <p:cNvPr id="7" name="Text 5"/>
          <p:cNvSpPr/>
          <p:nvPr/>
        </p:nvSpPr>
        <p:spPr>
          <a:xfrm>
            <a:off x="896112" y="2697480"/>
            <a:ext cx="3108960" cy="640080"/>
          </a:xfrm>
          <a:prstGeom prst="rect">
            <a:avLst/>
          </a:prstGeom>
          <a:noFill/>
          <a:ln/>
        </p:spPr>
        <p:txBody>
          <a:bodyPr wrap="square" lIns="0" tIns="0" rIns="0" bIns="0" rtlCol="0" anchor="ctr"/>
          <a:lstStyle/>
          <a:p>
            <a:pPr indent="0" marL="0">
              <a:buNone/>
            </a:pPr>
            <a:r>
              <a:rPr lang="en-US" sz="3400" b="1" dirty="0">
                <a:solidFill>
                  <a:srgbClr val="C4442E"/>
                </a:solidFill>
                <a:latin typeface="Cambria" pitchFamily="34" charset="0"/>
                <a:ea typeface="Cambria" pitchFamily="34" charset="-122"/>
                <a:cs typeface="Cambria" pitchFamily="34" charset="-120"/>
              </a:rPr>
              <a:t>10.17</a:t>
            </a:r>
            <a:endParaRPr lang="en-US" sz="3400" dirty="0"/>
          </a:p>
        </p:txBody>
      </p:sp>
      <p:sp>
        <p:nvSpPr>
          <p:cNvPr id="8" name="Text 6"/>
          <p:cNvSpPr/>
          <p:nvPr/>
        </p:nvSpPr>
        <p:spPr>
          <a:xfrm>
            <a:off x="896112" y="3337560"/>
            <a:ext cx="3108960" cy="320040"/>
          </a:xfrm>
          <a:prstGeom prst="rect">
            <a:avLst/>
          </a:prstGeom>
          <a:noFill/>
          <a:ln/>
        </p:spPr>
        <p:txBody>
          <a:bodyPr wrap="square" lIns="0" tIns="0" rIns="0" bIns="0" rtlCol="0" anchor="ctr"/>
          <a:lstStyle/>
          <a:p>
            <a:pPr indent="0" marL="0">
              <a:buNone/>
            </a:pPr>
            <a:r>
              <a:rPr lang="en-US" sz="1200" dirty="0">
                <a:solidFill>
                  <a:srgbClr val="5A7682"/>
                </a:solidFill>
                <a:latin typeface="Courier New" pitchFamily="34" charset="0"/>
                <a:ea typeface="Courier New" pitchFamily="34" charset="-122"/>
                <a:cs typeface="Courier New" pitchFamily="34" charset="-120"/>
              </a:rPr>
              <a:t>days   n = 6</a:t>
            </a:r>
            <a:endParaRPr lang="en-US" sz="1200" dirty="0"/>
          </a:p>
        </p:txBody>
      </p:sp>
      <p:sp>
        <p:nvSpPr>
          <p:cNvPr id="9" name="Text 7"/>
          <p:cNvSpPr/>
          <p:nvPr/>
        </p:nvSpPr>
        <p:spPr>
          <a:xfrm>
            <a:off x="896112" y="3749040"/>
            <a:ext cx="3108960" cy="960120"/>
          </a:xfrm>
          <a:prstGeom prst="rect">
            <a:avLst/>
          </a:prstGeom>
          <a:noFill/>
          <a:ln/>
        </p:spPr>
        <p:txBody>
          <a:bodyPr wrap="square" lIns="0" tIns="0" rIns="0" bIns="0" rtlCol="0" anchor="ctr"/>
          <a:lstStyle/>
          <a:p>
            <a:pPr indent="0" marL="0">
              <a:lnSpc>
                <a:spcPts val="1700"/>
              </a:lnSpc>
              <a:buNone/>
            </a:pPr>
            <a:r>
              <a:rPr lang="en-US" sz="1250" dirty="0">
                <a:solidFill>
                  <a:srgbClr val="5A7682"/>
                </a:solidFill>
                <a:latin typeface="Calibri" pitchFamily="34" charset="0"/>
                <a:ea typeface="Calibri" pitchFamily="34" charset="-122"/>
                <a:cs typeface="Calibri" pitchFamily="34" charset="-120"/>
              </a:rPr>
              <a:t>biased DOWN — excludes the long event-free times precisely because they were long</a:t>
            </a:r>
            <a:endParaRPr lang="en-US" sz="1250" dirty="0"/>
          </a:p>
        </p:txBody>
      </p:sp>
      <p:sp>
        <p:nvSpPr>
          <p:cNvPr id="10" name="Shape 8"/>
          <p:cNvSpPr/>
          <p:nvPr/>
        </p:nvSpPr>
        <p:spPr>
          <a:xfrm>
            <a:off x="4434840" y="1645920"/>
            <a:ext cx="3611880" cy="3200400"/>
          </a:xfrm>
          <a:prstGeom prst="roundRect">
            <a:avLst>
              <a:gd name="adj" fmla="val 2571"/>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Shape 9"/>
          <p:cNvSpPr/>
          <p:nvPr/>
        </p:nvSpPr>
        <p:spPr>
          <a:xfrm>
            <a:off x="4434840" y="1645920"/>
            <a:ext cx="3611880" cy="109728"/>
          </a:xfrm>
          <a:prstGeom prst="rect">
            <a:avLst/>
          </a:prstGeom>
          <a:solidFill>
            <a:srgbClr val="C4442E"/>
          </a:solidFill>
          <a:ln/>
        </p:spPr>
      </p:sp>
      <p:sp>
        <p:nvSpPr>
          <p:cNvPr id="12" name="Text 10"/>
          <p:cNvSpPr/>
          <p:nvPr/>
        </p:nvSpPr>
        <p:spPr>
          <a:xfrm>
            <a:off x="4690872" y="1874520"/>
            <a:ext cx="3108960" cy="731520"/>
          </a:xfrm>
          <a:prstGeom prst="rect">
            <a:avLst/>
          </a:prstGeom>
          <a:noFill/>
          <a:ln/>
        </p:spPr>
        <p:txBody>
          <a:bodyPr wrap="square" lIns="0" tIns="0" rIns="0" bIns="0" rtlCol="0" anchor="ctr"/>
          <a:lstStyle/>
          <a:p>
            <a:pPr indent="0" marL="0">
              <a:lnSpc>
                <a:spcPts val="1900"/>
              </a:lnSpc>
              <a:buNone/>
            </a:pPr>
            <a:r>
              <a:rPr lang="en-US" sz="1400" b="1" dirty="0">
                <a:solidFill>
                  <a:srgbClr val="0F2E3D"/>
                </a:solidFill>
                <a:latin typeface="Calibri" pitchFamily="34" charset="0"/>
                <a:ea typeface="Calibri" pitchFamily="34" charset="-122"/>
                <a:cs typeface="Calibri" pitchFamily="34" charset="-120"/>
              </a:rPr>
              <a:t>Mean over EVERYONE,</a:t>
            </a:r>
            <a:endParaRPr lang="en-US" sz="1400" dirty="0"/>
          </a:p>
          <a:p>
            <a:pPr indent="0" marL="0">
              <a:lnSpc>
                <a:spcPts val="1900"/>
              </a:lnSpc>
              <a:buNone/>
            </a:pPr>
            <a:r>
              <a:rPr lang="en-US" sz="1400" b="1" dirty="0">
                <a:solidFill>
                  <a:srgbClr val="0F2E3D"/>
                </a:solidFill>
                <a:latin typeface="Calibri" pitchFamily="34" charset="0"/>
                <a:ea typeface="Calibri" pitchFamily="34" charset="-122"/>
                <a:cs typeface="Calibri" pitchFamily="34" charset="-120"/>
              </a:rPr>
              <a:t>ignoring censoring</a:t>
            </a:r>
            <a:endParaRPr lang="en-US" sz="1400" dirty="0"/>
          </a:p>
        </p:txBody>
      </p:sp>
      <p:sp>
        <p:nvSpPr>
          <p:cNvPr id="13" name="Text 11"/>
          <p:cNvSpPr/>
          <p:nvPr/>
        </p:nvSpPr>
        <p:spPr>
          <a:xfrm>
            <a:off x="4690872" y="2697480"/>
            <a:ext cx="3108960" cy="640080"/>
          </a:xfrm>
          <a:prstGeom prst="rect">
            <a:avLst/>
          </a:prstGeom>
          <a:noFill/>
          <a:ln/>
        </p:spPr>
        <p:txBody>
          <a:bodyPr wrap="square" lIns="0" tIns="0" rIns="0" bIns="0" rtlCol="0" anchor="ctr"/>
          <a:lstStyle/>
          <a:p>
            <a:pPr indent="0" marL="0">
              <a:buNone/>
            </a:pPr>
            <a:r>
              <a:rPr lang="en-US" sz="3400" b="1" dirty="0">
                <a:solidFill>
                  <a:srgbClr val="C4442E"/>
                </a:solidFill>
                <a:latin typeface="Cambria" pitchFamily="34" charset="0"/>
                <a:ea typeface="Cambria" pitchFamily="34" charset="-122"/>
                <a:cs typeface="Cambria" pitchFamily="34" charset="-120"/>
              </a:rPr>
              <a:t>14.62</a:t>
            </a:r>
            <a:endParaRPr lang="en-US" sz="3400" dirty="0"/>
          </a:p>
        </p:txBody>
      </p:sp>
      <p:sp>
        <p:nvSpPr>
          <p:cNvPr id="14" name="Text 12"/>
          <p:cNvSpPr/>
          <p:nvPr/>
        </p:nvSpPr>
        <p:spPr>
          <a:xfrm>
            <a:off x="4690872" y="3337560"/>
            <a:ext cx="3108960" cy="320040"/>
          </a:xfrm>
          <a:prstGeom prst="rect">
            <a:avLst/>
          </a:prstGeom>
          <a:noFill/>
          <a:ln/>
        </p:spPr>
        <p:txBody>
          <a:bodyPr wrap="square" lIns="0" tIns="0" rIns="0" bIns="0" rtlCol="0" anchor="ctr"/>
          <a:lstStyle/>
          <a:p>
            <a:pPr indent="0" marL="0">
              <a:buNone/>
            </a:pPr>
            <a:r>
              <a:rPr lang="en-US" sz="1200" dirty="0">
                <a:solidFill>
                  <a:srgbClr val="5A7682"/>
                </a:solidFill>
                <a:latin typeface="Courier New" pitchFamily="34" charset="0"/>
                <a:ea typeface="Courier New" pitchFamily="34" charset="-122"/>
                <a:cs typeface="Courier New" pitchFamily="34" charset="-120"/>
              </a:rPr>
              <a:t>days   n = 8</a:t>
            </a:r>
            <a:endParaRPr lang="en-US" sz="1200" dirty="0"/>
          </a:p>
        </p:txBody>
      </p:sp>
      <p:sp>
        <p:nvSpPr>
          <p:cNvPr id="15" name="Text 13"/>
          <p:cNvSpPr/>
          <p:nvPr/>
        </p:nvSpPr>
        <p:spPr>
          <a:xfrm>
            <a:off x="4690872" y="3749040"/>
            <a:ext cx="3108960" cy="960120"/>
          </a:xfrm>
          <a:prstGeom prst="rect">
            <a:avLst/>
          </a:prstGeom>
          <a:noFill/>
          <a:ln/>
        </p:spPr>
        <p:txBody>
          <a:bodyPr wrap="square" lIns="0" tIns="0" rIns="0" bIns="0" rtlCol="0" anchor="ctr"/>
          <a:lstStyle/>
          <a:p>
            <a:pPr indent="0" marL="0">
              <a:lnSpc>
                <a:spcPts val="1700"/>
              </a:lnSpc>
              <a:buNone/>
            </a:pPr>
            <a:r>
              <a:rPr lang="en-US" sz="1250" dirty="0">
                <a:solidFill>
                  <a:srgbClr val="5A7682"/>
                </a:solidFill>
                <a:latin typeface="Calibri" pitchFamily="34" charset="0"/>
                <a:ea typeface="Calibri" pitchFamily="34" charset="-122"/>
                <a:cs typeface="Calibri" pitchFamily="34" charset="-120"/>
              </a:rPr>
              <a:t>biased UP — asserts two events that never happened</a:t>
            </a:r>
            <a:endParaRPr lang="en-US" sz="1250" dirty="0"/>
          </a:p>
        </p:txBody>
      </p:sp>
      <p:sp>
        <p:nvSpPr>
          <p:cNvPr id="16" name="Shape 14"/>
          <p:cNvSpPr/>
          <p:nvPr/>
        </p:nvSpPr>
        <p:spPr>
          <a:xfrm>
            <a:off x="8229600" y="1645920"/>
            <a:ext cx="3611880" cy="3200400"/>
          </a:xfrm>
          <a:prstGeom prst="roundRect">
            <a:avLst>
              <a:gd name="adj" fmla="val 2571"/>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8229600" y="1645920"/>
            <a:ext cx="3611880" cy="109728"/>
          </a:xfrm>
          <a:prstGeom prst="rect">
            <a:avLst/>
          </a:prstGeom>
          <a:solidFill>
            <a:srgbClr val="1FA8A0"/>
          </a:solidFill>
          <a:ln/>
        </p:spPr>
      </p:sp>
      <p:sp>
        <p:nvSpPr>
          <p:cNvPr id="18" name="Text 16"/>
          <p:cNvSpPr/>
          <p:nvPr/>
        </p:nvSpPr>
        <p:spPr>
          <a:xfrm>
            <a:off x="8485632" y="1874520"/>
            <a:ext cx="3108960" cy="731520"/>
          </a:xfrm>
          <a:prstGeom prst="rect">
            <a:avLst/>
          </a:prstGeom>
          <a:noFill/>
          <a:ln/>
        </p:spPr>
        <p:txBody>
          <a:bodyPr wrap="square" lIns="0" tIns="0" rIns="0" bIns="0" rtlCol="0" anchor="ctr"/>
          <a:lstStyle/>
          <a:p>
            <a:pPr indent="0" marL="0">
              <a:lnSpc>
                <a:spcPts val="1900"/>
              </a:lnSpc>
              <a:buNone/>
            </a:pPr>
            <a:r>
              <a:rPr lang="en-US" sz="1400" b="1" dirty="0">
                <a:solidFill>
                  <a:srgbClr val="0F2E3D"/>
                </a:solidFill>
                <a:latin typeface="Calibri" pitchFamily="34" charset="0"/>
                <a:ea typeface="Calibri" pitchFamily="34" charset="-122"/>
                <a:cs typeface="Calibri" pitchFamily="34" charset="-120"/>
              </a:rPr>
              <a:t>Kaplan-Meier</a:t>
            </a:r>
            <a:endParaRPr lang="en-US" sz="1400" dirty="0"/>
          </a:p>
          <a:p>
            <a:pPr indent="0" marL="0">
              <a:lnSpc>
                <a:spcPts val="1900"/>
              </a:lnSpc>
              <a:buNone/>
            </a:pPr>
            <a:r>
              <a:rPr lang="en-US" sz="1400" b="1" dirty="0">
                <a:solidFill>
                  <a:srgbClr val="0F2E3D"/>
                </a:solidFill>
                <a:latin typeface="Calibri" pitchFamily="34" charset="0"/>
                <a:ea typeface="Calibri" pitchFamily="34" charset="-122"/>
                <a:cs typeface="Calibri" pitchFamily="34" charset="-120"/>
              </a:rPr>
              <a:t>median</a:t>
            </a:r>
            <a:endParaRPr lang="en-US" sz="1400" dirty="0"/>
          </a:p>
        </p:txBody>
      </p:sp>
      <p:sp>
        <p:nvSpPr>
          <p:cNvPr id="19" name="Text 17"/>
          <p:cNvSpPr/>
          <p:nvPr/>
        </p:nvSpPr>
        <p:spPr>
          <a:xfrm>
            <a:off x="8485632" y="2697480"/>
            <a:ext cx="3108960" cy="640080"/>
          </a:xfrm>
          <a:prstGeom prst="rect">
            <a:avLst/>
          </a:prstGeom>
          <a:noFill/>
          <a:ln/>
        </p:spPr>
        <p:txBody>
          <a:bodyPr wrap="square" lIns="0" tIns="0" rIns="0" bIns="0" rtlCol="0" anchor="ctr"/>
          <a:lstStyle/>
          <a:p>
            <a:pPr indent="0" marL="0">
              <a:buNone/>
            </a:pPr>
            <a:r>
              <a:rPr lang="en-US" sz="3400" b="1" dirty="0">
                <a:solidFill>
                  <a:srgbClr val="1FA8A0"/>
                </a:solidFill>
                <a:latin typeface="Cambria" pitchFamily="34" charset="0"/>
                <a:ea typeface="Cambria" pitchFamily="34" charset="-122"/>
                <a:cs typeface="Cambria" pitchFamily="34" charset="-120"/>
              </a:rPr>
              <a:t>12</a:t>
            </a:r>
            <a:endParaRPr lang="en-US" sz="3400" dirty="0"/>
          </a:p>
        </p:txBody>
      </p:sp>
      <p:sp>
        <p:nvSpPr>
          <p:cNvPr id="20" name="Text 18"/>
          <p:cNvSpPr/>
          <p:nvPr/>
        </p:nvSpPr>
        <p:spPr>
          <a:xfrm>
            <a:off x="8485632" y="3337560"/>
            <a:ext cx="3108960" cy="320040"/>
          </a:xfrm>
          <a:prstGeom prst="rect">
            <a:avLst/>
          </a:prstGeom>
          <a:noFill/>
          <a:ln/>
        </p:spPr>
        <p:txBody>
          <a:bodyPr wrap="square" lIns="0" tIns="0" rIns="0" bIns="0" rtlCol="0" anchor="ctr"/>
          <a:lstStyle/>
          <a:p>
            <a:pPr indent="0" marL="0">
              <a:buNone/>
            </a:pPr>
            <a:r>
              <a:rPr lang="en-US" sz="1200" dirty="0">
                <a:solidFill>
                  <a:srgbClr val="5A7682"/>
                </a:solidFill>
                <a:latin typeface="Courier New" pitchFamily="34" charset="0"/>
                <a:ea typeface="Courier New" pitchFamily="34" charset="-122"/>
                <a:cs typeface="Courier New" pitchFamily="34" charset="-120"/>
              </a:rPr>
              <a:t>days   n = 8</a:t>
            </a:r>
            <a:endParaRPr lang="en-US" sz="1200" dirty="0"/>
          </a:p>
        </p:txBody>
      </p:sp>
      <p:sp>
        <p:nvSpPr>
          <p:cNvPr id="21" name="Text 19"/>
          <p:cNvSpPr/>
          <p:nvPr/>
        </p:nvSpPr>
        <p:spPr>
          <a:xfrm>
            <a:off x="8485632" y="3749040"/>
            <a:ext cx="3108960" cy="960120"/>
          </a:xfrm>
          <a:prstGeom prst="rect">
            <a:avLst/>
          </a:prstGeom>
          <a:noFill/>
          <a:ln/>
        </p:spPr>
        <p:txBody>
          <a:bodyPr wrap="square" lIns="0" tIns="0" rIns="0" bIns="0" rtlCol="0" anchor="ctr"/>
          <a:lstStyle/>
          <a:p>
            <a:pPr indent="0" marL="0">
              <a:lnSpc>
                <a:spcPts val="1700"/>
              </a:lnSpc>
              <a:buNone/>
            </a:pPr>
            <a:r>
              <a:rPr lang="en-US" sz="1250" dirty="0">
                <a:solidFill>
                  <a:srgbClr val="5A7682"/>
                </a:solidFill>
                <a:latin typeface="Calibri" pitchFamily="34" charset="0"/>
                <a:ea typeface="Calibri" pitchFamily="34" charset="-122"/>
                <a:cs typeface="Calibri" pitchFamily="34" charset="-120"/>
              </a:rPr>
              <a:t>uses what each subject actually contributes</a:t>
            </a:r>
            <a:endParaRPr lang="en-US" sz="1250" dirty="0"/>
          </a:p>
        </p:txBody>
      </p:sp>
      <p:sp>
        <p:nvSpPr>
          <p:cNvPr id="22" name="Shape 20"/>
          <p:cNvSpPr/>
          <p:nvPr/>
        </p:nvSpPr>
        <p:spPr>
          <a:xfrm>
            <a:off x="640080" y="5074920"/>
            <a:ext cx="10972800" cy="1188720"/>
          </a:xfrm>
          <a:prstGeom prst="roundRect">
            <a:avLst>
              <a:gd name="adj" fmla="val 6923"/>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3" name="Text 21"/>
          <p:cNvSpPr/>
          <p:nvPr/>
        </p:nvSpPr>
        <p:spPr>
          <a:xfrm>
            <a:off x="914400" y="5230368"/>
            <a:ext cx="10424160" cy="914400"/>
          </a:xfrm>
          <a:prstGeom prst="rect">
            <a:avLst/>
          </a:prstGeom>
          <a:noFill/>
          <a:ln/>
        </p:spPr>
        <p:txBody>
          <a:bodyPr wrap="square" lIns="0" tIns="0" rIns="0" bIns="0" rtlCol="0" anchor="ctr"/>
          <a:lstStyle/>
          <a:p>
            <a:pPr indent="0" marL="0">
              <a:lnSpc>
                <a:spcPts val="1900"/>
              </a:lnSpc>
              <a:buNone/>
            </a:pPr>
            <a:r>
              <a:rPr lang="en-US" sz="1350" b="1" dirty="0">
                <a:solidFill>
                  <a:srgbClr val="C4442E"/>
                </a:solidFill>
                <a:latin typeface="Calibri" pitchFamily="34" charset="0"/>
                <a:ea typeface="Calibri" pitchFamily="34" charset="-122"/>
                <a:cs typeface="Calibri" pitchFamily="34" charset="-120"/>
              </a:rPr>
              <a:t>“Assume the event happened” is NOT the conservative choice. </a:t>
            </a:r>
            <a:pPr indent="0" marL="0">
              <a:lnSpc>
                <a:spcPts val="1900"/>
              </a:lnSpc>
              <a:buNone/>
            </a:pPr>
            <a:r>
              <a:rPr lang="en-US" sz="1350" dirty="0">
                <a:solidFill>
                  <a:srgbClr val="5A7682"/>
                </a:solidFill>
                <a:latin typeface="Calibri" pitchFamily="34" charset="0"/>
                <a:ea typeface="Calibri" pitchFamily="34" charset="-122"/>
                <a:cs typeface="Calibri" pitchFamily="34" charset="-120"/>
              </a:rPr>
              <a:t>For time to an adverse event, longer looks safer — so inflating the time flatters the drug. And it fabricates data: a censored subject is one about whom we know one true thing, that they went 28 days event-free. Assigning them an event replaces that truth with a falsehood.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WHY CNSDTDSC EXISTS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CNSR says we stopped looking. It cannot say why.</a:t>
            </a:r>
            <a:endParaRPr lang="en-US" sz="3000" dirty="0"/>
          </a:p>
        </p:txBody>
      </p:sp>
      <p:sp>
        <p:nvSpPr>
          <p:cNvPr id="4" name="Shape 2"/>
          <p:cNvSpPr/>
          <p:nvPr/>
        </p:nvSpPr>
        <p:spPr>
          <a:xfrm>
            <a:off x="640080" y="1691640"/>
            <a:ext cx="10972800" cy="1371600"/>
          </a:xfrm>
          <a:prstGeom prst="roundRect">
            <a:avLst>
              <a:gd name="adj" fmla="val 60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640080" y="1691640"/>
            <a:ext cx="82296" cy="1371600"/>
          </a:xfrm>
          <a:prstGeom prst="rect">
            <a:avLst/>
          </a:prstGeom>
          <a:solidFill>
            <a:srgbClr val="1FA8A0"/>
          </a:solidFill>
          <a:ln/>
        </p:spPr>
      </p:sp>
      <p:sp>
        <p:nvSpPr>
          <p:cNvPr id="6" name="Text 4"/>
          <p:cNvSpPr/>
          <p:nvPr/>
        </p:nvSpPr>
        <p:spPr>
          <a:xfrm>
            <a:off x="960120" y="1837944"/>
            <a:ext cx="4572000" cy="411480"/>
          </a:xfrm>
          <a:prstGeom prst="rect">
            <a:avLst/>
          </a:prstGeom>
          <a:noFill/>
          <a:ln/>
        </p:spPr>
        <p:txBody>
          <a:bodyPr wrap="square" lIns="0" tIns="0" rIns="0" bIns="0" rtlCol="0" anchor="ctr"/>
          <a:lstStyle/>
          <a:p>
            <a:pPr indent="0" marL="0">
              <a:buNone/>
            </a:pPr>
            <a:r>
              <a:rPr lang="en-US" sz="1400" b="1" dirty="0">
                <a:solidFill>
                  <a:srgbClr val="0F2E3D"/>
                </a:solidFill>
                <a:latin typeface="Courier New" pitchFamily="34" charset="0"/>
                <a:ea typeface="Courier New" pitchFamily="34" charset="-122"/>
                <a:cs typeface="Courier New" pitchFamily="34" charset="-120"/>
              </a:rPr>
              <a:t>LAST DOSE / DATA CUTOFF</a:t>
            </a:r>
            <a:endParaRPr lang="en-US" sz="1400" dirty="0"/>
          </a:p>
        </p:txBody>
      </p:sp>
      <p:sp>
        <p:nvSpPr>
          <p:cNvPr id="7" name="Text 5"/>
          <p:cNvSpPr/>
          <p:nvPr/>
        </p:nvSpPr>
        <p:spPr>
          <a:xfrm>
            <a:off x="960120" y="2313432"/>
            <a:ext cx="4572000" cy="365760"/>
          </a:xfrm>
          <a:prstGeom prst="rect">
            <a:avLst/>
          </a:prstGeom>
          <a:noFill/>
          <a:ln/>
        </p:spPr>
        <p:txBody>
          <a:bodyPr wrap="square" lIns="0" tIns="0" rIns="0" bIns="0" rtlCol="0" anchor="ctr"/>
          <a:lstStyle/>
          <a:p>
            <a:pPr indent="0" marL="0">
              <a:buNone/>
            </a:pPr>
            <a:r>
              <a:rPr lang="en-US" sz="1400" b="1" dirty="0">
                <a:solidFill>
                  <a:srgbClr val="1FA8A0"/>
                </a:solidFill>
                <a:latin typeface="Calibri" pitchFamily="34" charset="0"/>
                <a:ea typeface="Calibri" pitchFamily="34" charset="-122"/>
                <a:cs typeface="Calibri" pitchFamily="34" charset="-120"/>
              </a:rPr>
              <a:t>Non-informative</a:t>
            </a:r>
            <a:endParaRPr lang="en-US" sz="1400" dirty="0"/>
          </a:p>
        </p:txBody>
      </p:sp>
      <p:sp>
        <p:nvSpPr>
          <p:cNvPr id="8" name="Text 6"/>
          <p:cNvSpPr/>
          <p:nvPr/>
        </p:nvSpPr>
        <p:spPr>
          <a:xfrm>
            <a:off x="5852160" y="1965960"/>
            <a:ext cx="5486400" cy="822960"/>
          </a:xfrm>
          <a:prstGeom prst="rect">
            <a:avLst/>
          </a:prstGeom>
          <a:noFill/>
          <a:ln/>
        </p:spPr>
        <p:txBody>
          <a:bodyPr wrap="square" lIns="0" tIns="0" rIns="0" bIns="0" rtlCol="0" anchor="ctr"/>
          <a:lstStyle/>
          <a:p>
            <a:pPr indent="0" marL="0">
              <a:lnSpc>
                <a:spcPts val="1800"/>
              </a:lnSpc>
              <a:buNone/>
            </a:pPr>
            <a:r>
              <a:rPr lang="en-US" sz="1350" dirty="0">
                <a:solidFill>
                  <a:srgbClr val="5A7682"/>
                </a:solidFill>
                <a:latin typeface="Calibri" pitchFamily="34" charset="0"/>
                <a:ea typeface="Calibri" pitchFamily="34" charset="-122"/>
                <a:cs typeface="Calibri" pitchFamily="34" charset="-120"/>
              </a:rPr>
              <a:t>the reason has nothing to do with the subject's risk — the KM assumption holds</a:t>
            </a:r>
            <a:endParaRPr lang="en-US" sz="1350" dirty="0"/>
          </a:p>
        </p:txBody>
      </p:sp>
      <p:sp>
        <p:nvSpPr>
          <p:cNvPr id="9" name="Shape 7"/>
          <p:cNvSpPr/>
          <p:nvPr/>
        </p:nvSpPr>
        <p:spPr>
          <a:xfrm>
            <a:off x="640080" y="3200400"/>
            <a:ext cx="10972800" cy="1371600"/>
          </a:xfrm>
          <a:prstGeom prst="roundRect">
            <a:avLst>
              <a:gd name="adj" fmla="val 60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Shape 8"/>
          <p:cNvSpPr/>
          <p:nvPr/>
        </p:nvSpPr>
        <p:spPr>
          <a:xfrm>
            <a:off x="640080" y="3200400"/>
            <a:ext cx="82296" cy="1371600"/>
          </a:xfrm>
          <a:prstGeom prst="rect">
            <a:avLst/>
          </a:prstGeom>
          <a:solidFill>
            <a:srgbClr val="C4442E"/>
          </a:solidFill>
          <a:ln/>
        </p:spPr>
      </p:sp>
      <p:sp>
        <p:nvSpPr>
          <p:cNvPr id="11" name="Text 9"/>
          <p:cNvSpPr/>
          <p:nvPr/>
        </p:nvSpPr>
        <p:spPr>
          <a:xfrm>
            <a:off x="960120" y="3346704"/>
            <a:ext cx="4572000" cy="411480"/>
          </a:xfrm>
          <a:prstGeom prst="rect">
            <a:avLst/>
          </a:prstGeom>
          <a:noFill/>
          <a:ln/>
        </p:spPr>
        <p:txBody>
          <a:bodyPr wrap="square" lIns="0" tIns="0" rIns="0" bIns="0" rtlCol="0" anchor="ctr"/>
          <a:lstStyle/>
          <a:p>
            <a:pPr indent="0" marL="0">
              <a:buNone/>
            </a:pPr>
            <a:r>
              <a:rPr lang="en-US" sz="1400" b="1" dirty="0">
                <a:solidFill>
                  <a:srgbClr val="0F2E3D"/>
                </a:solidFill>
                <a:latin typeface="Courier New" pitchFamily="34" charset="0"/>
                <a:ea typeface="Courier New" pitchFamily="34" charset="-122"/>
                <a:cs typeface="Courier New" pitchFamily="34" charset="-120"/>
              </a:rPr>
              <a:t>LAST CONTACT (lost to follow-up)</a:t>
            </a:r>
            <a:endParaRPr lang="en-US" sz="1400" dirty="0"/>
          </a:p>
        </p:txBody>
      </p:sp>
      <p:sp>
        <p:nvSpPr>
          <p:cNvPr id="12" name="Text 10"/>
          <p:cNvSpPr/>
          <p:nvPr/>
        </p:nvSpPr>
        <p:spPr>
          <a:xfrm>
            <a:off x="960120" y="3822192"/>
            <a:ext cx="4572000" cy="365760"/>
          </a:xfrm>
          <a:prstGeom prst="rect">
            <a:avLst/>
          </a:prstGeom>
          <a:noFill/>
          <a:ln/>
        </p:spPr>
        <p:txBody>
          <a:bodyPr wrap="square" lIns="0" tIns="0" rIns="0" bIns="0" rtlCol="0" anchor="ctr"/>
          <a:lstStyle/>
          <a:p>
            <a:pPr indent="0" marL="0">
              <a:buNone/>
            </a:pPr>
            <a:r>
              <a:rPr lang="en-US" sz="1400" b="1" dirty="0">
                <a:solidFill>
                  <a:srgbClr val="C4442E"/>
                </a:solidFill>
                <a:latin typeface="Calibri" pitchFamily="34" charset="0"/>
                <a:ea typeface="Calibri" pitchFamily="34" charset="-122"/>
                <a:cs typeface="Calibri" pitchFamily="34" charset="-120"/>
              </a:rPr>
              <a:t>Possibly INFORMATIVE</a:t>
            </a:r>
            <a:endParaRPr lang="en-US" sz="1400" dirty="0"/>
          </a:p>
        </p:txBody>
      </p:sp>
      <p:sp>
        <p:nvSpPr>
          <p:cNvPr id="13" name="Text 11"/>
          <p:cNvSpPr/>
          <p:nvPr/>
        </p:nvSpPr>
        <p:spPr>
          <a:xfrm>
            <a:off x="5852160" y="3474720"/>
            <a:ext cx="5486400" cy="822960"/>
          </a:xfrm>
          <a:prstGeom prst="rect">
            <a:avLst/>
          </a:prstGeom>
          <a:noFill/>
          <a:ln/>
        </p:spPr>
        <p:txBody>
          <a:bodyPr wrap="square" lIns="0" tIns="0" rIns="0" bIns="0" rtlCol="0" anchor="ctr"/>
          <a:lstStyle/>
          <a:p>
            <a:pPr indent="0" marL="0">
              <a:lnSpc>
                <a:spcPts val="1800"/>
              </a:lnSpc>
              <a:buNone/>
            </a:pPr>
            <a:r>
              <a:rPr lang="en-US" sz="1350" dirty="0">
                <a:solidFill>
                  <a:srgbClr val="5A7682"/>
                </a:solidFill>
                <a:latin typeface="Calibri" pitchFamily="34" charset="0"/>
                <a:ea typeface="Calibri" pitchFamily="34" charset="-122"/>
                <a:cs typeface="Calibri" pitchFamily="34" charset="-120"/>
              </a:rPr>
              <a:t>people who disappear from studies are sometimes people who felt unwell</a:t>
            </a:r>
            <a:endParaRPr lang="en-US" sz="1350" dirty="0"/>
          </a:p>
        </p:txBody>
      </p:sp>
      <p:sp>
        <p:nvSpPr>
          <p:cNvPr id="14" name="Shape 12"/>
          <p:cNvSpPr/>
          <p:nvPr/>
        </p:nvSpPr>
        <p:spPr>
          <a:xfrm>
            <a:off x="640080" y="4754880"/>
            <a:ext cx="10972800" cy="1463040"/>
          </a:xfrm>
          <a:prstGeom prst="roundRect">
            <a:avLst>
              <a:gd name="adj" fmla="val 5625"/>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5" name="Text 13"/>
          <p:cNvSpPr/>
          <p:nvPr/>
        </p:nvSpPr>
        <p:spPr>
          <a:xfrm>
            <a:off x="960120" y="4937760"/>
            <a:ext cx="1042416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With only CNSR, both look identical — two subjects leaving the risk set.</a:t>
            </a:r>
            <a:endParaRPr lang="en-US" sz="1800" dirty="0"/>
          </a:p>
        </p:txBody>
      </p:sp>
      <p:sp>
        <p:nvSpPr>
          <p:cNvPr id="16" name="Text 14"/>
          <p:cNvSpPr/>
          <p:nvPr/>
        </p:nvSpPr>
        <p:spPr>
          <a:xfrm>
            <a:off x="960120" y="5376672"/>
            <a:ext cx="10424160" cy="731520"/>
          </a:xfrm>
          <a:prstGeom prst="rect">
            <a:avLst/>
          </a:prstGeom>
          <a:noFill/>
          <a:ln/>
        </p:spPr>
        <p:txBody>
          <a:bodyPr wrap="square" lIns="0" tIns="0" rIns="0" bIns="0" rtlCol="0" anchor="ctr"/>
          <a:lstStyle/>
          <a:p>
            <a:pPr indent="0" marL="0">
              <a:lnSpc>
                <a:spcPts val="1900"/>
              </a:lnSpc>
              <a:buNone/>
            </a:pPr>
            <a:r>
              <a:rPr lang="en-US" sz="1350" dirty="0">
                <a:solidFill>
                  <a:srgbClr val="C7DCE0"/>
                </a:solidFill>
                <a:latin typeface="Calibri" pitchFamily="34" charset="0"/>
                <a:ea typeface="Calibri" pitchFamily="34" charset="-122"/>
                <a:cs typeface="Calibri" pitchFamily="34" charset="-120"/>
              </a:rPr>
              <a:t>With CNSDTDSC a reviewer can count them separately and judge whether the independent-censoring assumption is credible. That is a question about the VALIDITY OF THE ANALYSIS, not a detail of bookkeeping — which is why studies that censor for more than one reason should carry it. ADaM permits the variable rather than requiring it; recording the reason is a design choice you make, and defend, in the define.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VALIDATING AN ADAM PACKAGE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What gets checked, and by whom</a:t>
            </a:r>
            <a:endParaRPr lang="en-US" sz="3000" dirty="0"/>
          </a:p>
        </p:txBody>
      </p:sp>
      <p:sp>
        <p:nvSpPr>
          <p:cNvPr id="4" name="Shape 2"/>
          <p:cNvSpPr/>
          <p:nvPr/>
        </p:nvSpPr>
        <p:spPr>
          <a:xfrm>
            <a:off x="640080" y="1645920"/>
            <a:ext cx="10972800" cy="1051560"/>
          </a:xfrm>
          <a:prstGeom prst="roundRect">
            <a:avLst>
              <a:gd name="adj" fmla="val 782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640080" y="1645920"/>
            <a:ext cx="82296" cy="1051560"/>
          </a:xfrm>
          <a:prstGeom prst="rect">
            <a:avLst/>
          </a:prstGeom>
          <a:solidFill>
            <a:srgbClr val="0E7C86"/>
          </a:solidFill>
          <a:ln/>
        </p:spPr>
      </p:sp>
      <p:sp>
        <p:nvSpPr>
          <p:cNvPr id="6" name="Text 4"/>
          <p:cNvSpPr/>
          <p:nvPr/>
        </p:nvSpPr>
        <p:spPr>
          <a:xfrm>
            <a:off x="960120" y="1755648"/>
            <a:ext cx="3657600" cy="41148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Conformance rules</a:t>
            </a:r>
            <a:endParaRPr lang="en-US" sz="1500" dirty="0"/>
          </a:p>
        </p:txBody>
      </p:sp>
      <p:sp>
        <p:nvSpPr>
          <p:cNvPr id="7" name="Text 5"/>
          <p:cNvSpPr/>
          <p:nvPr/>
        </p:nvSpPr>
        <p:spPr>
          <a:xfrm>
            <a:off x="4846320" y="1737360"/>
            <a:ext cx="6583680" cy="868680"/>
          </a:xfrm>
          <a:prstGeom prst="rect">
            <a:avLst/>
          </a:prstGeom>
          <a:noFill/>
          <a:ln/>
        </p:spPr>
        <p:txBody>
          <a:bodyPr wrap="square" lIns="0" tIns="0" rIns="0" bIns="0" rtlCol="0" anchor="ctr"/>
          <a:lstStyle/>
          <a:p>
            <a:pPr indent="0" marL="0">
              <a:lnSpc>
                <a:spcPts val="1800"/>
              </a:lnSpc>
              <a:buNone/>
            </a:pPr>
            <a:r>
              <a:rPr lang="en-US" sz="1300" dirty="0">
                <a:solidFill>
                  <a:srgbClr val="5A7682"/>
                </a:solidFill>
                <a:latin typeface="Calibri" pitchFamily="34" charset="0"/>
                <a:ea typeface="Calibri" pitchFamily="34" charset="-122"/>
                <a:cs typeface="Calibri" pitchFamily="34" charset="-120"/>
              </a:rPr>
              <a:t>ADaM Conformance Rules v4.0 — structural and metadata rules, machine-checkable. Pinnacle 21 runs these.</a:t>
            </a:r>
            <a:endParaRPr lang="en-US" sz="1300" dirty="0"/>
          </a:p>
        </p:txBody>
      </p:sp>
      <p:sp>
        <p:nvSpPr>
          <p:cNvPr id="8" name="Shape 6"/>
          <p:cNvSpPr/>
          <p:nvPr/>
        </p:nvSpPr>
        <p:spPr>
          <a:xfrm>
            <a:off x="640080" y="2816352"/>
            <a:ext cx="10972800" cy="1051560"/>
          </a:xfrm>
          <a:prstGeom prst="roundRect">
            <a:avLst>
              <a:gd name="adj" fmla="val 782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640080" y="2816352"/>
            <a:ext cx="82296" cy="1051560"/>
          </a:xfrm>
          <a:prstGeom prst="rect">
            <a:avLst/>
          </a:prstGeom>
          <a:solidFill>
            <a:srgbClr val="1FA8A0"/>
          </a:solidFill>
          <a:ln/>
        </p:spPr>
      </p:sp>
      <p:sp>
        <p:nvSpPr>
          <p:cNvPr id="10" name="Text 8"/>
          <p:cNvSpPr/>
          <p:nvPr/>
        </p:nvSpPr>
        <p:spPr>
          <a:xfrm>
            <a:off x="960120" y="2926080"/>
            <a:ext cx="3657600" cy="411480"/>
          </a:xfrm>
          <a:prstGeom prst="rect">
            <a:avLst/>
          </a:prstGeom>
          <a:noFill/>
          <a:ln/>
        </p:spPr>
        <p:txBody>
          <a:bodyPr wrap="square" lIns="0" tIns="0" rIns="0" bIns="0" rtlCol="0" anchor="ctr"/>
          <a:lstStyle/>
          <a:p>
            <a:pPr indent="0" marL="0">
              <a:buNone/>
            </a:pPr>
            <a:r>
              <a:rPr lang="en-US" sz="1500" b="1" dirty="0">
                <a:solidFill>
                  <a:srgbClr val="1FA8A0"/>
                </a:solidFill>
                <a:latin typeface="Calibri" pitchFamily="34" charset="0"/>
                <a:ea typeface="Calibri" pitchFamily="34" charset="-122"/>
                <a:cs typeface="Calibri" pitchFamily="34" charset="-120"/>
              </a:rPr>
              <a:t>Define.xml for analysis data</a:t>
            </a:r>
            <a:endParaRPr lang="en-US" sz="1500" dirty="0"/>
          </a:p>
        </p:txBody>
      </p:sp>
      <p:sp>
        <p:nvSpPr>
          <p:cNvPr id="11" name="Text 9"/>
          <p:cNvSpPr/>
          <p:nvPr/>
        </p:nvSpPr>
        <p:spPr>
          <a:xfrm>
            <a:off x="4846320" y="2907792"/>
            <a:ext cx="6583680" cy="868680"/>
          </a:xfrm>
          <a:prstGeom prst="rect">
            <a:avLst/>
          </a:prstGeom>
          <a:noFill/>
          <a:ln/>
        </p:spPr>
        <p:txBody>
          <a:bodyPr wrap="square" lIns="0" tIns="0" rIns="0" bIns="0" rtlCol="0" anchor="ctr"/>
          <a:lstStyle/>
          <a:p>
            <a:pPr indent="0" marL="0">
              <a:lnSpc>
                <a:spcPts val="1800"/>
              </a:lnSpc>
              <a:buNone/>
            </a:pPr>
            <a:r>
              <a:rPr lang="en-US" sz="1300" dirty="0">
                <a:solidFill>
                  <a:srgbClr val="5A7682"/>
                </a:solidFill>
                <a:latin typeface="Calibri" pitchFamily="34" charset="0"/>
                <a:ea typeface="Calibri" pitchFamily="34" charset="-122"/>
                <a:cs typeface="Calibri" pitchFamily="34" charset="-120"/>
              </a:rPr>
              <a:t>Every derivation documented, including value-level metadata for each PARAMCD.</a:t>
            </a:r>
            <a:endParaRPr lang="en-US" sz="1300" dirty="0"/>
          </a:p>
        </p:txBody>
      </p:sp>
      <p:sp>
        <p:nvSpPr>
          <p:cNvPr id="12" name="Shape 10"/>
          <p:cNvSpPr/>
          <p:nvPr/>
        </p:nvSpPr>
        <p:spPr>
          <a:xfrm>
            <a:off x="640080" y="3986784"/>
            <a:ext cx="10972800" cy="1051560"/>
          </a:xfrm>
          <a:prstGeom prst="roundRect">
            <a:avLst>
              <a:gd name="adj" fmla="val 782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640080" y="3986784"/>
            <a:ext cx="82296" cy="1051560"/>
          </a:xfrm>
          <a:prstGeom prst="rect">
            <a:avLst/>
          </a:prstGeom>
          <a:solidFill>
            <a:srgbClr val="E8833A"/>
          </a:solidFill>
          <a:ln/>
        </p:spPr>
      </p:sp>
      <p:sp>
        <p:nvSpPr>
          <p:cNvPr id="14" name="Text 12"/>
          <p:cNvSpPr/>
          <p:nvPr/>
        </p:nvSpPr>
        <p:spPr>
          <a:xfrm>
            <a:off x="960120" y="4096512"/>
            <a:ext cx="3657600" cy="411480"/>
          </a:xfrm>
          <a:prstGeom prst="rect">
            <a:avLst/>
          </a:prstGeom>
          <a:noFill/>
          <a:ln/>
        </p:spPr>
        <p:txBody>
          <a:bodyPr wrap="square" lIns="0" tIns="0" rIns="0" bIns="0" rtlCol="0" anchor="ctr"/>
          <a:lstStyle/>
          <a:p>
            <a:pPr indent="0" marL="0">
              <a:buNone/>
            </a:pPr>
            <a:r>
              <a:rPr lang="en-US" sz="1500" b="1" dirty="0">
                <a:solidFill>
                  <a:srgbClr val="E8833A"/>
                </a:solidFill>
                <a:latin typeface="Calibri" pitchFamily="34" charset="0"/>
                <a:ea typeface="Calibri" pitchFamily="34" charset="-122"/>
                <a:cs typeface="Calibri" pitchFamily="34" charset="-120"/>
              </a:rPr>
              <a:t>Analysis Results Metadata</a:t>
            </a:r>
            <a:endParaRPr lang="en-US" sz="1500" dirty="0"/>
          </a:p>
        </p:txBody>
      </p:sp>
      <p:sp>
        <p:nvSpPr>
          <p:cNvPr id="15" name="Text 13"/>
          <p:cNvSpPr/>
          <p:nvPr/>
        </p:nvSpPr>
        <p:spPr>
          <a:xfrm>
            <a:off x="4846320" y="4078224"/>
            <a:ext cx="6583680" cy="868680"/>
          </a:xfrm>
          <a:prstGeom prst="rect">
            <a:avLst/>
          </a:prstGeom>
          <a:noFill/>
          <a:ln/>
        </p:spPr>
        <p:txBody>
          <a:bodyPr wrap="square" lIns="0" tIns="0" rIns="0" bIns="0" rtlCol="0" anchor="ctr"/>
          <a:lstStyle/>
          <a:p>
            <a:pPr indent="0" marL="0">
              <a:lnSpc>
                <a:spcPts val="1800"/>
              </a:lnSpc>
              <a:buNone/>
            </a:pPr>
            <a:r>
              <a:rPr lang="en-US" sz="1300" dirty="0">
                <a:solidFill>
                  <a:srgbClr val="5A7682"/>
                </a:solidFill>
                <a:latin typeface="Calibri" pitchFamily="34" charset="0"/>
                <a:ea typeface="Calibri" pitchFamily="34" charset="-122"/>
                <a:cs typeface="Calibri" pitchFamily="34" charset="-120"/>
              </a:rPr>
              <a:t>Links a specific NUMBER in a specific table back to the dataset, the rows, and the code that made it.</a:t>
            </a:r>
            <a:endParaRPr lang="en-US" sz="1300" dirty="0"/>
          </a:p>
        </p:txBody>
      </p:sp>
      <p:sp>
        <p:nvSpPr>
          <p:cNvPr id="16" name="Shape 14"/>
          <p:cNvSpPr/>
          <p:nvPr/>
        </p:nvSpPr>
        <p:spPr>
          <a:xfrm>
            <a:off x="640080" y="5157216"/>
            <a:ext cx="10972800" cy="1051560"/>
          </a:xfrm>
          <a:prstGeom prst="roundRect">
            <a:avLst>
              <a:gd name="adj" fmla="val 782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640080" y="5157216"/>
            <a:ext cx="82296" cy="1051560"/>
          </a:xfrm>
          <a:prstGeom prst="rect">
            <a:avLst/>
          </a:prstGeom>
          <a:solidFill>
            <a:srgbClr val="0F2E3D"/>
          </a:solidFill>
          <a:ln/>
        </p:spPr>
      </p:sp>
      <p:sp>
        <p:nvSpPr>
          <p:cNvPr id="18" name="Text 16"/>
          <p:cNvSpPr/>
          <p:nvPr/>
        </p:nvSpPr>
        <p:spPr>
          <a:xfrm>
            <a:off x="960120" y="5266944"/>
            <a:ext cx="3657600" cy="41148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Your own assertions</a:t>
            </a:r>
            <a:endParaRPr lang="en-US" sz="1500" dirty="0"/>
          </a:p>
        </p:txBody>
      </p:sp>
      <p:sp>
        <p:nvSpPr>
          <p:cNvPr id="19" name="Text 17"/>
          <p:cNvSpPr/>
          <p:nvPr/>
        </p:nvSpPr>
        <p:spPr>
          <a:xfrm>
            <a:off x="4846320" y="5248656"/>
            <a:ext cx="6583680" cy="868680"/>
          </a:xfrm>
          <a:prstGeom prst="rect">
            <a:avLst/>
          </a:prstGeom>
          <a:noFill/>
          <a:ln/>
        </p:spPr>
        <p:txBody>
          <a:bodyPr wrap="square" lIns="0" tIns="0" rIns="0" bIns="0" rtlCol="0" anchor="ctr"/>
          <a:lstStyle/>
          <a:p>
            <a:pPr indent="0" marL="0">
              <a:lnSpc>
                <a:spcPts val="1800"/>
              </a:lnSpc>
              <a:buNone/>
            </a:pPr>
            <a:r>
              <a:rPr lang="en-US" sz="1300" dirty="0">
                <a:solidFill>
                  <a:srgbClr val="5A7682"/>
                </a:solidFill>
                <a:latin typeface="Calibri" pitchFamily="34" charset="0"/>
                <a:ea typeface="Calibri" pitchFamily="34" charset="-122"/>
                <a:cs typeface="Calibri" pitchFamily="34" charset="-120"/>
              </a:rPr>
              <a:t>The checks conformance rules cannot know: does AOCCFL count subjects? Is the baseline rule right?</a:t>
            </a:r>
            <a:endParaRPr lang="en-US" sz="1300" dirty="0"/>
          </a:p>
        </p:txBody>
      </p:sp>
      <p:sp>
        <p:nvSpPr>
          <p:cNvPr id="20" name="Shape 18"/>
          <p:cNvSpPr/>
          <p:nvPr/>
        </p:nvSpPr>
        <p:spPr>
          <a:xfrm>
            <a:off x="640080" y="6355080"/>
            <a:ext cx="10972800" cy="0"/>
          </a:xfrm>
          <a:prstGeom prst="roundRect">
            <a:avLst>
              <a:gd name="adj" fmla="val Infinity"/>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Text 19"/>
          <p:cNvSpPr/>
          <p:nvPr/>
        </p:nvSpPr>
        <p:spPr>
          <a:xfrm>
            <a:off x="640080" y="6217920"/>
            <a:ext cx="10972800" cy="457200"/>
          </a:xfrm>
          <a:prstGeom prst="rect">
            <a:avLst/>
          </a:prstGeom>
          <a:noFill/>
          <a:ln/>
        </p:spPr>
        <p:txBody>
          <a:bodyPr wrap="square" lIns="0" tIns="0" rIns="0" bIns="0" rtlCol="0" anchor="ctr"/>
          <a:lstStyle/>
          <a:p>
            <a:pPr indent="0" marL="0">
              <a:buNone/>
            </a:pPr>
            <a:r>
              <a:rPr lang="en-US" sz="1400" b="1" i="1" dirty="0">
                <a:solidFill>
                  <a:srgbClr val="0E7C86"/>
                </a:solidFill>
                <a:latin typeface="Calibri" pitchFamily="34" charset="0"/>
                <a:ea typeface="Calibri" pitchFamily="34" charset="-122"/>
                <a:cs typeface="Calibri" pitchFamily="34" charset="-120"/>
              </a:rPr>
              <a:t>A conformance check confirms the dataset is well-FORMED. It cannot confirm the derivations are RIGHT. That is on you.</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1097280"/>
            <a:ext cx="10058400" cy="320040"/>
          </a:xfrm>
          <a:prstGeom prst="rect">
            <a:avLst/>
          </a:prstGeom>
          <a:noFill/>
          <a:ln/>
        </p:spPr>
        <p:txBody>
          <a:bodyPr wrap="square" lIns="0" tIns="0" rIns="0" bIns="0" rtlCol="0" anchor="ctr"/>
          <a:lstStyle/>
          <a:p>
            <a:pPr indent="0" marL="0">
              <a:buNone/>
            </a:pPr>
            <a:r>
              <a:rPr lang="en-US" sz="1300" b="1" spc="200" kern="0" dirty="0">
                <a:solidFill>
                  <a:srgbClr val="6FC8B4"/>
                </a:solidFill>
                <a:latin typeface="Calibri" pitchFamily="34" charset="0"/>
                <a:ea typeface="Calibri" pitchFamily="34" charset="-122"/>
                <a:cs typeface="Calibri" pitchFamily="34" charset="-120"/>
              </a:rPr>
              <a:t>THE PAYOFF</a:t>
            </a:r>
            <a:endParaRPr lang="en-US" sz="1300" dirty="0"/>
          </a:p>
        </p:txBody>
      </p:sp>
      <p:sp>
        <p:nvSpPr>
          <p:cNvPr id="3" name="Text 1"/>
          <p:cNvSpPr/>
          <p:nvPr/>
        </p:nvSpPr>
        <p:spPr>
          <a:xfrm>
            <a:off x="603504" y="1463040"/>
            <a:ext cx="109728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Notebook 19 is the shortest in the course.</a:t>
            </a:r>
            <a:endParaRPr lang="en-US" sz="3000" dirty="0"/>
          </a:p>
        </p:txBody>
      </p:sp>
      <p:sp>
        <p:nvSpPr>
          <p:cNvPr id="4" name="Text 2"/>
          <p:cNvSpPr/>
          <p:nvPr/>
        </p:nvSpPr>
        <p:spPr>
          <a:xfrm>
            <a:off x="640080" y="2103120"/>
            <a:ext cx="10972800" cy="822960"/>
          </a:xfrm>
          <a:prstGeom prst="rect">
            <a:avLst/>
          </a:prstGeom>
          <a:noFill/>
          <a:ln/>
        </p:spPr>
        <p:txBody>
          <a:bodyPr wrap="square" lIns="0" tIns="0" rIns="0" bIns="0" rtlCol="0" anchor="ctr"/>
          <a:lstStyle/>
          <a:p>
            <a:pPr indent="0" marL="0">
              <a:lnSpc>
                <a:spcPts val="2200"/>
              </a:lnSpc>
              <a:buNone/>
            </a:pPr>
            <a:r>
              <a:rPr lang="en-US" sz="1500" dirty="0">
                <a:solidFill>
                  <a:srgbClr val="C7DCE0"/>
                </a:solidFill>
                <a:latin typeface="Calibri" pitchFamily="34" charset="0"/>
                <a:ea typeface="Calibri" pitchFamily="34" charset="-122"/>
                <a:cs typeface="Calibri" pitchFamily="34" charset="-120"/>
              </a:rPr>
              <a:t>Two tables that appear in every clinical study report. Two datasets. PROC FREQ and PROC MEANS.</a:t>
            </a:r>
            <a:endParaRPr lang="en-US" sz="1500" dirty="0"/>
          </a:p>
          <a:p>
            <a:pPr indent="0" marL="0">
              <a:lnSpc>
                <a:spcPts val="2200"/>
              </a:lnSpc>
              <a:buNone/>
            </a:pPr>
            <a:r>
              <a:rPr lang="en-US" sz="1500" dirty="0">
                <a:solidFill>
                  <a:srgbClr val="C7DCE0"/>
                </a:solidFill>
                <a:latin typeface="Calibri" pitchFamily="34" charset="0"/>
                <a:ea typeface="Calibri" pitchFamily="34" charset="-122"/>
                <a:cs typeface="Calibri" pitchFamily="34" charset="-120"/>
              </a:rPr>
              <a:t>Zero joins. Zero derivations.</a:t>
            </a:r>
            <a:endParaRPr lang="en-US" sz="1500" dirty="0"/>
          </a:p>
        </p:txBody>
      </p:sp>
      <p:sp>
        <p:nvSpPr>
          <p:cNvPr id="5" name="Shape 3"/>
          <p:cNvSpPr/>
          <p:nvPr/>
        </p:nvSpPr>
        <p:spPr>
          <a:xfrm>
            <a:off x="640080" y="3063240"/>
            <a:ext cx="10972800" cy="457200"/>
          </a:xfrm>
          <a:prstGeom prst="rect">
            <a:avLst/>
          </a:prstGeom>
          <a:solidFill>
            <a:srgbClr val="0F2E3D"/>
          </a:solidFill>
          <a:ln/>
        </p:spPr>
      </p:sp>
      <p:sp>
        <p:nvSpPr>
          <p:cNvPr id="6" name="Text 4"/>
          <p:cNvSpPr/>
          <p:nvPr/>
        </p:nvSpPr>
        <p:spPr>
          <a:xfrm>
            <a:off x="914400" y="3063240"/>
            <a:ext cx="4754880" cy="457200"/>
          </a:xfrm>
          <a:prstGeom prst="rect">
            <a:avLst/>
          </a:prstGeom>
          <a:noFill/>
          <a:ln/>
        </p:spPr>
        <p:txBody>
          <a:bodyPr wrap="square" lIns="0" tIns="0" rIns="0" bIns="0" rtlCol="0" anchor="ctr"/>
          <a:lstStyle/>
          <a:p>
            <a:pPr indent="0" marL="0">
              <a:buNone/>
            </a:pPr>
            <a:r>
              <a:rPr lang="en-US" sz="1350" dirty="0">
                <a:solidFill>
                  <a:srgbClr val="C7DCE0"/>
                </a:solidFill>
                <a:latin typeface="Calibri" pitchFamily="34" charset="0"/>
                <a:ea typeface="Calibri" pitchFamily="34" charset="-122"/>
                <a:cs typeface="Calibri" pitchFamily="34" charset="-120"/>
              </a:rPr>
              <a:t>which subjects count</a:t>
            </a:r>
            <a:endParaRPr lang="en-US" sz="1350" dirty="0"/>
          </a:p>
        </p:txBody>
      </p:sp>
      <p:sp>
        <p:nvSpPr>
          <p:cNvPr id="7" name="Text 5"/>
          <p:cNvSpPr/>
          <p:nvPr/>
        </p:nvSpPr>
        <p:spPr>
          <a:xfrm>
            <a:off x="5852160" y="3063240"/>
            <a:ext cx="3291840" cy="457200"/>
          </a:xfrm>
          <a:prstGeom prst="rect">
            <a:avLst/>
          </a:prstGeom>
          <a:noFill/>
          <a:ln/>
        </p:spPr>
        <p:txBody>
          <a:bodyPr wrap="square" lIns="0" tIns="0" rIns="0" bIns="0" rtlCol="0" anchor="ctr"/>
          <a:lstStyle/>
          <a:p>
            <a:pPr indent="0" marL="0">
              <a:buNone/>
            </a:pPr>
            <a:r>
              <a:rPr lang="en-US" sz="1300" b="1" dirty="0">
                <a:solidFill>
                  <a:srgbClr val="6FC8B4"/>
                </a:solidFill>
                <a:latin typeface="Courier New" pitchFamily="34" charset="0"/>
                <a:ea typeface="Courier New" pitchFamily="34" charset="-122"/>
                <a:cs typeface="Courier New" pitchFamily="34" charset="-120"/>
              </a:rPr>
              <a:t>SAFFL</a:t>
            </a:r>
            <a:endParaRPr lang="en-US" sz="1300" dirty="0"/>
          </a:p>
        </p:txBody>
      </p:sp>
      <p:sp>
        <p:nvSpPr>
          <p:cNvPr id="8" name="Text 6"/>
          <p:cNvSpPr/>
          <p:nvPr/>
        </p:nvSpPr>
        <p:spPr>
          <a:xfrm>
            <a:off x="9326880" y="3063240"/>
            <a:ext cx="2103120" cy="457200"/>
          </a:xfrm>
          <a:prstGeom prst="rect">
            <a:avLst/>
          </a:prstGeom>
          <a:noFill/>
          <a:ln/>
        </p:spPr>
        <p:txBody>
          <a:bodyPr wrap="square" lIns="0" tIns="0" rIns="0" bIns="0" rtlCol="0" anchor="ctr"/>
          <a:lstStyle/>
          <a:p>
            <a:pPr indent="0" marL="0">
              <a:buNone/>
            </a:pPr>
            <a:r>
              <a:rPr lang="en-US" sz="1300" dirty="0">
                <a:solidFill>
                  <a:srgbClr val="E8833A"/>
                </a:solidFill>
                <a:latin typeface="Calibri" pitchFamily="34" charset="0"/>
                <a:ea typeface="Calibri" pitchFamily="34" charset="-122"/>
                <a:cs typeface="Calibri" pitchFamily="34" charset="-120"/>
              </a:rPr>
              <a:t>ADSL</a:t>
            </a:r>
            <a:endParaRPr lang="en-US" sz="1300" dirty="0"/>
          </a:p>
        </p:txBody>
      </p:sp>
      <p:sp>
        <p:nvSpPr>
          <p:cNvPr id="9" name="Shape 7"/>
          <p:cNvSpPr/>
          <p:nvPr/>
        </p:nvSpPr>
        <p:spPr>
          <a:xfrm>
            <a:off x="640080" y="3520440"/>
            <a:ext cx="10972800" cy="457200"/>
          </a:xfrm>
          <a:prstGeom prst="rect">
            <a:avLst/>
          </a:prstGeom>
          <a:solidFill>
            <a:srgbClr val="133B4C"/>
          </a:solidFill>
          <a:ln/>
        </p:spPr>
      </p:sp>
      <p:sp>
        <p:nvSpPr>
          <p:cNvPr id="10" name="Text 8"/>
          <p:cNvSpPr/>
          <p:nvPr/>
        </p:nvSpPr>
        <p:spPr>
          <a:xfrm>
            <a:off x="914400" y="3520440"/>
            <a:ext cx="4754880" cy="457200"/>
          </a:xfrm>
          <a:prstGeom prst="rect">
            <a:avLst/>
          </a:prstGeom>
          <a:noFill/>
          <a:ln/>
        </p:spPr>
        <p:txBody>
          <a:bodyPr wrap="square" lIns="0" tIns="0" rIns="0" bIns="0" rtlCol="0" anchor="ctr"/>
          <a:lstStyle/>
          <a:p>
            <a:pPr indent="0" marL="0">
              <a:buNone/>
            </a:pPr>
            <a:r>
              <a:rPr lang="en-US" sz="1350" dirty="0">
                <a:solidFill>
                  <a:srgbClr val="C7DCE0"/>
                </a:solidFill>
                <a:latin typeface="Calibri" pitchFamily="34" charset="0"/>
                <a:ea typeface="Calibri" pitchFamily="34" charset="-122"/>
                <a:cs typeface="Calibri" pitchFamily="34" charset="-120"/>
              </a:rPr>
              <a:t>which events count</a:t>
            </a:r>
            <a:endParaRPr lang="en-US" sz="1350" dirty="0"/>
          </a:p>
        </p:txBody>
      </p:sp>
      <p:sp>
        <p:nvSpPr>
          <p:cNvPr id="11" name="Text 9"/>
          <p:cNvSpPr/>
          <p:nvPr/>
        </p:nvSpPr>
        <p:spPr>
          <a:xfrm>
            <a:off x="5852160" y="3520440"/>
            <a:ext cx="3291840" cy="457200"/>
          </a:xfrm>
          <a:prstGeom prst="rect">
            <a:avLst/>
          </a:prstGeom>
          <a:noFill/>
          <a:ln/>
        </p:spPr>
        <p:txBody>
          <a:bodyPr wrap="square" lIns="0" tIns="0" rIns="0" bIns="0" rtlCol="0" anchor="ctr"/>
          <a:lstStyle/>
          <a:p>
            <a:pPr indent="0" marL="0">
              <a:buNone/>
            </a:pPr>
            <a:r>
              <a:rPr lang="en-US" sz="1300" b="1" dirty="0">
                <a:solidFill>
                  <a:srgbClr val="6FC8B4"/>
                </a:solidFill>
                <a:latin typeface="Courier New" pitchFamily="34" charset="0"/>
                <a:ea typeface="Courier New" pitchFamily="34" charset="-122"/>
                <a:cs typeface="Courier New" pitchFamily="34" charset="-120"/>
              </a:rPr>
              <a:t>TRTEMFL</a:t>
            </a:r>
            <a:endParaRPr lang="en-US" sz="1300" dirty="0"/>
          </a:p>
        </p:txBody>
      </p:sp>
      <p:sp>
        <p:nvSpPr>
          <p:cNvPr id="12" name="Text 10"/>
          <p:cNvSpPr/>
          <p:nvPr/>
        </p:nvSpPr>
        <p:spPr>
          <a:xfrm>
            <a:off x="9326880" y="3520440"/>
            <a:ext cx="2103120" cy="457200"/>
          </a:xfrm>
          <a:prstGeom prst="rect">
            <a:avLst/>
          </a:prstGeom>
          <a:noFill/>
          <a:ln/>
        </p:spPr>
        <p:txBody>
          <a:bodyPr wrap="square" lIns="0" tIns="0" rIns="0" bIns="0" rtlCol="0" anchor="ctr"/>
          <a:lstStyle/>
          <a:p>
            <a:pPr indent="0" marL="0">
              <a:buNone/>
            </a:pPr>
            <a:r>
              <a:rPr lang="en-US" sz="1300" dirty="0">
                <a:solidFill>
                  <a:srgbClr val="E8833A"/>
                </a:solidFill>
                <a:latin typeface="Calibri" pitchFamily="34" charset="0"/>
                <a:ea typeface="Calibri" pitchFamily="34" charset="-122"/>
                <a:cs typeface="Calibri" pitchFamily="34" charset="-120"/>
              </a:rPr>
              <a:t>ADAE</a:t>
            </a:r>
            <a:endParaRPr lang="en-US" sz="1300" dirty="0"/>
          </a:p>
        </p:txBody>
      </p:sp>
      <p:sp>
        <p:nvSpPr>
          <p:cNvPr id="13" name="Shape 11"/>
          <p:cNvSpPr/>
          <p:nvPr/>
        </p:nvSpPr>
        <p:spPr>
          <a:xfrm>
            <a:off x="640080" y="3977640"/>
            <a:ext cx="10972800" cy="457200"/>
          </a:xfrm>
          <a:prstGeom prst="rect">
            <a:avLst/>
          </a:prstGeom>
          <a:solidFill>
            <a:srgbClr val="0F2E3D"/>
          </a:solidFill>
          <a:ln/>
        </p:spPr>
      </p:sp>
      <p:sp>
        <p:nvSpPr>
          <p:cNvPr id="14" name="Text 12"/>
          <p:cNvSpPr/>
          <p:nvPr/>
        </p:nvSpPr>
        <p:spPr>
          <a:xfrm>
            <a:off x="914400" y="3977640"/>
            <a:ext cx="4754880" cy="457200"/>
          </a:xfrm>
          <a:prstGeom prst="rect">
            <a:avLst/>
          </a:prstGeom>
          <a:noFill/>
          <a:ln/>
        </p:spPr>
        <p:txBody>
          <a:bodyPr wrap="square" lIns="0" tIns="0" rIns="0" bIns="0" rtlCol="0" anchor="ctr"/>
          <a:lstStyle/>
          <a:p>
            <a:pPr indent="0" marL="0">
              <a:buNone/>
            </a:pPr>
            <a:r>
              <a:rPr lang="en-US" sz="1350" dirty="0">
                <a:solidFill>
                  <a:srgbClr val="C7DCE0"/>
                </a:solidFill>
                <a:latin typeface="Calibri" pitchFamily="34" charset="0"/>
                <a:ea typeface="Calibri" pitchFamily="34" charset="-122"/>
                <a:cs typeface="Calibri" pitchFamily="34" charset="-120"/>
              </a:rPr>
              <a:t>how to count a subject once</a:t>
            </a:r>
            <a:endParaRPr lang="en-US" sz="1350" dirty="0"/>
          </a:p>
        </p:txBody>
      </p:sp>
      <p:sp>
        <p:nvSpPr>
          <p:cNvPr id="15" name="Text 13"/>
          <p:cNvSpPr/>
          <p:nvPr/>
        </p:nvSpPr>
        <p:spPr>
          <a:xfrm>
            <a:off x="5852160" y="3977640"/>
            <a:ext cx="3291840" cy="457200"/>
          </a:xfrm>
          <a:prstGeom prst="rect">
            <a:avLst/>
          </a:prstGeom>
          <a:noFill/>
          <a:ln/>
        </p:spPr>
        <p:txBody>
          <a:bodyPr wrap="square" lIns="0" tIns="0" rIns="0" bIns="0" rtlCol="0" anchor="ctr"/>
          <a:lstStyle/>
          <a:p>
            <a:pPr indent="0" marL="0">
              <a:buNone/>
            </a:pPr>
            <a:r>
              <a:rPr lang="en-US" sz="1300" b="1" dirty="0">
                <a:solidFill>
                  <a:srgbClr val="6FC8B4"/>
                </a:solidFill>
                <a:latin typeface="Courier New" pitchFamily="34" charset="0"/>
                <a:ea typeface="Courier New" pitchFamily="34" charset="-122"/>
                <a:cs typeface="Courier New" pitchFamily="34" charset="-120"/>
              </a:rPr>
              <a:t>AOCCFL / AOCCPFL</a:t>
            </a:r>
            <a:endParaRPr lang="en-US" sz="1300" dirty="0"/>
          </a:p>
        </p:txBody>
      </p:sp>
      <p:sp>
        <p:nvSpPr>
          <p:cNvPr id="16" name="Text 14"/>
          <p:cNvSpPr/>
          <p:nvPr/>
        </p:nvSpPr>
        <p:spPr>
          <a:xfrm>
            <a:off x="9326880" y="3977640"/>
            <a:ext cx="2103120" cy="457200"/>
          </a:xfrm>
          <a:prstGeom prst="rect">
            <a:avLst/>
          </a:prstGeom>
          <a:noFill/>
          <a:ln/>
        </p:spPr>
        <p:txBody>
          <a:bodyPr wrap="square" lIns="0" tIns="0" rIns="0" bIns="0" rtlCol="0" anchor="ctr"/>
          <a:lstStyle/>
          <a:p>
            <a:pPr indent="0" marL="0">
              <a:buNone/>
            </a:pPr>
            <a:r>
              <a:rPr lang="en-US" sz="1300" dirty="0">
                <a:solidFill>
                  <a:srgbClr val="E8833A"/>
                </a:solidFill>
                <a:latin typeface="Calibri" pitchFamily="34" charset="0"/>
                <a:ea typeface="Calibri" pitchFamily="34" charset="-122"/>
                <a:cs typeface="Calibri" pitchFamily="34" charset="-120"/>
              </a:rPr>
              <a:t>ADAE</a:t>
            </a:r>
            <a:endParaRPr lang="en-US" sz="1300" dirty="0"/>
          </a:p>
        </p:txBody>
      </p:sp>
      <p:sp>
        <p:nvSpPr>
          <p:cNvPr id="17" name="Shape 15"/>
          <p:cNvSpPr/>
          <p:nvPr/>
        </p:nvSpPr>
        <p:spPr>
          <a:xfrm>
            <a:off x="640080" y="4434840"/>
            <a:ext cx="10972800" cy="457200"/>
          </a:xfrm>
          <a:prstGeom prst="rect">
            <a:avLst/>
          </a:prstGeom>
          <a:solidFill>
            <a:srgbClr val="133B4C"/>
          </a:solidFill>
          <a:ln/>
        </p:spPr>
      </p:sp>
      <p:sp>
        <p:nvSpPr>
          <p:cNvPr id="18" name="Text 16"/>
          <p:cNvSpPr/>
          <p:nvPr/>
        </p:nvSpPr>
        <p:spPr>
          <a:xfrm>
            <a:off x="914400" y="4434840"/>
            <a:ext cx="4754880" cy="457200"/>
          </a:xfrm>
          <a:prstGeom prst="rect">
            <a:avLst/>
          </a:prstGeom>
          <a:noFill/>
          <a:ln/>
        </p:spPr>
        <p:txBody>
          <a:bodyPr wrap="square" lIns="0" tIns="0" rIns="0" bIns="0" rtlCol="0" anchor="ctr"/>
          <a:lstStyle/>
          <a:p>
            <a:pPr indent="0" marL="0">
              <a:buNone/>
            </a:pPr>
            <a:r>
              <a:rPr lang="en-US" sz="1350" dirty="0">
                <a:solidFill>
                  <a:srgbClr val="C7DCE0"/>
                </a:solidFill>
                <a:latin typeface="Calibri" pitchFamily="34" charset="0"/>
                <a:ea typeface="Calibri" pitchFamily="34" charset="-122"/>
                <a:cs typeface="Calibri" pitchFamily="34" charset="-120"/>
              </a:rPr>
              <a:t>what “related” means</a:t>
            </a:r>
            <a:endParaRPr lang="en-US" sz="1350" dirty="0"/>
          </a:p>
        </p:txBody>
      </p:sp>
      <p:sp>
        <p:nvSpPr>
          <p:cNvPr id="19" name="Text 17"/>
          <p:cNvSpPr/>
          <p:nvPr/>
        </p:nvSpPr>
        <p:spPr>
          <a:xfrm>
            <a:off x="5852160" y="4434840"/>
            <a:ext cx="3291840" cy="457200"/>
          </a:xfrm>
          <a:prstGeom prst="rect">
            <a:avLst/>
          </a:prstGeom>
          <a:noFill/>
          <a:ln/>
        </p:spPr>
        <p:txBody>
          <a:bodyPr wrap="square" lIns="0" tIns="0" rIns="0" bIns="0" rtlCol="0" anchor="ctr"/>
          <a:lstStyle/>
          <a:p>
            <a:pPr indent="0" marL="0">
              <a:buNone/>
            </a:pPr>
            <a:r>
              <a:rPr lang="en-US" sz="1300" b="1" dirty="0">
                <a:solidFill>
                  <a:srgbClr val="6FC8B4"/>
                </a:solidFill>
                <a:latin typeface="Courier New" pitchFamily="34" charset="0"/>
                <a:ea typeface="Courier New" pitchFamily="34" charset="-122"/>
                <a:cs typeface="Courier New" pitchFamily="34" charset="-120"/>
              </a:rPr>
              <a:t>AREL</a:t>
            </a:r>
            <a:endParaRPr lang="en-US" sz="1300" dirty="0"/>
          </a:p>
        </p:txBody>
      </p:sp>
      <p:sp>
        <p:nvSpPr>
          <p:cNvPr id="20" name="Text 18"/>
          <p:cNvSpPr/>
          <p:nvPr/>
        </p:nvSpPr>
        <p:spPr>
          <a:xfrm>
            <a:off x="9326880" y="4434840"/>
            <a:ext cx="2103120" cy="457200"/>
          </a:xfrm>
          <a:prstGeom prst="rect">
            <a:avLst/>
          </a:prstGeom>
          <a:noFill/>
          <a:ln/>
        </p:spPr>
        <p:txBody>
          <a:bodyPr wrap="square" lIns="0" tIns="0" rIns="0" bIns="0" rtlCol="0" anchor="ctr"/>
          <a:lstStyle/>
          <a:p>
            <a:pPr indent="0" marL="0">
              <a:buNone/>
            </a:pPr>
            <a:r>
              <a:rPr lang="en-US" sz="1300" dirty="0">
                <a:solidFill>
                  <a:srgbClr val="E8833A"/>
                </a:solidFill>
                <a:latin typeface="Calibri" pitchFamily="34" charset="0"/>
                <a:ea typeface="Calibri" pitchFamily="34" charset="-122"/>
                <a:cs typeface="Calibri" pitchFamily="34" charset="-120"/>
              </a:rPr>
              <a:t>ADAE</a:t>
            </a:r>
            <a:endParaRPr lang="en-US" sz="1300" dirty="0"/>
          </a:p>
        </p:txBody>
      </p:sp>
      <p:sp>
        <p:nvSpPr>
          <p:cNvPr id="21" name="Shape 19"/>
          <p:cNvSpPr/>
          <p:nvPr/>
        </p:nvSpPr>
        <p:spPr>
          <a:xfrm>
            <a:off x="640080" y="4892040"/>
            <a:ext cx="10972800" cy="457200"/>
          </a:xfrm>
          <a:prstGeom prst="rect">
            <a:avLst/>
          </a:prstGeom>
          <a:solidFill>
            <a:srgbClr val="0F2E3D"/>
          </a:solidFill>
          <a:ln/>
        </p:spPr>
      </p:sp>
      <p:sp>
        <p:nvSpPr>
          <p:cNvPr id="22" name="Text 20"/>
          <p:cNvSpPr/>
          <p:nvPr/>
        </p:nvSpPr>
        <p:spPr>
          <a:xfrm>
            <a:off x="914400" y="4892040"/>
            <a:ext cx="4754880" cy="457200"/>
          </a:xfrm>
          <a:prstGeom prst="rect">
            <a:avLst/>
          </a:prstGeom>
          <a:noFill/>
          <a:ln/>
        </p:spPr>
        <p:txBody>
          <a:bodyPr wrap="square" lIns="0" tIns="0" rIns="0" bIns="0" rtlCol="0" anchor="ctr"/>
          <a:lstStyle/>
          <a:p>
            <a:pPr indent="0" marL="0">
              <a:buNone/>
            </a:pPr>
            <a:r>
              <a:rPr lang="en-US" sz="1350" dirty="0">
                <a:solidFill>
                  <a:srgbClr val="C7DCE0"/>
                </a:solidFill>
                <a:latin typeface="Calibri" pitchFamily="34" charset="0"/>
                <a:ea typeface="Calibri" pitchFamily="34" charset="-122"/>
                <a:cs typeface="Calibri" pitchFamily="34" charset="-120"/>
              </a:rPr>
              <a:t>what order severity prints</a:t>
            </a:r>
            <a:endParaRPr lang="en-US" sz="1350" dirty="0"/>
          </a:p>
        </p:txBody>
      </p:sp>
      <p:sp>
        <p:nvSpPr>
          <p:cNvPr id="23" name="Text 21"/>
          <p:cNvSpPr/>
          <p:nvPr/>
        </p:nvSpPr>
        <p:spPr>
          <a:xfrm>
            <a:off x="5852160" y="4892040"/>
            <a:ext cx="3291840" cy="457200"/>
          </a:xfrm>
          <a:prstGeom prst="rect">
            <a:avLst/>
          </a:prstGeom>
          <a:noFill/>
          <a:ln/>
        </p:spPr>
        <p:txBody>
          <a:bodyPr wrap="square" lIns="0" tIns="0" rIns="0" bIns="0" rtlCol="0" anchor="ctr"/>
          <a:lstStyle/>
          <a:p>
            <a:pPr indent="0" marL="0">
              <a:buNone/>
            </a:pPr>
            <a:r>
              <a:rPr lang="en-US" sz="1300" b="1" dirty="0">
                <a:solidFill>
                  <a:srgbClr val="6FC8B4"/>
                </a:solidFill>
                <a:latin typeface="Courier New" pitchFamily="34" charset="0"/>
                <a:ea typeface="Courier New" pitchFamily="34" charset="-122"/>
                <a:cs typeface="Courier New" pitchFamily="34" charset="-120"/>
              </a:rPr>
              <a:t>ASEVN</a:t>
            </a:r>
            <a:endParaRPr lang="en-US" sz="1300" dirty="0"/>
          </a:p>
        </p:txBody>
      </p:sp>
      <p:sp>
        <p:nvSpPr>
          <p:cNvPr id="24" name="Text 22"/>
          <p:cNvSpPr/>
          <p:nvPr/>
        </p:nvSpPr>
        <p:spPr>
          <a:xfrm>
            <a:off x="9326880" y="4892040"/>
            <a:ext cx="2103120" cy="457200"/>
          </a:xfrm>
          <a:prstGeom prst="rect">
            <a:avLst/>
          </a:prstGeom>
          <a:noFill/>
          <a:ln/>
        </p:spPr>
        <p:txBody>
          <a:bodyPr wrap="square" lIns="0" tIns="0" rIns="0" bIns="0" rtlCol="0" anchor="ctr"/>
          <a:lstStyle/>
          <a:p>
            <a:pPr indent="0" marL="0">
              <a:buNone/>
            </a:pPr>
            <a:r>
              <a:rPr lang="en-US" sz="1300" dirty="0">
                <a:solidFill>
                  <a:srgbClr val="E8833A"/>
                </a:solidFill>
                <a:latin typeface="Calibri" pitchFamily="34" charset="0"/>
                <a:ea typeface="Calibri" pitchFamily="34" charset="-122"/>
                <a:cs typeface="Calibri" pitchFamily="34" charset="-120"/>
              </a:rPr>
              <a:t>ADAE</a:t>
            </a:r>
            <a:endParaRPr lang="en-US" sz="1300" dirty="0"/>
          </a:p>
        </p:txBody>
      </p:sp>
      <p:sp>
        <p:nvSpPr>
          <p:cNvPr id="25" name="Shape 23"/>
          <p:cNvSpPr/>
          <p:nvPr/>
        </p:nvSpPr>
        <p:spPr>
          <a:xfrm>
            <a:off x="640080" y="5349240"/>
            <a:ext cx="10972800" cy="457200"/>
          </a:xfrm>
          <a:prstGeom prst="rect">
            <a:avLst/>
          </a:prstGeom>
          <a:solidFill>
            <a:srgbClr val="133B4C"/>
          </a:solidFill>
          <a:ln/>
        </p:spPr>
      </p:sp>
      <p:sp>
        <p:nvSpPr>
          <p:cNvPr id="26" name="Text 24"/>
          <p:cNvSpPr/>
          <p:nvPr/>
        </p:nvSpPr>
        <p:spPr>
          <a:xfrm>
            <a:off x="914400" y="5349240"/>
            <a:ext cx="4754880" cy="457200"/>
          </a:xfrm>
          <a:prstGeom prst="rect">
            <a:avLst/>
          </a:prstGeom>
          <a:noFill/>
          <a:ln/>
        </p:spPr>
        <p:txBody>
          <a:bodyPr wrap="square" lIns="0" tIns="0" rIns="0" bIns="0" rtlCol="0" anchor="ctr"/>
          <a:lstStyle/>
          <a:p>
            <a:pPr indent="0" marL="0">
              <a:buNone/>
            </a:pPr>
            <a:r>
              <a:rPr lang="en-US" sz="1350" dirty="0">
                <a:solidFill>
                  <a:srgbClr val="C7DCE0"/>
                </a:solidFill>
                <a:latin typeface="Calibri" pitchFamily="34" charset="0"/>
                <a:ea typeface="Calibri" pitchFamily="34" charset="-122"/>
                <a:cs typeface="Calibri" pitchFamily="34" charset="-120"/>
              </a:rPr>
              <a:t>what counts as baseline</a:t>
            </a:r>
            <a:endParaRPr lang="en-US" sz="1350" dirty="0"/>
          </a:p>
        </p:txBody>
      </p:sp>
      <p:sp>
        <p:nvSpPr>
          <p:cNvPr id="27" name="Text 25"/>
          <p:cNvSpPr/>
          <p:nvPr/>
        </p:nvSpPr>
        <p:spPr>
          <a:xfrm>
            <a:off x="5852160" y="5349240"/>
            <a:ext cx="3291840" cy="457200"/>
          </a:xfrm>
          <a:prstGeom prst="rect">
            <a:avLst/>
          </a:prstGeom>
          <a:noFill/>
          <a:ln/>
        </p:spPr>
        <p:txBody>
          <a:bodyPr wrap="square" lIns="0" tIns="0" rIns="0" bIns="0" rtlCol="0" anchor="ctr"/>
          <a:lstStyle/>
          <a:p>
            <a:pPr indent="0" marL="0">
              <a:buNone/>
            </a:pPr>
            <a:r>
              <a:rPr lang="en-US" sz="1300" b="1" dirty="0">
                <a:solidFill>
                  <a:srgbClr val="6FC8B4"/>
                </a:solidFill>
                <a:latin typeface="Courier New" pitchFamily="34" charset="0"/>
                <a:ea typeface="Courier New" pitchFamily="34" charset="-122"/>
                <a:cs typeface="Courier New" pitchFamily="34" charset="-120"/>
              </a:rPr>
              <a:t>ABLFL</a:t>
            </a:r>
            <a:endParaRPr lang="en-US" sz="1300" dirty="0"/>
          </a:p>
        </p:txBody>
      </p:sp>
      <p:sp>
        <p:nvSpPr>
          <p:cNvPr id="28" name="Text 26"/>
          <p:cNvSpPr/>
          <p:nvPr/>
        </p:nvSpPr>
        <p:spPr>
          <a:xfrm>
            <a:off x="9326880" y="5349240"/>
            <a:ext cx="2103120" cy="457200"/>
          </a:xfrm>
          <a:prstGeom prst="rect">
            <a:avLst/>
          </a:prstGeom>
          <a:noFill/>
          <a:ln/>
        </p:spPr>
        <p:txBody>
          <a:bodyPr wrap="square" lIns="0" tIns="0" rIns="0" bIns="0" rtlCol="0" anchor="ctr"/>
          <a:lstStyle/>
          <a:p>
            <a:pPr indent="0" marL="0">
              <a:buNone/>
            </a:pPr>
            <a:r>
              <a:rPr lang="en-US" sz="1300" dirty="0">
                <a:solidFill>
                  <a:srgbClr val="E8833A"/>
                </a:solidFill>
                <a:latin typeface="Calibri" pitchFamily="34" charset="0"/>
                <a:ea typeface="Calibri" pitchFamily="34" charset="-122"/>
                <a:cs typeface="Calibri" pitchFamily="34" charset="-120"/>
              </a:rPr>
              <a:t>ADVS / ADLB</a:t>
            </a:r>
            <a:endParaRPr lang="en-US" sz="1300" dirty="0"/>
          </a:p>
        </p:txBody>
      </p:sp>
      <p:sp>
        <p:nvSpPr>
          <p:cNvPr id="29" name="Text 27"/>
          <p:cNvSpPr/>
          <p:nvPr/>
        </p:nvSpPr>
        <p:spPr>
          <a:xfrm>
            <a:off x="640080" y="5943600"/>
            <a:ext cx="10972800" cy="685800"/>
          </a:xfrm>
          <a:prstGeom prst="rect">
            <a:avLst/>
          </a:prstGeom>
          <a:noFill/>
          <a:ln/>
        </p:spPr>
        <p:txBody>
          <a:bodyPr wrap="square" lIns="0" tIns="0" rIns="0" bIns="0" rtlCol="0" anchor="ctr"/>
          <a:lstStyle/>
          <a:p>
            <a:pPr indent="0" marL="0">
              <a:lnSpc>
                <a:spcPts val="1900"/>
              </a:lnSpc>
              <a:buNone/>
            </a:pPr>
            <a:r>
              <a:rPr lang="en-US" sz="1350" i="1" dirty="0">
                <a:solidFill>
                  <a:srgbClr val="6FC8B4"/>
                </a:solidFill>
                <a:latin typeface="Calibri" pitchFamily="34" charset="0"/>
                <a:ea typeface="Calibri" pitchFamily="34" charset="-122"/>
                <a:cs typeface="Calibri" pitchFamily="34" charset="-120"/>
              </a:rPr>
              <a:t>Every hard decision made ONCE, where it is documented and checked. If they lived in the table programs, two tables in the same submission would eventually disagree — with no error, and no way to tell which was right.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ONE LAST CHAIN</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From a number in a table to a page a site filled in</a:t>
            </a:r>
            <a:endParaRPr lang="en-US" sz="3000" dirty="0"/>
          </a:p>
        </p:txBody>
      </p:sp>
      <p:sp>
        <p:nvSpPr>
          <p:cNvPr id="4" name="Shape 2"/>
          <p:cNvSpPr/>
          <p:nvPr/>
        </p:nvSpPr>
        <p:spPr>
          <a:xfrm>
            <a:off x="640080" y="1737360"/>
            <a:ext cx="2011680" cy="1828800"/>
          </a:xfrm>
          <a:prstGeom prst="roundRect">
            <a:avLst>
              <a:gd name="adj" fmla="val 45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640080" y="1901952"/>
            <a:ext cx="2011680" cy="365760"/>
          </a:xfrm>
          <a:prstGeom prst="rect">
            <a:avLst/>
          </a:prstGeom>
          <a:noFill/>
          <a:ln/>
        </p:spPr>
        <p:txBody>
          <a:bodyPr wrap="square" lIns="0" tIns="0" rIns="0" bIns="0" rtlCol="0" anchor="ctr"/>
          <a:lstStyle/>
          <a:p>
            <a:pPr algn="ctr" indent="0" marL="0">
              <a:buNone/>
            </a:pPr>
            <a:r>
              <a:rPr lang="en-US" sz="1500" b="1" dirty="0">
                <a:solidFill>
                  <a:srgbClr val="5A7682"/>
                </a:solidFill>
                <a:latin typeface="Cambria" pitchFamily="34" charset="0"/>
                <a:ea typeface="Cambria" pitchFamily="34" charset="-122"/>
                <a:cs typeface="Cambria" pitchFamily="34" charset="-120"/>
              </a:rPr>
              <a:t>Table 14.1.1</a:t>
            </a:r>
            <a:endParaRPr lang="en-US" sz="1500" dirty="0"/>
          </a:p>
        </p:txBody>
      </p:sp>
      <p:sp>
        <p:nvSpPr>
          <p:cNvPr id="6" name="Text 4"/>
          <p:cNvSpPr/>
          <p:nvPr/>
        </p:nvSpPr>
        <p:spPr>
          <a:xfrm>
            <a:off x="640080" y="2331720"/>
            <a:ext cx="2011680" cy="685800"/>
          </a:xfrm>
          <a:prstGeom prst="rect">
            <a:avLst/>
          </a:prstGeom>
          <a:noFill/>
          <a:ln/>
        </p:spPr>
        <p:txBody>
          <a:bodyPr wrap="square" lIns="0" tIns="0" rIns="0" bIns="0" rtlCol="0" anchor="ctr"/>
          <a:lstStyle/>
          <a:p>
            <a:pPr algn="ctr" indent="0" marL="0">
              <a:lnSpc>
                <a:spcPts val="1500"/>
              </a:lnSpc>
              <a:buNone/>
            </a:pPr>
            <a:r>
              <a:rPr lang="en-US" sz="1100" dirty="0">
                <a:solidFill>
                  <a:srgbClr val="0F2E3D"/>
                </a:solidFill>
                <a:latin typeface="Courier New" pitchFamily="34" charset="0"/>
                <a:ea typeface="Courier New" pitchFamily="34" charset="-122"/>
                <a:cs typeface="Courier New" pitchFamily="34" charset="-120"/>
              </a:rPr>
              <a:t>mean BMIBL</a:t>
            </a:r>
            <a:endParaRPr lang="en-US" sz="1100" dirty="0"/>
          </a:p>
        </p:txBody>
      </p:sp>
      <p:sp>
        <p:nvSpPr>
          <p:cNvPr id="7" name="Text 5"/>
          <p:cNvSpPr/>
          <p:nvPr/>
        </p:nvSpPr>
        <p:spPr>
          <a:xfrm>
            <a:off x="640080" y="3108960"/>
            <a:ext cx="2011680" cy="320040"/>
          </a:xfrm>
          <a:prstGeom prst="rect">
            <a:avLst/>
          </a:prstGeom>
          <a:noFill/>
          <a:ln/>
        </p:spPr>
        <p:txBody>
          <a:bodyPr wrap="square" lIns="0" tIns="0" rIns="0" bIns="0" rtlCol="0" anchor="ctr"/>
          <a:lstStyle/>
          <a:p>
            <a:pPr algn="ctr" indent="0" marL="0">
              <a:buNone/>
            </a:pPr>
            <a:r>
              <a:rPr lang="en-US" sz="1050" i="1" dirty="0">
                <a:solidFill>
                  <a:srgbClr val="5A7682"/>
                </a:solidFill>
                <a:latin typeface="Calibri" pitchFamily="34" charset="0"/>
                <a:ea typeface="Calibri" pitchFamily="34" charset="-122"/>
                <a:cs typeface="Calibri" pitchFamily="34" charset="-120"/>
              </a:rPr>
              <a:t>SAP / shell</a:t>
            </a:r>
            <a:endParaRPr lang="en-US" sz="1050" dirty="0"/>
          </a:p>
        </p:txBody>
      </p:sp>
      <p:sp>
        <p:nvSpPr>
          <p:cNvPr id="8" name="Shape 6"/>
          <p:cNvSpPr/>
          <p:nvPr/>
        </p:nvSpPr>
        <p:spPr>
          <a:xfrm>
            <a:off x="2953512" y="1737360"/>
            <a:ext cx="2011680" cy="1828800"/>
          </a:xfrm>
          <a:prstGeom prst="roundRect">
            <a:avLst>
              <a:gd name="adj" fmla="val 45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Text 7"/>
          <p:cNvSpPr/>
          <p:nvPr/>
        </p:nvSpPr>
        <p:spPr>
          <a:xfrm>
            <a:off x="2953512" y="1901952"/>
            <a:ext cx="2011680" cy="365760"/>
          </a:xfrm>
          <a:prstGeom prst="rect">
            <a:avLst/>
          </a:prstGeom>
          <a:noFill/>
          <a:ln/>
        </p:spPr>
        <p:txBody>
          <a:bodyPr wrap="square" lIns="0" tIns="0" rIns="0" bIns="0" rtlCol="0" anchor="ctr"/>
          <a:lstStyle/>
          <a:p>
            <a:pPr algn="ctr" indent="0" marL="0">
              <a:buNone/>
            </a:pPr>
            <a:r>
              <a:rPr lang="en-US" sz="1500" b="1" dirty="0">
                <a:solidFill>
                  <a:srgbClr val="E8833A"/>
                </a:solidFill>
                <a:latin typeface="Cambria" pitchFamily="34" charset="0"/>
                <a:ea typeface="Cambria" pitchFamily="34" charset="-122"/>
                <a:cs typeface="Cambria" pitchFamily="34" charset="-120"/>
              </a:rPr>
              <a:t>ADSL</a:t>
            </a:r>
            <a:endParaRPr lang="en-US" sz="1500" dirty="0"/>
          </a:p>
        </p:txBody>
      </p:sp>
      <p:sp>
        <p:nvSpPr>
          <p:cNvPr id="10" name="Text 8"/>
          <p:cNvSpPr/>
          <p:nvPr/>
        </p:nvSpPr>
        <p:spPr>
          <a:xfrm>
            <a:off x="2953512" y="2331720"/>
            <a:ext cx="2011680" cy="685800"/>
          </a:xfrm>
          <a:prstGeom prst="rect">
            <a:avLst/>
          </a:prstGeom>
          <a:noFill/>
          <a:ln/>
        </p:spPr>
        <p:txBody>
          <a:bodyPr wrap="square" lIns="0" tIns="0" rIns="0" bIns="0" rtlCol="0" anchor="ctr"/>
          <a:lstStyle/>
          <a:p>
            <a:pPr algn="ctr" indent="0" marL="0">
              <a:lnSpc>
                <a:spcPts val="1500"/>
              </a:lnSpc>
              <a:buNone/>
            </a:pPr>
            <a:r>
              <a:rPr lang="en-US" sz="1100" dirty="0">
                <a:solidFill>
                  <a:srgbClr val="0F2E3D"/>
                </a:solidFill>
                <a:latin typeface="Courier New" pitchFamily="34" charset="0"/>
                <a:ea typeface="Courier New" pitchFamily="34" charset="-122"/>
                <a:cs typeface="Courier New" pitchFamily="34" charset="-120"/>
              </a:rPr>
              <a:t>BMIBL</a:t>
            </a:r>
            <a:endParaRPr lang="en-US" sz="1100" dirty="0"/>
          </a:p>
        </p:txBody>
      </p:sp>
      <p:sp>
        <p:nvSpPr>
          <p:cNvPr id="11" name="Text 9"/>
          <p:cNvSpPr/>
          <p:nvPr/>
        </p:nvSpPr>
        <p:spPr>
          <a:xfrm>
            <a:off x="2953512" y="3108960"/>
            <a:ext cx="2011680" cy="320040"/>
          </a:xfrm>
          <a:prstGeom prst="rect">
            <a:avLst/>
          </a:prstGeom>
          <a:noFill/>
          <a:ln/>
        </p:spPr>
        <p:txBody>
          <a:bodyPr wrap="square" lIns="0" tIns="0" rIns="0" bIns="0" rtlCol="0" anchor="ctr"/>
          <a:lstStyle/>
          <a:p>
            <a:pPr algn="ctr" indent="0" marL="0">
              <a:buNone/>
            </a:pPr>
            <a:r>
              <a:rPr lang="en-US" sz="1050" i="1" dirty="0">
                <a:solidFill>
                  <a:srgbClr val="5A7682"/>
                </a:solidFill>
                <a:latin typeface="Calibri" pitchFamily="34" charset="0"/>
                <a:ea typeface="Calibri" pitchFamily="34" charset="-122"/>
                <a:cs typeface="Calibri" pitchFamily="34" charset="-120"/>
              </a:rPr>
              <a:t>define.xml</a:t>
            </a:r>
            <a:endParaRPr lang="en-US" sz="1050" dirty="0"/>
          </a:p>
        </p:txBody>
      </p:sp>
      <p:sp>
        <p:nvSpPr>
          <p:cNvPr id="12" name="Shape 10"/>
          <p:cNvSpPr/>
          <p:nvPr/>
        </p:nvSpPr>
        <p:spPr>
          <a:xfrm>
            <a:off x="5266944" y="1737360"/>
            <a:ext cx="2011680" cy="1828800"/>
          </a:xfrm>
          <a:prstGeom prst="roundRect">
            <a:avLst>
              <a:gd name="adj" fmla="val 45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Text 11"/>
          <p:cNvSpPr/>
          <p:nvPr/>
        </p:nvSpPr>
        <p:spPr>
          <a:xfrm>
            <a:off x="5266944" y="1901952"/>
            <a:ext cx="2011680" cy="365760"/>
          </a:xfrm>
          <a:prstGeom prst="rect">
            <a:avLst/>
          </a:prstGeom>
          <a:noFill/>
          <a:ln/>
        </p:spPr>
        <p:txBody>
          <a:bodyPr wrap="square" lIns="0" tIns="0" rIns="0" bIns="0" rtlCol="0" anchor="ctr"/>
          <a:lstStyle/>
          <a:p>
            <a:pPr algn="ctr" indent="0" marL="0">
              <a:buNone/>
            </a:pPr>
            <a:r>
              <a:rPr lang="en-US" sz="1500" b="1" dirty="0">
                <a:solidFill>
                  <a:srgbClr val="E8833A"/>
                </a:solidFill>
                <a:latin typeface="Cambria" pitchFamily="34" charset="0"/>
                <a:ea typeface="Cambria" pitchFamily="34" charset="-122"/>
                <a:cs typeface="Cambria" pitchFamily="34" charset="-120"/>
              </a:rPr>
              <a:t>ADSL</a:t>
            </a:r>
            <a:endParaRPr lang="en-US" sz="1500" dirty="0"/>
          </a:p>
        </p:txBody>
      </p:sp>
      <p:sp>
        <p:nvSpPr>
          <p:cNvPr id="14" name="Text 12"/>
          <p:cNvSpPr/>
          <p:nvPr/>
        </p:nvSpPr>
        <p:spPr>
          <a:xfrm>
            <a:off x="5266944" y="2331720"/>
            <a:ext cx="2011680" cy="685800"/>
          </a:xfrm>
          <a:prstGeom prst="rect">
            <a:avLst/>
          </a:prstGeom>
          <a:noFill/>
          <a:ln/>
        </p:spPr>
        <p:txBody>
          <a:bodyPr wrap="square" lIns="0" tIns="0" rIns="0" bIns="0" rtlCol="0" anchor="ctr"/>
          <a:lstStyle/>
          <a:p>
            <a:pPr algn="ctr" indent="0" marL="0">
              <a:lnSpc>
                <a:spcPts val="1500"/>
              </a:lnSpc>
              <a:buNone/>
            </a:pPr>
            <a:r>
              <a:rPr lang="en-US" sz="1100" dirty="0">
                <a:solidFill>
                  <a:srgbClr val="0F2E3D"/>
                </a:solidFill>
                <a:latin typeface="Courier New" pitchFamily="34" charset="0"/>
                <a:ea typeface="Courier New" pitchFamily="34" charset="-122"/>
                <a:cs typeface="Courier New" pitchFamily="34" charset="-120"/>
              </a:rPr>
              <a:t>HEIGHTBL</a:t>
            </a:r>
            <a:endParaRPr lang="en-US" sz="1100" dirty="0"/>
          </a:p>
          <a:p>
            <a:pPr algn="ctr" indent="0" marL="0">
              <a:lnSpc>
                <a:spcPts val="1500"/>
              </a:lnSpc>
              <a:buNone/>
            </a:pPr>
            <a:r>
              <a:rPr lang="en-US" sz="1100" dirty="0">
                <a:solidFill>
                  <a:srgbClr val="0F2E3D"/>
                </a:solidFill>
                <a:latin typeface="Courier New" pitchFamily="34" charset="0"/>
                <a:ea typeface="Courier New" pitchFamily="34" charset="-122"/>
                <a:cs typeface="Courier New" pitchFamily="34" charset="-120"/>
              </a:rPr>
              <a:t>WEIGHTBL</a:t>
            </a:r>
            <a:endParaRPr lang="en-US" sz="1100" dirty="0"/>
          </a:p>
        </p:txBody>
      </p:sp>
      <p:sp>
        <p:nvSpPr>
          <p:cNvPr id="15" name="Text 13"/>
          <p:cNvSpPr/>
          <p:nvPr/>
        </p:nvSpPr>
        <p:spPr>
          <a:xfrm>
            <a:off x="5266944" y="3108960"/>
            <a:ext cx="2011680" cy="320040"/>
          </a:xfrm>
          <a:prstGeom prst="rect">
            <a:avLst/>
          </a:prstGeom>
          <a:noFill/>
          <a:ln/>
        </p:spPr>
        <p:txBody>
          <a:bodyPr wrap="square" lIns="0" tIns="0" rIns="0" bIns="0" rtlCol="0" anchor="ctr"/>
          <a:lstStyle/>
          <a:p>
            <a:pPr algn="ctr" indent="0" marL="0">
              <a:buNone/>
            </a:pPr>
            <a:r>
              <a:rPr lang="en-US" sz="1050" i="1" dirty="0">
                <a:solidFill>
                  <a:srgbClr val="5A7682"/>
                </a:solidFill>
                <a:latin typeface="Calibri" pitchFamily="34" charset="0"/>
                <a:ea typeface="Calibri" pitchFamily="34" charset="-122"/>
                <a:cs typeface="Calibri" pitchFamily="34" charset="-120"/>
              </a:rPr>
              <a:t>define.xml</a:t>
            </a:r>
            <a:endParaRPr lang="en-US" sz="1050" dirty="0"/>
          </a:p>
        </p:txBody>
      </p:sp>
      <p:sp>
        <p:nvSpPr>
          <p:cNvPr id="16" name="Shape 14"/>
          <p:cNvSpPr/>
          <p:nvPr/>
        </p:nvSpPr>
        <p:spPr>
          <a:xfrm>
            <a:off x="7580376" y="1737360"/>
            <a:ext cx="2011680" cy="1828800"/>
          </a:xfrm>
          <a:prstGeom prst="roundRect">
            <a:avLst>
              <a:gd name="adj" fmla="val 45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Text 15"/>
          <p:cNvSpPr/>
          <p:nvPr/>
        </p:nvSpPr>
        <p:spPr>
          <a:xfrm>
            <a:off x="7580376" y="1901952"/>
            <a:ext cx="2011680" cy="365760"/>
          </a:xfrm>
          <a:prstGeom prst="rect">
            <a:avLst/>
          </a:prstGeom>
          <a:noFill/>
          <a:ln/>
        </p:spPr>
        <p:txBody>
          <a:bodyPr wrap="square" lIns="0" tIns="0" rIns="0" bIns="0" rtlCol="0" anchor="ctr"/>
          <a:lstStyle/>
          <a:p>
            <a:pPr algn="ctr" indent="0" marL="0">
              <a:buNone/>
            </a:pPr>
            <a:r>
              <a:rPr lang="en-US" sz="1500" b="1" dirty="0">
                <a:solidFill>
                  <a:srgbClr val="0E7C86"/>
                </a:solidFill>
                <a:latin typeface="Cambria" pitchFamily="34" charset="0"/>
                <a:ea typeface="Cambria" pitchFamily="34" charset="-122"/>
                <a:cs typeface="Cambria" pitchFamily="34" charset="-120"/>
              </a:rPr>
              <a:t>SDTM VS</a:t>
            </a:r>
            <a:endParaRPr lang="en-US" sz="1500" dirty="0"/>
          </a:p>
        </p:txBody>
      </p:sp>
      <p:sp>
        <p:nvSpPr>
          <p:cNvPr id="18" name="Text 16"/>
          <p:cNvSpPr/>
          <p:nvPr/>
        </p:nvSpPr>
        <p:spPr>
          <a:xfrm>
            <a:off x="7580376" y="2331720"/>
            <a:ext cx="2011680" cy="685800"/>
          </a:xfrm>
          <a:prstGeom prst="rect">
            <a:avLst/>
          </a:prstGeom>
          <a:noFill/>
          <a:ln/>
        </p:spPr>
        <p:txBody>
          <a:bodyPr wrap="square" lIns="0" tIns="0" rIns="0" bIns="0" rtlCol="0" anchor="ctr"/>
          <a:lstStyle/>
          <a:p>
            <a:pPr algn="ctr" indent="0" marL="0">
              <a:lnSpc>
                <a:spcPts val="1500"/>
              </a:lnSpc>
              <a:buNone/>
            </a:pPr>
            <a:r>
              <a:rPr lang="en-US" sz="1100" dirty="0">
                <a:solidFill>
                  <a:srgbClr val="0F2E3D"/>
                </a:solidFill>
                <a:latin typeface="Courier New" pitchFamily="34" charset="0"/>
                <a:ea typeface="Courier New" pitchFamily="34" charset="-122"/>
                <a:cs typeface="Courier New" pitchFamily="34" charset="-120"/>
              </a:rPr>
              <a:t>VSSTRESN</a:t>
            </a:r>
            <a:endParaRPr lang="en-US" sz="1100" dirty="0"/>
          </a:p>
        </p:txBody>
      </p:sp>
      <p:sp>
        <p:nvSpPr>
          <p:cNvPr id="19" name="Text 17"/>
          <p:cNvSpPr/>
          <p:nvPr/>
        </p:nvSpPr>
        <p:spPr>
          <a:xfrm>
            <a:off x="7580376" y="3108960"/>
            <a:ext cx="2011680" cy="320040"/>
          </a:xfrm>
          <a:prstGeom prst="rect">
            <a:avLst/>
          </a:prstGeom>
          <a:noFill/>
          <a:ln/>
        </p:spPr>
        <p:txBody>
          <a:bodyPr wrap="square" lIns="0" tIns="0" rIns="0" bIns="0" rtlCol="0" anchor="ctr"/>
          <a:lstStyle/>
          <a:p>
            <a:pPr algn="ctr" indent="0" marL="0">
              <a:buNone/>
            </a:pPr>
            <a:r>
              <a:rPr lang="en-US" sz="1050" i="1" dirty="0">
                <a:solidFill>
                  <a:srgbClr val="5A7682"/>
                </a:solidFill>
                <a:latin typeface="Calibri" pitchFamily="34" charset="0"/>
                <a:ea typeface="Calibri" pitchFamily="34" charset="-122"/>
                <a:cs typeface="Calibri" pitchFamily="34" charset="-120"/>
              </a:rPr>
              <a:t>define.xml</a:t>
            </a:r>
            <a:endParaRPr lang="en-US" sz="1050" dirty="0"/>
          </a:p>
        </p:txBody>
      </p:sp>
      <p:sp>
        <p:nvSpPr>
          <p:cNvPr id="20" name="Shape 18"/>
          <p:cNvSpPr/>
          <p:nvPr/>
        </p:nvSpPr>
        <p:spPr>
          <a:xfrm>
            <a:off x="9893808" y="1737360"/>
            <a:ext cx="2011680" cy="1828800"/>
          </a:xfrm>
          <a:prstGeom prst="roundRect">
            <a:avLst>
              <a:gd name="adj" fmla="val 45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Text 19"/>
          <p:cNvSpPr/>
          <p:nvPr/>
        </p:nvSpPr>
        <p:spPr>
          <a:xfrm>
            <a:off x="9893808" y="1901952"/>
            <a:ext cx="2011680" cy="365760"/>
          </a:xfrm>
          <a:prstGeom prst="rect">
            <a:avLst/>
          </a:prstGeom>
          <a:noFill/>
          <a:ln/>
        </p:spPr>
        <p:txBody>
          <a:bodyPr wrap="square" lIns="0" tIns="0" rIns="0" bIns="0" rtlCol="0" anchor="ctr"/>
          <a:lstStyle/>
          <a:p>
            <a:pPr algn="ctr" indent="0" marL="0">
              <a:buNone/>
            </a:pPr>
            <a:r>
              <a:rPr lang="en-US" sz="1500" b="1" dirty="0">
                <a:solidFill>
                  <a:srgbClr val="0F2E3D"/>
                </a:solidFill>
                <a:latin typeface="Cambria" pitchFamily="34" charset="0"/>
                <a:ea typeface="Cambria" pitchFamily="34" charset="-122"/>
                <a:cs typeface="Cambria" pitchFamily="34" charset="-120"/>
              </a:rPr>
              <a:t>aCRF</a:t>
            </a:r>
            <a:endParaRPr lang="en-US" sz="1500" dirty="0"/>
          </a:p>
        </p:txBody>
      </p:sp>
      <p:sp>
        <p:nvSpPr>
          <p:cNvPr id="22" name="Text 20"/>
          <p:cNvSpPr/>
          <p:nvPr/>
        </p:nvSpPr>
        <p:spPr>
          <a:xfrm>
            <a:off x="9893808" y="2331720"/>
            <a:ext cx="2011680" cy="685800"/>
          </a:xfrm>
          <a:prstGeom prst="rect">
            <a:avLst/>
          </a:prstGeom>
          <a:noFill/>
          <a:ln/>
        </p:spPr>
        <p:txBody>
          <a:bodyPr wrap="square" lIns="0" tIns="0" rIns="0" bIns="0" rtlCol="0" anchor="ctr"/>
          <a:lstStyle/>
          <a:p>
            <a:pPr algn="ctr" indent="0" marL="0">
              <a:lnSpc>
                <a:spcPts val="1500"/>
              </a:lnSpc>
              <a:buNone/>
            </a:pPr>
            <a:r>
              <a:rPr lang="en-US" sz="1100" dirty="0">
                <a:solidFill>
                  <a:srgbClr val="0F2E3D"/>
                </a:solidFill>
                <a:latin typeface="Courier New" pitchFamily="34" charset="0"/>
                <a:ea typeface="Courier New" pitchFamily="34" charset="-122"/>
                <a:cs typeface="Courier New" pitchFamily="34" charset="-120"/>
              </a:rPr>
              <a:t>Vital Signs</a:t>
            </a:r>
            <a:endParaRPr lang="en-US" sz="1100" dirty="0"/>
          </a:p>
          <a:p>
            <a:pPr algn="ctr" indent="0" marL="0">
              <a:lnSpc>
                <a:spcPts val="1500"/>
              </a:lnSpc>
              <a:buNone/>
            </a:pPr>
            <a:r>
              <a:rPr lang="en-US" sz="1100" dirty="0">
                <a:solidFill>
                  <a:srgbClr val="0F2E3D"/>
                </a:solidFill>
                <a:latin typeface="Courier New" pitchFamily="34" charset="0"/>
                <a:ea typeface="Courier New" pitchFamily="34" charset="-122"/>
                <a:cs typeface="Courier New" pitchFamily="34" charset="-120"/>
              </a:rPr>
              <a:t>page</a:t>
            </a:r>
            <a:endParaRPr lang="en-US" sz="1100" dirty="0"/>
          </a:p>
        </p:txBody>
      </p:sp>
      <p:sp>
        <p:nvSpPr>
          <p:cNvPr id="23" name="Text 21"/>
          <p:cNvSpPr/>
          <p:nvPr/>
        </p:nvSpPr>
        <p:spPr>
          <a:xfrm>
            <a:off x="9893808" y="3108960"/>
            <a:ext cx="2011680" cy="320040"/>
          </a:xfrm>
          <a:prstGeom prst="rect">
            <a:avLst/>
          </a:prstGeom>
          <a:noFill/>
          <a:ln/>
        </p:spPr>
        <p:txBody>
          <a:bodyPr wrap="square" lIns="0" tIns="0" rIns="0" bIns="0" rtlCol="0" anchor="ctr"/>
          <a:lstStyle/>
          <a:p>
            <a:pPr algn="ctr" indent="0" marL="0">
              <a:buNone/>
            </a:pPr>
            <a:r>
              <a:rPr lang="en-US" sz="1050" i="1" dirty="0">
                <a:solidFill>
                  <a:srgbClr val="5A7682"/>
                </a:solidFill>
                <a:latin typeface="Calibri" pitchFamily="34" charset="0"/>
                <a:ea typeface="Calibri" pitchFamily="34" charset="-122"/>
                <a:cs typeface="Calibri" pitchFamily="34" charset="-120"/>
              </a:rPr>
              <a:t>acrf.pdf</a:t>
            </a:r>
            <a:endParaRPr lang="en-US" sz="1050" dirty="0"/>
          </a:p>
        </p:txBody>
      </p:sp>
      <p:sp>
        <p:nvSpPr>
          <p:cNvPr id="24" name="Text 22"/>
          <p:cNvSpPr/>
          <p:nvPr/>
        </p:nvSpPr>
        <p:spPr>
          <a:xfrm>
            <a:off x="2651760" y="2377440"/>
            <a:ext cx="301752" cy="457200"/>
          </a:xfrm>
          <a:prstGeom prst="rect">
            <a:avLst/>
          </a:prstGeom>
          <a:noFill/>
          <a:ln/>
        </p:spPr>
        <p:txBody>
          <a:bodyPr wrap="square" lIns="0" tIns="0" rIns="0" bIns="0" rtlCol="0" anchor="ctr"/>
          <a:lstStyle/>
          <a:p>
            <a:pPr algn="ctr" indent="0" marL="0">
              <a:buNone/>
            </a:pPr>
            <a:r>
              <a:rPr lang="en-US" sz="2000" dirty="0">
                <a:solidFill>
                  <a:srgbClr val="1FA8A0"/>
                </a:solidFill>
                <a:latin typeface="Calibri" pitchFamily="34" charset="0"/>
                <a:ea typeface="Calibri" pitchFamily="34" charset="-122"/>
                <a:cs typeface="Calibri" pitchFamily="34" charset="-120"/>
              </a:rPr>
              <a:t>←</a:t>
            </a:r>
            <a:endParaRPr lang="en-US" sz="2000" dirty="0"/>
          </a:p>
        </p:txBody>
      </p:sp>
      <p:sp>
        <p:nvSpPr>
          <p:cNvPr id="25" name="Text 23"/>
          <p:cNvSpPr/>
          <p:nvPr/>
        </p:nvSpPr>
        <p:spPr>
          <a:xfrm>
            <a:off x="4965192" y="2377440"/>
            <a:ext cx="301752" cy="457200"/>
          </a:xfrm>
          <a:prstGeom prst="rect">
            <a:avLst/>
          </a:prstGeom>
          <a:noFill/>
          <a:ln/>
        </p:spPr>
        <p:txBody>
          <a:bodyPr wrap="square" lIns="0" tIns="0" rIns="0" bIns="0" rtlCol="0" anchor="ctr"/>
          <a:lstStyle/>
          <a:p>
            <a:pPr algn="ctr" indent="0" marL="0">
              <a:buNone/>
            </a:pPr>
            <a:r>
              <a:rPr lang="en-US" sz="2000" dirty="0">
                <a:solidFill>
                  <a:srgbClr val="1FA8A0"/>
                </a:solidFill>
                <a:latin typeface="Calibri" pitchFamily="34" charset="0"/>
                <a:ea typeface="Calibri" pitchFamily="34" charset="-122"/>
                <a:cs typeface="Calibri" pitchFamily="34" charset="-120"/>
              </a:rPr>
              <a:t>←</a:t>
            </a:r>
            <a:endParaRPr lang="en-US" sz="2000" dirty="0"/>
          </a:p>
        </p:txBody>
      </p:sp>
      <p:sp>
        <p:nvSpPr>
          <p:cNvPr id="26" name="Text 24"/>
          <p:cNvSpPr/>
          <p:nvPr/>
        </p:nvSpPr>
        <p:spPr>
          <a:xfrm>
            <a:off x="7278624" y="2377440"/>
            <a:ext cx="301752" cy="457200"/>
          </a:xfrm>
          <a:prstGeom prst="rect">
            <a:avLst/>
          </a:prstGeom>
          <a:noFill/>
          <a:ln/>
        </p:spPr>
        <p:txBody>
          <a:bodyPr wrap="square" lIns="0" tIns="0" rIns="0" bIns="0" rtlCol="0" anchor="ctr"/>
          <a:lstStyle/>
          <a:p>
            <a:pPr algn="ctr" indent="0" marL="0">
              <a:buNone/>
            </a:pPr>
            <a:r>
              <a:rPr lang="en-US" sz="2000" dirty="0">
                <a:solidFill>
                  <a:srgbClr val="1FA8A0"/>
                </a:solidFill>
                <a:latin typeface="Calibri" pitchFamily="34" charset="0"/>
                <a:ea typeface="Calibri" pitchFamily="34" charset="-122"/>
                <a:cs typeface="Calibri" pitchFamily="34" charset="-120"/>
              </a:rPr>
              <a:t>←</a:t>
            </a:r>
            <a:endParaRPr lang="en-US" sz="2000" dirty="0"/>
          </a:p>
        </p:txBody>
      </p:sp>
      <p:sp>
        <p:nvSpPr>
          <p:cNvPr id="27" name="Text 25"/>
          <p:cNvSpPr/>
          <p:nvPr/>
        </p:nvSpPr>
        <p:spPr>
          <a:xfrm>
            <a:off x="9592056" y="2377440"/>
            <a:ext cx="301752" cy="457200"/>
          </a:xfrm>
          <a:prstGeom prst="rect">
            <a:avLst/>
          </a:prstGeom>
          <a:noFill/>
          <a:ln/>
        </p:spPr>
        <p:txBody>
          <a:bodyPr wrap="square" lIns="0" tIns="0" rIns="0" bIns="0" rtlCol="0" anchor="ctr"/>
          <a:lstStyle/>
          <a:p>
            <a:pPr algn="ctr" indent="0" marL="0">
              <a:buNone/>
            </a:pPr>
            <a:r>
              <a:rPr lang="en-US" sz="2000" dirty="0">
                <a:solidFill>
                  <a:srgbClr val="1FA8A0"/>
                </a:solidFill>
                <a:latin typeface="Calibri" pitchFamily="34" charset="0"/>
                <a:ea typeface="Calibri" pitchFamily="34" charset="-122"/>
                <a:cs typeface="Calibri" pitchFamily="34" charset="-120"/>
              </a:rPr>
              <a:t>←</a:t>
            </a:r>
            <a:endParaRPr lang="en-US" sz="2000" dirty="0"/>
          </a:p>
        </p:txBody>
      </p:sp>
      <p:sp>
        <p:nvSpPr>
          <p:cNvPr id="28" name="Shape 26"/>
          <p:cNvSpPr/>
          <p:nvPr/>
        </p:nvSpPr>
        <p:spPr>
          <a:xfrm>
            <a:off x="640080" y="3886200"/>
            <a:ext cx="10972800" cy="1234440"/>
          </a:xfrm>
          <a:prstGeom prst="roundRect">
            <a:avLst>
              <a:gd name="adj" fmla="val 666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9" name="Text 27"/>
          <p:cNvSpPr/>
          <p:nvPr/>
        </p:nvSpPr>
        <p:spPr>
          <a:xfrm>
            <a:off x="914400" y="4069080"/>
            <a:ext cx="10424160" cy="914400"/>
          </a:xfrm>
          <a:prstGeom prst="rect">
            <a:avLst/>
          </a:prstGeom>
          <a:noFill/>
          <a:ln/>
        </p:spPr>
        <p:txBody>
          <a:bodyPr wrap="square" lIns="0" tIns="0" rIns="0" bIns="0" rtlCol="0" anchor="ctr"/>
          <a:lstStyle/>
          <a:p>
            <a:pPr indent="0" marL="0">
              <a:lnSpc>
                <a:spcPts val="1900"/>
              </a:lnSpc>
              <a:buNone/>
            </a:pPr>
            <a:r>
              <a:rPr lang="en-US" sz="1350" b="1" dirty="0">
                <a:solidFill>
                  <a:srgbClr val="0F2E3D"/>
                </a:solidFill>
                <a:latin typeface="Calibri" pitchFamily="34" charset="0"/>
                <a:ea typeface="Calibri" pitchFamily="34" charset="-122"/>
                <a:cs typeface="Calibri" pitchFamily="34" charset="-120"/>
              </a:rPr>
              <a:t>A regulator does not accept a number because a sponsor computed it. </a:t>
            </a:r>
            <a:pPr indent="0" marL="0">
              <a:lnSpc>
                <a:spcPts val="1900"/>
              </a:lnSpc>
              <a:buNone/>
            </a:pPr>
            <a:r>
              <a:rPr lang="en-US" sz="1350" dirty="0">
                <a:solidFill>
                  <a:srgbClr val="5A7682"/>
                </a:solidFill>
                <a:latin typeface="Calibri" pitchFamily="34" charset="0"/>
                <a:ea typeface="Calibri" pitchFamily="34" charset="-122"/>
                <a:cs typeface="Calibri" pitchFamily="34" charset="-120"/>
              </a:rPr>
              <a:t>They accept it because they can follow it back to a page a site completed, and recompute it at every step. Break one link — a derivation that exists only in a program, a baseline rule that lives in someone's head — and the chain fails there, however right the arithmetic was.</a:t>
            </a:r>
            <a:endParaRPr lang="en-US" sz="1350" dirty="0"/>
          </a:p>
        </p:txBody>
      </p:sp>
      <p:sp>
        <p:nvSpPr>
          <p:cNvPr id="30" name="Shape 28"/>
          <p:cNvSpPr/>
          <p:nvPr/>
        </p:nvSpPr>
        <p:spPr>
          <a:xfrm>
            <a:off x="640080" y="5303520"/>
            <a:ext cx="10972800" cy="1097280"/>
          </a:xfrm>
          <a:prstGeom prst="roundRect">
            <a:avLst>
              <a:gd name="adj" fmla="val 75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31" name="Text 29"/>
          <p:cNvSpPr/>
          <p:nvPr/>
        </p:nvSpPr>
        <p:spPr>
          <a:xfrm>
            <a:off x="914400" y="5468112"/>
            <a:ext cx="10424160" cy="868680"/>
          </a:xfrm>
          <a:prstGeom prst="rect">
            <a:avLst/>
          </a:prstGeom>
          <a:noFill/>
          <a:ln/>
        </p:spPr>
        <p:txBody>
          <a:bodyPr wrap="square" lIns="0" tIns="0" rIns="0" bIns="0" rtlCol="0" anchor="ctr"/>
          <a:lstStyle/>
          <a:p>
            <a:pPr indent="0" marL="0">
              <a:lnSpc>
                <a:spcPts val="1800"/>
              </a:lnSpc>
              <a:buNone/>
            </a:pPr>
            <a:r>
              <a:rPr lang="en-US" sz="1300" b="1" dirty="0">
                <a:solidFill>
                  <a:srgbClr val="0E7C86"/>
                </a:solidFill>
                <a:latin typeface="Calibri" pitchFamily="34" charset="0"/>
                <a:ea typeface="Calibri" pitchFamily="34" charset="-122"/>
                <a:cs typeface="Calibri" pitchFamily="34" charset="-120"/>
              </a:rPr>
              <a:t>The one deliberate exception: </a:t>
            </a:r>
            <a:pPr indent="0" marL="0">
              <a:lnSpc>
                <a:spcPts val="1800"/>
              </a:lnSpc>
              <a:buNone/>
            </a:pPr>
            <a:r>
              <a:rPr lang="en-US" sz="1300" dirty="0">
                <a:solidFill>
                  <a:srgbClr val="5A7682"/>
                </a:solidFill>
                <a:latin typeface="Calibri" pitchFamily="34" charset="0"/>
                <a:ea typeface="Calibri" pitchFamily="34" charset="-122"/>
                <a:cs typeface="Calibri" pitchFamily="34" charset="-120"/>
              </a:rPr>
              <a:t>the derived BMI parameter in ADVS has BLANK SRCDOM/SRCSEQ, because it has no single source record. Its traceability runs through define.xml's derivation text instead of through a pointer. A documented link, not a missing one — and being able to explain why is a good final question for this course.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Time-to-Event, ADaM Validation, and the Payoff</dc:title>
  <dc:subject>PptxGenJS Presentation</dc:subject>
  <dc:creator>Clinical Programming Bootcamp</dc:creator>
  <cp:lastModifiedBy>Clinical Programming Bootcamp</cp:lastModifiedBy>
  <cp:revision>1</cp:revision>
  <dcterms:created xsi:type="dcterms:W3CDTF">2026-07-26T04:23:22Z</dcterms:created>
  <dcterms:modified xsi:type="dcterms:W3CDTF">2026-07-26T04:23:22Z</dcterms:modified>
</cp:coreProperties>
</file>