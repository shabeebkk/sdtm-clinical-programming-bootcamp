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07. Findings is the third and largest general observation class. Two things make it feel harder than AE/CM/EX: the test/result paradigm, and the wide-to-tall transpose. Reassure the group that the SKELETON is the same one they already know — identifiers, topic, qualifiers, timing. What changes is that the topic is now a TEST, and the raw data arrives in the wrong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2 is where most of the class time goes. Goal 3 is the one people think they understand and don't — press on it. Goal 4 is deceptively simple to state and easy to get wrong in a real study with unscheduled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to classify a few things out loud before revealing: an ECG (Findings), a surgical procedure (Interventions), a fall (Events). The sentence test on the right is the fastest way to decide. Emphasise the scale point at the bottom — in a real oncology submission LB alone can be millions of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parallel explicitly: AETERM 'bad headache' was self-contained — the topic WAS the information. VSTESTCD 'SYSBP' tells you nothing on its own; it is a question, and VSORRES holds the answer. That split is the whole idea of the test/result paradigm, and it is what makes the transpose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of the module. Spend time here. The killer argument for tall structure is not elegance, it is reusability: FDA reviewers have standard tools that work across every submission because the shape is fixed. Point out the empty HEIGHT cell in the BASELINE raw row — height is measured once at screening. In tall form that missing value simply produces no row, which is another advantage: wide data forces you to store a blank, tall data just omits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by hand for one visit. The two arrays must be in the SAME ORDER — that pairing is the whole trick, and a mismatched pair silently labels every pulse as a temperature. The missing-value test is what stops HEIGHT generating empty rows at BASELINE and WEEK 4. Mention that PROC TRANSPOSE can also do this but the array method is clearer and easier to control when tests have different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trainee reaction is 'this is redundant'. Answer with the two cases that break the illusion: (1) unit conversion — a US site sends pounds, a European site sends kilograms, and STRESN is what makes them comparable; (2) non-numeric results — a pregnancy test is POSITIVE, which lives happily in STRESC and must be null in STRESN. Then point at the orange box: in our mock study they DO all match, so trainees must not learn the wrong lesson from the data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trainees flag everything before first dose, or flag SCREENING because it comes first. Emphasise LAST-before-treatment. In this tidy study the answer is always the BASELINE visit, which is exactly why they must learn the RULE rather than the shortcut — in real studies with unscheduled visits, repeated assessments and early dosing, the last pre-dose record is frequently NOT the visit labelled 'Baseline'. Note the flag is per subject PER TEST: 8 subjects x 5 tests =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at 3 is a deliberate teaching device in our mock data — trainees WILL ask about it, and the answer is that VISITNUM belongs to the protocol schedule, not to this dataset. Renumbering to 1,2,3 would break comparability with every other domain in the study. Also stress that VISITNUM cannot be derived by sorting dates: an early or late visit still keeps its protocol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LB is NOT harder than VS, it is different — no transpose, but more qualifiers. Reference ranges come from the LAB, not the protocol, and in a multi-lab study they differ BY LAB, which is precisely why the standardised range exists. Note LBNRIND is derived, so it must be reproducible from the range and the result — a mismatch between them is a standard validation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double duty: it teaches the NRIND derivation and it draws a professional boundary. Trainees from a clinical background often want to interpret; trainees from a coding background often want to 'fix' the inconsistency between a HIGH lab and no matching AE. Both instincts are wrong. State plainly: the investigator decides clinical significance, and if it is significant they raise an AE. Absence of an AE here is a legitimate outcome, not missing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CT lesson that sticks, because the failure mode is so ordinary: the mapping mostly works. Tell them the general rule — when a codelist exists, LOOK IT UP, every value, every time. Spot-checking is how the one exception survives to production. Also flag the 8-character limit on --TESTCD: it is why WBC and PLAT are abbreviated while ALT already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bridge into the notebooks. The 24 -&gt; 128 vs 48 -&gt; 48 contrast is the cleanest single number that captures what the transpose does. Work out 128 with them: 8 subjects x 3 visits x 5 repeated tests = 120, plus 8 height records collected once at screening = 128. If a trainee's VS comes out at 144 they flagged height at every visit; at 24 they put OUTPUT outside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into the notebook with mistake 1 ringing in their ears — it is the one that produces a plausible-looking wrong answer, which is always the most expensive kind. The right-hand column is a checklist they can run against their own output before comparing to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1FA8A0"/>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07</a:t>
            </a:r>
            <a:endParaRPr lang="en-US" sz="1400" dirty="0"/>
          </a:p>
        </p:txBody>
      </p:sp>
      <p:sp>
        <p:nvSpPr>
          <p:cNvPr id="6" name="Text 4"/>
          <p:cNvSpPr/>
          <p:nvPr/>
        </p:nvSpPr>
        <p:spPr>
          <a:xfrm>
            <a:off x="603504" y="2286000"/>
            <a:ext cx="87782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Findings</a:t>
            </a:r>
            <a:endParaRPr lang="en-US" sz="4400" dirty="0"/>
          </a:p>
        </p:txBody>
      </p:sp>
      <p:sp>
        <p:nvSpPr>
          <p:cNvPr id="7" name="Text 5"/>
          <p:cNvSpPr/>
          <p:nvPr/>
        </p:nvSpPr>
        <p:spPr>
          <a:xfrm>
            <a:off x="640080" y="3383280"/>
            <a:ext cx="8778240" cy="548640"/>
          </a:xfrm>
          <a:prstGeom prst="rect">
            <a:avLst/>
          </a:prstGeom>
          <a:noFill/>
          <a:ln/>
        </p:spPr>
        <p:txBody>
          <a:bodyPr wrap="square" lIns="0" tIns="0" rIns="0" bIns="0" rtlCol="0" anchor="ctr"/>
          <a:lstStyle/>
          <a:p>
            <a:pPr indent="0" marL="0">
              <a:buNone/>
            </a:pPr>
            <a:r>
              <a:rPr lang="en-US" sz="2400" dirty="0">
                <a:solidFill>
                  <a:srgbClr val="6FC8B4"/>
                </a:solidFill>
                <a:latin typeface="Cambria" pitchFamily="34" charset="0"/>
                <a:ea typeface="Cambria" pitchFamily="34" charset="-122"/>
                <a:cs typeface="Cambria" pitchFamily="34" charset="-120"/>
              </a:rPr>
              <a:t>VS and LB — the third observation class</a:t>
            </a:r>
            <a:endParaRPr lang="en-US" sz="2400" dirty="0"/>
          </a:p>
        </p:txBody>
      </p:sp>
      <p:sp>
        <p:nvSpPr>
          <p:cNvPr id="8" name="Text 6"/>
          <p:cNvSpPr/>
          <p:nvPr/>
        </p:nvSpPr>
        <p:spPr>
          <a:xfrm>
            <a:off x="640080" y="41148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The class that holds MEASUREMENTS. It brings the biggest structural change in the whole course: the raw data must be turned on its side.</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8FAEB8"/>
                </a:solidFill>
                <a:latin typeface="Calibri" pitchFamily="34" charset="0"/>
                <a:ea typeface="Calibri" pitchFamily="34" charset="-122"/>
                <a:cs typeface="Calibri" pitchFamily="34" charset="-120"/>
              </a:rPr>
              <a:t>Hands-on: Notebook 08 · Build VS   ·   Notebook 09 · Build LB   (SAS)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Recognise a Findings domain  </a:t>
            </a:r>
            <a:pPr indent="0" marL="0">
              <a:buNone/>
            </a:pPr>
            <a:r>
              <a:rPr lang="en-US" sz="1350" dirty="0">
                <a:solidFill>
                  <a:srgbClr val="5A7682"/>
                </a:solidFill>
                <a:latin typeface="Calibri" pitchFamily="34" charset="0"/>
                <a:ea typeface="Calibri" pitchFamily="34" charset="-122"/>
                <a:cs typeface="Calibri" pitchFamily="34" charset="-120"/>
              </a:rPr>
              <a:t>and name the topic variable that makes it one.</a:t>
            </a:r>
            <a:endParaRPr lang="en-US" sz="1600" dirty="0"/>
          </a:p>
        </p:txBody>
      </p:sp>
      <p:sp>
        <p:nvSpPr>
          <p:cNvPr id="8" name="Shape 6"/>
          <p:cNvSpPr/>
          <p:nvPr/>
        </p:nvSpPr>
        <p:spPr>
          <a:xfrm>
            <a:off x="640080" y="260604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798064"/>
            <a:ext cx="548640" cy="548640"/>
          </a:xfrm>
          <a:prstGeom prst="ellipse">
            <a:avLst/>
          </a:prstGeom>
          <a:solidFill>
            <a:srgbClr val="1FA8A0"/>
          </a:solidFill>
          <a:ln/>
        </p:spPr>
      </p:sp>
      <p:sp>
        <p:nvSpPr>
          <p:cNvPr id="10" name="Text 8"/>
          <p:cNvSpPr/>
          <p:nvPr/>
        </p:nvSpPr>
        <p:spPr>
          <a:xfrm>
            <a:off x="868680" y="279806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5234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Transpose wide raw data to tall SDTM  </a:t>
            </a:r>
            <a:pPr indent="0" marL="0">
              <a:buNone/>
            </a:pPr>
            <a:r>
              <a:rPr lang="en-US" sz="1350" dirty="0">
                <a:solidFill>
                  <a:srgbClr val="5A7682"/>
                </a:solidFill>
                <a:latin typeface="Calibri" pitchFamily="34" charset="0"/>
                <a:ea typeface="Calibri" pitchFamily="34" charset="-122"/>
                <a:cs typeface="Calibri" pitchFamily="34" charset="-120"/>
              </a:rPr>
              <a:t>the single biggest structural change you will make.</a:t>
            </a:r>
            <a:endParaRPr lang="en-US" sz="1600" dirty="0"/>
          </a:p>
        </p:txBody>
      </p:sp>
      <p:sp>
        <p:nvSpPr>
          <p:cNvPr id="12" name="Shape 10"/>
          <p:cNvSpPr/>
          <p:nvPr/>
        </p:nvSpPr>
        <p:spPr>
          <a:xfrm>
            <a:off x="640080" y="361188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03904"/>
            <a:ext cx="548640" cy="548640"/>
          </a:xfrm>
          <a:prstGeom prst="ellipse">
            <a:avLst/>
          </a:prstGeom>
          <a:solidFill>
            <a:srgbClr val="E8833A"/>
          </a:solidFill>
          <a:ln/>
        </p:spPr>
      </p:sp>
      <p:sp>
        <p:nvSpPr>
          <p:cNvPr id="14" name="Text 12"/>
          <p:cNvSpPr/>
          <p:nvPr/>
        </p:nvSpPr>
        <p:spPr>
          <a:xfrm>
            <a:off x="868680" y="3803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5818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--ORRES vs --STRESC vs --STRESN  </a:t>
            </a:r>
            <a:pPr indent="0" marL="0">
              <a:buNone/>
            </a:pPr>
            <a:r>
              <a:rPr lang="en-US" sz="1350" dirty="0">
                <a:solidFill>
                  <a:srgbClr val="5A7682"/>
                </a:solidFill>
                <a:latin typeface="Calibri" pitchFamily="34" charset="0"/>
                <a:ea typeface="Calibri" pitchFamily="34" charset="-122"/>
                <a:cs typeface="Calibri" pitchFamily="34" charset="-120"/>
              </a:rPr>
              <a:t>why one result is stored three times, and what each is for.</a:t>
            </a:r>
            <a:endParaRPr lang="en-US" sz="1600" dirty="0"/>
          </a:p>
        </p:txBody>
      </p:sp>
      <p:sp>
        <p:nvSpPr>
          <p:cNvPr id="16" name="Shape 14"/>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09744"/>
            <a:ext cx="548640" cy="548640"/>
          </a:xfrm>
          <a:prstGeom prst="ellipse">
            <a:avLst/>
          </a:prstGeom>
          <a:solidFill>
            <a:srgbClr val="0F2E3D"/>
          </a:solidFill>
          <a:ln/>
        </p:spPr>
      </p:sp>
      <p:sp>
        <p:nvSpPr>
          <p:cNvPr id="18" name="Text 16"/>
          <p:cNvSpPr/>
          <p:nvPr/>
        </p:nvSpPr>
        <p:spPr>
          <a:xfrm>
            <a:off x="868680" y="480974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76402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Derive --BLFL correctly  </a:t>
            </a:r>
            <a:pPr indent="0" marL="0">
              <a:buNone/>
            </a:pPr>
            <a:r>
              <a:rPr lang="en-US" sz="1350" dirty="0">
                <a:solidFill>
                  <a:srgbClr val="5A7682"/>
                </a:solidFill>
                <a:latin typeface="Calibri" pitchFamily="34" charset="0"/>
                <a:ea typeface="Calibri" pitchFamily="34" charset="-122"/>
                <a:cs typeface="Calibri" pitchFamily="34" charset="-120"/>
              </a:rPr>
              <a:t>the baseline flag that every efficacy and safety analysis depends on.</a:t>
            </a:r>
            <a:endParaRPr lang="en-US" sz="1600" dirty="0"/>
          </a:p>
        </p:txBody>
      </p:sp>
      <p:sp>
        <p:nvSpPr>
          <p:cNvPr id="20" name="Shape 18"/>
          <p:cNvSpPr/>
          <p:nvPr/>
        </p:nvSpPr>
        <p:spPr>
          <a:xfrm>
            <a:off x="640080" y="562356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15584"/>
            <a:ext cx="548640" cy="548640"/>
          </a:xfrm>
          <a:prstGeom prst="ellipse">
            <a:avLst/>
          </a:prstGeom>
          <a:solidFill>
            <a:srgbClr val="0E7C86"/>
          </a:solidFill>
          <a:ln/>
        </p:spPr>
      </p:sp>
      <p:sp>
        <p:nvSpPr>
          <p:cNvPr id="22" name="Text 20"/>
          <p:cNvSpPr/>
          <p:nvPr/>
        </p:nvSpPr>
        <p:spPr>
          <a:xfrm>
            <a:off x="868680" y="581558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76986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Read a reference range  </a:t>
            </a:r>
            <a:pPr indent="0" marL="0">
              <a:buNone/>
            </a:pPr>
            <a:r>
              <a:rPr lang="en-US" sz="1350" dirty="0">
                <a:solidFill>
                  <a:srgbClr val="5A7682"/>
                </a:solidFill>
                <a:latin typeface="Calibri" pitchFamily="34" charset="0"/>
                <a:ea typeface="Calibri" pitchFamily="34" charset="-122"/>
                <a:cs typeface="Calibri" pitchFamily="34" charset="-120"/>
              </a:rPr>
              <a:t>and derive --NRIND from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WHERE FINDINGS FITS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Three classes, three kinds of sentence</a:t>
            </a:r>
            <a:endParaRPr lang="en-US" sz="3000" dirty="0"/>
          </a:p>
        </p:txBody>
      </p:sp>
      <p:sp>
        <p:nvSpPr>
          <p:cNvPr id="4" name="Shape 2"/>
          <p:cNvSpPr/>
          <p:nvPr/>
        </p:nvSpPr>
        <p:spPr>
          <a:xfrm>
            <a:off x="640080" y="1645920"/>
            <a:ext cx="10972800" cy="1298448"/>
          </a:xfrm>
          <a:prstGeom prst="roundRect">
            <a:avLst>
              <a:gd name="adj" fmla="val 633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773936"/>
            <a:ext cx="2834640" cy="365760"/>
          </a:xfrm>
          <a:prstGeom prst="rect">
            <a:avLst/>
          </a:prstGeom>
          <a:noFill/>
          <a:ln/>
        </p:spPr>
        <p:txBody>
          <a:bodyPr wrap="square" lIns="0" tIns="0" rIns="0" bIns="0" rtlCol="0" anchor="ctr"/>
          <a:lstStyle/>
          <a:p>
            <a:pPr indent="0" marL="0">
              <a:buNone/>
            </a:pPr>
            <a:r>
              <a:rPr lang="en-US" sz="1800" b="1" dirty="0">
                <a:solidFill>
                  <a:srgbClr val="0E7C86"/>
                </a:solidFill>
                <a:latin typeface="Cambria" pitchFamily="34" charset="0"/>
                <a:ea typeface="Cambria" pitchFamily="34" charset="-122"/>
                <a:cs typeface="Cambria" pitchFamily="34" charset="-120"/>
              </a:rPr>
              <a:t>INTERVENTIONS</a:t>
            </a:r>
            <a:endParaRPr lang="en-US" sz="1800" dirty="0"/>
          </a:p>
        </p:txBody>
      </p:sp>
      <p:sp>
        <p:nvSpPr>
          <p:cNvPr id="6" name="Text 4"/>
          <p:cNvSpPr/>
          <p:nvPr/>
        </p:nvSpPr>
        <p:spPr>
          <a:xfrm>
            <a:off x="914400" y="2157984"/>
            <a:ext cx="283464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was GIVEN</a:t>
            </a:r>
            <a:endParaRPr lang="en-US" sz="1250" dirty="0"/>
          </a:p>
        </p:txBody>
      </p:sp>
      <p:sp>
        <p:nvSpPr>
          <p:cNvPr id="7" name="Text 5"/>
          <p:cNvSpPr/>
          <p:nvPr/>
        </p:nvSpPr>
        <p:spPr>
          <a:xfrm>
            <a:off x="3794760" y="1828800"/>
            <a:ext cx="2286000" cy="36576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--TRT</a:t>
            </a:r>
            <a:endParaRPr lang="en-US" sz="1300" dirty="0"/>
          </a:p>
        </p:txBody>
      </p:sp>
      <p:sp>
        <p:nvSpPr>
          <p:cNvPr id="8" name="Text 6"/>
          <p:cNvSpPr/>
          <p:nvPr/>
        </p:nvSpPr>
        <p:spPr>
          <a:xfrm>
            <a:off x="3794760" y="2176272"/>
            <a:ext cx="2286000" cy="274320"/>
          </a:xfrm>
          <a:prstGeom prst="rect">
            <a:avLst/>
          </a:prstGeom>
          <a:noFill/>
          <a:ln/>
        </p:spPr>
        <p:txBody>
          <a:bodyPr wrap="square" lIns="0" tIns="0" rIns="0" bIns="0" rtlCol="0" anchor="ctr"/>
          <a:lstStyle/>
          <a:p>
            <a:pPr indent="0" marL="0">
              <a:buNone/>
            </a:pPr>
            <a:r>
              <a:rPr lang="en-US" sz="1050" dirty="0">
                <a:solidFill>
                  <a:srgbClr val="5A7682"/>
                </a:solidFill>
                <a:latin typeface="Calibri" pitchFamily="34" charset="0"/>
                <a:ea typeface="Calibri" pitchFamily="34" charset="-122"/>
                <a:cs typeface="Calibri" pitchFamily="34" charset="-120"/>
              </a:rPr>
              <a:t>topic variable</a:t>
            </a:r>
            <a:endParaRPr lang="en-US" sz="1050" dirty="0"/>
          </a:p>
        </p:txBody>
      </p:sp>
      <p:sp>
        <p:nvSpPr>
          <p:cNvPr id="9" name="Text 7"/>
          <p:cNvSpPr/>
          <p:nvPr/>
        </p:nvSpPr>
        <p:spPr>
          <a:xfrm>
            <a:off x="6126480" y="1828800"/>
            <a:ext cx="1828800" cy="36576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EX · CM · PR</a:t>
            </a:r>
            <a:endParaRPr lang="en-US" sz="1250" dirty="0"/>
          </a:p>
        </p:txBody>
      </p:sp>
      <p:sp>
        <p:nvSpPr>
          <p:cNvPr id="10" name="Text 8"/>
          <p:cNvSpPr/>
          <p:nvPr/>
        </p:nvSpPr>
        <p:spPr>
          <a:xfrm>
            <a:off x="8046720" y="1810512"/>
            <a:ext cx="3429000" cy="914400"/>
          </a:xfrm>
          <a:prstGeom prst="rect">
            <a:avLst/>
          </a:prstGeom>
          <a:noFill/>
          <a:ln/>
        </p:spPr>
        <p:txBody>
          <a:bodyPr wrap="square" lIns="0" tIns="0" rIns="0" bIns="0" rtlCol="0" anchor="ctr"/>
          <a:lstStyle/>
          <a:p>
            <a:pPr indent="0" marL="0">
              <a:buNone/>
            </a:pPr>
            <a:r>
              <a:rPr lang="en-US" sz="1150" i="1" dirty="0">
                <a:solidFill>
                  <a:srgbClr val="5A7682"/>
                </a:solidFill>
                <a:latin typeface="Calibri" pitchFamily="34" charset="0"/>
                <a:ea typeface="Calibri" pitchFamily="34" charset="-122"/>
                <a:cs typeface="Calibri" pitchFamily="34" charset="-120"/>
              </a:rPr>
              <a:t>“Subject 001 was given Drug A, 50 mg, orally, once daily.”</a:t>
            </a:r>
            <a:endParaRPr lang="en-US" sz="1150" dirty="0"/>
          </a:p>
        </p:txBody>
      </p:sp>
      <p:sp>
        <p:nvSpPr>
          <p:cNvPr id="11" name="Shape 9"/>
          <p:cNvSpPr/>
          <p:nvPr/>
        </p:nvSpPr>
        <p:spPr>
          <a:xfrm>
            <a:off x="640080" y="3063240"/>
            <a:ext cx="10972800" cy="1298448"/>
          </a:xfrm>
          <a:prstGeom prst="roundRect">
            <a:avLst>
              <a:gd name="adj" fmla="val 633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914400" y="3191256"/>
            <a:ext cx="2834640" cy="365760"/>
          </a:xfrm>
          <a:prstGeom prst="rect">
            <a:avLst/>
          </a:prstGeom>
          <a:noFill/>
          <a:ln/>
        </p:spPr>
        <p:txBody>
          <a:bodyPr wrap="square" lIns="0" tIns="0" rIns="0" bIns="0" rtlCol="0" anchor="ctr"/>
          <a:lstStyle/>
          <a:p>
            <a:pPr indent="0" marL="0">
              <a:buNone/>
            </a:pPr>
            <a:r>
              <a:rPr lang="en-US" sz="1800" b="1" dirty="0">
                <a:solidFill>
                  <a:srgbClr val="B5651A"/>
                </a:solidFill>
                <a:latin typeface="Cambria" pitchFamily="34" charset="0"/>
                <a:ea typeface="Cambria" pitchFamily="34" charset="-122"/>
                <a:cs typeface="Cambria" pitchFamily="34" charset="-120"/>
              </a:rPr>
              <a:t>EVENTS</a:t>
            </a:r>
            <a:endParaRPr lang="en-US" sz="1800" dirty="0"/>
          </a:p>
        </p:txBody>
      </p:sp>
      <p:sp>
        <p:nvSpPr>
          <p:cNvPr id="13" name="Text 11"/>
          <p:cNvSpPr/>
          <p:nvPr/>
        </p:nvSpPr>
        <p:spPr>
          <a:xfrm>
            <a:off x="914400" y="3575304"/>
            <a:ext cx="283464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HAPPENED</a:t>
            </a:r>
            <a:endParaRPr lang="en-US" sz="1250" dirty="0"/>
          </a:p>
        </p:txBody>
      </p:sp>
      <p:sp>
        <p:nvSpPr>
          <p:cNvPr id="14" name="Text 12"/>
          <p:cNvSpPr/>
          <p:nvPr/>
        </p:nvSpPr>
        <p:spPr>
          <a:xfrm>
            <a:off x="3794760" y="3246120"/>
            <a:ext cx="2286000" cy="36576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--TERM</a:t>
            </a:r>
            <a:endParaRPr lang="en-US" sz="1300" dirty="0"/>
          </a:p>
        </p:txBody>
      </p:sp>
      <p:sp>
        <p:nvSpPr>
          <p:cNvPr id="15" name="Text 13"/>
          <p:cNvSpPr/>
          <p:nvPr/>
        </p:nvSpPr>
        <p:spPr>
          <a:xfrm>
            <a:off x="3794760" y="3593592"/>
            <a:ext cx="2286000" cy="274320"/>
          </a:xfrm>
          <a:prstGeom prst="rect">
            <a:avLst/>
          </a:prstGeom>
          <a:noFill/>
          <a:ln/>
        </p:spPr>
        <p:txBody>
          <a:bodyPr wrap="square" lIns="0" tIns="0" rIns="0" bIns="0" rtlCol="0" anchor="ctr"/>
          <a:lstStyle/>
          <a:p>
            <a:pPr indent="0" marL="0">
              <a:buNone/>
            </a:pPr>
            <a:r>
              <a:rPr lang="en-US" sz="1050" dirty="0">
                <a:solidFill>
                  <a:srgbClr val="5A7682"/>
                </a:solidFill>
                <a:latin typeface="Calibri" pitchFamily="34" charset="0"/>
                <a:ea typeface="Calibri" pitchFamily="34" charset="-122"/>
                <a:cs typeface="Calibri" pitchFamily="34" charset="-120"/>
              </a:rPr>
              <a:t>topic variable</a:t>
            </a:r>
            <a:endParaRPr lang="en-US" sz="1050" dirty="0"/>
          </a:p>
        </p:txBody>
      </p:sp>
      <p:sp>
        <p:nvSpPr>
          <p:cNvPr id="16" name="Text 14"/>
          <p:cNvSpPr/>
          <p:nvPr/>
        </p:nvSpPr>
        <p:spPr>
          <a:xfrm>
            <a:off x="6126480" y="3246120"/>
            <a:ext cx="1828800" cy="36576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AE · MH · DS</a:t>
            </a:r>
            <a:endParaRPr lang="en-US" sz="1250" dirty="0"/>
          </a:p>
        </p:txBody>
      </p:sp>
      <p:sp>
        <p:nvSpPr>
          <p:cNvPr id="17" name="Text 15"/>
          <p:cNvSpPr/>
          <p:nvPr/>
        </p:nvSpPr>
        <p:spPr>
          <a:xfrm>
            <a:off x="8046720" y="3227832"/>
            <a:ext cx="3429000" cy="914400"/>
          </a:xfrm>
          <a:prstGeom prst="rect">
            <a:avLst/>
          </a:prstGeom>
          <a:noFill/>
          <a:ln/>
        </p:spPr>
        <p:txBody>
          <a:bodyPr wrap="square" lIns="0" tIns="0" rIns="0" bIns="0" rtlCol="0" anchor="ctr"/>
          <a:lstStyle/>
          <a:p>
            <a:pPr indent="0" marL="0">
              <a:buNone/>
            </a:pPr>
            <a:r>
              <a:rPr lang="en-US" sz="1150" i="1" dirty="0">
                <a:solidFill>
                  <a:srgbClr val="5A7682"/>
                </a:solidFill>
                <a:latin typeface="Calibri" pitchFamily="34" charset="0"/>
                <a:ea typeface="Calibri" pitchFamily="34" charset="-122"/>
                <a:cs typeface="Calibri" pitchFamily="34" charset="-120"/>
              </a:rPr>
              <a:t>“Subject 001 had a bad headache on 15 March.”</a:t>
            </a:r>
            <a:endParaRPr lang="en-US" sz="1150" dirty="0"/>
          </a:p>
        </p:txBody>
      </p:sp>
      <p:sp>
        <p:nvSpPr>
          <p:cNvPr id="18" name="Shape 16"/>
          <p:cNvSpPr/>
          <p:nvPr/>
        </p:nvSpPr>
        <p:spPr>
          <a:xfrm>
            <a:off x="640080" y="4480560"/>
            <a:ext cx="10972800" cy="1298448"/>
          </a:xfrm>
          <a:prstGeom prst="roundRect">
            <a:avLst>
              <a:gd name="adj" fmla="val 6338"/>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7"/>
          <p:cNvSpPr/>
          <p:nvPr/>
        </p:nvSpPr>
        <p:spPr>
          <a:xfrm>
            <a:off x="640080" y="4480560"/>
            <a:ext cx="82296" cy="1298448"/>
          </a:xfrm>
          <a:prstGeom prst="rect">
            <a:avLst/>
          </a:prstGeom>
          <a:solidFill>
            <a:srgbClr val="1FA8A0"/>
          </a:solidFill>
          <a:ln/>
        </p:spPr>
      </p:sp>
      <p:sp>
        <p:nvSpPr>
          <p:cNvPr id="20" name="Text 18"/>
          <p:cNvSpPr/>
          <p:nvPr/>
        </p:nvSpPr>
        <p:spPr>
          <a:xfrm>
            <a:off x="914400" y="4608576"/>
            <a:ext cx="2834640" cy="365760"/>
          </a:xfrm>
          <a:prstGeom prst="rect">
            <a:avLst/>
          </a:prstGeom>
          <a:noFill/>
          <a:ln/>
        </p:spPr>
        <p:txBody>
          <a:bodyPr wrap="square" lIns="0" tIns="0" rIns="0" bIns="0" rtlCol="0" anchor="ctr"/>
          <a:lstStyle/>
          <a:p>
            <a:pPr indent="0" marL="0">
              <a:buNone/>
            </a:pPr>
            <a:r>
              <a:rPr lang="en-US" sz="1800" b="1" dirty="0">
                <a:solidFill>
                  <a:srgbClr val="1FA8A0"/>
                </a:solidFill>
                <a:latin typeface="Cambria" pitchFamily="34" charset="0"/>
                <a:ea typeface="Cambria" pitchFamily="34" charset="-122"/>
                <a:cs typeface="Cambria" pitchFamily="34" charset="-120"/>
              </a:rPr>
              <a:t>FINDINGS</a:t>
            </a:r>
            <a:endParaRPr lang="en-US" sz="1800" dirty="0"/>
          </a:p>
        </p:txBody>
      </p:sp>
      <p:sp>
        <p:nvSpPr>
          <p:cNvPr id="21" name="Text 19"/>
          <p:cNvSpPr/>
          <p:nvPr/>
        </p:nvSpPr>
        <p:spPr>
          <a:xfrm>
            <a:off x="914400" y="4992624"/>
            <a:ext cx="283464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was MEASURED</a:t>
            </a:r>
            <a:endParaRPr lang="en-US" sz="1250" dirty="0"/>
          </a:p>
        </p:txBody>
      </p:sp>
      <p:sp>
        <p:nvSpPr>
          <p:cNvPr id="22" name="Text 20"/>
          <p:cNvSpPr/>
          <p:nvPr/>
        </p:nvSpPr>
        <p:spPr>
          <a:xfrm>
            <a:off x="3794760" y="4663440"/>
            <a:ext cx="2286000" cy="36576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--TESTCD / --TEST</a:t>
            </a:r>
            <a:endParaRPr lang="en-US" sz="1300" dirty="0"/>
          </a:p>
        </p:txBody>
      </p:sp>
      <p:sp>
        <p:nvSpPr>
          <p:cNvPr id="23" name="Text 21"/>
          <p:cNvSpPr/>
          <p:nvPr/>
        </p:nvSpPr>
        <p:spPr>
          <a:xfrm>
            <a:off x="3794760" y="5010912"/>
            <a:ext cx="2286000" cy="274320"/>
          </a:xfrm>
          <a:prstGeom prst="rect">
            <a:avLst/>
          </a:prstGeom>
          <a:noFill/>
          <a:ln/>
        </p:spPr>
        <p:txBody>
          <a:bodyPr wrap="square" lIns="0" tIns="0" rIns="0" bIns="0" rtlCol="0" anchor="ctr"/>
          <a:lstStyle/>
          <a:p>
            <a:pPr indent="0" marL="0">
              <a:buNone/>
            </a:pPr>
            <a:r>
              <a:rPr lang="en-US" sz="1050" dirty="0">
                <a:solidFill>
                  <a:srgbClr val="5A7682"/>
                </a:solidFill>
                <a:latin typeface="Calibri" pitchFamily="34" charset="0"/>
                <a:ea typeface="Calibri" pitchFamily="34" charset="-122"/>
                <a:cs typeface="Calibri" pitchFamily="34" charset="-120"/>
              </a:rPr>
              <a:t>topic variable</a:t>
            </a:r>
            <a:endParaRPr lang="en-US" sz="1050" dirty="0"/>
          </a:p>
        </p:txBody>
      </p:sp>
      <p:sp>
        <p:nvSpPr>
          <p:cNvPr id="24" name="Text 22"/>
          <p:cNvSpPr/>
          <p:nvPr/>
        </p:nvSpPr>
        <p:spPr>
          <a:xfrm>
            <a:off x="6126480" y="4663440"/>
            <a:ext cx="1828800" cy="365760"/>
          </a:xfrm>
          <a:prstGeom prst="rect">
            <a:avLst/>
          </a:prstGeom>
          <a:noFill/>
          <a:ln/>
        </p:spPr>
        <p:txBody>
          <a:bodyPr wrap="square" lIns="0" tIns="0" rIns="0" bIns="0" rtlCol="0" anchor="ctr"/>
          <a:lstStyle/>
          <a:p>
            <a:pPr indent="0" marL="0">
              <a:buNone/>
            </a:pPr>
            <a:r>
              <a:rPr lang="en-US" sz="1250" dirty="0">
                <a:solidFill>
                  <a:srgbClr val="0F2E3D"/>
                </a:solidFill>
                <a:latin typeface="Courier New" pitchFamily="34" charset="0"/>
                <a:ea typeface="Courier New" pitchFamily="34" charset="-122"/>
                <a:cs typeface="Courier New" pitchFamily="34" charset="-120"/>
              </a:rPr>
              <a:t>VS · LB · EG · PE</a:t>
            </a:r>
            <a:endParaRPr lang="en-US" sz="1250" dirty="0"/>
          </a:p>
        </p:txBody>
      </p:sp>
      <p:sp>
        <p:nvSpPr>
          <p:cNvPr id="25" name="Text 23"/>
          <p:cNvSpPr/>
          <p:nvPr/>
        </p:nvSpPr>
        <p:spPr>
          <a:xfrm>
            <a:off x="8046720" y="4645152"/>
            <a:ext cx="3429000" cy="914400"/>
          </a:xfrm>
          <a:prstGeom prst="rect">
            <a:avLst/>
          </a:prstGeom>
          <a:noFill/>
          <a:ln/>
        </p:spPr>
        <p:txBody>
          <a:bodyPr wrap="square" lIns="0" tIns="0" rIns="0" bIns="0" rtlCol="0" anchor="ctr"/>
          <a:lstStyle/>
          <a:p>
            <a:pPr indent="0" marL="0">
              <a:buNone/>
            </a:pPr>
            <a:r>
              <a:rPr lang="en-US" sz="1150" i="1" dirty="0">
                <a:solidFill>
                  <a:srgbClr val="0F2E3D"/>
                </a:solidFill>
                <a:latin typeface="Calibri" pitchFamily="34" charset="0"/>
                <a:ea typeface="Calibri" pitchFamily="34" charset="-122"/>
                <a:cs typeface="Calibri" pitchFamily="34" charset="-120"/>
              </a:rPr>
              <a:t>“Subject 001’s systolic blood pressure was 120 mmHg at Baseline.”</a:t>
            </a:r>
            <a:endParaRPr lang="en-US" sz="1150" dirty="0"/>
          </a:p>
        </p:txBody>
      </p:sp>
      <p:sp>
        <p:nvSpPr>
          <p:cNvPr id="26" name="Text 24"/>
          <p:cNvSpPr/>
          <p:nvPr/>
        </p:nvSpPr>
        <p:spPr>
          <a:xfrm>
            <a:off x="640080" y="5943600"/>
            <a:ext cx="10972800" cy="457200"/>
          </a:xfrm>
          <a:prstGeom prst="rect">
            <a:avLst/>
          </a:prstGeom>
          <a:noFill/>
          <a:ln/>
        </p:spPr>
        <p:txBody>
          <a:bodyPr wrap="square" lIns="0" tIns="0" rIns="0" bIns="0" rtlCol="0" anchor="ctr"/>
          <a:lstStyle/>
          <a:p>
            <a:pPr indent="0" marL="0">
              <a:buNone/>
            </a:pPr>
            <a:r>
              <a:rPr lang="en-US" sz="1350" i="1" dirty="0">
                <a:solidFill>
                  <a:srgbClr val="0E7C86"/>
                </a:solidFill>
                <a:latin typeface="Calibri" pitchFamily="34" charset="0"/>
                <a:ea typeface="Calibri" pitchFamily="34" charset="-122"/>
                <a:cs typeface="Calibri" pitchFamily="34" charset="-120"/>
              </a:rPr>
              <a:t>Findings is by far the LARGEST class — most SDTM domains, and most rows in a typical submission, are Findings.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PATTERN</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Same skeleton you already know — one part changes</a:t>
            </a:r>
            <a:endParaRPr lang="en-US" sz="3000" dirty="0"/>
          </a:p>
        </p:txBody>
      </p:sp>
      <p:sp>
        <p:nvSpPr>
          <p:cNvPr id="4" name="Shape 2"/>
          <p:cNvSpPr/>
          <p:nvPr/>
        </p:nvSpPr>
        <p:spPr>
          <a:xfrm>
            <a:off x="640080" y="1828800"/>
            <a:ext cx="10972800" cy="786384"/>
          </a:xfrm>
          <a:prstGeom prst="roundRect">
            <a:avLst>
              <a:gd name="adj" fmla="val 9302"/>
            </a:avLst>
          </a:prstGeom>
          <a:solidFill>
            <a:srgbClr val="163B4B"/>
          </a:solidFill>
          <a:ln w="12700">
            <a:solidFill>
              <a:srgbClr val="0E7C86"/>
            </a:solidFill>
            <a:prstDash val="solid"/>
          </a:ln>
        </p:spPr>
      </p:sp>
      <p:sp>
        <p:nvSpPr>
          <p:cNvPr id="5" name="Text 3"/>
          <p:cNvSpPr/>
          <p:nvPr/>
        </p:nvSpPr>
        <p:spPr>
          <a:xfrm>
            <a:off x="914400" y="1920240"/>
            <a:ext cx="2468880" cy="32004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IDENTIFIERS</a:t>
            </a:r>
            <a:endParaRPr lang="en-US" sz="1500" dirty="0"/>
          </a:p>
        </p:txBody>
      </p:sp>
      <p:sp>
        <p:nvSpPr>
          <p:cNvPr id="6" name="Text 4"/>
          <p:cNvSpPr/>
          <p:nvPr/>
        </p:nvSpPr>
        <p:spPr>
          <a:xfrm>
            <a:off x="914400" y="2249424"/>
            <a:ext cx="3017520" cy="27432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Who and which record</a:t>
            </a:r>
            <a:endParaRPr lang="en-US" sz="1150" dirty="0"/>
          </a:p>
        </p:txBody>
      </p:sp>
      <p:sp>
        <p:nvSpPr>
          <p:cNvPr id="7" name="Text 5"/>
          <p:cNvSpPr/>
          <p:nvPr/>
        </p:nvSpPr>
        <p:spPr>
          <a:xfrm>
            <a:off x="4114800" y="2029968"/>
            <a:ext cx="7315200"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STUDYID · DOMAIN · USUBJID · VSSEQ</a:t>
            </a:r>
            <a:endParaRPr lang="en-US" sz="1300" dirty="0"/>
          </a:p>
        </p:txBody>
      </p:sp>
      <p:sp>
        <p:nvSpPr>
          <p:cNvPr id="8" name="Shape 6"/>
          <p:cNvSpPr/>
          <p:nvPr/>
        </p:nvSpPr>
        <p:spPr>
          <a:xfrm>
            <a:off x="640080" y="2706624"/>
            <a:ext cx="10972800" cy="786384"/>
          </a:xfrm>
          <a:prstGeom prst="roundRect">
            <a:avLst>
              <a:gd name="adj" fmla="val 9302"/>
            </a:avLst>
          </a:prstGeom>
          <a:solidFill>
            <a:srgbClr val="1A4152"/>
          </a:solidFill>
          <a:ln w="25400">
            <a:solidFill>
              <a:srgbClr val="E8833A"/>
            </a:solidFill>
            <a:prstDash val="solid"/>
          </a:ln>
        </p:spPr>
      </p:sp>
      <p:sp>
        <p:nvSpPr>
          <p:cNvPr id="9" name="Text 7"/>
          <p:cNvSpPr/>
          <p:nvPr/>
        </p:nvSpPr>
        <p:spPr>
          <a:xfrm>
            <a:off x="914400" y="2798064"/>
            <a:ext cx="2468880" cy="320040"/>
          </a:xfrm>
          <a:prstGeom prst="rect">
            <a:avLst/>
          </a:prstGeom>
          <a:noFill/>
          <a:ln/>
        </p:spPr>
        <p:txBody>
          <a:bodyPr wrap="square" lIns="0" tIns="0" rIns="0" bIns="0" rtlCol="0" anchor="ctr"/>
          <a:lstStyle/>
          <a:p>
            <a:pPr indent="0" marL="0">
              <a:buNone/>
            </a:pPr>
            <a:r>
              <a:rPr lang="en-US" sz="1500" b="1" dirty="0">
                <a:solidFill>
                  <a:srgbClr val="E8833A"/>
                </a:solidFill>
                <a:latin typeface="Cambria" pitchFamily="34" charset="0"/>
                <a:ea typeface="Cambria" pitchFamily="34" charset="-122"/>
                <a:cs typeface="Cambria" pitchFamily="34" charset="-120"/>
              </a:rPr>
              <a:t>TOPIC</a:t>
            </a:r>
            <a:endParaRPr lang="en-US" sz="1500" dirty="0"/>
          </a:p>
        </p:txBody>
      </p:sp>
      <p:sp>
        <p:nvSpPr>
          <p:cNvPr id="10" name="Text 8"/>
          <p:cNvSpPr/>
          <p:nvPr/>
        </p:nvSpPr>
        <p:spPr>
          <a:xfrm>
            <a:off x="914400" y="3127248"/>
            <a:ext cx="3017520" cy="27432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WHICH TEST was performed</a:t>
            </a:r>
            <a:endParaRPr lang="en-US" sz="1150" dirty="0"/>
          </a:p>
        </p:txBody>
      </p:sp>
      <p:sp>
        <p:nvSpPr>
          <p:cNvPr id="11" name="Text 9"/>
          <p:cNvSpPr/>
          <p:nvPr/>
        </p:nvSpPr>
        <p:spPr>
          <a:xfrm>
            <a:off x="4114800" y="2907792"/>
            <a:ext cx="7315200"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VSTESTCD · VSTEST</a:t>
            </a:r>
            <a:endParaRPr lang="en-US" sz="1300" dirty="0"/>
          </a:p>
        </p:txBody>
      </p:sp>
      <p:sp>
        <p:nvSpPr>
          <p:cNvPr id="12" name="Shape 10"/>
          <p:cNvSpPr/>
          <p:nvPr/>
        </p:nvSpPr>
        <p:spPr>
          <a:xfrm>
            <a:off x="640080" y="3584448"/>
            <a:ext cx="10972800" cy="786384"/>
          </a:xfrm>
          <a:prstGeom prst="roundRect">
            <a:avLst>
              <a:gd name="adj" fmla="val 9302"/>
            </a:avLst>
          </a:prstGeom>
          <a:solidFill>
            <a:srgbClr val="1A4152"/>
          </a:solidFill>
          <a:ln w="25400">
            <a:solidFill>
              <a:srgbClr val="C0455B"/>
            </a:solidFill>
            <a:prstDash val="solid"/>
          </a:ln>
        </p:spPr>
      </p:sp>
      <p:sp>
        <p:nvSpPr>
          <p:cNvPr id="13" name="Text 11"/>
          <p:cNvSpPr/>
          <p:nvPr/>
        </p:nvSpPr>
        <p:spPr>
          <a:xfrm>
            <a:off x="914400" y="3675888"/>
            <a:ext cx="2468880" cy="320040"/>
          </a:xfrm>
          <a:prstGeom prst="rect">
            <a:avLst/>
          </a:prstGeom>
          <a:noFill/>
          <a:ln/>
        </p:spPr>
        <p:txBody>
          <a:bodyPr wrap="square" lIns="0" tIns="0" rIns="0" bIns="0" rtlCol="0" anchor="ctr"/>
          <a:lstStyle/>
          <a:p>
            <a:pPr indent="0" marL="0">
              <a:buNone/>
            </a:pPr>
            <a:r>
              <a:rPr lang="en-US" sz="1500" b="1" dirty="0">
                <a:solidFill>
                  <a:srgbClr val="C0455B"/>
                </a:solidFill>
                <a:latin typeface="Cambria" pitchFamily="34" charset="0"/>
                <a:ea typeface="Cambria" pitchFamily="34" charset="-122"/>
                <a:cs typeface="Cambria" pitchFamily="34" charset="-120"/>
              </a:rPr>
              <a:t>RESULT</a:t>
            </a:r>
            <a:endParaRPr lang="en-US" sz="1500" dirty="0"/>
          </a:p>
        </p:txBody>
      </p:sp>
      <p:sp>
        <p:nvSpPr>
          <p:cNvPr id="14" name="Text 12"/>
          <p:cNvSpPr/>
          <p:nvPr/>
        </p:nvSpPr>
        <p:spPr>
          <a:xfrm>
            <a:off x="914400" y="4005072"/>
            <a:ext cx="3017520" cy="27432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WHAT THE TEST RETURNED</a:t>
            </a:r>
            <a:endParaRPr lang="en-US" sz="1150" dirty="0"/>
          </a:p>
        </p:txBody>
      </p:sp>
      <p:sp>
        <p:nvSpPr>
          <p:cNvPr id="15" name="Text 13"/>
          <p:cNvSpPr/>
          <p:nvPr/>
        </p:nvSpPr>
        <p:spPr>
          <a:xfrm>
            <a:off x="4114800" y="3785616"/>
            <a:ext cx="7315200"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VSORRES · VSSTRESC · VSSTRESN · VSORRESU</a:t>
            </a:r>
            <a:endParaRPr lang="en-US" sz="1300" dirty="0"/>
          </a:p>
        </p:txBody>
      </p:sp>
      <p:sp>
        <p:nvSpPr>
          <p:cNvPr id="16" name="Shape 14"/>
          <p:cNvSpPr/>
          <p:nvPr/>
        </p:nvSpPr>
        <p:spPr>
          <a:xfrm>
            <a:off x="640080" y="4462272"/>
            <a:ext cx="10972800" cy="786384"/>
          </a:xfrm>
          <a:prstGeom prst="roundRect">
            <a:avLst>
              <a:gd name="adj" fmla="val 9302"/>
            </a:avLst>
          </a:prstGeom>
          <a:solidFill>
            <a:srgbClr val="163B4B"/>
          </a:solidFill>
          <a:ln w="12700">
            <a:solidFill>
              <a:srgbClr val="6FC8B4"/>
            </a:solidFill>
            <a:prstDash val="solid"/>
          </a:ln>
        </p:spPr>
      </p:sp>
      <p:sp>
        <p:nvSpPr>
          <p:cNvPr id="17" name="Text 15"/>
          <p:cNvSpPr/>
          <p:nvPr/>
        </p:nvSpPr>
        <p:spPr>
          <a:xfrm>
            <a:off x="914400" y="4553712"/>
            <a:ext cx="2468880" cy="32004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QUALIFIERS</a:t>
            </a:r>
            <a:endParaRPr lang="en-US" sz="1500" dirty="0"/>
          </a:p>
        </p:txBody>
      </p:sp>
      <p:sp>
        <p:nvSpPr>
          <p:cNvPr id="18" name="Text 16"/>
          <p:cNvSpPr/>
          <p:nvPr/>
        </p:nvSpPr>
        <p:spPr>
          <a:xfrm>
            <a:off x="914400" y="4882896"/>
            <a:ext cx="3017520" cy="27432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Everything else describing it</a:t>
            </a:r>
            <a:endParaRPr lang="en-US" sz="1150" dirty="0"/>
          </a:p>
        </p:txBody>
      </p:sp>
      <p:sp>
        <p:nvSpPr>
          <p:cNvPr id="19" name="Text 17"/>
          <p:cNvSpPr/>
          <p:nvPr/>
        </p:nvSpPr>
        <p:spPr>
          <a:xfrm>
            <a:off x="4114800" y="4663440"/>
            <a:ext cx="7315200"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VSBLFL · VSPOS · LBNRIND · LBCAT</a:t>
            </a:r>
            <a:endParaRPr lang="en-US" sz="1300" dirty="0"/>
          </a:p>
        </p:txBody>
      </p:sp>
      <p:sp>
        <p:nvSpPr>
          <p:cNvPr id="20" name="Shape 18"/>
          <p:cNvSpPr/>
          <p:nvPr/>
        </p:nvSpPr>
        <p:spPr>
          <a:xfrm>
            <a:off x="640080" y="5340096"/>
            <a:ext cx="10972800" cy="786384"/>
          </a:xfrm>
          <a:prstGeom prst="roundRect">
            <a:avLst>
              <a:gd name="adj" fmla="val 9302"/>
            </a:avLst>
          </a:prstGeom>
          <a:solidFill>
            <a:srgbClr val="163B4B"/>
          </a:solidFill>
          <a:ln w="12700">
            <a:solidFill>
              <a:srgbClr val="1FA8A0"/>
            </a:solidFill>
            <a:prstDash val="solid"/>
          </a:ln>
        </p:spPr>
      </p:sp>
      <p:sp>
        <p:nvSpPr>
          <p:cNvPr id="21" name="Text 19"/>
          <p:cNvSpPr/>
          <p:nvPr/>
        </p:nvSpPr>
        <p:spPr>
          <a:xfrm>
            <a:off x="914400" y="5431536"/>
            <a:ext cx="2468880" cy="320040"/>
          </a:xfrm>
          <a:prstGeom prst="rect">
            <a:avLst/>
          </a:prstGeom>
          <a:noFill/>
          <a:ln/>
        </p:spPr>
        <p:txBody>
          <a:bodyPr wrap="square" lIns="0" tIns="0" rIns="0" bIns="0" rtlCol="0" anchor="ctr"/>
          <a:lstStyle/>
          <a:p>
            <a:pPr indent="0" marL="0">
              <a:buNone/>
            </a:pPr>
            <a:r>
              <a:rPr lang="en-US" sz="1500" b="1" dirty="0">
                <a:solidFill>
                  <a:srgbClr val="1FA8A0"/>
                </a:solidFill>
                <a:latin typeface="Cambria" pitchFamily="34" charset="0"/>
                <a:ea typeface="Cambria" pitchFamily="34" charset="-122"/>
                <a:cs typeface="Cambria" pitchFamily="34" charset="-120"/>
              </a:rPr>
              <a:t>TIMING</a:t>
            </a:r>
            <a:endParaRPr lang="en-US" sz="1500" dirty="0"/>
          </a:p>
        </p:txBody>
      </p:sp>
      <p:sp>
        <p:nvSpPr>
          <p:cNvPr id="22" name="Text 20"/>
          <p:cNvSpPr/>
          <p:nvPr/>
        </p:nvSpPr>
        <p:spPr>
          <a:xfrm>
            <a:off x="914400" y="5760720"/>
            <a:ext cx="3017520" cy="27432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When it was measured</a:t>
            </a:r>
            <a:endParaRPr lang="en-US" sz="1150" dirty="0"/>
          </a:p>
        </p:txBody>
      </p:sp>
      <p:sp>
        <p:nvSpPr>
          <p:cNvPr id="23" name="Text 21"/>
          <p:cNvSpPr/>
          <p:nvPr/>
        </p:nvSpPr>
        <p:spPr>
          <a:xfrm>
            <a:off x="4114800" y="5541264"/>
            <a:ext cx="7315200"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VISITNUM · VISIT · VSDTC · VSDY</a:t>
            </a:r>
            <a:endParaRPr lang="en-US" sz="1300" dirty="0"/>
          </a:p>
        </p:txBody>
      </p:sp>
      <p:sp>
        <p:nvSpPr>
          <p:cNvPr id="24" name="Text 22"/>
          <p:cNvSpPr/>
          <p:nvPr/>
        </p:nvSpPr>
        <p:spPr>
          <a:xfrm>
            <a:off x="640080" y="6172200"/>
            <a:ext cx="10972800" cy="502920"/>
          </a:xfrm>
          <a:prstGeom prst="rect">
            <a:avLst/>
          </a:prstGeom>
          <a:noFill/>
          <a:ln/>
        </p:spPr>
        <p:txBody>
          <a:bodyPr wrap="square" lIns="0" tIns="0" rIns="0" bIns="0" rtlCol="0" anchor="ctr"/>
          <a:lstStyle/>
          <a:p>
            <a:pPr indent="0" marL="0">
              <a:buNone/>
            </a:pPr>
            <a:r>
              <a:rPr lang="en-US" sz="1300" i="1" dirty="0">
                <a:solidFill>
                  <a:srgbClr val="6FC8B4"/>
                </a:solidFill>
                <a:latin typeface="Calibri" pitchFamily="34" charset="0"/>
                <a:ea typeface="Calibri" pitchFamily="34" charset="-122"/>
                <a:cs typeface="Calibri" pitchFamily="34" charset="-120"/>
              </a:rPr>
              <a:t>The two highlighted rows are what's new. In AE the topic was WHAT HAPPENED and the answer was the same variable. In Findings the topic is the QUESTION and the result is a SEPARATE set of variables.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STRUCTURAL CHANGE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Raw data is WIDE. SDTM is TALL.</a:t>
            </a:r>
            <a:endParaRPr lang="en-US" sz="3000" dirty="0"/>
          </a:p>
        </p:txBody>
      </p:sp>
      <p:sp>
        <p:nvSpPr>
          <p:cNvPr id="4" name="Text 2"/>
          <p:cNvSpPr/>
          <p:nvPr/>
        </p:nvSpPr>
        <p:spPr>
          <a:xfrm>
            <a:off x="640080" y="1572768"/>
            <a:ext cx="10972800" cy="292608"/>
          </a:xfrm>
          <a:prstGeom prst="rect">
            <a:avLst/>
          </a:prstGeom>
          <a:noFill/>
          <a:ln/>
        </p:spPr>
        <p:txBody>
          <a:bodyPr wrap="square" lIns="0" tIns="0" rIns="0" bIns="0" rtlCol="0" anchor="ctr"/>
          <a:lstStyle/>
          <a:p>
            <a:pPr indent="0" marL="0">
              <a:buNone/>
            </a:pPr>
            <a:r>
              <a:rPr lang="en-US" sz="1250" b="1" dirty="0">
                <a:solidFill>
                  <a:srgbClr val="B5651A"/>
                </a:solidFill>
                <a:latin typeface="Calibri" pitchFamily="34" charset="0"/>
                <a:ea typeface="Calibri" pitchFamily="34" charset="-122"/>
                <a:cs typeface="Calibri" pitchFamily="34" charset="-120"/>
              </a:rPr>
              <a:t>RAW  —  vs_raw.csv  ·  one row per VISIT, one column per measurement</a:t>
            </a:r>
            <a:endParaRPr lang="en-US" sz="1250" dirty="0"/>
          </a:p>
        </p:txBody>
      </p:sp>
      <p:sp>
        <p:nvSpPr>
          <p:cNvPr id="5" name="Shape 3"/>
          <p:cNvSpPr/>
          <p:nvPr/>
        </p:nvSpPr>
        <p:spPr>
          <a:xfrm>
            <a:off x="640080" y="1901952"/>
            <a:ext cx="1417320" cy="310896"/>
          </a:xfrm>
          <a:prstGeom prst="rect">
            <a:avLst/>
          </a:prstGeom>
          <a:solidFill>
            <a:srgbClr val="0F2E3D"/>
          </a:solidFill>
          <a:ln w="9525">
            <a:solidFill>
              <a:srgbClr val="CFDEE1"/>
            </a:solidFill>
            <a:prstDash val="solid"/>
          </a:ln>
        </p:spPr>
      </p:sp>
      <p:sp>
        <p:nvSpPr>
          <p:cNvPr id="6" name="Text 4"/>
          <p:cNvSpPr/>
          <p:nvPr/>
        </p:nvSpPr>
        <p:spPr>
          <a:xfrm>
            <a:off x="694944" y="1901952"/>
            <a:ext cx="130759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SUBJID</a:t>
            </a:r>
            <a:endParaRPr lang="en-US" sz="1100" dirty="0"/>
          </a:p>
        </p:txBody>
      </p:sp>
      <p:sp>
        <p:nvSpPr>
          <p:cNvPr id="7" name="Shape 5"/>
          <p:cNvSpPr/>
          <p:nvPr/>
        </p:nvSpPr>
        <p:spPr>
          <a:xfrm>
            <a:off x="2057400" y="1901952"/>
            <a:ext cx="1143000" cy="310896"/>
          </a:xfrm>
          <a:prstGeom prst="rect">
            <a:avLst/>
          </a:prstGeom>
          <a:solidFill>
            <a:srgbClr val="0F2E3D"/>
          </a:solidFill>
          <a:ln w="9525">
            <a:solidFill>
              <a:srgbClr val="CFDEE1"/>
            </a:solidFill>
            <a:prstDash val="solid"/>
          </a:ln>
        </p:spPr>
      </p:sp>
      <p:sp>
        <p:nvSpPr>
          <p:cNvPr id="8" name="Text 6"/>
          <p:cNvSpPr/>
          <p:nvPr/>
        </p:nvSpPr>
        <p:spPr>
          <a:xfrm>
            <a:off x="2112264" y="1901952"/>
            <a:ext cx="103327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VISIT</a:t>
            </a:r>
            <a:endParaRPr lang="en-US" sz="1100" dirty="0"/>
          </a:p>
        </p:txBody>
      </p:sp>
      <p:sp>
        <p:nvSpPr>
          <p:cNvPr id="9" name="Shape 7"/>
          <p:cNvSpPr/>
          <p:nvPr/>
        </p:nvSpPr>
        <p:spPr>
          <a:xfrm>
            <a:off x="3200400" y="1901952"/>
            <a:ext cx="777240" cy="310896"/>
          </a:xfrm>
          <a:prstGeom prst="rect">
            <a:avLst/>
          </a:prstGeom>
          <a:solidFill>
            <a:srgbClr val="0F2E3D"/>
          </a:solidFill>
          <a:ln w="9525">
            <a:solidFill>
              <a:srgbClr val="CFDEE1"/>
            </a:solidFill>
            <a:prstDash val="solid"/>
          </a:ln>
        </p:spPr>
      </p:sp>
      <p:sp>
        <p:nvSpPr>
          <p:cNvPr id="10" name="Text 8"/>
          <p:cNvSpPr/>
          <p:nvPr/>
        </p:nvSpPr>
        <p:spPr>
          <a:xfrm>
            <a:off x="3255264" y="1901952"/>
            <a:ext cx="6675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SYSBP</a:t>
            </a:r>
            <a:endParaRPr lang="en-US" sz="1100" dirty="0"/>
          </a:p>
        </p:txBody>
      </p:sp>
      <p:sp>
        <p:nvSpPr>
          <p:cNvPr id="11" name="Shape 9"/>
          <p:cNvSpPr/>
          <p:nvPr/>
        </p:nvSpPr>
        <p:spPr>
          <a:xfrm>
            <a:off x="3977640" y="1901952"/>
            <a:ext cx="777240" cy="310896"/>
          </a:xfrm>
          <a:prstGeom prst="rect">
            <a:avLst/>
          </a:prstGeom>
          <a:solidFill>
            <a:srgbClr val="0F2E3D"/>
          </a:solidFill>
          <a:ln w="9525">
            <a:solidFill>
              <a:srgbClr val="CFDEE1"/>
            </a:solidFill>
            <a:prstDash val="solid"/>
          </a:ln>
        </p:spPr>
      </p:sp>
      <p:sp>
        <p:nvSpPr>
          <p:cNvPr id="12" name="Text 10"/>
          <p:cNvSpPr/>
          <p:nvPr/>
        </p:nvSpPr>
        <p:spPr>
          <a:xfrm>
            <a:off x="4032504" y="1901952"/>
            <a:ext cx="6675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DIABP</a:t>
            </a:r>
            <a:endParaRPr lang="en-US" sz="1100" dirty="0"/>
          </a:p>
        </p:txBody>
      </p:sp>
      <p:sp>
        <p:nvSpPr>
          <p:cNvPr id="13" name="Shape 11"/>
          <p:cNvSpPr/>
          <p:nvPr/>
        </p:nvSpPr>
        <p:spPr>
          <a:xfrm>
            <a:off x="4754880" y="1901952"/>
            <a:ext cx="777240" cy="310896"/>
          </a:xfrm>
          <a:prstGeom prst="rect">
            <a:avLst/>
          </a:prstGeom>
          <a:solidFill>
            <a:srgbClr val="0F2E3D"/>
          </a:solidFill>
          <a:ln w="9525">
            <a:solidFill>
              <a:srgbClr val="CFDEE1"/>
            </a:solidFill>
            <a:prstDash val="solid"/>
          </a:ln>
        </p:spPr>
      </p:sp>
      <p:sp>
        <p:nvSpPr>
          <p:cNvPr id="14" name="Text 12"/>
          <p:cNvSpPr/>
          <p:nvPr/>
        </p:nvSpPr>
        <p:spPr>
          <a:xfrm>
            <a:off x="4809744" y="1901952"/>
            <a:ext cx="6675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PULSE</a:t>
            </a:r>
            <a:endParaRPr lang="en-US" sz="1100" dirty="0"/>
          </a:p>
        </p:txBody>
      </p:sp>
      <p:sp>
        <p:nvSpPr>
          <p:cNvPr id="15" name="Shape 13"/>
          <p:cNvSpPr/>
          <p:nvPr/>
        </p:nvSpPr>
        <p:spPr>
          <a:xfrm>
            <a:off x="5532120" y="1901952"/>
            <a:ext cx="685800" cy="310896"/>
          </a:xfrm>
          <a:prstGeom prst="rect">
            <a:avLst/>
          </a:prstGeom>
          <a:solidFill>
            <a:srgbClr val="0F2E3D"/>
          </a:solidFill>
          <a:ln w="9525">
            <a:solidFill>
              <a:srgbClr val="CFDEE1"/>
            </a:solidFill>
            <a:prstDash val="solid"/>
          </a:ln>
        </p:spPr>
      </p:sp>
      <p:sp>
        <p:nvSpPr>
          <p:cNvPr id="16" name="Text 14"/>
          <p:cNvSpPr/>
          <p:nvPr/>
        </p:nvSpPr>
        <p:spPr>
          <a:xfrm>
            <a:off x="5586984" y="1901952"/>
            <a:ext cx="5760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TEMP</a:t>
            </a:r>
            <a:endParaRPr lang="en-US" sz="1100" dirty="0"/>
          </a:p>
        </p:txBody>
      </p:sp>
      <p:sp>
        <p:nvSpPr>
          <p:cNvPr id="17" name="Shape 15"/>
          <p:cNvSpPr/>
          <p:nvPr/>
        </p:nvSpPr>
        <p:spPr>
          <a:xfrm>
            <a:off x="6217920" y="1901952"/>
            <a:ext cx="822960" cy="310896"/>
          </a:xfrm>
          <a:prstGeom prst="rect">
            <a:avLst/>
          </a:prstGeom>
          <a:solidFill>
            <a:srgbClr val="0F2E3D"/>
          </a:solidFill>
          <a:ln w="9525">
            <a:solidFill>
              <a:srgbClr val="CFDEE1"/>
            </a:solidFill>
            <a:prstDash val="solid"/>
          </a:ln>
        </p:spPr>
      </p:sp>
      <p:sp>
        <p:nvSpPr>
          <p:cNvPr id="18" name="Text 16"/>
          <p:cNvSpPr/>
          <p:nvPr/>
        </p:nvSpPr>
        <p:spPr>
          <a:xfrm>
            <a:off x="6272784" y="1901952"/>
            <a:ext cx="7132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HEIGHT</a:t>
            </a:r>
            <a:endParaRPr lang="en-US" sz="1100" dirty="0"/>
          </a:p>
        </p:txBody>
      </p:sp>
      <p:sp>
        <p:nvSpPr>
          <p:cNvPr id="19" name="Shape 17"/>
          <p:cNvSpPr/>
          <p:nvPr/>
        </p:nvSpPr>
        <p:spPr>
          <a:xfrm>
            <a:off x="7040880" y="1901952"/>
            <a:ext cx="868680" cy="310896"/>
          </a:xfrm>
          <a:prstGeom prst="rect">
            <a:avLst/>
          </a:prstGeom>
          <a:solidFill>
            <a:srgbClr val="0F2E3D"/>
          </a:solidFill>
          <a:ln w="9525">
            <a:solidFill>
              <a:srgbClr val="CFDEE1"/>
            </a:solidFill>
            <a:prstDash val="solid"/>
          </a:ln>
        </p:spPr>
      </p:sp>
      <p:sp>
        <p:nvSpPr>
          <p:cNvPr id="20" name="Text 18"/>
          <p:cNvSpPr/>
          <p:nvPr/>
        </p:nvSpPr>
        <p:spPr>
          <a:xfrm>
            <a:off x="7095744" y="1901952"/>
            <a:ext cx="75895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WEIGHT</a:t>
            </a:r>
            <a:endParaRPr lang="en-US" sz="1100" dirty="0"/>
          </a:p>
        </p:txBody>
      </p:sp>
      <p:sp>
        <p:nvSpPr>
          <p:cNvPr id="21" name="Shape 19"/>
          <p:cNvSpPr/>
          <p:nvPr/>
        </p:nvSpPr>
        <p:spPr>
          <a:xfrm>
            <a:off x="640080" y="2212848"/>
            <a:ext cx="1417320" cy="310896"/>
          </a:xfrm>
          <a:prstGeom prst="rect">
            <a:avLst/>
          </a:prstGeom>
          <a:solidFill>
            <a:srgbClr val="F3F7F8"/>
          </a:solidFill>
          <a:ln w="9525">
            <a:solidFill>
              <a:srgbClr val="CFDEE1"/>
            </a:solidFill>
            <a:prstDash val="solid"/>
          </a:ln>
        </p:spPr>
      </p:sp>
      <p:sp>
        <p:nvSpPr>
          <p:cNvPr id="22" name="Text 20"/>
          <p:cNvSpPr/>
          <p:nvPr/>
        </p:nvSpPr>
        <p:spPr>
          <a:xfrm>
            <a:off x="694944" y="2212848"/>
            <a:ext cx="130759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001</a:t>
            </a:r>
            <a:endParaRPr lang="en-US" sz="1100" dirty="0"/>
          </a:p>
        </p:txBody>
      </p:sp>
      <p:sp>
        <p:nvSpPr>
          <p:cNvPr id="23" name="Shape 21"/>
          <p:cNvSpPr/>
          <p:nvPr/>
        </p:nvSpPr>
        <p:spPr>
          <a:xfrm>
            <a:off x="2057400" y="2212848"/>
            <a:ext cx="1143000" cy="310896"/>
          </a:xfrm>
          <a:prstGeom prst="rect">
            <a:avLst/>
          </a:prstGeom>
          <a:solidFill>
            <a:srgbClr val="F3F7F8"/>
          </a:solidFill>
          <a:ln w="9525">
            <a:solidFill>
              <a:srgbClr val="CFDEE1"/>
            </a:solidFill>
            <a:prstDash val="solid"/>
          </a:ln>
        </p:spPr>
      </p:sp>
      <p:sp>
        <p:nvSpPr>
          <p:cNvPr id="24" name="Text 22"/>
          <p:cNvSpPr/>
          <p:nvPr/>
        </p:nvSpPr>
        <p:spPr>
          <a:xfrm>
            <a:off x="2112264" y="2212848"/>
            <a:ext cx="103327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SCREENING</a:t>
            </a:r>
            <a:endParaRPr lang="en-US" sz="1100" dirty="0"/>
          </a:p>
        </p:txBody>
      </p:sp>
      <p:sp>
        <p:nvSpPr>
          <p:cNvPr id="25" name="Shape 23"/>
          <p:cNvSpPr/>
          <p:nvPr/>
        </p:nvSpPr>
        <p:spPr>
          <a:xfrm>
            <a:off x="3200400" y="2212848"/>
            <a:ext cx="777240" cy="310896"/>
          </a:xfrm>
          <a:prstGeom prst="rect">
            <a:avLst/>
          </a:prstGeom>
          <a:solidFill>
            <a:srgbClr val="F3F7F8"/>
          </a:solidFill>
          <a:ln w="9525">
            <a:solidFill>
              <a:srgbClr val="CFDEE1"/>
            </a:solidFill>
            <a:prstDash val="solid"/>
          </a:ln>
        </p:spPr>
      </p:sp>
      <p:sp>
        <p:nvSpPr>
          <p:cNvPr id="26" name="Text 24"/>
          <p:cNvSpPr/>
          <p:nvPr/>
        </p:nvSpPr>
        <p:spPr>
          <a:xfrm>
            <a:off x="3255264" y="2212848"/>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122</a:t>
            </a:r>
            <a:endParaRPr lang="en-US" sz="1100" dirty="0"/>
          </a:p>
        </p:txBody>
      </p:sp>
      <p:sp>
        <p:nvSpPr>
          <p:cNvPr id="27" name="Shape 25"/>
          <p:cNvSpPr/>
          <p:nvPr/>
        </p:nvSpPr>
        <p:spPr>
          <a:xfrm>
            <a:off x="3977640" y="2212848"/>
            <a:ext cx="777240" cy="310896"/>
          </a:xfrm>
          <a:prstGeom prst="rect">
            <a:avLst/>
          </a:prstGeom>
          <a:solidFill>
            <a:srgbClr val="F3F7F8"/>
          </a:solidFill>
          <a:ln w="9525">
            <a:solidFill>
              <a:srgbClr val="CFDEE1"/>
            </a:solidFill>
            <a:prstDash val="solid"/>
          </a:ln>
        </p:spPr>
      </p:sp>
      <p:sp>
        <p:nvSpPr>
          <p:cNvPr id="28" name="Text 26"/>
          <p:cNvSpPr/>
          <p:nvPr/>
        </p:nvSpPr>
        <p:spPr>
          <a:xfrm>
            <a:off x="4032504" y="2212848"/>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80</a:t>
            </a:r>
            <a:endParaRPr lang="en-US" sz="1100" dirty="0"/>
          </a:p>
        </p:txBody>
      </p:sp>
      <p:sp>
        <p:nvSpPr>
          <p:cNvPr id="29" name="Shape 27"/>
          <p:cNvSpPr/>
          <p:nvPr/>
        </p:nvSpPr>
        <p:spPr>
          <a:xfrm>
            <a:off x="4754880" y="2212848"/>
            <a:ext cx="777240" cy="310896"/>
          </a:xfrm>
          <a:prstGeom prst="rect">
            <a:avLst/>
          </a:prstGeom>
          <a:solidFill>
            <a:srgbClr val="F3F7F8"/>
          </a:solidFill>
          <a:ln w="9525">
            <a:solidFill>
              <a:srgbClr val="CFDEE1"/>
            </a:solidFill>
            <a:prstDash val="solid"/>
          </a:ln>
        </p:spPr>
      </p:sp>
      <p:sp>
        <p:nvSpPr>
          <p:cNvPr id="30" name="Text 28"/>
          <p:cNvSpPr/>
          <p:nvPr/>
        </p:nvSpPr>
        <p:spPr>
          <a:xfrm>
            <a:off x="4809744" y="2212848"/>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68</a:t>
            </a:r>
            <a:endParaRPr lang="en-US" sz="1100" dirty="0"/>
          </a:p>
        </p:txBody>
      </p:sp>
      <p:sp>
        <p:nvSpPr>
          <p:cNvPr id="31" name="Shape 29"/>
          <p:cNvSpPr/>
          <p:nvPr/>
        </p:nvSpPr>
        <p:spPr>
          <a:xfrm>
            <a:off x="5532120" y="2212848"/>
            <a:ext cx="685800" cy="310896"/>
          </a:xfrm>
          <a:prstGeom prst="rect">
            <a:avLst/>
          </a:prstGeom>
          <a:solidFill>
            <a:srgbClr val="F3F7F8"/>
          </a:solidFill>
          <a:ln w="9525">
            <a:solidFill>
              <a:srgbClr val="CFDEE1"/>
            </a:solidFill>
            <a:prstDash val="solid"/>
          </a:ln>
        </p:spPr>
      </p:sp>
      <p:sp>
        <p:nvSpPr>
          <p:cNvPr id="32" name="Text 30"/>
          <p:cNvSpPr/>
          <p:nvPr/>
        </p:nvSpPr>
        <p:spPr>
          <a:xfrm>
            <a:off x="5586984" y="2212848"/>
            <a:ext cx="57607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36.7</a:t>
            </a:r>
            <a:endParaRPr lang="en-US" sz="1100" dirty="0"/>
          </a:p>
        </p:txBody>
      </p:sp>
      <p:sp>
        <p:nvSpPr>
          <p:cNvPr id="33" name="Shape 31"/>
          <p:cNvSpPr/>
          <p:nvPr/>
        </p:nvSpPr>
        <p:spPr>
          <a:xfrm>
            <a:off x="6217920" y="2212848"/>
            <a:ext cx="822960" cy="310896"/>
          </a:xfrm>
          <a:prstGeom prst="rect">
            <a:avLst/>
          </a:prstGeom>
          <a:solidFill>
            <a:srgbClr val="F3F7F8"/>
          </a:solidFill>
          <a:ln w="9525">
            <a:solidFill>
              <a:srgbClr val="CFDEE1"/>
            </a:solidFill>
            <a:prstDash val="solid"/>
          </a:ln>
        </p:spPr>
      </p:sp>
      <p:sp>
        <p:nvSpPr>
          <p:cNvPr id="34" name="Text 32"/>
          <p:cNvSpPr/>
          <p:nvPr/>
        </p:nvSpPr>
        <p:spPr>
          <a:xfrm>
            <a:off x="6272784" y="2212848"/>
            <a:ext cx="7132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165</a:t>
            </a:r>
            <a:endParaRPr lang="en-US" sz="1100" dirty="0"/>
          </a:p>
        </p:txBody>
      </p:sp>
      <p:sp>
        <p:nvSpPr>
          <p:cNvPr id="35" name="Shape 33"/>
          <p:cNvSpPr/>
          <p:nvPr/>
        </p:nvSpPr>
        <p:spPr>
          <a:xfrm>
            <a:off x="7040880" y="2212848"/>
            <a:ext cx="868680" cy="310896"/>
          </a:xfrm>
          <a:prstGeom prst="rect">
            <a:avLst/>
          </a:prstGeom>
          <a:solidFill>
            <a:srgbClr val="F3F7F8"/>
          </a:solidFill>
          <a:ln w="9525">
            <a:solidFill>
              <a:srgbClr val="CFDEE1"/>
            </a:solidFill>
            <a:prstDash val="solid"/>
          </a:ln>
        </p:spPr>
      </p:sp>
      <p:sp>
        <p:nvSpPr>
          <p:cNvPr id="36" name="Text 34"/>
          <p:cNvSpPr/>
          <p:nvPr/>
        </p:nvSpPr>
        <p:spPr>
          <a:xfrm>
            <a:off x="7095744" y="2212848"/>
            <a:ext cx="75895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70.5</a:t>
            </a:r>
            <a:endParaRPr lang="en-US" sz="1100" dirty="0"/>
          </a:p>
        </p:txBody>
      </p:sp>
      <p:sp>
        <p:nvSpPr>
          <p:cNvPr id="37" name="Shape 35"/>
          <p:cNvSpPr/>
          <p:nvPr/>
        </p:nvSpPr>
        <p:spPr>
          <a:xfrm>
            <a:off x="640080" y="2523744"/>
            <a:ext cx="1417320" cy="310896"/>
          </a:xfrm>
          <a:prstGeom prst="rect">
            <a:avLst/>
          </a:prstGeom>
          <a:solidFill>
            <a:srgbClr val="FFFFFF"/>
          </a:solidFill>
          <a:ln w="9525">
            <a:solidFill>
              <a:srgbClr val="CFDEE1"/>
            </a:solidFill>
            <a:prstDash val="solid"/>
          </a:ln>
        </p:spPr>
      </p:sp>
      <p:sp>
        <p:nvSpPr>
          <p:cNvPr id="38" name="Text 36"/>
          <p:cNvSpPr/>
          <p:nvPr/>
        </p:nvSpPr>
        <p:spPr>
          <a:xfrm>
            <a:off x="694944" y="2523744"/>
            <a:ext cx="130759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001</a:t>
            </a:r>
            <a:endParaRPr lang="en-US" sz="1100" dirty="0"/>
          </a:p>
        </p:txBody>
      </p:sp>
      <p:sp>
        <p:nvSpPr>
          <p:cNvPr id="39" name="Shape 37"/>
          <p:cNvSpPr/>
          <p:nvPr/>
        </p:nvSpPr>
        <p:spPr>
          <a:xfrm>
            <a:off x="2057400" y="2523744"/>
            <a:ext cx="1143000" cy="310896"/>
          </a:xfrm>
          <a:prstGeom prst="rect">
            <a:avLst/>
          </a:prstGeom>
          <a:solidFill>
            <a:srgbClr val="FFFFFF"/>
          </a:solidFill>
          <a:ln w="9525">
            <a:solidFill>
              <a:srgbClr val="CFDEE1"/>
            </a:solidFill>
            <a:prstDash val="solid"/>
          </a:ln>
        </p:spPr>
      </p:sp>
      <p:sp>
        <p:nvSpPr>
          <p:cNvPr id="40" name="Text 38"/>
          <p:cNvSpPr/>
          <p:nvPr/>
        </p:nvSpPr>
        <p:spPr>
          <a:xfrm>
            <a:off x="2112264" y="2523744"/>
            <a:ext cx="103327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BASELINE</a:t>
            </a:r>
            <a:endParaRPr lang="en-US" sz="1100" dirty="0"/>
          </a:p>
        </p:txBody>
      </p:sp>
      <p:sp>
        <p:nvSpPr>
          <p:cNvPr id="41" name="Shape 39"/>
          <p:cNvSpPr/>
          <p:nvPr/>
        </p:nvSpPr>
        <p:spPr>
          <a:xfrm>
            <a:off x="3200400" y="2523744"/>
            <a:ext cx="777240" cy="310896"/>
          </a:xfrm>
          <a:prstGeom prst="rect">
            <a:avLst/>
          </a:prstGeom>
          <a:solidFill>
            <a:srgbClr val="FFFFFF"/>
          </a:solidFill>
          <a:ln w="9525">
            <a:solidFill>
              <a:srgbClr val="CFDEE1"/>
            </a:solidFill>
            <a:prstDash val="solid"/>
          </a:ln>
        </p:spPr>
      </p:sp>
      <p:sp>
        <p:nvSpPr>
          <p:cNvPr id="42" name="Text 40"/>
          <p:cNvSpPr/>
          <p:nvPr/>
        </p:nvSpPr>
        <p:spPr>
          <a:xfrm>
            <a:off x="3255264" y="2523744"/>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120</a:t>
            </a:r>
            <a:endParaRPr lang="en-US" sz="1100" dirty="0"/>
          </a:p>
        </p:txBody>
      </p:sp>
      <p:sp>
        <p:nvSpPr>
          <p:cNvPr id="43" name="Shape 41"/>
          <p:cNvSpPr/>
          <p:nvPr/>
        </p:nvSpPr>
        <p:spPr>
          <a:xfrm>
            <a:off x="3977640" y="2523744"/>
            <a:ext cx="777240" cy="310896"/>
          </a:xfrm>
          <a:prstGeom prst="rect">
            <a:avLst/>
          </a:prstGeom>
          <a:solidFill>
            <a:srgbClr val="FFFFFF"/>
          </a:solidFill>
          <a:ln w="9525">
            <a:solidFill>
              <a:srgbClr val="CFDEE1"/>
            </a:solidFill>
            <a:prstDash val="solid"/>
          </a:ln>
        </p:spPr>
      </p:sp>
      <p:sp>
        <p:nvSpPr>
          <p:cNvPr id="44" name="Text 42"/>
          <p:cNvSpPr/>
          <p:nvPr/>
        </p:nvSpPr>
        <p:spPr>
          <a:xfrm>
            <a:off x="4032504" y="2523744"/>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78</a:t>
            </a:r>
            <a:endParaRPr lang="en-US" sz="1100" dirty="0"/>
          </a:p>
        </p:txBody>
      </p:sp>
      <p:sp>
        <p:nvSpPr>
          <p:cNvPr id="45" name="Shape 43"/>
          <p:cNvSpPr/>
          <p:nvPr/>
        </p:nvSpPr>
        <p:spPr>
          <a:xfrm>
            <a:off x="4754880" y="2523744"/>
            <a:ext cx="777240" cy="310896"/>
          </a:xfrm>
          <a:prstGeom prst="rect">
            <a:avLst/>
          </a:prstGeom>
          <a:solidFill>
            <a:srgbClr val="FFFFFF"/>
          </a:solidFill>
          <a:ln w="9525">
            <a:solidFill>
              <a:srgbClr val="CFDEE1"/>
            </a:solidFill>
            <a:prstDash val="solid"/>
          </a:ln>
        </p:spPr>
      </p:sp>
      <p:sp>
        <p:nvSpPr>
          <p:cNvPr id="46" name="Text 44"/>
          <p:cNvSpPr/>
          <p:nvPr/>
        </p:nvSpPr>
        <p:spPr>
          <a:xfrm>
            <a:off x="4809744" y="2523744"/>
            <a:ext cx="6675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66</a:t>
            </a:r>
            <a:endParaRPr lang="en-US" sz="1100" dirty="0"/>
          </a:p>
        </p:txBody>
      </p:sp>
      <p:sp>
        <p:nvSpPr>
          <p:cNvPr id="47" name="Shape 45"/>
          <p:cNvSpPr/>
          <p:nvPr/>
        </p:nvSpPr>
        <p:spPr>
          <a:xfrm>
            <a:off x="5532120" y="2523744"/>
            <a:ext cx="685800" cy="310896"/>
          </a:xfrm>
          <a:prstGeom prst="rect">
            <a:avLst/>
          </a:prstGeom>
          <a:solidFill>
            <a:srgbClr val="FFFFFF"/>
          </a:solidFill>
          <a:ln w="9525">
            <a:solidFill>
              <a:srgbClr val="CFDEE1"/>
            </a:solidFill>
            <a:prstDash val="solid"/>
          </a:ln>
        </p:spPr>
      </p:sp>
      <p:sp>
        <p:nvSpPr>
          <p:cNvPr id="48" name="Text 46"/>
          <p:cNvSpPr/>
          <p:nvPr/>
        </p:nvSpPr>
        <p:spPr>
          <a:xfrm>
            <a:off x="5586984" y="2523744"/>
            <a:ext cx="57607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36.8</a:t>
            </a:r>
            <a:endParaRPr lang="en-US" sz="1100" dirty="0"/>
          </a:p>
        </p:txBody>
      </p:sp>
      <p:sp>
        <p:nvSpPr>
          <p:cNvPr id="49" name="Shape 47"/>
          <p:cNvSpPr/>
          <p:nvPr/>
        </p:nvSpPr>
        <p:spPr>
          <a:xfrm>
            <a:off x="6217920" y="2523744"/>
            <a:ext cx="822960" cy="310896"/>
          </a:xfrm>
          <a:prstGeom prst="rect">
            <a:avLst/>
          </a:prstGeom>
          <a:solidFill>
            <a:srgbClr val="FFFFFF"/>
          </a:solidFill>
          <a:ln w="9525">
            <a:solidFill>
              <a:srgbClr val="CFDEE1"/>
            </a:solidFill>
            <a:prstDash val="solid"/>
          </a:ln>
        </p:spPr>
      </p:sp>
      <p:sp>
        <p:nvSpPr>
          <p:cNvPr id="50" name="Text 48"/>
          <p:cNvSpPr/>
          <p:nvPr/>
        </p:nvSpPr>
        <p:spPr>
          <a:xfrm>
            <a:off x="6272784" y="2523744"/>
            <a:ext cx="713232" cy="310896"/>
          </a:xfrm>
          <a:prstGeom prst="rect">
            <a:avLst/>
          </a:prstGeom>
          <a:noFill/>
          <a:ln/>
        </p:spPr>
        <p:txBody>
          <a:bodyPr wrap="square" lIns="0" tIns="0" rIns="0" bIns="0" rtlCol="0" anchor="ctr"/>
          <a:lstStyle/>
          <a:p>
            <a:pPr algn="ctr" indent="0" marL="0">
              <a:buNone/>
            </a:pPr>
            <a:endParaRPr lang="en-US" sz="1100" dirty="0"/>
          </a:p>
        </p:txBody>
      </p:sp>
      <p:sp>
        <p:nvSpPr>
          <p:cNvPr id="51" name="Shape 49"/>
          <p:cNvSpPr/>
          <p:nvPr/>
        </p:nvSpPr>
        <p:spPr>
          <a:xfrm>
            <a:off x="7040880" y="2523744"/>
            <a:ext cx="868680" cy="310896"/>
          </a:xfrm>
          <a:prstGeom prst="rect">
            <a:avLst/>
          </a:prstGeom>
          <a:solidFill>
            <a:srgbClr val="FFFFFF"/>
          </a:solidFill>
          <a:ln w="9525">
            <a:solidFill>
              <a:srgbClr val="CFDEE1"/>
            </a:solidFill>
            <a:prstDash val="solid"/>
          </a:ln>
        </p:spPr>
      </p:sp>
      <p:sp>
        <p:nvSpPr>
          <p:cNvPr id="52" name="Text 50"/>
          <p:cNvSpPr/>
          <p:nvPr/>
        </p:nvSpPr>
        <p:spPr>
          <a:xfrm>
            <a:off x="7095744" y="2523744"/>
            <a:ext cx="75895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70.2</a:t>
            </a:r>
            <a:endParaRPr lang="en-US" sz="1100" dirty="0"/>
          </a:p>
        </p:txBody>
      </p:sp>
      <p:sp>
        <p:nvSpPr>
          <p:cNvPr id="53" name="Text 51"/>
          <p:cNvSpPr/>
          <p:nvPr/>
        </p:nvSpPr>
        <p:spPr>
          <a:xfrm>
            <a:off x="8092440" y="2212848"/>
            <a:ext cx="3566160" cy="365760"/>
          </a:xfrm>
          <a:prstGeom prst="rect">
            <a:avLst/>
          </a:prstGeom>
          <a:noFill/>
          <a:ln/>
        </p:spPr>
        <p:txBody>
          <a:bodyPr wrap="square" lIns="0" tIns="0" rIns="0" bIns="0" rtlCol="0" anchor="ctr"/>
          <a:lstStyle/>
          <a:p>
            <a:pPr indent="0" marL="0">
              <a:buNone/>
            </a:pPr>
            <a:r>
              <a:rPr lang="en-US" sz="1300" b="1" dirty="0">
                <a:solidFill>
                  <a:srgbClr val="B5651A"/>
                </a:solidFill>
                <a:latin typeface="Calibri" pitchFamily="34" charset="0"/>
                <a:ea typeface="Calibri" pitchFamily="34" charset="-122"/>
                <a:cs typeface="Calibri" pitchFamily="34" charset="-120"/>
              </a:rPr>
              <a:t>1 subject × 2 visits  =  2 rows</a:t>
            </a:r>
            <a:endParaRPr lang="en-US" sz="1300" dirty="0"/>
          </a:p>
        </p:txBody>
      </p:sp>
      <p:sp>
        <p:nvSpPr>
          <p:cNvPr id="54" name="Text 52"/>
          <p:cNvSpPr/>
          <p:nvPr/>
        </p:nvSpPr>
        <p:spPr>
          <a:xfrm>
            <a:off x="8092440" y="2514600"/>
            <a:ext cx="3566160" cy="64008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Add a new test → add a new COLUMN.</a:t>
            </a:r>
            <a:endParaRPr lang="en-US" sz="1150" dirty="0"/>
          </a:p>
          <a:p>
            <a:pPr indent="0" marL="0">
              <a:buNone/>
            </a:pPr>
            <a:r>
              <a:rPr lang="en-US" sz="1150" dirty="0">
                <a:solidFill>
                  <a:srgbClr val="5A7682"/>
                </a:solidFill>
                <a:latin typeface="Calibri" pitchFamily="34" charset="0"/>
                <a:ea typeface="Calibri" pitchFamily="34" charset="-122"/>
                <a:cs typeface="Calibri" pitchFamily="34" charset="-120"/>
              </a:rPr>
              <a:t>The structure changes every time the protocol does.</a:t>
            </a:r>
            <a:endParaRPr lang="en-US" sz="1150" dirty="0"/>
          </a:p>
        </p:txBody>
      </p:sp>
      <p:sp>
        <p:nvSpPr>
          <p:cNvPr id="55" name="Shape 53"/>
          <p:cNvSpPr/>
          <p:nvPr/>
        </p:nvSpPr>
        <p:spPr>
          <a:xfrm>
            <a:off x="5760720" y="3063240"/>
            <a:ext cx="566928" cy="566928"/>
          </a:xfrm>
          <a:prstGeom prst="ellipse">
            <a:avLst/>
          </a:prstGeom>
          <a:solidFill>
            <a:srgbClr val="1FA8A0"/>
          </a:solidFill>
          <a:ln/>
        </p:spPr>
      </p:sp>
      <p:sp>
        <p:nvSpPr>
          <p:cNvPr id="56" name="Text 54"/>
          <p:cNvSpPr/>
          <p:nvPr/>
        </p:nvSpPr>
        <p:spPr>
          <a:xfrm>
            <a:off x="5760720" y="3063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57" name="Text 55"/>
          <p:cNvSpPr/>
          <p:nvPr/>
        </p:nvSpPr>
        <p:spPr>
          <a:xfrm>
            <a:off x="6355080" y="3182112"/>
            <a:ext cx="2011680" cy="329184"/>
          </a:xfrm>
          <a:prstGeom prst="rect">
            <a:avLst/>
          </a:prstGeom>
          <a:noFill/>
          <a:ln/>
        </p:spPr>
        <p:txBody>
          <a:bodyPr wrap="square" lIns="0" tIns="0" rIns="0" bIns="0" rtlCol="0" anchor="ctr"/>
          <a:lstStyle/>
          <a:p>
            <a:pPr indent="0" marL="0">
              <a:buNone/>
            </a:pPr>
            <a:r>
              <a:rPr lang="en-US" sz="1250" b="1" dirty="0">
                <a:solidFill>
                  <a:srgbClr val="1FA8A0"/>
                </a:solidFill>
                <a:latin typeface="Calibri" pitchFamily="34" charset="0"/>
                <a:ea typeface="Calibri" pitchFamily="34" charset="-122"/>
                <a:cs typeface="Calibri" pitchFamily="34" charset="-120"/>
              </a:rPr>
              <a:t>TRANSPOSE</a:t>
            </a:r>
            <a:endParaRPr lang="en-US" sz="1250" dirty="0"/>
          </a:p>
        </p:txBody>
      </p:sp>
      <p:sp>
        <p:nvSpPr>
          <p:cNvPr id="58" name="Text 56"/>
          <p:cNvSpPr/>
          <p:nvPr/>
        </p:nvSpPr>
        <p:spPr>
          <a:xfrm>
            <a:off x="640080" y="3767328"/>
            <a:ext cx="10972800" cy="292608"/>
          </a:xfrm>
          <a:prstGeom prst="rect">
            <a:avLst/>
          </a:prstGeom>
          <a:noFill/>
          <a:ln/>
        </p:spPr>
        <p:txBody>
          <a:bodyPr wrap="square" lIns="0" tIns="0" rIns="0" bIns="0" rtlCol="0" anchor="ctr"/>
          <a:lstStyle/>
          <a:p>
            <a:pPr indent="0" marL="0">
              <a:buNone/>
            </a:pPr>
            <a:r>
              <a:rPr lang="en-US" sz="1250" b="1" dirty="0">
                <a:solidFill>
                  <a:srgbClr val="0E7C86"/>
                </a:solidFill>
                <a:latin typeface="Calibri" pitchFamily="34" charset="0"/>
                <a:ea typeface="Calibri" pitchFamily="34" charset="-122"/>
                <a:cs typeface="Calibri" pitchFamily="34" charset="-120"/>
              </a:rPr>
              <a:t>SDTM  —  VS  ·  one row per SUBJECT × VISIT × TEST</a:t>
            </a:r>
            <a:endParaRPr lang="en-US" sz="1250" dirty="0"/>
          </a:p>
        </p:txBody>
      </p:sp>
      <p:sp>
        <p:nvSpPr>
          <p:cNvPr id="59" name="Shape 57"/>
          <p:cNvSpPr/>
          <p:nvPr/>
        </p:nvSpPr>
        <p:spPr>
          <a:xfrm>
            <a:off x="640080" y="4096512"/>
            <a:ext cx="1737360" cy="310896"/>
          </a:xfrm>
          <a:prstGeom prst="rect">
            <a:avLst/>
          </a:prstGeom>
          <a:solidFill>
            <a:srgbClr val="0F2E3D"/>
          </a:solidFill>
          <a:ln w="9525">
            <a:solidFill>
              <a:srgbClr val="CFDEE1"/>
            </a:solidFill>
            <a:prstDash val="solid"/>
          </a:ln>
        </p:spPr>
      </p:sp>
      <p:sp>
        <p:nvSpPr>
          <p:cNvPr id="60" name="Text 58"/>
          <p:cNvSpPr/>
          <p:nvPr/>
        </p:nvSpPr>
        <p:spPr>
          <a:xfrm>
            <a:off x="694944" y="4096512"/>
            <a:ext cx="162763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USUBJID</a:t>
            </a:r>
            <a:endParaRPr lang="en-US" sz="1100" dirty="0"/>
          </a:p>
        </p:txBody>
      </p:sp>
      <p:sp>
        <p:nvSpPr>
          <p:cNvPr id="61" name="Shape 59"/>
          <p:cNvSpPr/>
          <p:nvPr/>
        </p:nvSpPr>
        <p:spPr>
          <a:xfrm>
            <a:off x="2377440" y="4096512"/>
            <a:ext cx="1234440" cy="310896"/>
          </a:xfrm>
          <a:prstGeom prst="rect">
            <a:avLst/>
          </a:prstGeom>
          <a:solidFill>
            <a:srgbClr val="0F2E3D"/>
          </a:solidFill>
          <a:ln w="9525">
            <a:solidFill>
              <a:srgbClr val="CFDEE1"/>
            </a:solidFill>
            <a:prstDash val="solid"/>
          </a:ln>
        </p:spPr>
      </p:sp>
      <p:sp>
        <p:nvSpPr>
          <p:cNvPr id="62" name="Text 60"/>
          <p:cNvSpPr/>
          <p:nvPr/>
        </p:nvSpPr>
        <p:spPr>
          <a:xfrm>
            <a:off x="2432304" y="4096512"/>
            <a:ext cx="112471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VISIT</a:t>
            </a:r>
            <a:endParaRPr lang="en-US" sz="1100" dirty="0"/>
          </a:p>
        </p:txBody>
      </p:sp>
      <p:sp>
        <p:nvSpPr>
          <p:cNvPr id="63" name="Shape 61"/>
          <p:cNvSpPr/>
          <p:nvPr/>
        </p:nvSpPr>
        <p:spPr>
          <a:xfrm>
            <a:off x="3611880" y="4096512"/>
            <a:ext cx="1097280" cy="310896"/>
          </a:xfrm>
          <a:prstGeom prst="rect">
            <a:avLst/>
          </a:prstGeom>
          <a:solidFill>
            <a:srgbClr val="0F2E3D"/>
          </a:solidFill>
          <a:ln w="9525">
            <a:solidFill>
              <a:srgbClr val="CFDEE1"/>
            </a:solidFill>
            <a:prstDash val="solid"/>
          </a:ln>
        </p:spPr>
      </p:sp>
      <p:sp>
        <p:nvSpPr>
          <p:cNvPr id="64" name="Text 62"/>
          <p:cNvSpPr/>
          <p:nvPr/>
        </p:nvSpPr>
        <p:spPr>
          <a:xfrm>
            <a:off x="3666744" y="4096512"/>
            <a:ext cx="98755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VSTESTCD</a:t>
            </a:r>
            <a:endParaRPr lang="en-US" sz="1100" dirty="0"/>
          </a:p>
        </p:txBody>
      </p:sp>
      <p:sp>
        <p:nvSpPr>
          <p:cNvPr id="65" name="Shape 63"/>
          <p:cNvSpPr/>
          <p:nvPr/>
        </p:nvSpPr>
        <p:spPr>
          <a:xfrm>
            <a:off x="4709160" y="4096512"/>
            <a:ext cx="1051560" cy="310896"/>
          </a:xfrm>
          <a:prstGeom prst="rect">
            <a:avLst/>
          </a:prstGeom>
          <a:solidFill>
            <a:srgbClr val="0F2E3D"/>
          </a:solidFill>
          <a:ln w="9525">
            <a:solidFill>
              <a:srgbClr val="CFDEE1"/>
            </a:solidFill>
            <a:prstDash val="solid"/>
          </a:ln>
        </p:spPr>
      </p:sp>
      <p:sp>
        <p:nvSpPr>
          <p:cNvPr id="66" name="Text 64"/>
          <p:cNvSpPr/>
          <p:nvPr/>
        </p:nvSpPr>
        <p:spPr>
          <a:xfrm>
            <a:off x="4764024" y="4096512"/>
            <a:ext cx="9418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VSORRES</a:t>
            </a:r>
            <a:endParaRPr lang="en-US" sz="1100" dirty="0"/>
          </a:p>
        </p:txBody>
      </p:sp>
      <p:sp>
        <p:nvSpPr>
          <p:cNvPr id="67" name="Shape 65"/>
          <p:cNvSpPr/>
          <p:nvPr/>
        </p:nvSpPr>
        <p:spPr>
          <a:xfrm>
            <a:off x="5760720" y="4096512"/>
            <a:ext cx="1097280" cy="310896"/>
          </a:xfrm>
          <a:prstGeom prst="rect">
            <a:avLst/>
          </a:prstGeom>
          <a:solidFill>
            <a:srgbClr val="0F2E3D"/>
          </a:solidFill>
          <a:ln w="9525">
            <a:solidFill>
              <a:srgbClr val="CFDEE1"/>
            </a:solidFill>
            <a:prstDash val="solid"/>
          </a:ln>
        </p:spPr>
      </p:sp>
      <p:sp>
        <p:nvSpPr>
          <p:cNvPr id="68" name="Text 66"/>
          <p:cNvSpPr/>
          <p:nvPr/>
        </p:nvSpPr>
        <p:spPr>
          <a:xfrm>
            <a:off x="5815584" y="4096512"/>
            <a:ext cx="98755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VSORRESU</a:t>
            </a:r>
            <a:endParaRPr lang="en-US" sz="1100" dirty="0"/>
          </a:p>
        </p:txBody>
      </p:sp>
      <p:sp>
        <p:nvSpPr>
          <p:cNvPr id="69" name="Shape 67"/>
          <p:cNvSpPr/>
          <p:nvPr/>
        </p:nvSpPr>
        <p:spPr>
          <a:xfrm>
            <a:off x="640080" y="4407408"/>
            <a:ext cx="1737360" cy="310896"/>
          </a:xfrm>
          <a:prstGeom prst="rect">
            <a:avLst/>
          </a:prstGeom>
          <a:solidFill>
            <a:srgbClr val="F3F7F8"/>
          </a:solidFill>
          <a:ln w="9525">
            <a:solidFill>
              <a:srgbClr val="CFDEE1"/>
            </a:solidFill>
            <a:prstDash val="solid"/>
          </a:ln>
        </p:spPr>
      </p:sp>
      <p:sp>
        <p:nvSpPr>
          <p:cNvPr id="70" name="Text 68"/>
          <p:cNvSpPr/>
          <p:nvPr/>
        </p:nvSpPr>
        <p:spPr>
          <a:xfrm>
            <a:off x="694944" y="4407408"/>
            <a:ext cx="16276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p>
        </p:txBody>
      </p:sp>
      <p:sp>
        <p:nvSpPr>
          <p:cNvPr id="71" name="Shape 69"/>
          <p:cNvSpPr/>
          <p:nvPr/>
        </p:nvSpPr>
        <p:spPr>
          <a:xfrm>
            <a:off x="2377440" y="4407408"/>
            <a:ext cx="1234440" cy="310896"/>
          </a:xfrm>
          <a:prstGeom prst="rect">
            <a:avLst/>
          </a:prstGeom>
          <a:solidFill>
            <a:srgbClr val="F3F7F8"/>
          </a:solidFill>
          <a:ln w="9525">
            <a:solidFill>
              <a:srgbClr val="CFDEE1"/>
            </a:solidFill>
            <a:prstDash val="solid"/>
          </a:ln>
        </p:spPr>
      </p:sp>
      <p:sp>
        <p:nvSpPr>
          <p:cNvPr id="72" name="Text 70"/>
          <p:cNvSpPr/>
          <p:nvPr/>
        </p:nvSpPr>
        <p:spPr>
          <a:xfrm>
            <a:off x="2432304" y="4407408"/>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SCREENING</a:t>
            </a:r>
            <a:endParaRPr lang="en-US" sz="1100" dirty="0"/>
          </a:p>
        </p:txBody>
      </p:sp>
      <p:sp>
        <p:nvSpPr>
          <p:cNvPr id="73" name="Shape 71"/>
          <p:cNvSpPr/>
          <p:nvPr/>
        </p:nvSpPr>
        <p:spPr>
          <a:xfrm>
            <a:off x="3611880" y="4407408"/>
            <a:ext cx="1097280" cy="310896"/>
          </a:xfrm>
          <a:prstGeom prst="rect">
            <a:avLst/>
          </a:prstGeom>
          <a:solidFill>
            <a:srgbClr val="F3F7F8"/>
          </a:solidFill>
          <a:ln w="9525">
            <a:solidFill>
              <a:srgbClr val="CFDEE1"/>
            </a:solidFill>
            <a:prstDash val="solid"/>
          </a:ln>
        </p:spPr>
      </p:sp>
      <p:sp>
        <p:nvSpPr>
          <p:cNvPr id="74" name="Text 72"/>
          <p:cNvSpPr/>
          <p:nvPr/>
        </p:nvSpPr>
        <p:spPr>
          <a:xfrm>
            <a:off x="3666744" y="4407408"/>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SYSBP</a:t>
            </a:r>
            <a:endParaRPr lang="en-US" sz="1100" dirty="0"/>
          </a:p>
        </p:txBody>
      </p:sp>
      <p:sp>
        <p:nvSpPr>
          <p:cNvPr id="75" name="Shape 73"/>
          <p:cNvSpPr/>
          <p:nvPr/>
        </p:nvSpPr>
        <p:spPr>
          <a:xfrm>
            <a:off x="4709160" y="4407408"/>
            <a:ext cx="1051560" cy="310896"/>
          </a:xfrm>
          <a:prstGeom prst="rect">
            <a:avLst/>
          </a:prstGeom>
          <a:solidFill>
            <a:srgbClr val="F3F7F8"/>
          </a:solidFill>
          <a:ln w="9525">
            <a:solidFill>
              <a:srgbClr val="CFDEE1"/>
            </a:solidFill>
            <a:prstDash val="solid"/>
          </a:ln>
        </p:spPr>
      </p:sp>
      <p:sp>
        <p:nvSpPr>
          <p:cNvPr id="76" name="Text 74"/>
          <p:cNvSpPr/>
          <p:nvPr/>
        </p:nvSpPr>
        <p:spPr>
          <a:xfrm>
            <a:off x="4764024" y="4407408"/>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122</a:t>
            </a:r>
            <a:endParaRPr lang="en-US" sz="1100" dirty="0"/>
          </a:p>
        </p:txBody>
      </p:sp>
      <p:sp>
        <p:nvSpPr>
          <p:cNvPr id="77" name="Shape 75"/>
          <p:cNvSpPr/>
          <p:nvPr/>
        </p:nvSpPr>
        <p:spPr>
          <a:xfrm>
            <a:off x="5760720" y="4407408"/>
            <a:ext cx="1097280" cy="310896"/>
          </a:xfrm>
          <a:prstGeom prst="rect">
            <a:avLst/>
          </a:prstGeom>
          <a:solidFill>
            <a:srgbClr val="F3F7F8"/>
          </a:solidFill>
          <a:ln w="9525">
            <a:solidFill>
              <a:srgbClr val="CFDEE1"/>
            </a:solidFill>
            <a:prstDash val="solid"/>
          </a:ln>
        </p:spPr>
      </p:sp>
      <p:sp>
        <p:nvSpPr>
          <p:cNvPr id="78" name="Text 76"/>
          <p:cNvSpPr/>
          <p:nvPr/>
        </p:nvSpPr>
        <p:spPr>
          <a:xfrm>
            <a:off x="5815584" y="4407408"/>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mmHg</a:t>
            </a:r>
            <a:endParaRPr lang="en-US" sz="1100" dirty="0"/>
          </a:p>
        </p:txBody>
      </p:sp>
      <p:sp>
        <p:nvSpPr>
          <p:cNvPr id="79" name="Shape 77"/>
          <p:cNvSpPr/>
          <p:nvPr/>
        </p:nvSpPr>
        <p:spPr>
          <a:xfrm>
            <a:off x="640080" y="4718304"/>
            <a:ext cx="1737360" cy="310896"/>
          </a:xfrm>
          <a:prstGeom prst="rect">
            <a:avLst/>
          </a:prstGeom>
          <a:solidFill>
            <a:srgbClr val="FFFFFF"/>
          </a:solidFill>
          <a:ln w="9525">
            <a:solidFill>
              <a:srgbClr val="CFDEE1"/>
            </a:solidFill>
            <a:prstDash val="solid"/>
          </a:ln>
        </p:spPr>
      </p:sp>
      <p:sp>
        <p:nvSpPr>
          <p:cNvPr id="80" name="Text 78"/>
          <p:cNvSpPr/>
          <p:nvPr/>
        </p:nvSpPr>
        <p:spPr>
          <a:xfrm>
            <a:off x="694944" y="4718304"/>
            <a:ext cx="16276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p>
        </p:txBody>
      </p:sp>
      <p:sp>
        <p:nvSpPr>
          <p:cNvPr id="81" name="Shape 79"/>
          <p:cNvSpPr/>
          <p:nvPr/>
        </p:nvSpPr>
        <p:spPr>
          <a:xfrm>
            <a:off x="2377440" y="4718304"/>
            <a:ext cx="1234440" cy="310896"/>
          </a:xfrm>
          <a:prstGeom prst="rect">
            <a:avLst/>
          </a:prstGeom>
          <a:solidFill>
            <a:srgbClr val="FFFFFF"/>
          </a:solidFill>
          <a:ln w="9525">
            <a:solidFill>
              <a:srgbClr val="CFDEE1"/>
            </a:solidFill>
            <a:prstDash val="solid"/>
          </a:ln>
        </p:spPr>
      </p:sp>
      <p:sp>
        <p:nvSpPr>
          <p:cNvPr id="82" name="Text 80"/>
          <p:cNvSpPr/>
          <p:nvPr/>
        </p:nvSpPr>
        <p:spPr>
          <a:xfrm>
            <a:off x="2432304" y="4718304"/>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SCREENING</a:t>
            </a:r>
            <a:endParaRPr lang="en-US" sz="1100" dirty="0"/>
          </a:p>
        </p:txBody>
      </p:sp>
      <p:sp>
        <p:nvSpPr>
          <p:cNvPr id="83" name="Shape 81"/>
          <p:cNvSpPr/>
          <p:nvPr/>
        </p:nvSpPr>
        <p:spPr>
          <a:xfrm>
            <a:off x="3611880" y="4718304"/>
            <a:ext cx="1097280" cy="310896"/>
          </a:xfrm>
          <a:prstGeom prst="rect">
            <a:avLst/>
          </a:prstGeom>
          <a:solidFill>
            <a:srgbClr val="FFFFFF"/>
          </a:solidFill>
          <a:ln w="9525">
            <a:solidFill>
              <a:srgbClr val="CFDEE1"/>
            </a:solidFill>
            <a:prstDash val="solid"/>
          </a:ln>
        </p:spPr>
      </p:sp>
      <p:sp>
        <p:nvSpPr>
          <p:cNvPr id="84" name="Text 82"/>
          <p:cNvSpPr/>
          <p:nvPr/>
        </p:nvSpPr>
        <p:spPr>
          <a:xfrm>
            <a:off x="3666744" y="4718304"/>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DIABP</a:t>
            </a:r>
            <a:endParaRPr lang="en-US" sz="1100" dirty="0"/>
          </a:p>
        </p:txBody>
      </p:sp>
      <p:sp>
        <p:nvSpPr>
          <p:cNvPr id="85" name="Shape 83"/>
          <p:cNvSpPr/>
          <p:nvPr/>
        </p:nvSpPr>
        <p:spPr>
          <a:xfrm>
            <a:off x="4709160" y="4718304"/>
            <a:ext cx="1051560" cy="310896"/>
          </a:xfrm>
          <a:prstGeom prst="rect">
            <a:avLst/>
          </a:prstGeom>
          <a:solidFill>
            <a:srgbClr val="FFFFFF"/>
          </a:solidFill>
          <a:ln w="9525">
            <a:solidFill>
              <a:srgbClr val="CFDEE1"/>
            </a:solidFill>
            <a:prstDash val="solid"/>
          </a:ln>
        </p:spPr>
      </p:sp>
      <p:sp>
        <p:nvSpPr>
          <p:cNvPr id="86" name="Text 84"/>
          <p:cNvSpPr/>
          <p:nvPr/>
        </p:nvSpPr>
        <p:spPr>
          <a:xfrm>
            <a:off x="4764024" y="4718304"/>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80</a:t>
            </a:r>
            <a:endParaRPr lang="en-US" sz="1100" dirty="0"/>
          </a:p>
        </p:txBody>
      </p:sp>
      <p:sp>
        <p:nvSpPr>
          <p:cNvPr id="87" name="Shape 85"/>
          <p:cNvSpPr/>
          <p:nvPr/>
        </p:nvSpPr>
        <p:spPr>
          <a:xfrm>
            <a:off x="5760720" y="4718304"/>
            <a:ext cx="1097280" cy="310896"/>
          </a:xfrm>
          <a:prstGeom prst="rect">
            <a:avLst/>
          </a:prstGeom>
          <a:solidFill>
            <a:srgbClr val="FFFFFF"/>
          </a:solidFill>
          <a:ln w="9525">
            <a:solidFill>
              <a:srgbClr val="CFDEE1"/>
            </a:solidFill>
            <a:prstDash val="solid"/>
          </a:ln>
        </p:spPr>
      </p:sp>
      <p:sp>
        <p:nvSpPr>
          <p:cNvPr id="88" name="Text 86"/>
          <p:cNvSpPr/>
          <p:nvPr/>
        </p:nvSpPr>
        <p:spPr>
          <a:xfrm>
            <a:off x="5815584" y="4718304"/>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mmHg</a:t>
            </a:r>
            <a:endParaRPr lang="en-US" sz="1100" dirty="0"/>
          </a:p>
        </p:txBody>
      </p:sp>
      <p:sp>
        <p:nvSpPr>
          <p:cNvPr id="89" name="Shape 87"/>
          <p:cNvSpPr/>
          <p:nvPr/>
        </p:nvSpPr>
        <p:spPr>
          <a:xfrm>
            <a:off x="640080" y="5029200"/>
            <a:ext cx="1737360" cy="310896"/>
          </a:xfrm>
          <a:prstGeom prst="rect">
            <a:avLst/>
          </a:prstGeom>
          <a:solidFill>
            <a:srgbClr val="F3F7F8"/>
          </a:solidFill>
          <a:ln w="9525">
            <a:solidFill>
              <a:srgbClr val="CFDEE1"/>
            </a:solidFill>
            <a:prstDash val="solid"/>
          </a:ln>
        </p:spPr>
      </p:sp>
      <p:sp>
        <p:nvSpPr>
          <p:cNvPr id="90" name="Text 88"/>
          <p:cNvSpPr/>
          <p:nvPr/>
        </p:nvSpPr>
        <p:spPr>
          <a:xfrm>
            <a:off x="694944" y="5029200"/>
            <a:ext cx="16276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p>
        </p:txBody>
      </p:sp>
      <p:sp>
        <p:nvSpPr>
          <p:cNvPr id="91" name="Shape 89"/>
          <p:cNvSpPr/>
          <p:nvPr/>
        </p:nvSpPr>
        <p:spPr>
          <a:xfrm>
            <a:off x="2377440" y="5029200"/>
            <a:ext cx="1234440" cy="310896"/>
          </a:xfrm>
          <a:prstGeom prst="rect">
            <a:avLst/>
          </a:prstGeom>
          <a:solidFill>
            <a:srgbClr val="F3F7F8"/>
          </a:solidFill>
          <a:ln w="9525">
            <a:solidFill>
              <a:srgbClr val="CFDEE1"/>
            </a:solidFill>
            <a:prstDash val="solid"/>
          </a:ln>
        </p:spPr>
      </p:sp>
      <p:sp>
        <p:nvSpPr>
          <p:cNvPr id="92" name="Text 90"/>
          <p:cNvSpPr/>
          <p:nvPr/>
        </p:nvSpPr>
        <p:spPr>
          <a:xfrm>
            <a:off x="2432304" y="5029200"/>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SCREENING</a:t>
            </a:r>
            <a:endParaRPr lang="en-US" sz="1100" dirty="0"/>
          </a:p>
        </p:txBody>
      </p:sp>
      <p:sp>
        <p:nvSpPr>
          <p:cNvPr id="93" name="Shape 91"/>
          <p:cNvSpPr/>
          <p:nvPr/>
        </p:nvSpPr>
        <p:spPr>
          <a:xfrm>
            <a:off x="3611880" y="5029200"/>
            <a:ext cx="1097280" cy="310896"/>
          </a:xfrm>
          <a:prstGeom prst="rect">
            <a:avLst/>
          </a:prstGeom>
          <a:solidFill>
            <a:srgbClr val="F3F7F8"/>
          </a:solidFill>
          <a:ln w="9525">
            <a:solidFill>
              <a:srgbClr val="CFDEE1"/>
            </a:solidFill>
            <a:prstDash val="solid"/>
          </a:ln>
        </p:spPr>
      </p:sp>
      <p:sp>
        <p:nvSpPr>
          <p:cNvPr id="94" name="Text 92"/>
          <p:cNvSpPr/>
          <p:nvPr/>
        </p:nvSpPr>
        <p:spPr>
          <a:xfrm>
            <a:off x="3666744" y="5029200"/>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PULSE</a:t>
            </a:r>
            <a:endParaRPr lang="en-US" sz="1100" dirty="0"/>
          </a:p>
        </p:txBody>
      </p:sp>
      <p:sp>
        <p:nvSpPr>
          <p:cNvPr id="95" name="Shape 93"/>
          <p:cNvSpPr/>
          <p:nvPr/>
        </p:nvSpPr>
        <p:spPr>
          <a:xfrm>
            <a:off x="4709160" y="5029200"/>
            <a:ext cx="1051560" cy="310896"/>
          </a:xfrm>
          <a:prstGeom prst="rect">
            <a:avLst/>
          </a:prstGeom>
          <a:solidFill>
            <a:srgbClr val="F3F7F8"/>
          </a:solidFill>
          <a:ln w="9525">
            <a:solidFill>
              <a:srgbClr val="CFDEE1"/>
            </a:solidFill>
            <a:prstDash val="solid"/>
          </a:ln>
        </p:spPr>
      </p:sp>
      <p:sp>
        <p:nvSpPr>
          <p:cNvPr id="96" name="Text 94"/>
          <p:cNvSpPr/>
          <p:nvPr/>
        </p:nvSpPr>
        <p:spPr>
          <a:xfrm>
            <a:off x="4764024" y="5029200"/>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68</a:t>
            </a:r>
            <a:endParaRPr lang="en-US" sz="1100" dirty="0"/>
          </a:p>
        </p:txBody>
      </p:sp>
      <p:sp>
        <p:nvSpPr>
          <p:cNvPr id="97" name="Shape 95"/>
          <p:cNvSpPr/>
          <p:nvPr/>
        </p:nvSpPr>
        <p:spPr>
          <a:xfrm>
            <a:off x="5760720" y="5029200"/>
            <a:ext cx="1097280" cy="310896"/>
          </a:xfrm>
          <a:prstGeom prst="rect">
            <a:avLst/>
          </a:prstGeom>
          <a:solidFill>
            <a:srgbClr val="F3F7F8"/>
          </a:solidFill>
          <a:ln w="9525">
            <a:solidFill>
              <a:srgbClr val="CFDEE1"/>
            </a:solidFill>
            <a:prstDash val="solid"/>
          </a:ln>
        </p:spPr>
      </p:sp>
      <p:sp>
        <p:nvSpPr>
          <p:cNvPr id="98" name="Text 96"/>
          <p:cNvSpPr/>
          <p:nvPr/>
        </p:nvSpPr>
        <p:spPr>
          <a:xfrm>
            <a:off x="5815584" y="5029200"/>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beats/min</a:t>
            </a:r>
            <a:endParaRPr lang="en-US" sz="1100" dirty="0"/>
          </a:p>
        </p:txBody>
      </p:sp>
      <p:sp>
        <p:nvSpPr>
          <p:cNvPr id="99" name="Shape 97"/>
          <p:cNvSpPr/>
          <p:nvPr/>
        </p:nvSpPr>
        <p:spPr>
          <a:xfrm>
            <a:off x="640080" y="5340096"/>
            <a:ext cx="1737360" cy="310896"/>
          </a:xfrm>
          <a:prstGeom prst="rect">
            <a:avLst/>
          </a:prstGeom>
          <a:solidFill>
            <a:srgbClr val="FFFFFF"/>
          </a:solidFill>
          <a:ln w="9525">
            <a:solidFill>
              <a:srgbClr val="CFDEE1"/>
            </a:solidFill>
            <a:prstDash val="solid"/>
          </a:ln>
        </p:spPr>
      </p:sp>
      <p:sp>
        <p:nvSpPr>
          <p:cNvPr id="100" name="Text 98"/>
          <p:cNvSpPr/>
          <p:nvPr/>
        </p:nvSpPr>
        <p:spPr>
          <a:xfrm>
            <a:off x="694944" y="5340096"/>
            <a:ext cx="16276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p>
        </p:txBody>
      </p:sp>
      <p:sp>
        <p:nvSpPr>
          <p:cNvPr id="101" name="Shape 99"/>
          <p:cNvSpPr/>
          <p:nvPr/>
        </p:nvSpPr>
        <p:spPr>
          <a:xfrm>
            <a:off x="2377440" y="5340096"/>
            <a:ext cx="1234440" cy="310896"/>
          </a:xfrm>
          <a:prstGeom prst="rect">
            <a:avLst/>
          </a:prstGeom>
          <a:solidFill>
            <a:srgbClr val="FFFFFF"/>
          </a:solidFill>
          <a:ln w="9525">
            <a:solidFill>
              <a:srgbClr val="CFDEE1"/>
            </a:solidFill>
            <a:prstDash val="solid"/>
          </a:ln>
        </p:spPr>
      </p:sp>
      <p:sp>
        <p:nvSpPr>
          <p:cNvPr id="102" name="Text 100"/>
          <p:cNvSpPr/>
          <p:nvPr/>
        </p:nvSpPr>
        <p:spPr>
          <a:xfrm>
            <a:off x="2432304" y="5340096"/>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SCREENING</a:t>
            </a:r>
            <a:endParaRPr lang="en-US" sz="1100" dirty="0"/>
          </a:p>
        </p:txBody>
      </p:sp>
      <p:sp>
        <p:nvSpPr>
          <p:cNvPr id="103" name="Shape 101"/>
          <p:cNvSpPr/>
          <p:nvPr/>
        </p:nvSpPr>
        <p:spPr>
          <a:xfrm>
            <a:off x="3611880" y="5340096"/>
            <a:ext cx="1097280" cy="310896"/>
          </a:xfrm>
          <a:prstGeom prst="rect">
            <a:avLst/>
          </a:prstGeom>
          <a:solidFill>
            <a:srgbClr val="FFFFFF"/>
          </a:solidFill>
          <a:ln w="9525">
            <a:solidFill>
              <a:srgbClr val="CFDEE1"/>
            </a:solidFill>
            <a:prstDash val="solid"/>
          </a:ln>
        </p:spPr>
      </p:sp>
      <p:sp>
        <p:nvSpPr>
          <p:cNvPr id="104" name="Text 102"/>
          <p:cNvSpPr/>
          <p:nvPr/>
        </p:nvSpPr>
        <p:spPr>
          <a:xfrm>
            <a:off x="3666744" y="5340096"/>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t>
            </a:r>
            <a:endParaRPr lang="en-US" sz="1100" dirty="0"/>
          </a:p>
        </p:txBody>
      </p:sp>
      <p:sp>
        <p:nvSpPr>
          <p:cNvPr id="105" name="Shape 103"/>
          <p:cNvSpPr/>
          <p:nvPr/>
        </p:nvSpPr>
        <p:spPr>
          <a:xfrm>
            <a:off x="4709160" y="5340096"/>
            <a:ext cx="1051560" cy="310896"/>
          </a:xfrm>
          <a:prstGeom prst="rect">
            <a:avLst/>
          </a:prstGeom>
          <a:solidFill>
            <a:srgbClr val="FFFFFF"/>
          </a:solidFill>
          <a:ln w="9525">
            <a:solidFill>
              <a:srgbClr val="CFDEE1"/>
            </a:solidFill>
            <a:prstDash val="solid"/>
          </a:ln>
        </p:spPr>
      </p:sp>
      <p:sp>
        <p:nvSpPr>
          <p:cNvPr id="106" name="Text 104"/>
          <p:cNvSpPr/>
          <p:nvPr/>
        </p:nvSpPr>
        <p:spPr>
          <a:xfrm>
            <a:off x="4764024" y="5340096"/>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a:t>
            </a:r>
            <a:endParaRPr lang="en-US" sz="1100" dirty="0"/>
          </a:p>
        </p:txBody>
      </p:sp>
      <p:sp>
        <p:nvSpPr>
          <p:cNvPr id="107" name="Shape 105"/>
          <p:cNvSpPr/>
          <p:nvPr/>
        </p:nvSpPr>
        <p:spPr>
          <a:xfrm>
            <a:off x="5760720" y="5340096"/>
            <a:ext cx="1097280" cy="310896"/>
          </a:xfrm>
          <a:prstGeom prst="rect">
            <a:avLst/>
          </a:prstGeom>
          <a:solidFill>
            <a:srgbClr val="FFFFFF"/>
          </a:solidFill>
          <a:ln w="9525">
            <a:solidFill>
              <a:srgbClr val="CFDEE1"/>
            </a:solidFill>
            <a:prstDash val="solid"/>
          </a:ln>
        </p:spPr>
      </p:sp>
      <p:sp>
        <p:nvSpPr>
          <p:cNvPr id="108" name="Text 106"/>
          <p:cNvSpPr/>
          <p:nvPr/>
        </p:nvSpPr>
        <p:spPr>
          <a:xfrm>
            <a:off x="5815584" y="5340096"/>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t>
            </a:r>
            <a:endParaRPr lang="en-US" sz="1100" dirty="0"/>
          </a:p>
        </p:txBody>
      </p:sp>
      <p:sp>
        <p:nvSpPr>
          <p:cNvPr id="109" name="Text 107"/>
          <p:cNvSpPr/>
          <p:nvPr/>
        </p:nvSpPr>
        <p:spPr>
          <a:xfrm>
            <a:off x="6949440" y="4407408"/>
            <a:ext cx="4663440" cy="36576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1 subject × 2 visits × 6 tests  =  up to 12 rows</a:t>
            </a:r>
            <a:endParaRPr lang="en-US" sz="1300" dirty="0"/>
          </a:p>
        </p:txBody>
      </p:sp>
      <p:sp>
        <p:nvSpPr>
          <p:cNvPr id="110" name="Text 108"/>
          <p:cNvSpPr/>
          <p:nvPr/>
        </p:nvSpPr>
        <p:spPr>
          <a:xfrm>
            <a:off x="6949440" y="4709160"/>
            <a:ext cx="4663440" cy="64008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Add a new test → add new ROWS.</a:t>
            </a:r>
            <a:endParaRPr lang="en-US" sz="1150" dirty="0"/>
          </a:p>
          <a:p>
            <a:pPr indent="0" marL="0">
              <a:buNone/>
            </a:pPr>
            <a:r>
              <a:rPr lang="en-US" sz="1150" dirty="0">
                <a:solidFill>
                  <a:srgbClr val="5A7682"/>
                </a:solidFill>
                <a:latin typeface="Calibri" pitchFamily="34" charset="0"/>
                <a:ea typeface="Calibri" pitchFamily="34" charset="-122"/>
                <a:cs typeface="Calibri" pitchFamily="34" charset="-120"/>
              </a:rPr>
              <a:t>The STRUCTURE never changes. That is the point.</a:t>
            </a:r>
            <a:endParaRPr lang="en-US" sz="1150" dirty="0"/>
          </a:p>
        </p:txBody>
      </p:sp>
      <p:sp>
        <p:nvSpPr>
          <p:cNvPr id="111" name="Shape 109"/>
          <p:cNvSpPr/>
          <p:nvPr/>
        </p:nvSpPr>
        <p:spPr>
          <a:xfrm>
            <a:off x="640080" y="5742432"/>
            <a:ext cx="10972800" cy="731520"/>
          </a:xfrm>
          <a:prstGeom prst="roundRect">
            <a:avLst>
              <a:gd name="adj" fmla="val 1125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2" name="Text 110"/>
          <p:cNvSpPr/>
          <p:nvPr/>
        </p:nvSpPr>
        <p:spPr>
          <a:xfrm>
            <a:off x="914400" y="5815584"/>
            <a:ext cx="10424160" cy="585216"/>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Why bother?  </a:t>
            </a:r>
            <a:pPr indent="0" marL="0">
              <a:buNone/>
            </a:pPr>
            <a:r>
              <a:rPr lang="en-US" sz="1300" dirty="0">
                <a:solidFill>
                  <a:srgbClr val="0F2E3D"/>
                </a:solidFill>
                <a:latin typeface="Calibri" pitchFamily="34" charset="0"/>
                <a:ea typeface="Calibri" pitchFamily="34" charset="-122"/>
                <a:cs typeface="Calibri" pitchFamily="34" charset="-120"/>
              </a:rPr>
              <a:t>A reviewer can write ONE program that reads every Findings domain in every study — because they all have the same columns. A wide dataset needs a new program for every protocol.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DOING IT</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Six output rows from one input row</a:t>
            </a:r>
            <a:endParaRPr lang="en-US" sz="3000" dirty="0"/>
          </a:p>
        </p:txBody>
      </p:sp>
      <p:sp>
        <p:nvSpPr>
          <p:cNvPr id="4" name="Text 2"/>
          <p:cNvSpPr/>
          <p:nvPr/>
        </p:nvSpPr>
        <p:spPr>
          <a:xfrm>
            <a:off x="640080" y="1600200"/>
            <a:ext cx="10972800" cy="320040"/>
          </a:xfrm>
          <a:prstGeom prst="rect">
            <a:avLst/>
          </a:prstGeom>
          <a:noFill/>
          <a:ln/>
        </p:spPr>
        <p:txBody>
          <a:bodyPr wrap="square" lIns="0" tIns="0" rIns="0" bIns="0" rtlCol="0" anchor="ctr"/>
          <a:lstStyle/>
          <a:p>
            <a:pPr indent="0" marL="0">
              <a:buNone/>
            </a:pPr>
            <a:r>
              <a:rPr lang="en-US" sz="1300" dirty="0">
                <a:solidFill>
                  <a:srgbClr val="AFCBD3"/>
                </a:solidFill>
                <a:latin typeface="Calibri" pitchFamily="34" charset="0"/>
                <a:ea typeface="Calibri" pitchFamily="34" charset="-122"/>
                <a:cs typeface="Calibri" pitchFamily="34" charset="-120"/>
              </a:rPr>
              <a:t>The array-and-loop method — one OUTPUT per test, skipping what wasn't measured</a:t>
            </a:r>
            <a:endParaRPr lang="en-US" sz="1300" dirty="0"/>
          </a:p>
        </p:txBody>
      </p:sp>
      <p:sp>
        <p:nvSpPr>
          <p:cNvPr id="5" name="Shape 3"/>
          <p:cNvSpPr/>
          <p:nvPr/>
        </p:nvSpPr>
        <p:spPr>
          <a:xfrm>
            <a:off x="640080" y="2011680"/>
            <a:ext cx="10972800" cy="2853944"/>
          </a:xfrm>
          <a:prstGeom prst="roundRect">
            <a:avLst>
              <a:gd name="adj" fmla="val 2563"/>
            </a:avLst>
          </a:prstGeom>
          <a:solidFill>
            <a:srgbClr val="13323F"/>
          </a:solidFill>
          <a:ln w="19050">
            <a:solidFill>
              <a:srgbClr val="1FA8A0"/>
            </a:solidFill>
            <a:prstDash val="solid"/>
          </a:ln>
        </p:spPr>
      </p:sp>
      <p:sp>
        <p:nvSpPr>
          <p:cNvPr id="6" name="Text 4"/>
          <p:cNvSpPr/>
          <p:nvPr/>
        </p:nvSpPr>
        <p:spPr>
          <a:xfrm>
            <a:off x="868680" y="2103120"/>
            <a:ext cx="5486400" cy="320040"/>
          </a:xfrm>
          <a:prstGeom prst="rect">
            <a:avLst/>
          </a:prstGeom>
          <a:noFill/>
          <a:ln/>
        </p:spPr>
        <p:txBody>
          <a:bodyPr wrap="square" lIns="0" tIns="0" rIns="0" bIns="0" rtlCol="0" anchor="ctr"/>
          <a:lstStyle/>
          <a:p>
            <a:pPr indent="0" marL="0">
              <a:buNone/>
            </a:pPr>
            <a:r>
              <a:rPr lang="en-US" sz="1400" b="1" dirty="0">
                <a:solidFill>
                  <a:srgbClr val="1FA8A0"/>
                </a:solidFill>
                <a:latin typeface="Cambria" pitchFamily="34" charset="0"/>
                <a:ea typeface="Cambria" pitchFamily="34" charset="-122"/>
                <a:cs typeface="Cambria" pitchFamily="34" charset="-120"/>
              </a:rPr>
              <a:t>SAS  ·  wide → tall</a:t>
            </a:r>
            <a:endParaRPr lang="en-US" sz="1400" dirty="0"/>
          </a:p>
        </p:txBody>
      </p:sp>
      <p:sp>
        <p:nvSpPr>
          <p:cNvPr id="7" name="Text 5"/>
          <p:cNvSpPr/>
          <p:nvPr/>
        </p:nvSpPr>
        <p:spPr>
          <a:xfrm>
            <a:off x="868680" y="2468880"/>
            <a:ext cx="1056132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array vals{6}  sysbp diabp pulse temp height weight;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array cds {6} $8 ('SYSBP' 'DIABP' 'PULSE' 'TEMP' 'HEIGHT' 'WEIGHT');</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do i = 1 to 6;</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if not missing(vals{i}) then do;     /* no result -&gt; no row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vstestcd = cds{i};</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vsorres  = put(vals{i}, best.);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output;                          /* &lt;-- one row per test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end;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end;</a:t>
            </a:r>
            <a:endParaRPr lang="en-US" sz="1200" dirty="0"/>
          </a:p>
        </p:txBody>
      </p:sp>
      <p:sp>
        <p:nvSpPr>
          <p:cNvPr id="8" name="Shape 6"/>
          <p:cNvSpPr/>
          <p:nvPr/>
        </p:nvSpPr>
        <p:spPr>
          <a:xfrm>
            <a:off x="640080" y="4892040"/>
            <a:ext cx="5349240" cy="1417320"/>
          </a:xfrm>
          <a:prstGeom prst="roundRect">
            <a:avLst>
              <a:gd name="adj" fmla="val 5806"/>
            </a:avLst>
          </a:prstGeom>
          <a:solidFill>
            <a:srgbClr val="1A415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914400" y="5029200"/>
            <a:ext cx="4754880" cy="32004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The three moving parts</a:t>
            </a:r>
            <a:endParaRPr lang="en-US" sz="1500" dirty="0"/>
          </a:p>
        </p:txBody>
      </p:sp>
      <p:sp>
        <p:nvSpPr>
          <p:cNvPr id="10" name="Text 8"/>
          <p:cNvSpPr/>
          <p:nvPr/>
        </p:nvSpPr>
        <p:spPr>
          <a:xfrm>
            <a:off x="914400" y="5376672"/>
            <a:ext cx="4754880" cy="822960"/>
          </a:xfrm>
          <a:prstGeom prst="rect">
            <a:avLst/>
          </a:prstGeom>
          <a:noFill/>
          <a:ln/>
        </p:spPr>
        <p:txBody>
          <a:bodyPr wrap="square" lIns="0" tIns="0" rIns="0" bIns="0" rtlCol="0" anchor="ctr"/>
          <a:lstStyle/>
          <a:p>
            <a:pPr indent="0" marL="0">
              <a:lnSpc>
                <a:spcPts val="1700"/>
              </a:lnSpc>
              <a:buNone/>
            </a:pPr>
            <a:r>
              <a:rPr lang="en-US" sz="1250" dirty="0">
                <a:solidFill>
                  <a:srgbClr val="DCEBEF"/>
                </a:solidFill>
                <a:latin typeface="Calibri" pitchFamily="34" charset="0"/>
                <a:ea typeface="Calibri" pitchFamily="34" charset="-122"/>
                <a:cs typeface="Calibri" pitchFamily="34" charset="-120"/>
              </a:rPr>
              <a:t>1.  an array of the VALUE columns</a:t>
            </a:r>
            <a:endParaRPr lang="en-US" sz="1250" dirty="0"/>
          </a:p>
          <a:p>
            <a:pPr indent="0" marL="0">
              <a:lnSpc>
                <a:spcPts val="1700"/>
              </a:lnSpc>
              <a:buNone/>
            </a:pPr>
            <a:r>
              <a:rPr lang="en-US" sz="1250" dirty="0">
                <a:solidFill>
                  <a:srgbClr val="DCEBEF"/>
                </a:solidFill>
                <a:latin typeface="Calibri" pitchFamily="34" charset="0"/>
                <a:ea typeface="Calibri" pitchFamily="34" charset="-122"/>
                <a:cs typeface="Calibri" pitchFamily="34" charset="-120"/>
              </a:rPr>
              <a:t>2.  a parallel array of TEST CODES</a:t>
            </a:r>
            <a:endParaRPr lang="en-US" sz="1250" dirty="0"/>
          </a:p>
          <a:p>
            <a:pPr indent="0" marL="0">
              <a:lnSpc>
                <a:spcPts val="1700"/>
              </a:lnSpc>
              <a:buNone/>
            </a:pPr>
            <a:r>
              <a:rPr lang="en-US" sz="1250" dirty="0">
                <a:solidFill>
                  <a:srgbClr val="DCEBEF"/>
                </a:solidFill>
                <a:latin typeface="Calibri" pitchFamily="34" charset="0"/>
                <a:ea typeface="Calibri" pitchFamily="34" charset="-122"/>
                <a:cs typeface="Calibri" pitchFamily="34" charset="-120"/>
              </a:rPr>
              <a:t>3.  OUTPUT inside the loop, not after it</a:t>
            </a:r>
            <a:endParaRPr lang="en-US" sz="1250" dirty="0"/>
          </a:p>
        </p:txBody>
      </p:sp>
      <p:sp>
        <p:nvSpPr>
          <p:cNvPr id="11" name="Shape 9"/>
          <p:cNvSpPr/>
          <p:nvPr/>
        </p:nvSpPr>
        <p:spPr>
          <a:xfrm>
            <a:off x="6263640" y="4892040"/>
            <a:ext cx="5349240" cy="1417320"/>
          </a:xfrm>
          <a:prstGeom prst="roundRect">
            <a:avLst>
              <a:gd name="adj" fmla="val 5806"/>
            </a:avLst>
          </a:prstGeom>
          <a:solidFill>
            <a:srgbClr val="3A253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6537960" y="5029200"/>
            <a:ext cx="4754880" cy="320040"/>
          </a:xfrm>
          <a:prstGeom prst="rect">
            <a:avLst/>
          </a:prstGeom>
          <a:noFill/>
          <a:ln/>
        </p:spPr>
        <p:txBody>
          <a:bodyPr wrap="square" lIns="0" tIns="0" rIns="0" bIns="0" rtlCol="0" anchor="ctr"/>
          <a:lstStyle/>
          <a:p>
            <a:pPr indent="0" marL="0">
              <a:buNone/>
            </a:pPr>
            <a:r>
              <a:rPr lang="en-US" sz="1500" b="1" dirty="0">
                <a:solidFill>
                  <a:srgbClr val="FF9DAE"/>
                </a:solidFill>
                <a:latin typeface="Cambria" pitchFamily="34" charset="0"/>
                <a:ea typeface="Cambria" pitchFamily="34" charset="-122"/>
                <a:cs typeface="Cambria" pitchFamily="34" charset="-120"/>
              </a:rPr>
              <a:t>⚠  The classic bug</a:t>
            </a:r>
            <a:endParaRPr lang="en-US" sz="1500" dirty="0"/>
          </a:p>
        </p:txBody>
      </p:sp>
      <p:sp>
        <p:nvSpPr>
          <p:cNvPr id="13" name="Text 11"/>
          <p:cNvSpPr/>
          <p:nvPr/>
        </p:nvSpPr>
        <p:spPr>
          <a:xfrm>
            <a:off x="6537960" y="5376672"/>
            <a:ext cx="4754880" cy="868680"/>
          </a:xfrm>
          <a:prstGeom prst="rect">
            <a:avLst/>
          </a:prstGeom>
          <a:noFill/>
          <a:ln/>
        </p:spPr>
        <p:txBody>
          <a:bodyPr wrap="square" lIns="0" tIns="0" rIns="0" bIns="0" rtlCol="0" anchor="ctr"/>
          <a:lstStyle/>
          <a:p>
            <a:pPr indent="0" marL="0">
              <a:lnSpc>
                <a:spcPts val="1500"/>
              </a:lnSpc>
              <a:buNone/>
            </a:pPr>
            <a:r>
              <a:rPr lang="en-US" sz="1200" dirty="0">
                <a:solidFill>
                  <a:srgbClr val="F0D6DB"/>
                </a:solidFill>
                <a:latin typeface="Calibri" pitchFamily="34" charset="0"/>
                <a:ea typeface="Calibri" pitchFamily="34" charset="-122"/>
                <a:cs typeface="Calibri" pitchFamily="34" charset="-120"/>
              </a:rPr>
              <a:t>OUTPUT placed AFTER the loop instead of inside it.</a:t>
            </a:r>
            <a:endParaRPr lang="en-US" sz="1200" dirty="0"/>
          </a:p>
          <a:p>
            <a:pPr indent="0" marL="0">
              <a:lnSpc>
                <a:spcPts val="1500"/>
              </a:lnSpc>
              <a:buNone/>
            </a:pPr>
            <a:r>
              <a:rPr lang="en-US" sz="1200" dirty="0">
                <a:solidFill>
                  <a:srgbClr val="F0D6DB"/>
                </a:solidFill>
                <a:latin typeface="Calibri" pitchFamily="34" charset="0"/>
                <a:ea typeface="Calibri" pitchFamily="34" charset="-122"/>
                <a:cs typeface="Calibri" pitchFamily="34" charset="-120"/>
              </a:rPr>
              <a:t>You get one row per visit carrying only the LAST test — and it looks plausible enough to ship.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ONE RESULT, THREE VARIABLES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Why SDTM stores the same number three times</a:t>
            </a:r>
            <a:endParaRPr lang="en-US" sz="3000" dirty="0"/>
          </a:p>
        </p:txBody>
      </p:sp>
      <p:sp>
        <p:nvSpPr>
          <p:cNvPr id="4" name="Shape 2"/>
          <p:cNvSpPr/>
          <p:nvPr/>
        </p:nvSpPr>
        <p:spPr>
          <a:xfrm>
            <a:off x="640080" y="1645920"/>
            <a:ext cx="1097280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82296" cy="1325880"/>
          </a:xfrm>
          <a:prstGeom prst="rect">
            <a:avLst/>
          </a:prstGeom>
          <a:solidFill>
            <a:srgbClr val="0E7C86"/>
          </a:solidFill>
          <a:ln/>
        </p:spPr>
      </p:sp>
      <p:sp>
        <p:nvSpPr>
          <p:cNvPr id="6" name="Text 4"/>
          <p:cNvSpPr/>
          <p:nvPr/>
        </p:nvSpPr>
        <p:spPr>
          <a:xfrm>
            <a:off x="914400" y="1792224"/>
            <a:ext cx="2103120" cy="365760"/>
          </a:xfrm>
          <a:prstGeom prst="rect">
            <a:avLst/>
          </a:prstGeom>
          <a:noFill/>
          <a:ln/>
        </p:spPr>
        <p:txBody>
          <a:bodyPr wrap="square" lIns="0" tIns="0" rIns="0" bIns="0" rtlCol="0" anchor="ctr"/>
          <a:lstStyle/>
          <a:p>
            <a:pPr indent="0" marL="0">
              <a:buNone/>
            </a:pPr>
            <a:r>
              <a:rPr lang="en-US" sz="1600" b="1" dirty="0">
                <a:solidFill>
                  <a:srgbClr val="0E7C86"/>
                </a:solidFill>
                <a:latin typeface="Courier New" pitchFamily="34" charset="0"/>
                <a:ea typeface="Courier New" pitchFamily="34" charset="-122"/>
                <a:cs typeface="Courier New" pitchFamily="34" charset="-120"/>
              </a:rPr>
              <a:t>--ORRES</a:t>
            </a:r>
            <a:endParaRPr lang="en-US" sz="1600" dirty="0"/>
          </a:p>
        </p:txBody>
      </p:sp>
      <p:sp>
        <p:nvSpPr>
          <p:cNvPr id="7" name="Text 5"/>
          <p:cNvSpPr/>
          <p:nvPr/>
        </p:nvSpPr>
        <p:spPr>
          <a:xfrm>
            <a:off x="914400" y="2212848"/>
            <a:ext cx="2103120" cy="274320"/>
          </a:xfrm>
          <a:prstGeom prst="rect">
            <a:avLst/>
          </a:prstGeom>
          <a:noFill/>
          <a:ln/>
        </p:spPr>
        <p:txBody>
          <a:bodyPr wrap="square" lIns="0" tIns="0" rIns="0" bIns="0" rtlCol="0" anchor="ctr"/>
          <a:lstStyle/>
          <a:p>
            <a:pPr indent="0" marL="0">
              <a:buNone/>
            </a:pPr>
            <a:r>
              <a:rPr lang="en-US" sz="1000" b="1" spc="100" kern="0" dirty="0">
                <a:solidFill>
                  <a:srgbClr val="5A7682"/>
                </a:solidFill>
                <a:latin typeface="Calibri" pitchFamily="34" charset="0"/>
                <a:ea typeface="Calibri" pitchFamily="34" charset="-122"/>
                <a:cs typeface="Calibri" pitchFamily="34" charset="-120"/>
              </a:rPr>
              <a:t>CHARACTER</a:t>
            </a:r>
            <a:endParaRPr lang="en-US" sz="1000" dirty="0"/>
          </a:p>
        </p:txBody>
      </p:sp>
      <p:sp>
        <p:nvSpPr>
          <p:cNvPr id="8" name="Text 6"/>
          <p:cNvSpPr/>
          <p:nvPr/>
        </p:nvSpPr>
        <p:spPr>
          <a:xfrm>
            <a:off x="3108960" y="1810512"/>
            <a:ext cx="420624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ORIGINAL result, exactly as collected</a:t>
            </a:r>
            <a:endParaRPr lang="en-US" sz="1350" dirty="0"/>
          </a:p>
        </p:txBody>
      </p:sp>
      <p:sp>
        <p:nvSpPr>
          <p:cNvPr id="9" name="Text 7"/>
          <p:cNvSpPr/>
          <p:nvPr/>
        </p:nvSpPr>
        <p:spPr>
          <a:xfrm>
            <a:off x="3108960" y="2267712"/>
            <a:ext cx="630936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Never modified. This is the audit trail back to the CRF.</a:t>
            </a:r>
            <a:endParaRPr lang="en-US" sz="1200" dirty="0"/>
          </a:p>
        </p:txBody>
      </p:sp>
      <p:sp>
        <p:nvSpPr>
          <p:cNvPr id="10" name="Shape 8"/>
          <p:cNvSpPr/>
          <p:nvPr/>
        </p:nvSpPr>
        <p:spPr>
          <a:xfrm>
            <a:off x="9692640" y="1938528"/>
            <a:ext cx="1691640" cy="658368"/>
          </a:xfrm>
          <a:prstGeom prst="roundRect">
            <a:avLst>
              <a:gd name="adj" fmla="val 8333"/>
            </a:avLst>
          </a:prstGeom>
          <a:solidFill>
            <a:srgbClr val="13323F"/>
          </a:solidFill>
          <a:ln w="15240">
            <a:solidFill>
              <a:srgbClr val="0E7C86"/>
            </a:solidFill>
            <a:prstDash val="solid"/>
          </a:ln>
        </p:spPr>
      </p:sp>
      <p:sp>
        <p:nvSpPr>
          <p:cNvPr id="11" name="Text 9"/>
          <p:cNvSpPr/>
          <p:nvPr/>
        </p:nvSpPr>
        <p:spPr>
          <a:xfrm>
            <a:off x="9692640" y="1938528"/>
            <a:ext cx="1691640" cy="658368"/>
          </a:xfrm>
          <a:prstGeom prst="rect">
            <a:avLst/>
          </a:prstGeom>
          <a:noFill/>
          <a:ln/>
        </p:spPr>
        <p:txBody>
          <a:bodyPr wrap="square" lIns="0" tIns="0" rIns="0" bIns="0" rtlCol="0" anchor="ctr"/>
          <a:lstStyle/>
          <a:p>
            <a:pPr algn="ctr" indent="0" marL="0">
              <a:buNone/>
            </a:pPr>
            <a:r>
              <a:rPr lang="en-US" sz="1500" b="1" dirty="0">
                <a:solidFill>
                  <a:srgbClr val="DCEBEF"/>
                </a:solidFill>
                <a:latin typeface="Courier New" pitchFamily="34" charset="0"/>
                <a:ea typeface="Courier New" pitchFamily="34" charset="-122"/>
                <a:cs typeface="Courier New" pitchFamily="34" charset="-120"/>
              </a:rPr>
              <a:t>“120”</a:t>
            </a:r>
            <a:endParaRPr lang="en-US" sz="1500" dirty="0"/>
          </a:p>
        </p:txBody>
      </p:sp>
      <p:sp>
        <p:nvSpPr>
          <p:cNvPr id="12" name="Shape 10"/>
          <p:cNvSpPr/>
          <p:nvPr/>
        </p:nvSpPr>
        <p:spPr>
          <a:xfrm>
            <a:off x="640080" y="3090672"/>
            <a:ext cx="1097280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40080" y="3090672"/>
            <a:ext cx="82296" cy="1325880"/>
          </a:xfrm>
          <a:prstGeom prst="rect">
            <a:avLst/>
          </a:prstGeom>
          <a:solidFill>
            <a:srgbClr val="E8833A"/>
          </a:solidFill>
          <a:ln/>
        </p:spPr>
      </p:sp>
      <p:sp>
        <p:nvSpPr>
          <p:cNvPr id="14" name="Text 12"/>
          <p:cNvSpPr/>
          <p:nvPr/>
        </p:nvSpPr>
        <p:spPr>
          <a:xfrm>
            <a:off x="914400" y="3236976"/>
            <a:ext cx="2103120" cy="365760"/>
          </a:xfrm>
          <a:prstGeom prst="rect">
            <a:avLst/>
          </a:prstGeom>
          <a:noFill/>
          <a:ln/>
        </p:spPr>
        <p:txBody>
          <a:bodyPr wrap="square" lIns="0" tIns="0" rIns="0" bIns="0" rtlCol="0" anchor="ctr"/>
          <a:lstStyle/>
          <a:p>
            <a:pPr indent="0" marL="0">
              <a:buNone/>
            </a:pPr>
            <a:r>
              <a:rPr lang="en-US" sz="1600" b="1" dirty="0">
                <a:solidFill>
                  <a:srgbClr val="E8833A"/>
                </a:solidFill>
                <a:latin typeface="Courier New" pitchFamily="34" charset="0"/>
                <a:ea typeface="Courier New" pitchFamily="34" charset="-122"/>
                <a:cs typeface="Courier New" pitchFamily="34" charset="-120"/>
              </a:rPr>
              <a:t>--STRESC</a:t>
            </a:r>
            <a:endParaRPr lang="en-US" sz="1600" dirty="0"/>
          </a:p>
        </p:txBody>
      </p:sp>
      <p:sp>
        <p:nvSpPr>
          <p:cNvPr id="15" name="Text 13"/>
          <p:cNvSpPr/>
          <p:nvPr/>
        </p:nvSpPr>
        <p:spPr>
          <a:xfrm>
            <a:off x="914400" y="3657600"/>
            <a:ext cx="2103120" cy="274320"/>
          </a:xfrm>
          <a:prstGeom prst="rect">
            <a:avLst/>
          </a:prstGeom>
          <a:noFill/>
          <a:ln/>
        </p:spPr>
        <p:txBody>
          <a:bodyPr wrap="square" lIns="0" tIns="0" rIns="0" bIns="0" rtlCol="0" anchor="ctr"/>
          <a:lstStyle/>
          <a:p>
            <a:pPr indent="0" marL="0">
              <a:buNone/>
            </a:pPr>
            <a:r>
              <a:rPr lang="en-US" sz="1000" b="1" spc="100" kern="0" dirty="0">
                <a:solidFill>
                  <a:srgbClr val="5A7682"/>
                </a:solidFill>
                <a:latin typeface="Calibri" pitchFamily="34" charset="0"/>
                <a:ea typeface="Calibri" pitchFamily="34" charset="-122"/>
                <a:cs typeface="Calibri" pitchFamily="34" charset="-120"/>
              </a:rPr>
              <a:t>CHARACTER</a:t>
            </a:r>
            <a:endParaRPr lang="en-US" sz="1000" dirty="0"/>
          </a:p>
        </p:txBody>
      </p:sp>
      <p:sp>
        <p:nvSpPr>
          <p:cNvPr id="16" name="Text 14"/>
          <p:cNvSpPr/>
          <p:nvPr/>
        </p:nvSpPr>
        <p:spPr>
          <a:xfrm>
            <a:off x="3108960" y="3255264"/>
            <a:ext cx="420624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STANDARDISED result, as character</a:t>
            </a:r>
            <a:endParaRPr lang="en-US" sz="1350" dirty="0"/>
          </a:p>
        </p:txBody>
      </p:sp>
      <p:sp>
        <p:nvSpPr>
          <p:cNvPr id="17" name="Text 15"/>
          <p:cNvSpPr/>
          <p:nvPr/>
        </p:nvSpPr>
        <p:spPr>
          <a:xfrm>
            <a:off x="3108960" y="3712464"/>
            <a:ext cx="630936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Converted to the study's standard unit. Holds results that are NOT numbers, e.g. “POSITIVE”.</a:t>
            </a:r>
            <a:endParaRPr lang="en-US" sz="1200" dirty="0"/>
          </a:p>
        </p:txBody>
      </p:sp>
      <p:sp>
        <p:nvSpPr>
          <p:cNvPr id="18" name="Shape 16"/>
          <p:cNvSpPr/>
          <p:nvPr/>
        </p:nvSpPr>
        <p:spPr>
          <a:xfrm>
            <a:off x="9692640" y="3383280"/>
            <a:ext cx="1691640" cy="658368"/>
          </a:xfrm>
          <a:prstGeom prst="roundRect">
            <a:avLst>
              <a:gd name="adj" fmla="val 8333"/>
            </a:avLst>
          </a:prstGeom>
          <a:solidFill>
            <a:srgbClr val="13323F"/>
          </a:solidFill>
          <a:ln w="15240">
            <a:solidFill>
              <a:srgbClr val="E8833A"/>
            </a:solidFill>
            <a:prstDash val="solid"/>
          </a:ln>
        </p:spPr>
      </p:sp>
      <p:sp>
        <p:nvSpPr>
          <p:cNvPr id="19" name="Text 17"/>
          <p:cNvSpPr/>
          <p:nvPr/>
        </p:nvSpPr>
        <p:spPr>
          <a:xfrm>
            <a:off x="9692640" y="3383280"/>
            <a:ext cx="1691640" cy="658368"/>
          </a:xfrm>
          <a:prstGeom prst="rect">
            <a:avLst/>
          </a:prstGeom>
          <a:noFill/>
          <a:ln/>
        </p:spPr>
        <p:txBody>
          <a:bodyPr wrap="square" lIns="0" tIns="0" rIns="0" bIns="0" rtlCol="0" anchor="ctr"/>
          <a:lstStyle/>
          <a:p>
            <a:pPr algn="ctr" indent="0" marL="0">
              <a:buNone/>
            </a:pPr>
            <a:r>
              <a:rPr lang="en-US" sz="1500" b="1" dirty="0">
                <a:solidFill>
                  <a:srgbClr val="DCEBEF"/>
                </a:solidFill>
                <a:latin typeface="Courier New" pitchFamily="34" charset="0"/>
                <a:ea typeface="Courier New" pitchFamily="34" charset="-122"/>
                <a:cs typeface="Courier New" pitchFamily="34" charset="-120"/>
              </a:rPr>
              <a:t>“120”</a:t>
            </a:r>
            <a:endParaRPr lang="en-US" sz="1500" dirty="0"/>
          </a:p>
        </p:txBody>
      </p:sp>
      <p:sp>
        <p:nvSpPr>
          <p:cNvPr id="20" name="Shape 18"/>
          <p:cNvSpPr/>
          <p:nvPr/>
        </p:nvSpPr>
        <p:spPr>
          <a:xfrm>
            <a:off x="640080" y="4535424"/>
            <a:ext cx="1097280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40080" y="4535424"/>
            <a:ext cx="82296" cy="1325880"/>
          </a:xfrm>
          <a:prstGeom prst="rect">
            <a:avLst/>
          </a:prstGeom>
          <a:solidFill>
            <a:srgbClr val="C0455B"/>
          </a:solidFill>
          <a:ln/>
        </p:spPr>
      </p:sp>
      <p:sp>
        <p:nvSpPr>
          <p:cNvPr id="22" name="Text 20"/>
          <p:cNvSpPr/>
          <p:nvPr/>
        </p:nvSpPr>
        <p:spPr>
          <a:xfrm>
            <a:off x="914400" y="4681728"/>
            <a:ext cx="2103120" cy="365760"/>
          </a:xfrm>
          <a:prstGeom prst="rect">
            <a:avLst/>
          </a:prstGeom>
          <a:noFill/>
          <a:ln/>
        </p:spPr>
        <p:txBody>
          <a:bodyPr wrap="square" lIns="0" tIns="0" rIns="0" bIns="0" rtlCol="0" anchor="ctr"/>
          <a:lstStyle/>
          <a:p>
            <a:pPr indent="0" marL="0">
              <a:buNone/>
            </a:pPr>
            <a:r>
              <a:rPr lang="en-US" sz="1600" b="1" dirty="0">
                <a:solidFill>
                  <a:srgbClr val="C0455B"/>
                </a:solidFill>
                <a:latin typeface="Courier New" pitchFamily="34" charset="0"/>
                <a:ea typeface="Courier New" pitchFamily="34" charset="-122"/>
                <a:cs typeface="Courier New" pitchFamily="34" charset="-120"/>
              </a:rPr>
              <a:t>--STRESN</a:t>
            </a:r>
            <a:endParaRPr lang="en-US" sz="1600" dirty="0"/>
          </a:p>
        </p:txBody>
      </p:sp>
      <p:sp>
        <p:nvSpPr>
          <p:cNvPr id="23" name="Text 21"/>
          <p:cNvSpPr/>
          <p:nvPr/>
        </p:nvSpPr>
        <p:spPr>
          <a:xfrm>
            <a:off x="914400" y="5102352"/>
            <a:ext cx="2103120" cy="274320"/>
          </a:xfrm>
          <a:prstGeom prst="rect">
            <a:avLst/>
          </a:prstGeom>
          <a:noFill/>
          <a:ln/>
        </p:spPr>
        <p:txBody>
          <a:bodyPr wrap="square" lIns="0" tIns="0" rIns="0" bIns="0" rtlCol="0" anchor="ctr"/>
          <a:lstStyle/>
          <a:p>
            <a:pPr indent="0" marL="0">
              <a:buNone/>
            </a:pPr>
            <a:r>
              <a:rPr lang="en-US" sz="1000" b="1" spc="100" kern="0" dirty="0">
                <a:solidFill>
                  <a:srgbClr val="5A7682"/>
                </a:solidFill>
                <a:latin typeface="Calibri" pitchFamily="34" charset="0"/>
                <a:ea typeface="Calibri" pitchFamily="34" charset="-122"/>
                <a:cs typeface="Calibri" pitchFamily="34" charset="-120"/>
              </a:rPr>
              <a:t>NUMERIC</a:t>
            </a:r>
            <a:endParaRPr lang="en-US" sz="1000" dirty="0"/>
          </a:p>
        </p:txBody>
      </p:sp>
      <p:sp>
        <p:nvSpPr>
          <p:cNvPr id="24" name="Text 22"/>
          <p:cNvSpPr/>
          <p:nvPr/>
        </p:nvSpPr>
        <p:spPr>
          <a:xfrm>
            <a:off x="3108960" y="4700016"/>
            <a:ext cx="420624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STANDARDISED result, as a number</a:t>
            </a:r>
            <a:endParaRPr lang="en-US" sz="1350" dirty="0"/>
          </a:p>
        </p:txBody>
      </p:sp>
      <p:sp>
        <p:nvSpPr>
          <p:cNvPr id="25" name="Text 23"/>
          <p:cNvSpPr/>
          <p:nvPr/>
        </p:nvSpPr>
        <p:spPr>
          <a:xfrm>
            <a:off x="3108960" y="5157216"/>
            <a:ext cx="6309360" cy="5486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The only one you can average. Empty when the result isn't numeric.</a:t>
            </a:r>
            <a:endParaRPr lang="en-US" sz="1200" dirty="0"/>
          </a:p>
        </p:txBody>
      </p:sp>
      <p:sp>
        <p:nvSpPr>
          <p:cNvPr id="26" name="Shape 24"/>
          <p:cNvSpPr/>
          <p:nvPr/>
        </p:nvSpPr>
        <p:spPr>
          <a:xfrm>
            <a:off x="9692640" y="4828032"/>
            <a:ext cx="1691640" cy="658368"/>
          </a:xfrm>
          <a:prstGeom prst="roundRect">
            <a:avLst>
              <a:gd name="adj" fmla="val 8333"/>
            </a:avLst>
          </a:prstGeom>
          <a:solidFill>
            <a:srgbClr val="13323F"/>
          </a:solidFill>
          <a:ln w="15240">
            <a:solidFill>
              <a:srgbClr val="C0455B"/>
            </a:solidFill>
            <a:prstDash val="solid"/>
          </a:ln>
        </p:spPr>
      </p:sp>
      <p:sp>
        <p:nvSpPr>
          <p:cNvPr id="27" name="Text 25"/>
          <p:cNvSpPr/>
          <p:nvPr/>
        </p:nvSpPr>
        <p:spPr>
          <a:xfrm>
            <a:off x="9692640" y="4828032"/>
            <a:ext cx="1691640" cy="658368"/>
          </a:xfrm>
          <a:prstGeom prst="rect">
            <a:avLst/>
          </a:prstGeom>
          <a:noFill/>
          <a:ln/>
        </p:spPr>
        <p:txBody>
          <a:bodyPr wrap="square" lIns="0" tIns="0" rIns="0" bIns="0" rtlCol="0" anchor="ctr"/>
          <a:lstStyle/>
          <a:p>
            <a:pPr algn="ctr" indent="0" marL="0">
              <a:buNone/>
            </a:pPr>
            <a:r>
              <a:rPr lang="en-US" sz="1500" b="1" dirty="0">
                <a:solidFill>
                  <a:srgbClr val="DCEBEF"/>
                </a:solidFill>
                <a:latin typeface="Courier New" pitchFamily="34" charset="0"/>
                <a:ea typeface="Courier New" pitchFamily="34" charset="-122"/>
                <a:cs typeface="Courier New" pitchFamily="34" charset="-120"/>
              </a:rPr>
              <a:t>120</a:t>
            </a:r>
            <a:endParaRPr lang="en-US" sz="1500" dirty="0"/>
          </a:p>
        </p:txBody>
      </p:sp>
      <p:sp>
        <p:nvSpPr>
          <p:cNvPr id="28" name="Shape 26"/>
          <p:cNvSpPr/>
          <p:nvPr/>
        </p:nvSpPr>
        <p:spPr>
          <a:xfrm>
            <a:off x="640080" y="5989320"/>
            <a:ext cx="10972800" cy="658368"/>
          </a:xfrm>
          <a:prstGeom prst="roundRect">
            <a:avLst>
              <a:gd name="adj" fmla="val 12500"/>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914400" y="6062472"/>
            <a:ext cx="10424160" cy="512064"/>
          </a:xfrm>
          <a:prstGeom prst="rect">
            <a:avLst/>
          </a:prstGeom>
          <a:noFill/>
          <a:ln/>
        </p:spPr>
        <p:txBody>
          <a:bodyPr wrap="square" lIns="0" tIns="0" rIns="0" bIns="0" rtlCol="0" anchor="ctr"/>
          <a:lstStyle/>
          <a:p>
            <a:pPr indent="0" marL="0">
              <a:buNone/>
            </a:pPr>
            <a:r>
              <a:rPr lang="en-US" sz="1250" b="1" dirty="0">
                <a:solidFill>
                  <a:srgbClr val="B5651A"/>
                </a:solidFill>
                <a:latin typeface="Calibri" pitchFamily="34" charset="0"/>
                <a:ea typeface="Calibri" pitchFamily="34" charset="-122"/>
                <a:cs typeface="Calibri" pitchFamily="34" charset="-120"/>
              </a:rPr>
              <a:t>In ABC-01 all three look identical  </a:t>
            </a:r>
            <a:pPr indent="0" marL="0">
              <a:buNone/>
            </a:pPr>
            <a:r>
              <a:rPr lang="en-US" sz="1250" dirty="0">
                <a:solidFill>
                  <a:srgbClr val="0F2E3D"/>
                </a:solidFill>
                <a:latin typeface="Calibri" pitchFamily="34" charset="0"/>
                <a:ea typeface="Calibri" pitchFamily="34" charset="-122"/>
                <a:cs typeface="Calibri" pitchFamily="34" charset="-120"/>
              </a:rPr>
              <a:t>— because the sites already collect in standard units. That is a property of THIS study, not a rule. A site reporting weight in pounds would give ORRES 155 lb and STRESN 70.3 kg.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BASELINE FLAG</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--BLFL: the variable every analysis leans on</a:t>
            </a:r>
            <a:endParaRPr lang="en-US" sz="3000" dirty="0"/>
          </a:p>
        </p:txBody>
      </p:sp>
      <p:sp>
        <p:nvSpPr>
          <p:cNvPr id="4" name="Shape 2"/>
          <p:cNvSpPr/>
          <p:nvPr/>
        </p:nvSpPr>
        <p:spPr>
          <a:xfrm>
            <a:off x="640080" y="1645920"/>
            <a:ext cx="6766560" cy="2148840"/>
          </a:xfrm>
          <a:prstGeom prst="roundRect">
            <a:avLst>
              <a:gd name="adj" fmla="val 383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783080"/>
            <a:ext cx="6217920" cy="365760"/>
          </a:xfrm>
          <a:prstGeom prst="rect">
            <a:avLst/>
          </a:prstGeom>
          <a:noFill/>
          <a:ln/>
        </p:spPr>
        <p:txBody>
          <a:bodyPr wrap="square" lIns="0" tIns="0" rIns="0" bIns="0" rtlCol="0" anchor="ctr"/>
          <a:lstStyle/>
          <a:p>
            <a:pPr indent="0" marL="0">
              <a:buNone/>
            </a:pPr>
            <a:r>
              <a:rPr lang="en-US" sz="1800" b="1" dirty="0">
                <a:solidFill>
                  <a:srgbClr val="0F2E3D"/>
                </a:solidFill>
                <a:latin typeface="Cambria" pitchFamily="34" charset="0"/>
                <a:ea typeface="Cambria" pitchFamily="34" charset="-122"/>
                <a:cs typeface="Cambria" pitchFamily="34" charset="-120"/>
              </a:rPr>
              <a:t>What it means</a:t>
            </a:r>
            <a:endParaRPr lang="en-US" sz="1800" dirty="0"/>
          </a:p>
        </p:txBody>
      </p:sp>
      <p:sp>
        <p:nvSpPr>
          <p:cNvPr id="6" name="Text 4"/>
          <p:cNvSpPr/>
          <p:nvPr/>
        </p:nvSpPr>
        <p:spPr>
          <a:xfrm>
            <a:off x="914400" y="2194560"/>
            <a:ext cx="6217920" cy="45720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“This is the LAST measurement taken before the subject was first treated.”</a:t>
            </a:r>
            <a:endParaRPr lang="en-US" sz="1400" dirty="0"/>
          </a:p>
        </p:txBody>
      </p:sp>
      <p:sp>
        <p:nvSpPr>
          <p:cNvPr id="7" name="Text 5"/>
          <p:cNvSpPr/>
          <p:nvPr/>
        </p:nvSpPr>
        <p:spPr>
          <a:xfrm>
            <a:off x="914400" y="2697480"/>
            <a:ext cx="6217920" cy="82296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Almost every efficacy analysis is a CHANGE FROM BASELINE. If the flag is wrong, every treatment effect in the study is computed against the wrong starting point.</a:t>
            </a:r>
            <a:endParaRPr lang="en-US" sz="1300" dirty="0"/>
          </a:p>
        </p:txBody>
      </p:sp>
      <p:sp>
        <p:nvSpPr>
          <p:cNvPr id="8" name="Shape 6"/>
          <p:cNvSpPr/>
          <p:nvPr/>
        </p:nvSpPr>
        <p:spPr>
          <a:xfrm>
            <a:off x="7635240" y="1645920"/>
            <a:ext cx="3977640" cy="2148840"/>
          </a:xfrm>
          <a:prstGeom prst="roundRect">
            <a:avLst>
              <a:gd name="adj" fmla="val 383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7909560" y="1783080"/>
            <a:ext cx="347472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Values</a:t>
            </a:r>
            <a:endParaRPr lang="en-US" sz="1600" dirty="0"/>
          </a:p>
        </p:txBody>
      </p:sp>
      <p:sp>
        <p:nvSpPr>
          <p:cNvPr id="10" name="Text 8"/>
          <p:cNvSpPr/>
          <p:nvPr/>
        </p:nvSpPr>
        <p:spPr>
          <a:xfrm>
            <a:off x="7909560" y="2212848"/>
            <a:ext cx="3474720" cy="36576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“Y”</a:t>
            </a:r>
            <a:pPr indent="0" marL="0">
              <a:buNone/>
            </a:pPr>
            <a:r>
              <a:rPr lang="en-US" sz="1250" dirty="0">
                <a:solidFill>
                  <a:srgbClr val="5A7682"/>
                </a:solidFill>
                <a:latin typeface="Calibri" pitchFamily="34" charset="0"/>
                <a:ea typeface="Calibri" pitchFamily="34" charset="-122"/>
                <a:cs typeface="Calibri" pitchFamily="34" charset="-120"/>
              </a:rPr>
              <a:t>   this record is the baseline</a:t>
            </a:r>
            <a:endParaRPr lang="en-US" sz="1500" dirty="0"/>
          </a:p>
        </p:txBody>
      </p:sp>
      <p:sp>
        <p:nvSpPr>
          <p:cNvPr id="11" name="Text 9"/>
          <p:cNvSpPr/>
          <p:nvPr/>
        </p:nvSpPr>
        <p:spPr>
          <a:xfrm>
            <a:off x="7909560" y="2633472"/>
            <a:ext cx="3474720" cy="36576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null</a:t>
            </a:r>
            <a:pPr indent="0" marL="0">
              <a:buNone/>
            </a:pPr>
            <a:r>
              <a:rPr lang="en-US" sz="1250" dirty="0">
                <a:solidFill>
                  <a:srgbClr val="5A7682"/>
                </a:solidFill>
                <a:latin typeface="Calibri" pitchFamily="34" charset="0"/>
                <a:ea typeface="Calibri" pitchFamily="34" charset="-122"/>
                <a:cs typeface="Calibri" pitchFamily="34" charset="-120"/>
              </a:rPr>
              <a:t>   it is not</a:t>
            </a:r>
            <a:endParaRPr lang="en-US" sz="1500" dirty="0"/>
          </a:p>
        </p:txBody>
      </p:sp>
      <p:sp>
        <p:nvSpPr>
          <p:cNvPr id="12" name="Text 10"/>
          <p:cNvSpPr/>
          <p:nvPr/>
        </p:nvSpPr>
        <p:spPr>
          <a:xfrm>
            <a:off x="7909560" y="3063240"/>
            <a:ext cx="3474720" cy="640080"/>
          </a:xfrm>
          <a:prstGeom prst="rect">
            <a:avLst/>
          </a:prstGeom>
          <a:noFill/>
          <a:ln/>
        </p:spPr>
        <p:txBody>
          <a:bodyPr wrap="square" lIns="0" tIns="0" rIns="0" bIns="0" rtlCol="0" anchor="ctr"/>
          <a:lstStyle/>
          <a:p>
            <a:pPr indent="0" marL="0">
              <a:buNone/>
            </a:pPr>
            <a:r>
              <a:rPr lang="en-US" sz="1150" b="1" dirty="0">
                <a:solidFill>
                  <a:srgbClr val="B5651A"/>
                </a:solidFill>
                <a:latin typeface="Calibri" pitchFamily="34" charset="0"/>
                <a:ea typeface="Calibri" pitchFamily="34" charset="-122"/>
                <a:cs typeface="Calibri" pitchFamily="34" charset="-120"/>
              </a:rPr>
              <a:t>⚠  There is no “N”. The flag is Y-or-blank, and a stray “N” is a conformance finding.</a:t>
            </a:r>
            <a:endParaRPr lang="en-US" sz="1150" dirty="0"/>
          </a:p>
        </p:txBody>
      </p:sp>
      <p:sp>
        <p:nvSpPr>
          <p:cNvPr id="13" name="Text 11"/>
          <p:cNvSpPr/>
          <p:nvPr/>
        </p:nvSpPr>
        <p:spPr>
          <a:xfrm>
            <a:off x="640080" y="3950208"/>
            <a:ext cx="10972800" cy="320040"/>
          </a:xfrm>
          <a:prstGeom prst="rect">
            <a:avLst/>
          </a:prstGeom>
          <a:noFill/>
          <a:ln/>
        </p:spPr>
        <p:txBody>
          <a:bodyPr wrap="square" lIns="0" tIns="0" rIns="0" bIns="0" rtlCol="0" anchor="ctr"/>
          <a:lstStyle/>
          <a:p>
            <a:pPr indent="0" marL="0">
              <a:buNone/>
            </a:pPr>
            <a:r>
              <a:rPr lang="en-US" sz="1250" b="1" dirty="0">
                <a:solidFill>
                  <a:srgbClr val="0E7C86"/>
                </a:solidFill>
                <a:latin typeface="Calibri" pitchFamily="34" charset="0"/>
                <a:ea typeface="Calibri" pitchFamily="34" charset="-122"/>
                <a:cs typeface="Calibri" pitchFamily="34" charset="-120"/>
              </a:rPr>
              <a:t>In ABC-01 — the flag lands on BASELINE, never on SCREENING</a:t>
            </a:r>
            <a:endParaRPr lang="en-US" sz="1250" dirty="0"/>
          </a:p>
        </p:txBody>
      </p:sp>
      <p:sp>
        <p:nvSpPr>
          <p:cNvPr id="14" name="Shape 12"/>
          <p:cNvSpPr/>
          <p:nvPr/>
        </p:nvSpPr>
        <p:spPr>
          <a:xfrm>
            <a:off x="640080" y="4297680"/>
            <a:ext cx="1371600" cy="310896"/>
          </a:xfrm>
          <a:prstGeom prst="rect">
            <a:avLst/>
          </a:prstGeom>
          <a:solidFill>
            <a:srgbClr val="0F2E3D"/>
          </a:solidFill>
          <a:ln w="9525">
            <a:solidFill>
              <a:srgbClr val="CFDEE1"/>
            </a:solidFill>
            <a:prstDash val="solid"/>
          </a:ln>
        </p:spPr>
      </p:sp>
      <p:sp>
        <p:nvSpPr>
          <p:cNvPr id="15" name="Text 13"/>
          <p:cNvSpPr/>
          <p:nvPr/>
        </p:nvSpPr>
        <p:spPr>
          <a:xfrm>
            <a:off x="694944" y="4297680"/>
            <a:ext cx="126187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VISIT</a:t>
            </a:r>
            <a:endParaRPr lang="en-US" sz="1150" dirty="0"/>
          </a:p>
        </p:txBody>
      </p:sp>
      <p:sp>
        <p:nvSpPr>
          <p:cNvPr id="16" name="Shape 14"/>
          <p:cNvSpPr/>
          <p:nvPr/>
        </p:nvSpPr>
        <p:spPr>
          <a:xfrm>
            <a:off x="2011680" y="4297680"/>
            <a:ext cx="1371600" cy="310896"/>
          </a:xfrm>
          <a:prstGeom prst="rect">
            <a:avLst/>
          </a:prstGeom>
          <a:solidFill>
            <a:srgbClr val="0F2E3D"/>
          </a:solidFill>
          <a:ln w="9525">
            <a:solidFill>
              <a:srgbClr val="CFDEE1"/>
            </a:solidFill>
            <a:prstDash val="solid"/>
          </a:ln>
        </p:spPr>
      </p:sp>
      <p:sp>
        <p:nvSpPr>
          <p:cNvPr id="17" name="Text 15"/>
          <p:cNvSpPr/>
          <p:nvPr/>
        </p:nvSpPr>
        <p:spPr>
          <a:xfrm>
            <a:off x="2066544" y="4297680"/>
            <a:ext cx="126187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VSDTC</a:t>
            </a:r>
            <a:endParaRPr lang="en-US" sz="1150" dirty="0"/>
          </a:p>
        </p:txBody>
      </p:sp>
      <p:sp>
        <p:nvSpPr>
          <p:cNvPr id="18" name="Shape 16"/>
          <p:cNvSpPr/>
          <p:nvPr/>
        </p:nvSpPr>
        <p:spPr>
          <a:xfrm>
            <a:off x="3383280" y="4297680"/>
            <a:ext cx="1234440" cy="310896"/>
          </a:xfrm>
          <a:prstGeom prst="rect">
            <a:avLst/>
          </a:prstGeom>
          <a:solidFill>
            <a:srgbClr val="0F2E3D"/>
          </a:solidFill>
          <a:ln w="9525">
            <a:solidFill>
              <a:srgbClr val="CFDEE1"/>
            </a:solidFill>
            <a:prstDash val="solid"/>
          </a:ln>
        </p:spPr>
      </p:sp>
      <p:sp>
        <p:nvSpPr>
          <p:cNvPr id="19" name="Text 17"/>
          <p:cNvSpPr/>
          <p:nvPr/>
        </p:nvSpPr>
        <p:spPr>
          <a:xfrm>
            <a:off x="3438144" y="4297680"/>
            <a:ext cx="112471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VSDY</a:t>
            </a:r>
            <a:endParaRPr lang="en-US" sz="1150" dirty="0"/>
          </a:p>
        </p:txBody>
      </p:sp>
      <p:sp>
        <p:nvSpPr>
          <p:cNvPr id="20" name="Shape 18"/>
          <p:cNvSpPr/>
          <p:nvPr/>
        </p:nvSpPr>
        <p:spPr>
          <a:xfrm>
            <a:off x="4617720" y="4297680"/>
            <a:ext cx="1143000" cy="310896"/>
          </a:xfrm>
          <a:prstGeom prst="rect">
            <a:avLst/>
          </a:prstGeom>
          <a:solidFill>
            <a:srgbClr val="0F2E3D"/>
          </a:solidFill>
          <a:ln w="9525">
            <a:solidFill>
              <a:srgbClr val="CFDEE1"/>
            </a:solidFill>
            <a:prstDash val="solid"/>
          </a:ln>
        </p:spPr>
      </p:sp>
      <p:sp>
        <p:nvSpPr>
          <p:cNvPr id="21" name="Text 19"/>
          <p:cNvSpPr/>
          <p:nvPr/>
        </p:nvSpPr>
        <p:spPr>
          <a:xfrm>
            <a:off x="4672584" y="4297680"/>
            <a:ext cx="103327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SYSBP</a:t>
            </a:r>
            <a:endParaRPr lang="en-US" sz="1150" dirty="0"/>
          </a:p>
        </p:txBody>
      </p:sp>
      <p:sp>
        <p:nvSpPr>
          <p:cNvPr id="22" name="Shape 20"/>
          <p:cNvSpPr/>
          <p:nvPr/>
        </p:nvSpPr>
        <p:spPr>
          <a:xfrm>
            <a:off x="5760720" y="4297680"/>
            <a:ext cx="1188720" cy="310896"/>
          </a:xfrm>
          <a:prstGeom prst="rect">
            <a:avLst/>
          </a:prstGeom>
          <a:solidFill>
            <a:srgbClr val="0F2E3D"/>
          </a:solidFill>
          <a:ln w="9525">
            <a:solidFill>
              <a:srgbClr val="CFDEE1"/>
            </a:solidFill>
            <a:prstDash val="solid"/>
          </a:ln>
        </p:spPr>
      </p:sp>
      <p:sp>
        <p:nvSpPr>
          <p:cNvPr id="23" name="Text 21"/>
          <p:cNvSpPr/>
          <p:nvPr/>
        </p:nvSpPr>
        <p:spPr>
          <a:xfrm>
            <a:off x="5815584" y="4297680"/>
            <a:ext cx="107899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VSBLFL</a:t>
            </a:r>
            <a:endParaRPr lang="en-US" sz="1150" dirty="0"/>
          </a:p>
        </p:txBody>
      </p:sp>
      <p:sp>
        <p:nvSpPr>
          <p:cNvPr id="24" name="Shape 22"/>
          <p:cNvSpPr/>
          <p:nvPr/>
        </p:nvSpPr>
        <p:spPr>
          <a:xfrm>
            <a:off x="6949440" y="4297680"/>
            <a:ext cx="1188720" cy="310896"/>
          </a:xfrm>
          <a:prstGeom prst="rect">
            <a:avLst/>
          </a:prstGeom>
          <a:solidFill>
            <a:srgbClr val="0F2E3D"/>
          </a:solidFill>
          <a:ln w="9525">
            <a:solidFill>
              <a:srgbClr val="CFDEE1"/>
            </a:solidFill>
            <a:prstDash val="solid"/>
          </a:ln>
        </p:spPr>
      </p:sp>
      <p:sp>
        <p:nvSpPr>
          <p:cNvPr id="25" name="Text 23"/>
          <p:cNvSpPr/>
          <p:nvPr/>
        </p:nvSpPr>
        <p:spPr>
          <a:xfrm>
            <a:off x="7004304" y="4297680"/>
            <a:ext cx="107899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p>
        </p:txBody>
      </p:sp>
      <p:sp>
        <p:nvSpPr>
          <p:cNvPr id="26" name="Shape 24"/>
          <p:cNvSpPr/>
          <p:nvPr/>
        </p:nvSpPr>
        <p:spPr>
          <a:xfrm>
            <a:off x="640080" y="4608576"/>
            <a:ext cx="1371600" cy="310896"/>
          </a:xfrm>
          <a:prstGeom prst="rect">
            <a:avLst/>
          </a:prstGeom>
          <a:solidFill>
            <a:srgbClr val="F3F7F8"/>
          </a:solidFill>
          <a:ln w="9525">
            <a:solidFill>
              <a:srgbClr val="CFDEE1"/>
            </a:solidFill>
            <a:prstDash val="solid"/>
          </a:ln>
        </p:spPr>
      </p:sp>
      <p:sp>
        <p:nvSpPr>
          <p:cNvPr id="27" name="Text 25"/>
          <p:cNvSpPr/>
          <p:nvPr/>
        </p:nvSpPr>
        <p:spPr>
          <a:xfrm>
            <a:off x="694944" y="4608576"/>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SCREENING</a:t>
            </a:r>
            <a:endParaRPr lang="en-US" sz="1150" dirty="0"/>
          </a:p>
        </p:txBody>
      </p:sp>
      <p:sp>
        <p:nvSpPr>
          <p:cNvPr id="28" name="Shape 26"/>
          <p:cNvSpPr/>
          <p:nvPr/>
        </p:nvSpPr>
        <p:spPr>
          <a:xfrm>
            <a:off x="2011680" y="4608576"/>
            <a:ext cx="1371600" cy="310896"/>
          </a:xfrm>
          <a:prstGeom prst="rect">
            <a:avLst/>
          </a:prstGeom>
          <a:solidFill>
            <a:srgbClr val="F3F7F8"/>
          </a:solidFill>
          <a:ln w="9525">
            <a:solidFill>
              <a:srgbClr val="CFDEE1"/>
            </a:solidFill>
            <a:prstDash val="solid"/>
          </a:ln>
        </p:spPr>
      </p:sp>
      <p:sp>
        <p:nvSpPr>
          <p:cNvPr id="29" name="Text 27"/>
          <p:cNvSpPr/>
          <p:nvPr/>
        </p:nvSpPr>
        <p:spPr>
          <a:xfrm>
            <a:off x="2066544" y="4608576"/>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2024-02-20</a:t>
            </a:r>
            <a:endParaRPr lang="en-US" sz="1150" dirty="0"/>
          </a:p>
        </p:txBody>
      </p:sp>
      <p:sp>
        <p:nvSpPr>
          <p:cNvPr id="30" name="Shape 28"/>
          <p:cNvSpPr/>
          <p:nvPr/>
        </p:nvSpPr>
        <p:spPr>
          <a:xfrm>
            <a:off x="3383280" y="4608576"/>
            <a:ext cx="1234440" cy="310896"/>
          </a:xfrm>
          <a:prstGeom prst="rect">
            <a:avLst/>
          </a:prstGeom>
          <a:solidFill>
            <a:srgbClr val="F3F7F8"/>
          </a:solidFill>
          <a:ln w="9525">
            <a:solidFill>
              <a:srgbClr val="CFDEE1"/>
            </a:solidFill>
            <a:prstDash val="solid"/>
          </a:ln>
        </p:spPr>
      </p:sp>
      <p:sp>
        <p:nvSpPr>
          <p:cNvPr id="31" name="Text 29"/>
          <p:cNvSpPr/>
          <p:nvPr/>
        </p:nvSpPr>
        <p:spPr>
          <a:xfrm>
            <a:off x="3438144" y="4608576"/>
            <a:ext cx="11247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−10</a:t>
            </a:r>
            <a:endParaRPr lang="en-US" sz="1150" dirty="0"/>
          </a:p>
        </p:txBody>
      </p:sp>
      <p:sp>
        <p:nvSpPr>
          <p:cNvPr id="32" name="Shape 30"/>
          <p:cNvSpPr/>
          <p:nvPr/>
        </p:nvSpPr>
        <p:spPr>
          <a:xfrm>
            <a:off x="4617720" y="4608576"/>
            <a:ext cx="1143000" cy="310896"/>
          </a:xfrm>
          <a:prstGeom prst="rect">
            <a:avLst/>
          </a:prstGeom>
          <a:solidFill>
            <a:srgbClr val="F3F7F8"/>
          </a:solidFill>
          <a:ln w="9525">
            <a:solidFill>
              <a:srgbClr val="CFDEE1"/>
            </a:solidFill>
            <a:prstDash val="solid"/>
          </a:ln>
        </p:spPr>
      </p:sp>
      <p:sp>
        <p:nvSpPr>
          <p:cNvPr id="33" name="Text 31"/>
          <p:cNvSpPr/>
          <p:nvPr/>
        </p:nvSpPr>
        <p:spPr>
          <a:xfrm>
            <a:off x="4672584" y="4608576"/>
            <a:ext cx="103327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122</a:t>
            </a:r>
            <a:endParaRPr lang="en-US" sz="1150" dirty="0"/>
          </a:p>
        </p:txBody>
      </p:sp>
      <p:sp>
        <p:nvSpPr>
          <p:cNvPr id="34" name="Shape 32"/>
          <p:cNvSpPr/>
          <p:nvPr/>
        </p:nvSpPr>
        <p:spPr>
          <a:xfrm>
            <a:off x="5760720" y="4608576"/>
            <a:ext cx="1188720" cy="310896"/>
          </a:xfrm>
          <a:prstGeom prst="rect">
            <a:avLst/>
          </a:prstGeom>
          <a:solidFill>
            <a:srgbClr val="F3F7F8"/>
          </a:solidFill>
          <a:ln w="9525">
            <a:solidFill>
              <a:srgbClr val="CFDEE1"/>
            </a:solidFill>
            <a:prstDash val="solid"/>
          </a:ln>
        </p:spPr>
      </p:sp>
      <p:sp>
        <p:nvSpPr>
          <p:cNvPr id="35" name="Text 33"/>
          <p:cNvSpPr/>
          <p:nvPr/>
        </p:nvSpPr>
        <p:spPr>
          <a:xfrm>
            <a:off x="5815584" y="4608576"/>
            <a:ext cx="107899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(null)</a:t>
            </a:r>
            <a:endParaRPr lang="en-US" sz="1150" dirty="0"/>
          </a:p>
        </p:txBody>
      </p:sp>
      <p:sp>
        <p:nvSpPr>
          <p:cNvPr id="36" name="Shape 34"/>
          <p:cNvSpPr/>
          <p:nvPr/>
        </p:nvSpPr>
        <p:spPr>
          <a:xfrm>
            <a:off x="6949440" y="4608576"/>
            <a:ext cx="1188720" cy="310896"/>
          </a:xfrm>
          <a:prstGeom prst="rect">
            <a:avLst/>
          </a:prstGeom>
          <a:solidFill>
            <a:srgbClr val="F3F7F8"/>
          </a:solidFill>
          <a:ln w="9525">
            <a:solidFill>
              <a:srgbClr val="CFDEE1"/>
            </a:solidFill>
            <a:prstDash val="solid"/>
          </a:ln>
        </p:spPr>
      </p:sp>
      <p:sp>
        <p:nvSpPr>
          <p:cNvPr id="37" name="Text 35"/>
          <p:cNvSpPr/>
          <p:nvPr/>
        </p:nvSpPr>
        <p:spPr>
          <a:xfrm>
            <a:off x="7004304" y="4608576"/>
            <a:ext cx="107899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before, but not the last</a:t>
            </a:r>
            <a:endParaRPr lang="en-US" sz="1150" dirty="0"/>
          </a:p>
        </p:txBody>
      </p:sp>
      <p:sp>
        <p:nvSpPr>
          <p:cNvPr id="38" name="Shape 36"/>
          <p:cNvSpPr/>
          <p:nvPr/>
        </p:nvSpPr>
        <p:spPr>
          <a:xfrm>
            <a:off x="640080" y="4919472"/>
            <a:ext cx="1371600" cy="310896"/>
          </a:xfrm>
          <a:prstGeom prst="rect">
            <a:avLst/>
          </a:prstGeom>
          <a:solidFill>
            <a:srgbClr val="FFFFFF"/>
          </a:solidFill>
          <a:ln w="9525">
            <a:solidFill>
              <a:srgbClr val="CFDEE1"/>
            </a:solidFill>
            <a:prstDash val="solid"/>
          </a:ln>
        </p:spPr>
      </p:sp>
      <p:sp>
        <p:nvSpPr>
          <p:cNvPr id="39" name="Text 37"/>
          <p:cNvSpPr/>
          <p:nvPr/>
        </p:nvSpPr>
        <p:spPr>
          <a:xfrm>
            <a:off x="694944" y="4919472"/>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BASELINE</a:t>
            </a:r>
            <a:endParaRPr lang="en-US" sz="1150" dirty="0"/>
          </a:p>
        </p:txBody>
      </p:sp>
      <p:sp>
        <p:nvSpPr>
          <p:cNvPr id="40" name="Shape 38"/>
          <p:cNvSpPr/>
          <p:nvPr/>
        </p:nvSpPr>
        <p:spPr>
          <a:xfrm>
            <a:off x="2011680" y="4919472"/>
            <a:ext cx="1371600" cy="310896"/>
          </a:xfrm>
          <a:prstGeom prst="rect">
            <a:avLst/>
          </a:prstGeom>
          <a:solidFill>
            <a:srgbClr val="FFFFFF"/>
          </a:solidFill>
          <a:ln w="9525">
            <a:solidFill>
              <a:srgbClr val="CFDEE1"/>
            </a:solidFill>
            <a:prstDash val="solid"/>
          </a:ln>
        </p:spPr>
      </p:sp>
      <p:sp>
        <p:nvSpPr>
          <p:cNvPr id="41" name="Text 39"/>
          <p:cNvSpPr/>
          <p:nvPr/>
        </p:nvSpPr>
        <p:spPr>
          <a:xfrm>
            <a:off x="2066544" y="4919472"/>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2024-03-01</a:t>
            </a:r>
            <a:endParaRPr lang="en-US" sz="1150" dirty="0"/>
          </a:p>
        </p:txBody>
      </p:sp>
      <p:sp>
        <p:nvSpPr>
          <p:cNvPr id="42" name="Shape 40"/>
          <p:cNvSpPr/>
          <p:nvPr/>
        </p:nvSpPr>
        <p:spPr>
          <a:xfrm>
            <a:off x="3383280" y="4919472"/>
            <a:ext cx="1234440" cy="310896"/>
          </a:xfrm>
          <a:prstGeom prst="rect">
            <a:avLst/>
          </a:prstGeom>
          <a:solidFill>
            <a:srgbClr val="FFFFFF"/>
          </a:solidFill>
          <a:ln w="9525">
            <a:solidFill>
              <a:srgbClr val="CFDEE1"/>
            </a:solidFill>
            <a:prstDash val="solid"/>
          </a:ln>
        </p:spPr>
      </p:sp>
      <p:sp>
        <p:nvSpPr>
          <p:cNvPr id="43" name="Text 41"/>
          <p:cNvSpPr/>
          <p:nvPr/>
        </p:nvSpPr>
        <p:spPr>
          <a:xfrm>
            <a:off x="3438144" y="4919472"/>
            <a:ext cx="11247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a:t>
            </a:r>
            <a:endParaRPr lang="en-US" sz="1150" dirty="0"/>
          </a:p>
        </p:txBody>
      </p:sp>
      <p:sp>
        <p:nvSpPr>
          <p:cNvPr id="44" name="Shape 42"/>
          <p:cNvSpPr/>
          <p:nvPr/>
        </p:nvSpPr>
        <p:spPr>
          <a:xfrm>
            <a:off x="4617720" y="4919472"/>
            <a:ext cx="1143000" cy="310896"/>
          </a:xfrm>
          <a:prstGeom prst="rect">
            <a:avLst/>
          </a:prstGeom>
          <a:solidFill>
            <a:srgbClr val="FFFFFF"/>
          </a:solidFill>
          <a:ln w="9525">
            <a:solidFill>
              <a:srgbClr val="CFDEE1"/>
            </a:solidFill>
            <a:prstDash val="solid"/>
          </a:ln>
        </p:spPr>
      </p:sp>
      <p:sp>
        <p:nvSpPr>
          <p:cNvPr id="45" name="Text 43"/>
          <p:cNvSpPr/>
          <p:nvPr/>
        </p:nvSpPr>
        <p:spPr>
          <a:xfrm>
            <a:off x="4672584" y="4919472"/>
            <a:ext cx="103327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120</a:t>
            </a:r>
            <a:endParaRPr lang="en-US" sz="1150" dirty="0"/>
          </a:p>
        </p:txBody>
      </p:sp>
      <p:sp>
        <p:nvSpPr>
          <p:cNvPr id="46" name="Shape 44"/>
          <p:cNvSpPr/>
          <p:nvPr/>
        </p:nvSpPr>
        <p:spPr>
          <a:xfrm>
            <a:off x="5760720" y="4919472"/>
            <a:ext cx="1188720" cy="310896"/>
          </a:xfrm>
          <a:prstGeom prst="rect">
            <a:avLst/>
          </a:prstGeom>
          <a:solidFill>
            <a:srgbClr val="FFFFFF"/>
          </a:solidFill>
          <a:ln w="9525">
            <a:solidFill>
              <a:srgbClr val="CFDEE1"/>
            </a:solidFill>
            <a:prstDash val="solid"/>
          </a:ln>
        </p:spPr>
      </p:sp>
      <p:sp>
        <p:nvSpPr>
          <p:cNvPr id="47" name="Text 45"/>
          <p:cNvSpPr/>
          <p:nvPr/>
        </p:nvSpPr>
        <p:spPr>
          <a:xfrm>
            <a:off x="5815584" y="4919472"/>
            <a:ext cx="1078992" cy="310896"/>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Y</a:t>
            </a:r>
            <a:endParaRPr lang="en-US" sz="1150" dirty="0"/>
          </a:p>
        </p:txBody>
      </p:sp>
      <p:sp>
        <p:nvSpPr>
          <p:cNvPr id="48" name="Shape 46"/>
          <p:cNvSpPr/>
          <p:nvPr/>
        </p:nvSpPr>
        <p:spPr>
          <a:xfrm>
            <a:off x="6949440" y="4919472"/>
            <a:ext cx="1188720" cy="310896"/>
          </a:xfrm>
          <a:prstGeom prst="rect">
            <a:avLst/>
          </a:prstGeom>
          <a:solidFill>
            <a:srgbClr val="FFFFFF"/>
          </a:solidFill>
          <a:ln w="9525">
            <a:solidFill>
              <a:srgbClr val="CFDEE1"/>
            </a:solidFill>
            <a:prstDash val="solid"/>
          </a:ln>
        </p:spPr>
      </p:sp>
      <p:sp>
        <p:nvSpPr>
          <p:cNvPr id="49" name="Text 47"/>
          <p:cNvSpPr/>
          <p:nvPr/>
        </p:nvSpPr>
        <p:spPr>
          <a:xfrm>
            <a:off x="7004304" y="4919472"/>
            <a:ext cx="107899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last before first dose</a:t>
            </a:r>
            <a:endParaRPr lang="en-US" sz="1150" dirty="0"/>
          </a:p>
        </p:txBody>
      </p:sp>
      <p:sp>
        <p:nvSpPr>
          <p:cNvPr id="50" name="Shape 48"/>
          <p:cNvSpPr/>
          <p:nvPr/>
        </p:nvSpPr>
        <p:spPr>
          <a:xfrm>
            <a:off x="640080" y="5230368"/>
            <a:ext cx="1371600" cy="310896"/>
          </a:xfrm>
          <a:prstGeom prst="rect">
            <a:avLst/>
          </a:prstGeom>
          <a:solidFill>
            <a:srgbClr val="F3F7F8"/>
          </a:solidFill>
          <a:ln w="9525">
            <a:solidFill>
              <a:srgbClr val="CFDEE1"/>
            </a:solidFill>
            <a:prstDash val="solid"/>
          </a:ln>
        </p:spPr>
      </p:sp>
      <p:sp>
        <p:nvSpPr>
          <p:cNvPr id="51" name="Text 49"/>
          <p:cNvSpPr/>
          <p:nvPr/>
        </p:nvSpPr>
        <p:spPr>
          <a:xfrm>
            <a:off x="694944" y="5230368"/>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WEEK 4</a:t>
            </a:r>
            <a:endParaRPr lang="en-US" sz="1150" dirty="0"/>
          </a:p>
        </p:txBody>
      </p:sp>
      <p:sp>
        <p:nvSpPr>
          <p:cNvPr id="52" name="Shape 50"/>
          <p:cNvSpPr/>
          <p:nvPr/>
        </p:nvSpPr>
        <p:spPr>
          <a:xfrm>
            <a:off x="2011680" y="5230368"/>
            <a:ext cx="1371600" cy="310896"/>
          </a:xfrm>
          <a:prstGeom prst="rect">
            <a:avLst/>
          </a:prstGeom>
          <a:solidFill>
            <a:srgbClr val="F3F7F8"/>
          </a:solidFill>
          <a:ln w="9525">
            <a:solidFill>
              <a:srgbClr val="CFDEE1"/>
            </a:solidFill>
            <a:prstDash val="solid"/>
          </a:ln>
        </p:spPr>
      </p:sp>
      <p:sp>
        <p:nvSpPr>
          <p:cNvPr id="53" name="Text 51"/>
          <p:cNvSpPr/>
          <p:nvPr/>
        </p:nvSpPr>
        <p:spPr>
          <a:xfrm>
            <a:off x="2066544" y="5230368"/>
            <a:ext cx="12618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2024-03-28</a:t>
            </a:r>
            <a:endParaRPr lang="en-US" sz="1150" dirty="0"/>
          </a:p>
        </p:txBody>
      </p:sp>
      <p:sp>
        <p:nvSpPr>
          <p:cNvPr id="54" name="Shape 52"/>
          <p:cNvSpPr/>
          <p:nvPr/>
        </p:nvSpPr>
        <p:spPr>
          <a:xfrm>
            <a:off x="3383280" y="5230368"/>
            <a:ext cx="1234440" cy="310896"/>
          </a:xfrm>
          <a:prstGeom prst="rect">
            <a:avLst/>
          </a:prstGeom>
          <a:solidFill>
            <a:srgbClr val="F3F7F8"/>
          </a:solidFill>
          <a:ln w="9525">
            <a:solidFill>
              <a:srgbClr val="CFDEE1"/>
            </a:solidFill>
            <a:prstDash val="solid"/>
          </a:ln>
        </p:spPr>
      </p:sp>
      <p:sp>
        <p:nvSpPr>
          <p:cNvPr id="55" name="Text 53"/>
          <p:cNvSpPr/>
          <p:nvPr/>
        </p:nvSpPr>
        <p:spPr>
          <a:xfrm>
            <a:off x="3438144" y="5230368"/>
            <a:ext cx="11247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28</a:t>
            </a:r>
            <a:endParaRPr lang="en-US" sz="1150" dirty="0"/>
          </a:p>
        </p:txBody>
      </p:sp>
      <p:sp>
        <p:nvSpPr>
          <p:cNvPr id="56" name="Shape 54"/>
          <p:cNvSpPr/>
          <p:nvPr/>
        </p:nvSpPr>
        <p:spPr>
          <a:xfrm>
            <a:off x="4617720" y="5230368"/>
            <a:ext cx="1143000" cy="310896"/>
          </a:xfrm>
          <a:prstGeom prst="rect">
            <a:avLst/>
          </a:prstGeom>
          <a:solidFill>
            <a:srgbClr val="F3F7F8"/>
          </a:solidFill>
          <a:ln w="9525">
            <a:solidFill>
              <a:srgbClr val="CFDEE1"/>
            </a:solidFill>
            <a:prstDash val="solid"/>
          </a:ln>
        </p:spPr>
      </p:sp>
      <p:sp>
        <p:nvSpPr>
          <p:cNvPr id="57" name="Text 55"/>
          <p:cNvSpPr/>
          <p:nvPr/>
        </p:nvSpPr>
        <p:spPr>
          <a:xfrm>
            <a:off x="4672584" y="5230368"/>
            <a:ext cx="103327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118</a:t>
            </a:r>
            <a:endParaRPr lang="en-US" sz="1150" dirty="0"/>
          </a:p>
        </p:txBody>
      </p:sp>
      <p:sp>
        <p:nvSpPr>
          <p:cNvPr id="58" name="Shape 56"/>
          <p:cNvSpPr/>
          <p:nvPr/>
        </p:nvSpPr>
        <p:spPr>
          <a:xfrm>
            <a:off x="5760720" y="5230368"/>
            <a:ext cx="1188720" cy="310896"/>
          </a:xfrm>
          <a:prstGeom prst="rect">
            <a:avLst/>
          </a:prstGeom>
          <a:solidFill>
            <a:srgbClr val="F3F7F8"/>
          </a:solidFill>
          <a:ln w="9525">
            <a:solidFill>
              <a:srgbClr val="CFDEE1"/>
            </a:solidFill>
            <a:prstDash val="solid"/>
          </a:ln>
        </p:spPr>
      </p:sp>
      <p:sp>
        <p:nvSpPr>
          <p:cNvPr id="59" name="Text 57"/>
          <p:cNvSpPr/>
          <p:nvPr/>
        </p:nvSpPr>
        <p:spPr>
          <a:xfrm>
            <a:off x="5815584" y="5230368"/>
            <a:ext cx="107899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(null)</a:t>
            </a:r>
            <a:endParaRPr lang="en-US" sz="1150" dirty="0"/>
          </a:p>
        </p:txBody>
      </p:sp>
      <p:sp>
        <p:nvSpPr>
          <p:cNvPr id="60" name="Shape 58"/>
          <p:cNvSpPr/>
          <p:nvPr/>
        </p:nvSpPr>
        <p:spPr>
          <a:xfrm>
            <a:off x="6949440" y="5230368"/>
            <a:ext cx="1188720" cy="310896"/>
          </a:xfrm>
          <a:prstGeom prst="rect">
            <a:avLst/>
          </a:prstGeom>
          <a:solidFill>
            <a:srgbClr val="F3F7F8"/>
          </a:solidFill>
          <a:ln w="9525">
            <a:solidFill>
              <a:srgbClr val="CFDEE1"/>
            </a:solidFill>
            <a:prstDash val="solid"/>
          </a:ln>
        </p:spPr>
      </p:sp>
      <p:sp>
        <p:nvSpPr>
          <p:cNvPr id="61" name="Text 59"/>
          <p:cNvSpPr/>
          <p:nvPr/>
        </p:nvSpPr>
        <p:spPr>
          <a:xfrm>
            <a:off x="7004304" y="5230368"/>
            <a:ext cx="107899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after treatment started</a:t>
            </a:r>
            <a:endParaRPr lang="en-US" sz="1150" dirty="0"/>
          </a:p>
        </p:txBody>
      </p:sp>
      <p:sp>
        <p:nvSpPr>
          <p:cNvPr id="62" name="Text 60"/>
          <p:cNvSpPr/>
          <p:nvPr/>
        </p:nvSpPr>
        <p:spPr>
          <a:xfrm>
            <a:off x="640080" y="5623560"/>
            <a:ext cx="10972800" cy="457200"/>
          </a:xfrm>
          <a:prstGeom prst="rect">
            <a:avLst/>
          </a:prstGeom>
          <a:noFill/>
          <a:ln/>
        </p:spPr>
        <p:txBody>
          <a:bodyPr wrap="square" lIns="0" tIns="0" rIns="0" bIns="0" rtlCol="0" anchor="ctr"/>
          <a:lstStyle/>
          <a:p>
            <a:pPr indent="0" marL="0">
              <a:buNone/>
            </a:pPr>
            <a:r>
              <a:rPr lang="en-US" sz="1300" i="1" dirty="0">
                <a:solidFill>
                  <a:srgbClr val="0F2E3D"/>
                </a:solidFill>
                <a:latin typeface="Calibri" pitchFamily="34" charset="0"/>
                <a:ea typeface="Calibri" pitchFamily="34" charset="-122"/>
                <a:cs typeface="Calibri" pitchFamily="34" charset="-120"/>
              </a:rPr>
              <a:t>Both SCREENING and BASELINE precede first dose — but only ONE record can carry the flag. It is the LAST one before treatment, not simply any earlier one.</a:t>
            </a:r>
            <a:endParaRPr lang="en-US" sz="1300" dirty="0"/>
          </a:p>
        </p:txBody>
      </p:sp>
      <p:sp>
        <p:nvSpPr>
          <p:cNvPr id="63" name="Text 61"/>
          <p:cNvSpPr/>
          <p:nvPr/>
        </p:nvSpPr>
        <p:spPr>
          <a:xfrm>
            <a:off x="640080" y="6053328"/>
            <a:ext cx="10972800" cy="36576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40 of the 128 VS records carry VSBLFL = “Y” — 8 subjects × 5 tests at BASELINE (height isn't repeated).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TIMING</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Two ways of saying when — and why you need both</a:t>
            </a:r>
            <a:endParaRPr lang="en-US" sz="3000" dirty="0"/>
          </a:p>
        </p:txBody>
      </p:sp>
      <p:sp>
        <p:nvSpPr>
          <p:cNvPr id="4" name="Shape 2"/>
          <p:cNvSpPr/>
          <p:nvPr/>
        </p:nvSpPr>
        <p:spPr>
          <a:xfrm>
            <a:off x="640080" y="1691640"/>
            <a:ext cx="5394960" cy="2286000"/>
          </a:xfrm>
          <a:prstGeom prst="roundRect">
            <a:avLst>
              <a:gd name="adj" fmla="val 36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47088"/>
            <a:ext cx="4846320" cy="411480"/>
          </a:xfrm>
          <a:prstGeom prst="rect">
            <a:avLst/>
          </a:prstGeom>
          <a:noFill/>
          <a:ln/>
        </p:spPr>
        <p:txBody>
          <a:bodyPr wrap="square" lIns="0" tIns="0" rIns="0" bIns="0" rtlCol="0" anchor="ctr"/>
          <a:lstStyle/>
          <a:p>
            <a:pPr indent="0" marL="0">
              <a:buNone/>
            </a:pPr>
            <a:r>
              <a:rPr lang="en-US" sz="2000" b="1" dirty="0">
                <a:solidFill>
                  <a:srgbClr val="0E7C86"/>
                </a:solidFill>
                <a:latin typeface="Courier New" pitchFamily="34" charset="0"/>
                <a:ea typeface="Courier New" pitchFamily="34" charset="-122"/>
                <a:cs typeface="Courier New" pitchFamily="34" charset="-120"/>
              </a:rPr>
              <a:t>VISIT</a:t>
            </a:r>
            <a:endParaRPr lang="en-US" sz="2000" dirty="0"/>
          </a:p>
        </p:txBody>
      </p:sp>
      <p:sp>
        <p:nvSpPr>
          <p:cNvPr id="6" name="Text 4"/>
          <p:cNvSpPr/>
          <p:nvPr/>
        </p:nvSpPr>
        <p:spPr>
          <a:xfrm>
            <a:off x="914400" y="2286000"/>
            <a:ext cx="4846320" cy="32004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The visit NAME, as the protocol calls it.</a:t>
            </a:r>
            <a:endParaRPr lang="en-US" sz="1300" dirty="0"/>
          </a:p>
        </p:txBody>
      </p:sp>
      <p:sp>
        <p:nvSpPr>
          <p:cNvPr id="7" name="Text 5"/>
          <p:cNvSpPr/>
          <p:nvPr/>
        </p:nvSpPr>
        <p:spPr>
          <a:xfrm>
            <a:off x="914400" y="2651760"/>
            <a:ext cx="4846320" cy="320040"/>
          </a:xfrm>
          <a:prstGeom prst="rect">
            <a:avLst/>
          </a:prstGeom>
          <a:noFill/>
          <a:ln/>
        </p:spPr>
        <p:txBody>
          <a:bodyPr wrap="square" lIns="0" tIns="0" rIns="0" bIns="0" rtlCol="0" anchor="ctr"/>
          <a:lstStyle/>
          <a:p>
            <a:pPr indent="0" marL="0">
              <a:buNone/>
            </a:pPr>
            <a:r>
              <a:rPr lang="en-US" sz="1250" dirty="0">
                <a:solidFill>
                  <a:srgbClr val="5A7682"/>
                </a:solidFill>
                <a:latin typeface="Courier New" pitchFamily="34" charset="0"/>
                <a:ea typeface="Courier New" pitchFamily="34" charset="-122"/>
                <a:cs typeface="Courier New" pitchFamily="34" charset="-120"/>
              </a:rPr>
              <a:t>“SCREENING” · “BASELINE” · “WEEK 4”</a:t>
            </a:r>
            <a:endParaRPr lang="en-US" sz="1250" dirty="0"/>
          </a:p>
        </p:txBody>
      </p:sp>
      <p:sp>
        <p:nvSpPr>
          <p:cNvPr id="8" name="Text 6"/>
          <p:cNvSpPr/>
          <p:nvPr/>
        </p:nvSpPr>
        <p:spPr>
          <a:xfrm>
            <a:off x="914400" y="3035808"/>
            <a:ext cx="4846320" cy="777240"/>
          </a:xfrm>
          <a:prstGeom prst="rect">
            <a:avLst/>
          </a:prstGeom>
          <a:noFill/>
          <a:ln/>
        </p:spPr>
        <p:txBody>
          <a:bodyPr wrap="square" lIns="0" tIns="0" rIns="0" bIns="0" rtlCol="0" anchor="ctr"/>
          <a:lstStyle/>
          <a:p>
            <a:pPr indent="0" marL="0">
              <a:buNone/>
            </a:pPr>
            <a:r>
              <a:rPr lang="en-US" sz="1200" dirty="0">
                <a:solidFill>
                  <a:srgbClr val="B5651A"/>
                </a:solidFill>
                <a:latin typeface="Calibri" pitchFamily="34" charset="0"/>
                <a:ea typeface="Calibri" pitchFamily="34" charset="-122"/>
                <a:cs typeface="Calibri" pitchFamily="34" charset="-120"/>
              </a:rPr>
              <a:t>Readable, but it sorts ALPHABETICALLY — which puts WEEK 4 before other weeks and BASELINE first by accident.</a:t>
            </a:r>
            <a:endParaRPr lang="en-US" sz="1200" dirty="0"/>
          </a:p>
        </p:txBody>
      </p:sp>
      <p:sp>
        <p:nvSpPr>
          <p:cNvPr id="9" name="Shape 7"/>
          <p:cNvSpPr/>
          <p:nvPr/>
        </p:nvSpPr>
        <p:spPr>
          <a:xfrm>
            <a:off x="6217920" y="1691640"/>
            <a:ext cx="5394960" cy="2286000"/>
          </a:xfrm>
          <a:prstGeom prst="roundRect">
            <a:avLst>
              <a:gd name="adj" fmla="val 360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6492240" y="1847088"/>
            <a:ext cx="4846320" cy="411480"/>
          </a:xfrm>
          <a:prstGeom prst="rect">
            <a:avLst/>
          </a:prstGeom>
          <a:noFill/>
          <a:ln/>
        </p:spPr>
        <p:txBody>
          <a:bodyPr wrap="square" lIns="0" tIns="0" rIns="0" bIns="0" rtlCol="0" anchor="ctr"/>
          <a:lstStyle/>
          <a:p>
            <a:pPr indent="0" marL="0">
              <a:buNone/>
            </a:pPr>
            <a:r>
              <a:rPr lang="en-US" sz="2000" b="1" dirty="0">
                <a:solidFill>
                  <a:srgbClr val="1FA8A0"/>
                </a:solidFill>
                <a:latin typeface="Courier New" pitchFamily="34" charset="0"/>
                <a:ea typeface="Courier New" pitchFamily="34" charset="-122"/>
                <a:cs typeface="Courier New" pitchFamily="34" charset="-120"/>
              </a:rPr>
              <a:t>VISITNUM</a:t>
            </a:r>
            <a:endParaRPr lang="en-US" sz="2000" dirty="0"/>
          </a:p>
        </p:txBody>
      </p:sp>
      <p:sp>
        <p:nvSpPr>
          <p:cNvPr id="11" name="Text 9"/>
          <p:cNvSpPr/>
          <p:nvPr/>
        </p:nvSpPr>
        <p:spPr>
          <a:xfrm>
            <a:off x="6492240" y="2286000"/>
            <a:ext cx="4846320" cy="32004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The visit's NUMBER in protocol order.</a:t>
            </a:r>
            <a:endParaRPr lang="en-US" sz="1300" dirty="0"/>
          </a:p>
        </p:txBody>
      </p:sp>
      <p:sp>
        <p:nvSpPr>
          <p:cNvPr id="12" name="Text 10"/>
          <p:cNvSpPr/>
          <p:nvPr/>
        </p:nvSpPr>
        <p:spPr>
          <a:xfrm>
            <a:off x="6492240" y="2651760"/>
            <a:ext cx="4846320" cy="320040"/>
          </a:xfrm>
          <a:prstGeom prst="rect">
            <a:avLst/>
          </a:prstGeom>
          <a:noFill/>
          <a:ln/>
        </p:spPr>
        <p:txBody>
          <a:bodyPr wrap="square" lIns="0" tIns="0" rIns="0" bIns="0" rtlCol="0" anchor="ctr"/>
          <a:lstStyle/>
          <a:p>
            <a:pPr indent="0" marL="0">
              <a:buNone/>
            </a:pPr>
            <a:r>
              <a:rPr lang="en-US" sz="1250" dirty="0">
                <a:solidFill>
                  <a:srgbClr val="5A7682"/>
                </a:solidFill>
                <a:latin typeface="Courier New" pitchFamily="34" charset="0"/>
                <a:ea typeface="Courier New" pitchFamily="34" charset="-122"/>
                <a:cs typeface="Courier New" pitchFamily="34" charset="-120"/>
              </a:rPr>
              <a:t>1 · 2 · 4</a:t>
            </a:r>
            <a:endParaRPr lang="en-US" sz="1250" dirty="0"/>
          </a:p>
        </p:txBody>
      </p:sp>
      <p:sp>
        <p:nvSpPr>
          <p:cNvPr id="13" name="Text 11"/>
          <p:cNvSpPr/>
          <p:nvPr/>
        </p:nvSpPr>
        <p:spPr>
          <a:xfrm>
            <a:off x="6492240" y="3035808"/>
            <a:ext cx="4846320" cy="777240"/>
          </a:xfrm>
          <a:prstGeom prst="rect">
            <a:avLst/>
          </a:prstGeom>
          <a:noFill/>
          <a:ln/>
        </p:spPr>
        <p:txBody>
          <a:bodyPr wrap="square" lIns="0" tIns="0" rIns="0" bIns="0" rtlCol="0" anchor="ctr"/>
          <a:lstStyle/>
          <a:p>
            <a:pPr indent="0" marL="0">
              <a:buNone/>
            </a:pPr>
            <a:r>
              <a:rPr lang="en-US" sz="1200" dirty="0">
                <a:solidFill>
                  <a:srgbClr val="0E7C86"/>
                </a:solidFill>
                <a:latin typeface="Calibri" pitchFamily="34" charset="0"/>
                <a:ea typeface="Calibri" pitchFamily="34" charset="-122"/>
                <a:cs typeface="Calibri" pitchFamily="34" charset="-120"/>
              </a:rPr>
              <a:t>Numeric, so it sorts CHRONOLOGICALLY. This is what every analysis actually orders and groups by.</a:t>
            </a:r>
            <a:endParaRPr lang="en-US" sz="1200" dirty="0"/>
          </a:p>
        </p:txBody>
      </p:sp>
      <p:sp>
        <p:nvSpPr>
          <p:cNvPr id="14" name="Text 12"/>
          <p:cNvSpPr/>
          <p:nvPr/>
        </p:nvSpPr>
        <p:spPr>
          <a:xfrm>
            <a:off x="640080" y="4114800"/>
            <a:ext cx="10972800" cy="320040"/>
          </a:xfrm>
          <a:prstGeom prst="rect">
            <a:avLst/>
          </a:prstGeom>
          <a:noFill/>
          <a:ln/>
        </p:spPr>
        <p:txBody>
          <a:bodyPr wrap="square" lIns="0" tIns="0" rIns="0" bIns="0" rtlCol="0" anchor="ctr"/>
          <a:lstStyle/>
          <a:p>
            <a:pPr indent="0" marL="0">
              <a:buNone/>
            </a:pPr>
            <a:r>
              <a:rPr lang="en-US" sz="1250" b="1" dirty="0">
                <a:solidFill>
                  <a:srgbClr val="0F2E3D"/>
                </a:solidFill>
                <a:latin typeface="Calibri" pitchFamily="34" charset="0"/>
                <a:ea typeface="Calibri" pitchFamily="34" charset="-122"/>
                <a:cs typeface="Calibri" pitchFamily="34" charset="-120"/>
              </a:rPr>
              <a:t>The mapping is a lookup from the protocol — it is not derivable from the data</a:t>
            </a:r>
            <a:endParaRPr lang="en-US" sz="1250" dirty="0"/>
          </a:p>
        </p:txBody>
      </p:sp>
      <p:sp>
        <p:nvSpPr>
          <p:cNvPr id="15" name="Shape 13"/>
          <p:cNvSpPr/>
          <p:nvPr/>
        </p:nvSpPr>
        <p:spPr>
          <a:xfrm>
            <a:off x="640080" y="4462272"/>
            <a:ext cx="2377440" cy="310896"/>
          </a:xfrm>
          <a:prstGeom prst="rect">
            <a:avLst/>
          </a:prstGeom>
          <a:solidFill>
            <a:srgbClr val="0F2E3D"/>
          </a:solidFill>
          <a:ln w="9525">
            <a:solidFill>
              <a:srgbClr val="CFDEE1"/>
            </a:solidFill>
            <a:prstDash val="solid"/>
          </a:ln>
        </p:spPr>
      </p:sp>
      <p:sp>
        <p:nvSpPr>
          <p:cNvPr id="16" name="Text 14"/>
          <p:cNvSpPr/>
          <p:nvPr/>
        </p:nvSpPr>
        <p:spPr>
          <a:xfrm>
            <a:off x="694944" y="4462272"/>
            <a:ext cx="226771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VISIT</a:t>
            </a:r>
            <a:endParaRPr lang="en-US" sz="1150" dirty="0"/>
          </a:p>
        </p:txBody>
      </p:sp>
      <p:sp>
        <p:nvSpPr>
          <p:cNvPr id="17" name="Shape 15"/>
          <p:cNvSpPr/>
          <p:nvPr/>
        </p:nvSpPr>
        <p:spPr>
          <a:xfrm>
            <a:off x="3017520" y="4462272"/>
            <a:ext cx="1737360" cy="310896"/>
          </a:xfrm>
          <a:prstGeom prst="rect">
            <a:avLst/>
          </a:prstGeom>
          <a:solidFill>
            <a:srgbClr val="0F2E3D"/>
          </a:solidFill>
          <a:ln w="9525">
            <a:solidFill>
              <a:srgbClr val="CFDEE1"/>
            </a:solidFill>
            <a:prstDash val="solid"/>
          </a:ln>
        </p:spPr>
      </p:sp>
      <p:sp>
        <p:nvSpPr>
          <p:cNvPr id="18" name="Text 16"/>
          <p:cNvSpPr/>
          <p:nvPr/>
        </p:nvSpPr>
        <p:spPr>
          <a:xfrm>
            <a:off x="3072384" y="4462272"/>
            <a:ext cx="162763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VISITNUM</a:t>
            </a:r>
            <a:endParaRPr lang="en-US" sz="1150" dirty="0"/>
          </a:p>
        </p:txBody>
      </p:sp>
      <p:sp>
        <p:nvSpPr>
          <p:cNvPr id="19" name="Shape 17"/>
          <p:cNvSpPr/>
          <p:nvPr/>
        </p:nvSpPr>
        <p:spPr>
          <a:xfrm>
            <a:off x="4754880" y="4462272"/>
            <a:ext cx="6858000" cy="310896"/>
          </a:xfrm>
          <a:prstGeom prst="rect">
            <a:avLst/>
          </a:prstGeom>
          <a:solidFill>
            <a:srgbClr val="0F2E3D"/>
          </a:solidFill>
          <a:ln w="9525">
            <a:solidFill>
              <a:srgbClr val="CFDEE1"/>
            </a:solidFill>
            <a:prstDash val="solid"/>
          </a:ln>
        </p:spPr>
      </p:sp>
      <p:sp>
        <p:nvSpPr>
          <p:cNvPr id="20" name="Text 18"/>
          <p:cNvSpPr/>
          <p:nvPr/>
        </p:nvSpPr>
        <p:spPr>
          <a:xfrm>
            <a:off x="4809744" y="4462272"/>
            <a:ext cx="674827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note</a:t>
            </a:r>
            <a:endParaRPr lang="en-US" sz="1150" dirty="0"/>
          </a:p>
        </p:txBody>
      </p:sp>
      <p:sp>
        <p:nvSpPr>
          <p:cNvPr id="21" name="Shape 19"/>
          <p:cNvSpPr/>
          <p:nvPr/>
        </p:nvSpPr>
        <p:spPr>
          <a:xfrm>
            <a:off x="640080" y="4773168"/>
            <a:ext cx="2377440" cy="310896"/>
          </a:xfrm>
          <a:prstGeom prst="rect">
            <a:avLst/>
          </a:prstGeom>
          <a:solidFill>
            <a:srgbClr val="F3F7F8"/>
          </a:solidFill>
          <a:ln w="9525">
            <a:solidFill>
              <a:srgbClr val="CFDEE1"/>
            </a:solidFill>
            <a:prstDash val="solid"/>
          </a:ln>
        </p:spPr>
      </p:sp>
      <p:sp>
        <p:nvSpPr>
          <p:cNvPr id="22" name="Text 20"/>
          <p:cNvSpPr/>
          <p:nvPr/>
        </p:nvSpPr>
        <p:spPr>
          <a:xfrm>
            <a:off x="694944" y="4773168"/>
            <a:ext cx="22677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SCREENING</a:t>
            </a:r>
            <a:endParaRPr lang="en-US" sz="1150" dirty="0"/>
          </a:p>
        </p:txBody>
      </p:sp>
      <p:sp>
        <p:nvSpPr>
          <p:cNvPr id="23" name="Shape 21"/>
          <p:cNvSpPr/>
          <p:nvPr/>
        </p:nvSpPr>
        <p:spPr>
          <a:xfrm>
            <a:off x="3017520" y="4773168"/>
            <a:ext cx="1737360" cy="310896"/>
          </a:xfrm>
          <a:prstGeom prst="rect">
            <a:avLst/>
          </a:prstGeom>
          <a:solidFill>
            <a:srgbClr val="F3F7F8"/>
          </a:solidFill>
          <a:ln w="9525">
            <a:solidFill>
              <a:srgbClr val="CFDEE1"/>
            </a:solidFill>
            <a:prstDash val="solid"/>
          </a:ln>
        </p:spPr>
      </p:sp>
      <p:sp>
        <p:nvSpPr>
          <p:cNvPr id="24" name="Text 22"/>
          <p:cNvSpPr/>
          <p:nvPr/>
        </p:nvSpPr>
        <p:spPr>
          <a:xfrm>
            <a:off x="3072384" y="4773168"/>
            <a:ext cx="162763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1</a:t>
            </a:r>
            <a:endParaRPr lang="en-US" sz="1150" dirty="0"/>
          </a:p>
        </p:txBody>
      </p:sp>
      <p:sp>
        <p:nvSpPr>
          <p:cNvPr id="25" name="Shape 23"/>
          <p:cNvSpPr/>
          <p:nvPr/>
        </p:nvSpPr>
        <p:spPr>
          <a:xfrm>
            <a:off x="4754880" y="4773168"/>
            <a:ext cx="6858000" cy="310896"/>
          </a:xfrm>
          <a:prstGeom prst="rect">
            <a:avLst/>
          </a:prstGeom>
          <a:solidFill>
            <a:srgbClr val="F3F7F8"/>
          </a:solidFill>
          <a:ln w="9525">
            <a:solidFill>
              <a:srgbClr val="CFDEE1"/>
            </a:solidFill>
            <a:prstDash val="solid"/>
          </a:ln>
        </p:spPr>
      </p:sp>
      <p:sp>
        <p:nvSpPr>
          <p:cNvPr id="26" name="Text 24"/>
          <p:cNvSpPr/>
          <p:nvPr/>
        </p:nvSpPr>
        <p:spPr>
          <a:xfrm>
            <a:off x="4809744" y="4773168"/>
            <a:ext cx="67482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up to 28 days before first dose</a:t>
            </a:r>
            <a:endParaRPr lang="en-US" sz="1150" dirty="0"/>
          </a:p>
        </p:txBody>
      </p:sp>
      <p:sp>
        <p:nvSpPr>
          <p:cNvPr id="27" name="Shape 25"/>
          <p:cNvSpPr/>
          <p:nvPr/>
        </p:nvSpPr>
        <p:spPr>
          <a:xfrm>
            <a:off x="640080" y="5084064"/>
            <a:ext cx="2377440" cy="310896"/>
          </a:xfrm>
          <a:prstGeom prst="rect">
            <a:avLst/>
          </a:prstGeom>
          <a:solidFill>
            <a:srgbClr val="FFFFFF"/>
          </a:solidFill>
          <a:ln w="9525">
            <a:solidFill>
              <a:srgbClr val="CFDEE1"/>
            </a:solidFill>
            <a:prstDash val="solid"/>
          </a:ln>
        </p:spPr>
      </p:sp>
      <p:sp>
        <p:nvSpPr>
          <p:cNvPr id="28" name="Text 26"/>
          <p:cNvSpPr/>
          <p:nvPr/>
        </p:nvSpPr>
        <p:spPr>
          <a:xfrm>
            <a:off x="694944" y="5084064"/>
            <a:ext cx="22677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BASELINE</a:t>
            </a:r>
            <a:endParaRPr lang="en-US" sz="1150" dirty="0"/>
          </a:p>
        </p:txBody>
      </p:sp>
      <p:sp>
        <p:nvSpPr>
          <p:cNvPr id="29" name="Shape 27"/>
          <p:cNvSpPr/>
          <p:nvPr/>
        </p:nvSpPr>
        <p:spPr>
          <a:xfrm>
            <a:off x="3017520" y="5084064"/>
            <a:ext cx="1737360" cy="310896"/>
          </a:xfrm>
          <a:prstGeom prst="rect">
            <a:avLst/>
          </a:prstGeom>
          <a:solidFill>
            <a:srgbClr val="FFFFFF"/>
          </a:solidFill>
          <a:ln w="9525">
            <a:solidFill>
              <a:srgbClr val="CFDEE1"/>
            </a:solidFill>
            <a:prstDash val="solid"/>
          </a:ln>
        </p:spPr>
      </p:sp>
      <p:sp>
        <p:nvSpPr>
          <p:cNvPr id="30" name="Text 28"/>
          <p:cNvSpPr/>
          <p:nvPr/>
        </p:nvSpPr>
        <p:spPr>
          <a:xfrm>
            <a:off x="3072384" y="5084064"/>
            <a:ext cx="162763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2</a:t>
            </a:r>
            <a:endParaRPr lang="en-US" sz="1150" dirty="0"/>
          </a:p>
        </p:txBody>
      </p:sp>
      <p:sp>
        <p:nvSpPr>
          <p:cNvPr id="31" name="Shape 29"/>
          <p:cNvSpPr/>
          <p:nvPr/>
        </p:nvSpPr>
        <p:spPr>
          <a:xfrm>
            <a:off x="4754880" y="5084064"/>
            <a:ext cx="6858000" cy="310896"/>
          </a:xfrm>
          <a:prstGeom prst="rect">
            <a:avLst/>
          </a:prstGeom>
          <a:solidFill>
            <a:srgbClr val="FFFFFF"/>
          </a:solidFill>
          <a:ln w="9525">
            <a:solidFill>
              <a:srgbClr val="CFDEE1"/>
            </a:solidFill>
            <a:prstDash val="solid"/>
          </a:ln>
        </p:spPr>
      </p:sp>
      <p:sp>
        <p:nvSpPr>
          <p:cNvPr id="32" name="Text 30"/>
          <p:cNvSpPr/>
          <p:nvPr/>
        </p:nvSpPr>
        <p:spPr>
          <a:xfrm>
            <a:off x="4809744" y="5084064"/>
            <a:ext cx="67482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day of first dose — carries VSBLFL</a:t>
            </a:r>
            <a:endParaRPr lang="en-US" sz="1150" dirty="0"/>
          </a:p>
        </p:txBody>
      </p:sp>
      <p:sp>
        <p:nvSpPr>
          <p:cNvPr id="33" name="Shape 31"/>
          <p:cNvSpPr/>
          <p:nvPr/>
        </p:nvSpPr>
        <p:spPr>
          <a:xfrm>
            <a:off x="640080" y="5394960"/>
            <a:ext cx="2377440" cy="310896"/>
          </a:xfrm>
          <a:prstGeom prst="rect">
            <a:avLst/>
          </a:prstGeom>
          <a:solidFill>
            <a:srgbClr val="F3F7F8"/>
          </a:solidFill>
          <a:ln w="9525">
            <a:solidFill>
              <a:srgbClr val="CFDEE1"/>
            </a:solidFill>
            <a:prstDash val="solid"/>
          </a:ln>
        </p:spPr>
      </p:sp>
      <p:sp>
        <p:nvSpPr>
          <p:cNvPr id="34" name="Text 32"/>
          <p:cNvSpPr/>
          <p:nvPr/>
        </p:nvSpPr>
        <p:spPr>
          <a:xfrm>
            <a:off x="694944" y="5394960"/>
            <a:ext cx="22677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WEEK 4</a:t>
            </a:r>
            <a:endParaRPr lang="en-US" sz="1150" dirty="0"/>
          </a:p>
        </p:txBody>
      </p:sp>
      <p:sp>
        <p:nvSpPr>
          <p:cNvPr id="35" name="Shape 33"/>
          <p:cNvSpPr/>
          <p:nvPr/>
        </p:nvSpPr>
        <p:spPr>
          <a:xfrm>
            <a:off x="3017520" y="5394960"/>
            <a:ext cx="1737360" cy="310896"/>
          </a:xfrm>
          <a:prstGeom prst="rect">
            <a:avLst/>
          </a:prstGeom>
          <a:solidFill>
            <a:srgbClr val="F3F7F8"/>
          </a:solidFill>
          <a:ln w="9525">
            <a:solidFill>
              <a:srgbClr val="CFDEE1"/>
            </a:solidFill>
            <a:prstDash val="solid"/>
          </a:ln>
        </p:spPr>
      </p:sp>
      <p:sp>
        <p:nvSpPr>
          <p:cNvPr id="36" name="Text 34"/>
          <p:cNvSpPr/>
          <p:nvPr/>
        </p:nvSpPr>
        <p:spPr>
          <a:xfrm>
            <a:off x="3072384" y="5394960"/>
            <a:ext cx="162763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4</a:t>
            </a:r>
            <a:endParaRPr lang="en-US" sz="1150" dirty="0"/>
          </a:p>
        </p:txBody>
      </p:sp>
      <p:sp>
        <p:nvSpPr>
          <p:cNvPr id="37" name="Shape 35"/>
          <p:cNvSpPr/>
          <p:nvPr/>
        </p:nvSpPr>
        <p:spPr>
          <a:xfrm>
            <a:off x="4754880" y="5394960"/>
            <a:ext cx="6858000" cy="310896"/>
          </a:xfrm>
          <a:prstGeom prst="rect">
            <a:avLst/>
          </a:prstGeom>
          <a:solidFill>
            <a:srgbClr val="F3F7F8"/>
          </a:solidFill>
          <a:ln w="9525">
            <a:solidFill>
              <a:srgbClr val="CFDEE1"/>
            </a:solidFill>
            <a:prstDash val="solid"/>
          </a:ln>
        </p:spPr>
      </p:sp>
      <p:sp>
        <p:nvSpPr>
          <p:cNvPr id="38" name="Text 36"/>
          <p:cNvSpPr/>
          <p:nvPr/>
        </p:nvSpPr>
        <p:spPr>
          <a:xfrm>
            <a:off x="4809744" y="5394960"/>
            <a:ext cx="674827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VISITNUM 3 is not used in VS or LB</a:t>
            </a:r>
            <a:endParaRPr lang="en-US" sz="1150" dirty="0"/>
          </a:p>
        </p:txBody>
      </p:sp>
      <p:sp>
        <p:nvSpPr>
          <p:cNvPr id="39" name="Text 37"/>
          <p:cNvSpPr/>
          <p:nvPr/>
        </p:nvSpPr>
        <p:spPr>
          <a:xfrm>
            <a:off x="640080" y="5806440"/>
            <a:ext cx="10972800" cy="548640"/>
          </a:xfrm>
          <a:prstGeom prst="rect">
            <a:avLst/>
          </a:prstGeom>
          <a:noFill/>
          <a:ln/>
        </p:spPr>
        <p:txBody>
          <a:bodyPr wrap="square" lIns="0" tIns="0" rIns="0" bIns="0" rtlCol="0" anchor="ctr"/>
          <a:lstStyle/>
          <a:p>
            <a:pPr indent="0" marL="0">
              <a:buNone/>
            </a:pPr>
            <a:r>
              <a:rPr lang="en-US" sz="1250" i="1" dirty="0">
                <a:solidFill>
                  <a:srgbClr val="0E7C86"/>
                </a:solidFill>
                <a:latin typeface="Calibri" pitchFamily="34" charset="0"/>
                <a:ea typeface="Calibri" pitchFamily="34" charset="-122"/>
                <a:cs typeface="Calibri" pitchFamily="34" charset="-120"/>
              </a:rPr>
              <a:t>VISITNUM 3 is deliberately absent. Gaps are normal — the numbers come from the protocol's visit schedule, which may include visits where no vital signs or labs are taken. Never renumber them to close a gap.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LAB DATA</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LB is VS plus reference ranges</a:t>
            </a:r>
            <a:endParaRPr lang="en-US" sz="3000" dirty="0"/>
          </a:p>
        </p:txBody>
      </p:sp>
      <p:sp>
        <p:nvSpPr>
          <p:cNvPr id="4" name="Text 2"/>
          <p:cNvSpPr/>
          <p:nvPr/>
        </p:nvSpPr>
        <p:spPr>
          <a:xfrm>
            <a:off x="640080" y="1600200"/>
            <a:ext cx="10972800" cy="457200"/>
          </a:xfrm>
          <a:prstGeom prst="rect">
            <a:avLst/>
          </a:prstGeom>
          <a:noFill/>
          <a:ln/>
        </p:spPr>
        <p:txBody>
          <a:bodyPr wrap="square" lIns="0" tIns="0" rIns="0" bIns="0" rtlCol="0" anchor="ctr"/>
          <a:lstStyle/>
          <a:p>
            <a:pPr indent="0" marL="0">
              <a:buNone/>
            </a:pPr>
            <a:r>
              <a:rPr lang="en-US" sz="1350" dirty="0">
                <a:solidFill>
                  <a:srgbClr val="AFCBD3"/>
                </a:solidFill>
                <a:latin typeface="Calibri" pitchFamily="34" charset="0"/>
                <a:ea typeface="Calibri" pitchFamily="34" charset="-122"/>
                <a:cs typeface="Calibri" pitchFamily="34" charset="-120"/>
              </a:rPr>
              <a:t>LB raw arrives ALREADY TALL — one row per test — so there is no transpose. What it adds instead is the machinery for deciding whether a result is normal.</a:t>
            </a:r>
            <a:endParaRPr lang="en-US" sz="1350" dirty="0"/>
          </a:p>
        </p:txBody>
      </p:sp>
      <p:sp>
        <p:nvSpPr>
          <p:cNvPr id="5" name="Shape 3"/>
          <p:cNvSpPr/>
          <p:nvPr/>
        </p:nvSpPr>
        <p:spPr>
          <a:xfrm>
            <a:off x="640080" y="2148840"/>
            <a:ext cx="10972800" cy="777240"/>
          </a:xfrm>
          <a:prstGeom prst="roundRect">
            <a:avLst>
              <a:gd name="adj" fmla="val 9412"/>
            </a:avLst>
          </a:prstGeom>
          <a:solidFill>
            <a:srgbClr val="163B4B"/>
          </a:solidFill>
          <a:ln w="15240">
            <a:solidFill>
              <a:srgbClr val="6FC8B4"/>
            </a:solidFill>
            <a:prstDash val="solid"/>
          </a:ln>
        </p:spPr>
      </p:sp>
      <p:sp>
        <p:nvSpPr>
          <p:cNvPr id="6" name="Text 4"/>
          <p:cNvSpPr/>
          <p:nvPr/>
        </p:nvSpPr>
        <p:spPr>
          <a:xfrm>
            <a:off x="914400" y="2331720"/>
            <a:ext cx="3200400" cy="411480"/>
          </a:xfrm>
          <a:prstGeom prst="rect">
            <a:avLst/>
          </a:prstGeom>
          <a:noFill/>
          <a:ln/>
        </p:spPr>
        <p:txBody>
          <a:bodyPr wrap="square" lIns="0" tIns="0" rIns="0" bIns="0" rtlCol="0" anchor="ctr"/>
          <a:lstStyle/>
          <a:p>
            <a:pPr indent="0" marL="0">
              <a:buNone/>
            </a:pPr>
            <a:r>
              <a:rPr lang="en-US" sz="1350" b="1" dirty="0">
                <a:solidFill>
                  <a:srgbClr val="6FC8B4"/>
                </a:solidFill>
                <a:latin typeface="Courier New" pitchFamily="34" charset="0"/>
                <a:ea typeface="Courier New" pitchFamily="34" charset="-122"/>
                <a:cs typeface="Courier New" pitchFamily="34" charset="-120"/>
              </a:rPr>
              <a:t>LBCAT</a:t>
            </a:r>
            <a:endParaRPr lang="en-US" sz="1350" dirty="0"/>
          </a:p>
        </p:txBody>
      </p:sp>
      <p:sp>
        <p:nvSpPr>
          <p:cNvPr id="7" name="Text 5"/>
          <p:cNvSpPr/>
          <p:nvPr/>
        </p:nvSpPr>
        <p:spPr>
          <a:xfrm>
            <a:off x="4297680" y="2331720"/>
            <a:ext cx="4754880" cy="41148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The panel the test belongs to</a:t>
            </a:r>
            <a:endParaRPr lang="en-US" sz="1250" dirty="0"/>
          </a:p>
        </p:txBody>
      </p:sp>
      <p:sp>
        <p:nvSpPr>
          <p:cNvPr id="8" name="Text 6"/>
          <p:cNvSpPr/>
          <p:nvPr/>
        </p:nvSpPr>
        <p:spPr>
          <a:xfrm>
            <a:off x="9144000" y="2331720"/>
            <a:ext cx="2286000" cy="411480"/>
          </a:xfrm>
          <a:prstGeom prst="rect">
            <a:avLst/>
          </a:prstGeom>
          <a:noFill/>
          <a:ln/>
        </p:spPr>
        <p:txBody>
          <a:bodyPr wrap="square" lIns="0" tIns="0" rIns="0" bIns="0" rtlCol="0" anchor="ctr"/>
          <a:lstStyle/>
          <a:p>
            <a:pPr indent="0" marL="0">
              <a:buNone/>
            </a:pPr>
            <a:r>
              <a:rPr lang="en-US" sz="1200" dirty="0">
                <a:solidFill>
                  <a:srgbClr val="AFCBD3"/>
                </a:solidFill>
                <a:latin typeface="Courier New" pitchFamily="34" charset="0"/>
                <a:ea typeface="Courier New" pitchFamily="34" charset="-122"/>
                <a:cs typeface="Courier New" pitchFamily="34" charset="-120"/>
              </a:rPr>
              <a:t>HEMATOLOGY · CHEMISTRY</a:t>
            </a:r>
            <a:endParaRPr lang="en-US" sz="1200" dirty="0"/>
          </a:p>
        </p:txBody>
      </p:sp>
      <p:sp>
        <p:nvSpPr>
          <p:cNvPr id="9" name="Shape 7"/>
          <p:cNvSpPr/>
          <p:nvPr/>
        </p:nvSpPr>
        <p:spPr>
          <a:xfrm>
            <a:off x="640080" y="3017520"/>
            <a:ext cx="10972800" cy="777240"/>
          </a:xfrm>
          <a:prstGeom prst="roundRect">
            <a:avLst>
              <a:gd name="adj" fmla="val 9412"/>
            </a:avLst>
          </a:prstGeom>
          <a:solidFill>
            <a:srgbClr val="163B4B"/>
          </a:solidFill>
          <a:ln w="15240">
            <a:solidFill>
              <a:srgbClr val="1FA8A0"/>
            </a:solidFill>
            <a:prstDash val="solid"/>
          </a:ln>
        </p:spPr>
      </p:sp>
      <p:sp>
        <p:nvSpPr>
          <p:cNvPr id="10" name="Text 8"/>
          <p:cNvSpPr/>
          <p:nvPr/>
        </p:nvSpPr>
        <p:spPr>
          <a:xfrm>
            <a:off x="914400" y="3200400"/>
            <a:ext cx="3200400" cy="411480"/>
          </a:xfrm>
          <a:prstGeom prst="rect">
            <a:avLst/>
          </a:prstGeom>
          <a:noFill/>
          <a:ln/>
        </p:spPr>
        <p:txBody>
          <a:bodyPr wrap="square" lIns="0" tIns="0" rIns="0" bIns="0" rtlCol="0" anchor="ctr"/>
          <a:lstStyle/>
          <a:p>
            <a:pPr indent="0" marL="0">
              <a:buNone/>
            </a:pPr>
            <a:r>
              <a:rPr lang="en-US" sz="1350" b="1" dirty="0">
                <a:solidFill>
                  <a:srgbClr val="1FA8A0"/>
                </a:solidFill>
                <a:latin typeface="Courier New" pitchFamily="34" charset="0"/>
                <a:ea typeface="Courier New" pitchFamily="34" charset="-122"/>
                <a:cs typeface="Courier New" pitchFamily="34" charset="-120"/>
              </a:rPr>
              <a:t>LBORNRLO / LBORNRHI</a:t>
            </a:r>
            <a:endParaRPr lang="en-US" sz="1350" dirty="0"/>
          </a:p>
        </p:txBody>
      </p:sp>
      <p:sp>
        <p:nvSpPr>
          <p:cNvPr id="11" name="Text 9"/>
          <p:cNvSpPr/>
          <p:nvPr/>
        </p:nvSpPr>
        <p:spPr>
          <a:xfrm>
            <a:off x="4297680" y="3200400"/>
            <a:ext cx="4754880" cy="41148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Reference range low and high, in the ORIGINAL units</a:t>
            </a:r>
            <a:endParaRPr lang="en-US" sz="1250" dirty="0"/>
          </a:p>
        </p:txBody>
      </p:sp>
      <p:sp>
        <p:nvSpPr>
          <p:cNvPr id="12" name="Text 10"/>
          <p:cNvSpPr/>
          <p:nvPr/>
        </p:nvSpPr>
        <p:spPr>
          <a:xfrm>
            <a:off x="9144000" y="3200400"/>
            <a:ext cx="2286000" cy="411480"/>
          </a:xfrm>
          <a:prstGeom prst="rect">
            <a:avLst/>
          </a:prstGeom>
          <a:noFill/>
          <a:ln/>
        </p:spPr>
        <p:txBody>
          <a:bodyPr wrap="square" lIns="0" tIns="0" rIns="0" bIns="0" rtlCol="0" anchor="ctr"/>
          <a:lstStyle/>
          <a:p>
            <a:pPr indent="0" marL="0">
              <a:buNone/>
            </a:pPr>
            <a:r>
              <a:rPr lang="en-US" sz="1200" dirty="0">
                <a:solidFill>
                  <a:srgbClr val="AFCBD3"/>
                </a:solidFill>
                <a:latin typeface="Courier New" pitchFamily="34" charset="0"/>
                <a:ea typeface="Courier New" pitchFamily="34" charset="-122"/>
                <a:cs typeface="Courier New" pitchFamily="34" charset="-120"/>
              </a:rPr>
              <a:t>12.0  …  17.0</a:t>
            </a:r>
            <a:endParaRPr lang="en-US" sz="1200" dirty="0"/>
          </a:p>
        </p:txBody>
      </p:sp>
      <p:sp>
        <p:nvSpPr>
          <p:cNvPr id="13" name="Shape 11"/>
          <p:cNvSpPr/>
          <p:nvPr/>
        </p:nvSpPr>
        <p:spPr>
          <a:xfrm>
            <a:off x="640080" y="3886200"/>
            <a:ext cx="10972800" cy="777240"/>
          </a:xfrm>
          <a:prstGeom prst="roundRect">
            <a:avLst>
              <a:gd name="adj" fmla="val 9412"/>
            </a:avLst>
          </a:prstGeom>
          <a:solidFill>
            <a:srgbClr val="163B4B"/>
          </a:solidFill>
          <a:ln w="15240">
            <a:solidFill>
              <a:srgbClr val="1FA8A0"/>
            </a:solidFill>
            <a:prstDash val="solid"/>
          </a:ln>
        </p:spPr>
      </p:sp>
      <p:sp>
        <p:nvSpPr>
          <p:cNvPr id="14" name="Text 12"/>
          <p:cNvSpPr/>
          <p:nvPr/>
        </p:nvSpPr>
        <p:spPr>
          <a:xfrm>
            <a:off x="914400" y="4069080"/>
            <a:ext cx="3200400" cy="411480"/>
          </a:xfrm>
          <a:prstGeom prst="rect">
            <a:avLst/>
          </a:prstGeom>
          <a:noFill/>
          <a:ln/>
        </p:spPr>
        <p:txBody>
          <a:bodyPr wrap="square" lIns="0" tIns="0" rIns="0" bIns="0" rtlCol="0" anchor="ctr"/>
          <a:lstStyle/>
          <a:p>
            <a:pPr indent="0" marL="0">
              <a:buNone/>
            </a:pPr>
            <a:r>
              <a:rPr lang="en-US" sz="1350" b="1" dirty="0">
                <a:solidFill>
                  <a:srgbClr val="1FA8A0"/>
                </a:solidFill>
                <a:latin typeface="Courier New" pitchFamily="34" charset="0"/>
                <a:ea typeface="Courier New" pitchFamily="34" charset="-122"/>
                <a:cs typeface="Courier New" pitchFamily="34" charset="-120"/>
              </a:rPr>
              <a:t>LBSTNRLO / LBSTNRHI</a:t>
            </a:r>
            <a:endParaRPr lang="en-US" sz="1350" dirty="0"/>
          </a:p>
        </p:txBody>
      </p:sp>
      <p:sp>
        <p:nvSpPr>
          <p:cNvPr id="15" name="Text 13"/>
          <p:cNvSpPr/>
          <p:nvPr/>
        </p:nvSpPr>
        <p:spPr>
          <a:xfrm>
            <a:off x="4297680" y="4069080"/>
            <a:ext cx="4754880" cy="41148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The same range in STANDARD units</a:t>
            </a:r>
            <a:endParaRPr lang="en-US" sz="1250" dirty="0"/>
          </a:p>
        </p:txBody>
      </p:sp>
      <p:sp>
        <p:nvSpPr>
          <p:cNvPr id="16" name="Text 14"/>
          <p:cNvSpPr/>
          <p:nvPr/>
        </p:nvSpPr>
        <p:spPr>
          <a:xfrm>
            <a:off x="9144000" y="4069080"/>
            <a:ext cx="2286000" cy="411480"/>
          </a:xfrm>
          <a:prstGeom prst="rect">
            <a:avLst/>
          </a:prstGeom>
          <a:noFill/>
          <a:ln/>
        </p:spPr>
        <p:txBody>
          <a:bodyPr wrap="square" lIns="0" tIns="0" rIns="0" bIns="0" rtlCol="0" anchor="ctr"/>
          <a:lstStyle/>
          <a:p>
            <a:pPr indent="0" marL="0">
              <a:buNone/>
            </a:pPr>
            <a:r>
              <a:rPr lang="en-US" sz="1200" dirty="0">
                <a:solidFill>
                  <a:srgbClr val="AFCBD3"/>
                </a:solidFill>
                <a:latin typeface="Courier New" pitchFamily="34" charset="0"/>
                <a:ea typeface="Courier New" pitchFamily="34" charset="-122"/>
                <a:cs typeface="Courier New" pitchFamily="34" charset="-120"/>
              </a:rPr>
              <a:t>12.0  …  17.0</a:t>
            </a:r>
            <a:endParaRPr lang="en-US" sz="1200" dirty="0"/>
          </a:p>
        </p:txBody>
      </p:sp>
      <p:sp>
        <p:nvSpPr>
          <p:cNvPr id="17" name="Shape 15"/>
          <p:cNvSpPr/>
          <p:nvPr/>
        </p:nvSpPr>
        <p:spPr>
          <a:xfrm>
            <a:off x="640080" y="4754880"/>
            <a:ext cx="10972800" cy="777240"/>
          </a:xfrm>
          <a:prstGeom prst="roundRect">
            <a:avLst>
              <a:gd name="adj" fmla="val 9412"/>
            </a:avLst>
          </a:prstGeom>
          <a:solidFill>
            <a:srgbClr val="163B4B"/>
          </a:solidFill>
          <a:ln w="15240">
            <a:solidFill>
              <a:srgbClr val="E8833A"/>
            </a:solidFill>
            <a:prstDash val="solid"/>
          </a:ln>
        </p:spPr>
      </p:sp>
      <p:sp>
        <p:nvSpPr>
          <p:cNvPr id="18" name="Text 16"/>
          <p:cNvSpPr/>
          <p:nvPr/>
        </p:nvSpPr>
        <p:spPr>
          <a:xfrm>
            <a:off x="914400" y="4937760"/>
            <a:ext cx="3200400" cy="411480"/>
          </a:xfrm>
          <a:prstGeom prst="rect">
            <a:avLst/>
          </a:prstGeom>
          <a:noFill/>
          <a:ln/>
        </p:spPr>
        <p:txBody>
          <a:bodyPr wrap="square" lIns="0" tIns="0" rIns="0" bIns="0" rtlCol="0" anchor="ctr"/>
          <a:lstStyle/>
          <a:p>
            <a:pPr indent="0" marL="0">
              <a:buNone/>
            </a:pPr>
            <a:r>
              <a:rPr lang="en-US" sz="1350" b="1" dirty="0">
                <a:solidFill>
                  <a:srgbClr val="E8833A"/>
                </a:solidFill>
                <a:latin typeface="Courier New" pitchFamily="34" charset="0"/>
                <a:ea typeface="Courier New" pitchFamily="34" charset="-122"/>
                <a:cs typeface="Courier New" pitchFamily="34" charset="-120"/>
              </a:rPr>
              <a:t>LBNRIND</a:t>
            </a:r>
            <a:endParaRPr lang="en-US" sz="1350" dirty="0"/>
          </a:p>
        </p:txBody>
      </p:sp>
      <p:sp>
        <p:nvSpPr>
          <p:cNvPr id="19" name="Text 17"/>
          <p:cNvSpPr/>
          <p:nvPr/>
        </p:nvSpPr>
        <p:spPr>
          <a:xfrm>
            <a:off x="4297680" y="4937760"/>
            <a:ext cx="4754880" cy="41148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Where the result falls: derived, not collected</a:t>
            </a:r>
            <a:endParaRPr lang="en-US" sz="1250" dirty="0"/>
          </a:p>
        </p:txBody>
      </p:sp>
      <p:sp>
        <p:nvSpPr>
          <p:cNvPr id="20" name="Text 18"/>
          <p:cNvSpPr/>
          <p:nvPr/>
        </p:nvSpPr>
        <p:spPr>
          <a:xfrm>
            <a:off x="9144000" y="4937760"/>
            <a:ext cx="2286000" cy="411480"/>
          </a:xfrm>
          <a:prstGeom prst="rect">
            <a:avLst/>
          </a:prstGeom>
          <a:noFill/>
          <a:ln/>
        </p:spPr>
        <p:txBody>
          <a:bodyPr wrap="square" lIns="0" tIns="0" rIns="0" bIns="0" rtlCol="0" anchor="ctr"/>
          <a:lstStyle/>
          <a:p>
            <a:pPr indent="0" marL="0">
              <a:buNone/>
            </a:pPr>
            <a:r>
              <a:rPr lang="en-US" sz="1200" dirty="0">
                <a:solidFill>
                  <a:srgbClr val="AFCBD3"/>
                </a:solidFill>
                <a:latin typeface="Courier New" pitchFamily="34" charset="0"/>
                <a:ea typeface="Courier New" pitchFamily="34" charset="-122"/>
                <a:cs typeface="Courier New" pitchFamily="34" charset="-120"/>
              </a:rPr>
              <a:t>NORMAL · LOW · HIGH</a:t>
            </a:r>
            <a:endParaRPr lang="en-US" sz="1200" dirty="0"/>
          </a:p>
        </p:txBody>
      </p:sp>
      <p:sp>
        <p:nvSpPr>
          <p:cNvPr id="21" name="Shape 19"/>
          <p:cNvSpPr/>
          <p:nvPr/>
        </p:nvSpPr>
        <p:spPr>
          <a:xfrm>
            <a:off x="640080" y="5623560"/>
            <a:ext cx="10972800" cy="1126744"/>
          </a:xfrm>
          <a:prstGeom prst="roundRect">
            <a:avLst>
              <a:gd name="adj" fmla="val 6492"/>
            </a:avLst>
          </a:prstGeom>
          <a:solidFill>
            <a:srgbClr val="13323F"/>
          </a:solidFill>
          <a:ln w="19050">
            <a:solidFill>
              <a:srgbClr val="E8833A"/>
            </a:solidFill>
            <a:prstDash val="solid"/>
          </a:ln>
        </p:spPr>
      </p:sp>
      <p:sp>
        <p:nvSpPr>
          <p:cNvPr id="22" name="Text 20"/>
          <p:cNvSpPr/>
          <p:nvPr/>
        </p:nvSpPr>
        <p:spPr>
          <a:xfrm>
            <a:off x="868680" y="5715000"/>
            <a:ext cx="5486400" cy="320040"/>
          </a:xfrm>
          <a:prstGeom prst="rect">
            <a:avLst/>
          </a:prstGeom>
          <a:noFill/>
          <a:ln/>
        </p:spPr>
        <p:txBody>
          <a:bodyPr wrap="square" lIns="0" tIns="0" rIns="0" bIns="0" rtlCol="0" anchor="ctr"/>
          <a:lstStyle/>
          <a:p>
            <a:pPr indent="0" marL="0">
              <a:buNone/>
            </a:pPr>
            <a:r>
              <a:rPr lang="en-US" sz="1400" b="1" dirty="0">
                <a:solidFill>
                  <a:srgbClr val="E8833A"/>
                </a:solidFill>
                <a:latin typeface="Cambria" pitchFamily="34" charset="0"/>
                <a:ea typeface="Cambria" pitchFamily="34" charset="-122"/>
                <a:cs typeface="Cambria" pitchFamily="34" charset="-120"/>
              </a:rPr>
              <a:t>Deriving LBNRIND</a:t>
            </a:r>
            <a:endParaRPr lang="en-US" sz="1400" dirty="0"/>
          </a:p>
        </p:txBody>
      </p:sp>
      <p:sp>
        <p:nvSpPr>
          <p:cNvPr id="23" name="Text 21"/>
          <p:cNvSpPr/>
          <p:nvPr/>
        </p:nvSpPr>
        <p:spPr>
          <a:xfrm>
            <a:off x="868680" y="6080760"/>
            <a:ext cx="10561320" cy="5598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if lbstresn &lt; lbstnrlo then lbnrind = "LOW";</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else if lbstresn &gt; lbstnrhi then lbnrind = "HIGH";  else lbnrind = "NORMAL";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READING A LAB RESULT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47 normal results, and one that isn't</a:t>
            </a:r>
            <a:endParaRPr lang="en-US" sz="3000" dirty="0"/>
          </a:p>
        </p:txBody>
      </p:sp>
      <p:sp>
        <p:nvSpPr>
          <p:cNvPr id="4" name="Shape 2"/>
          <p:cNvSpPr/>
          <p:nvPr/>
        </p:nvSpPr>
        <p:spPr>
          <a:xfrm>
            <a:off x="640080" y="1691640"/>
            <a:ext cx="1965960" cy="310896"/>
          </a:xfrm>
          <a:prstGeom prst="rect">
            <a:avLst/>
          </a:prstGeom>
          <a:solidFill>
            <a:srgbClr val="0F2E3D"/>
          </a:solidFill>
          <a:ln w="9525">
            <a:solidFill>
              <a:srgbClr val="CFDEE1"/>
            </a:solidFill>
            <a:prstDash val="solid"/>
          </a:ln>
        </p:spPr>
      </p:sp>
      <p:sp>
        <p:nvSpPr>
          <p:cNvPr id="5" name="Text 3"/>
          <p:cNvSpPr/>
          <p:nvPr/>
        </p:nvSpPr>
        <p:spPr>
          <a:xfrm>
            <a:off x="694944" y="1691640"/>
            <a:ext cx="185623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USUBJID</a:t>
            </a:r>
            <a:endParaRPr lang="en-US" sz="1100" dirty="0"/>
          </a:p>
        </p:txBody>
      </p:sp>
      <p:sp>
        <p:nvSpPr>
          <p:cNvPr id="6" name="Shape 4"/>
          <p:cNvSpPr/>
          <p:nvPr/>
        </p:nvSpPr>
        <p:spPr>
          <a:xfrm>
            <a:off x="2606040" y="1691640"/>
            <a:ext cx="1188720" cy="310896"/>
          </a:xfrm>
          <a:prstGeom prst="rect">
            <a:avLst/>
          </a:prstGeom>
          <a:solidFill>
            <a:srgbClr val="0F2E3D"/>
          </a:solidFill>
          <a:ln w="9525">
            <a:solidFill>
              <a:srgbClr val="CFDEE1"/>
            </a:solidFill>
            <a:prstDash val="solid"/>
          </a:ln>
        </p:spPr>
      </p:sp>
      <p:sp>
        <p:nvSpPr>
          <p:cNvPr id="7" name="Text 5"/>
          <p:cNvSpPr/>
          <p:nvPr/>
        </p:nvSpPr>
        <p:spPr>
          <a:xfrm>
            <a:off x="2660904" y="1691640"/>
            <a:ext cx="107899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VISIT</a:t>
            </a:r>
            <a:endParaRPr lang="en-US" sz="1100" dirty="0"/>
          </a:p>
        </p:txBody>
      </p:sp>
      <p:sp>
        <p:nvSpPr>
          <p:cNvPr id="8" name="Shape 6"/>
          <p:cNvSpPr/>
          <p:nvPr/>
        </p:nvSpPr>
        <p:spPr>
          <a:xfrm>
            <a:off x="3794760" y="1691640"/>
            <a:ext cx="1097280" cy="310896"/>
          </a:xfrm>
          <a:prstGeom prst="rect">
            <a:avLst/>
          </a:prstGeom>
          <a:solidFill>
            <a:srgbClr val="0F2E3D"/>
          </a:solidFill>
          <a:ln w="9525">
            <a:solidFill>
              <a:srgbClr val="CFDEE1"/>
            </a:solidFill>
            <a:prstDash val="solid"/>
          </a:ln>
        </p:spPr>
      </p:sp>
      <p:sp>
        <p:nvSpPr>
          <p:cNvPr id="9" name="Text 7"/>
          <p:cNvSpPr/>
          <p:nvPr/>
        </p:nvSpPr>
        <p:spPr>
          <a:xfrm>
            <a:off x="3849624" y="1691640"/>
            <a:ext cx="98755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TESTCD</a:t>
            </a:r>
            <a:endParaRPr lang="en-US" sz="1100" dirty="0"/>
          </a:p>
        </p:txBody>
      </p:sp>
      <p:sp>
        <p:nvSpPr>
          <p:cNvPr id="10" name="Shape 8"/>
          <p:cNvSpPr/>
          <p:nvPr/>
        </p:nvSpPr>
        <p:spPr>
          <a:xfrm>
            <a:off x="4892040" y="1691640"/>
            <a:ext cx="1005840" cy="310896"/>
          </a:xfrm>
          <a:prstGeom prst="rect">
            <a:avLst/>
          </a:prstGeom>
          <a:solidFill>
            <a:srgbClr val="0F2E3D"/>
          </a:solidFill>
          <a:ln w="9525">
            <a:solidFill>
              <a:srgbClr val="CFDEE1"/>
            </a:solidFill>
            <a:prstDash val="solid"/>
          </a:ln>
        </p:spPr>
      </p:sp>
      <p:sp>
        <p:nvSpPr>
          <p:cNvPr id="11" name="Text 9"/>
          <p:cNvSpPr/>
          <p:nvPr/>
        </p:nvSpPr>
        <p:spPr>
          <a:xfrm>
            <a:off x="4946904" y="1691640"/>
            <a:ext cx="8961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ORRES</a:t>
            </a:r>
            <a:endParaRPr lang="en-US" sz="1100" dirty="0"/>
          </a:p>
        </p:txBody>
      </p:sp>
      <p:sp>
        <p:nvSpPr>
          <p:cNvPr id="12" name="Shape 10"/>
          <p:cNvSpPr/>
          <p:nvPr/>
        </p:nvSpPr>
        <p:spPr>
          <a:xfrm>
            <a:off x="5897880" y="1691640"/>
            <a:ext cx="1051560" cy="310896"/>
          </a:xfrm>
          <a:prstGeom prst="rect">
            <a:avLst/>
          </a:prstGeom>
          <a:solidFill>
            <a:srgbClr val="0F2E3D"/>
          </a:solidFill>
          <a:ln w="9525">
            <a:solidFill>
              <a:srgbClr val="CFDEE1"/>
            </a:solidFill>
            <a:prstDash val="solid"/>
          </a:ln>
        </p:spPr>
      </p:sp>
      <p:sp>
        <p:nvSpPr>
          <p:cNvPr id="13" name="Text 11"/>
          <p:cNvSpPr/>
          <p:nvPr/>
        </p:nvSpPr>
        <p:spPr>
          <a:xfrm>
            <a:off x="5952744" y="1691640"/>
            <a:ext cx="9418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NRLO</a:t>
            </a:r>
            <a:endParaRPr lang="en-US" sz="1100" dirty="0"/>
          </a:p>
        </p:txBody>
      </p:sp>
      <p:sp>
        <p:nvSpPr>
          <p:cNvPr id="14" name="Shape 12"/>
          <p:cNvSpPr/>
          <p:nvPr/>
        </p:nvSpPr>
        <p:spPr>
          <a:xfrm>
            <a:off x="6949440" y="1691640"/>
            <a:ext cx="1051560" cy="310896"/>
          </a:xfrm>
          <a:prstGeom prst="rect">
            <a:avLst/>
          </a:prstGeom>
          <a:solidFill>
            <a:srgbClr val="0F2E3D"/>
          </a:solidFill>
          <a:ln w="9525">
            <a:solidFill>
              <a:srgbClr val="CFDEE1"/>
            </a:solidFill>
            <a:prstDash val="solid"/>
          </a:ln>
        </p:spPr>
      </p:sp>
      <p:sp>
        <p:nvSpPr>
          <p:cNvPr id="15" name="Text 13"/>
          <p:cNvSpPr/>
          <p:nvPr/>
        </p:nvSpPr>
        <p:spPr>
          <a:xfrm>
            <a:off x="7004304" y="1691640"/>
            <a:ext cx="9418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NRHI</a:t>
            </a:r>
            <a:endParaRPr lang="en-US" sz="1100" dirty="0"/>
          </a:p>
        </p:txBody>
      </p:sp>
      <p:sp>
        <p:nvSpPr>
          <p:cNvPr id="16" name="Shape 14"/>
          <p:cNvSpPr/>
          <p:nvPr/>
        </p:nvSpPr>
        <p:spPr>
          <a:xfrm>
            <a:off x="8001000" y="1691640"/>
            <a:ext cx="1143000" cy="310896"/>
          </a:xfrm>
          <a:prstGeom prst="rect">
            <a:avLst/>
          </a:prstGeom>
          <a:solidFill>
            <a:srgbClr val="0F2E3D"/>
          </a:solidFill>
          <a:ln w="9525">
            <a:solidFill>
              <a:srgbClr val="CFDEE1"/>
            </a:solidFill>
            <a:prstDash val="solid"/>
          </a:ln>
        </p:spPr>
      </p:sp>
      <p:sp>
        <p:nvSpPr>
          <p:cNvPr id="17" name="Text 15"/>
          <p:cNvSpPr/>
          <p:nvPr/>
        </p:nvSpPr>
        <p:spPr>
          <a:xfrm>
            <a:off x="8055864" y="1691640"/>
            <a:ext cx="10332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NRIND</a:t>
            </a:r>
            <a:endParaRPr lang="en-US" sz="1100" dirty="0"/>
          </a:p>
        </p:txBody>
      </p:sp>
      <p:sp>
        <p:nvSpPr>
          <p:cNvPr id="18" name="Shape 16"/>
          <p:cNvSpPr/>
          <p:nvPr/>
        </p:nvSpPr>
        <p:spPr>
          <a:xfrm>
            <a:off x="9144000" y="1691640"/>
            <a:ext cx="1234440" cy="310896"/>
          </a:xfrm>
          <a:prstGeom prst="rect">
            <a:avLst/>
          </a:prstGeom>
          <a:solidFill>
            <a:srgbClr val="0F2E3D"/>
          </a:solidFill>
          <a:ln w="9525">
            <a:solidFill>
              <a:srgbClr val="CFDEE1"/>
            </a:solidFill>
            <a:prstDash val="solid"/>
          </a:ln>
        </p:spPr>
      </p:sp>
      <p:sp>
        <p:nvSpPr>
          <p:cNvPr id="19" name="Text 17"/>
          <p:cNvSpPr/>
          <p:nvPr/>
        </p:nvSpPr>
        <p:spPr>
          <a:xfrm>
            <a:off x="9198864" y="1691640"/>
            <a:ext cx="1124712"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LBCAT</a:t>
            </a:r>
            <a:endParaRPr lang="en-US" sz="1100" dirty="0"/>
          </a:p>
        </p:txBody>
      </p:sp>
      <p:sp>
        <p:nvSpPr>
          <p:cNvPr id="20" name="Shape 18"/>
          <p:cNvSpPr/>
          <p:nvPr/>
        </p:nvSpPr>
        <p:spPr>
          <a:xfrm>
            <a:off x="10378440" y="1691640"/>
            <a:ext cx="1234440" cy="310896"/>
          </a:xfrm>
          <a:prstGeom prst="rect">
            <a:avLst/>
          </a:prstGeom>
          <a:solidFill>
            <a:srgbClr val="0F2E3D"/>
          </a:solidFill>
          <a:ln w="9525">
            <a:solidFill>
              <a:srgbClr val="CFDEE1"/>
            </a:solidFill>
            <a:prstDash val="solid"/>
          </a:ln>
        </p:spPr>
      </p:sp>
      <p:sp>
        <p:nvSpPr>
          <p:cNvPr id="21" name="Text 19"/>
          <p:cNvSpPr/>
          <p:nvPr/>
        </p:nvSpPr>
        <p:spPr>
          <a:xfrm>
            <a:off x="10433304" y="1691640"/>
            <a:ext cx="11247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LBDY</a:t>
            </a:r>
            <a:endParaRPr lang="en-US" sz="1100" dirty="0"/>
          </a:p>
        </p:txBody>
      </p:sp>
      <p:sp>
        <p:nvSpPr>
          <p:cNvPr id="22" name="Shape 20"/>
          <p:cNvSpPr/>
          <p:nvPr/>
        </p:nvSpPr>
        <p:spPr>
          <a:xfrm>
            <a:off x="640080" y="2002536"/>
            <a:ext cx="1965960" cy="310896"/>
          </a:xfrm>
          <a:prstGeom prst="rect">
            <a:avLst/>
          </a:prstGeom>
          <a:solidFill>
            <a:srgbClr val="F3F7F8"/>
          </a:solidFill>
          <a:ln w="9525">
            <a:solidFill>
              <a:srgbClr val="CFDEE1"/>
            </a:solidFill>
            <a:prstDash val="solid"/>
          </a:ln>
        </p:spPr>
      </p:sp>
      <p:sp>
        <p:nvSpPr>
          <p:cNvPr id="23" name="Text 21"/>
          <p:cNvSpPr/>
          <p:nvPr/>
        </p:nvSpPr>
        <p:spPr>
          <a:xfrm>
            <a:off x="694944" y="2002536"/>
            <a:ext cx="18562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ABC-01-01-003</a:t>
            </a:r>
            <a:endParaRPr lang="en-US" sz="1100" dirty="0"/>
          </a:p>
        </p:txBody>
      </p:sp>
      <p:sp>
        <p:nvSpPr>
          <p:cNvPr id="24" name="Shape 22"/>
          <p:cNvSpPr/>
          <p:nvPr/>
        </p:nvSpPr>
        <p:spPr>
          <a:xfrm>
            <a:off x="2606040" y="2002536"/>
            <a:ext cx="1188720" cy="310896"/>
          </a:xfrm>
          <a:prstGeom prst="rect">
            <a:avLst/>
          </a:prstGeom>
          <a:solidFill>
            <a:srgbClr val="F3F7F8"/>
          </a:solidFill>
          <a:ln w="9525">
            <a:solidFill>
              <a:srgbClr val="CFDEE1"/>
            </a:solidFill>
            <a:prstDash val="solid"/>
          </a:ln>
        </p:spPr>
      </p:sp>
      <p:sp>
        <p:nvSpPr>
          <p:cNvPr id="25" name="Text 23"/>
          <p:cNvSpPr/>
          <p:nvPr/>
        </p:nvSpPr>
        <p:spPr>
          <a:xfrm>
            <a:off x="2660904" y="2002536"/>
            <a:ext cx="107899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BASELINE</a:t>
            </a:r>
            <a:endParaRPr lang="en-US" sz="1100" dirty="0"/>
          </a:p>
        </p:txBody>
      </p:sp>
      <p:sp>
        <p:nvSpPr>
          <p:cNvPr id="26" name="Shape 24"/>
          <p:cNvSpPr/>
          <p:nvPr/>
        </p:nvSpPr>
        <p:spPr>
          <a:xfrm>
            <a:off x="3794760" y="2002536"/>
            <a:ext cx="1097280" cy="310896"/>
          </a:xfrm>
          <a:prstGeom prst="rect">
            <a:avLst/>
          </a:prstGeom>
          <a:solidFill>
            <a:srgbClr val="F3F7F8"/>
          </a:solidFill>
          <a:ln w="9525">
            <a:solidFill>
              <a:srgbClr val="CFDEE1"/>
            </a:solidFill>
            <a:prstDash val="solid"/>
          </a:ln>
        </p:spPr>
      </p:sp>
      <p:sp>
        <p:nvSpPr>
          <p:cNvPr id="27" name="Text 25"/>
          <p:cNvSpPr/>
          <p:nvPr/>
        </p:nvSpPr>
        <p:spPr>
          <a:xfrm>
            <a:off x="3849624" y="2002536"/>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ALT</a:t>
            </a:r>
            <a:endParaRPr lang="en-US" sz="1100" dirty="0"/>
          </a:p>
        </p:txBody>
      </p:sp>
      <p:sp>
        <p:nvSpPr>
          <p:cNvPr id="28" name="Shape 26"/>
          <p:cNvSpPr/>
          <p:nvPr/>
        </p:nvSpPr>
        <p:spPr>
          <a:xfrm>
            <a:off x="4892040" y="2002536"/>
            <a:ext cx="1005840" cy="310896"/>
          </a:xfrm>
          <a:prstGeom prst="rect">
            <a:avLst/>
          </a:prstGeom>
          <a:solidFill>
            <a:srgbClr val="F3F7F8"/>
          </a:solidFill>
          <a:ln w="9525">
            <a:solidFill>
              <a:srgbClr val="CFDEE1"/>
            </a:solidFill>
            <a:prstDash val="solid"/>
          </a:ln>
        </p:spPr>
      </p:sp>
      <p:sp>
        <p:nvSpPr>
          <p:cNvPr id="29" name="Text 27"/>
          <p:cNvSpPr/>
          <p:nvPr/>
        </p:nvSpPr>
        <p:spPr>
          <a:xfrm>
            <a:off x="4946904" y="2002536"/>
            <a:ext cx="8961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24</a:t>
            </a:r>
            <a:endParaRPr lang="en-US" sz="1100" dirty="0"/>
          </a:p>
        </p:txBody>
      </p:sp>
      <p:sp>
        <p:nvSpPr>
          <p:cNvPr id="30" name="Shape 28"/>
          <p:cNvSpPr/>
          <p:nvPr/>
        </p:nvSpPr>
        <p:spPr>
          <a:xfrm>
            <a:off x="5897880" y="2002536"/>
            <a:ext cx="1051560" cy="310896"/>
          </a:xfrm>
          <a:prstGeom prst="rect">
            <a:avLst/>
          </a:prstGeom>
          <a:solidFill>
            <a:srgbClr val="F3F7F8"/>
          </a:solidFill>
          <a:ln w="9525">
            <a:solidFill>
              <a:srgbClr val="CFDEE1"/>
            </a:solidFill>
            <a:prstDash val="solid"/>
          </a:ln>
        </p:spPr>
      </p:sp>
      <p:sp>
        <p:nvSpPr>
          <p:cNvPr id="31" name="Text 29"/>
          <p:cNvSpPr/>
          <p:nvPr/>
        </p:nvSpPr>
        <p:spPr>
          <a:xfrm>
            <a:off x="5952744" y="2002536"/>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7</a:t>
            </a:r>
            <a:endParaRPr lang="en-US" sz="1100" dirty="0"/>
          </a:p>
        </p:txBody>
      </p:sp>
      <p:sp>
        <p:nvSpPr>
          <p:cNvPr id="32" name="Shape 30"/>
          <p:cNvSpPr/>
          <p:nvPr/>
        </p:nvSpPr>
        <p:spPr>
          <a:xfrm>
            <a:off x="6949440" y="2002536"/>
            <a:ext cx="1051560" cy="310896"/>
          </a:xfrm>
          <a:prstGeom prst="rect">
            <a:avLst/>
          </a:prstGeom>
          <a:solidFill>
            <a:srgbClr val="F3F7F8"/>
          </a:solidFill>
          <a:ln w="9525">
            <a:solidFill>
              <a:srgbClr val="CFDEE1"/>
            </a:solidFill>
            <a:prstDash val="solid"/>
          </a:ln>
        </p:spPr>
      </p:sp>
      <p:sp>
        <p:nvSpPr>
          <p:cNvPr id="33" name="Text 31"/>
          <p:cNvSpPr/>
          <p:nvPr/>
        </p:nvSpPr>
        <p:spPr>
          <a:xfrm>
            <a:off x="7004304" y="2002536"/>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56</a:t>
            </a:r>
            <a:endParaRPr lang="en-US" sz="1100" dirty="0"/>
          </a:p>
        </p:txBody>
      </p:sp>
      <p:sp>
        <p:nvSpPr>
          <p:cNvPr id="34" name="Shape 32"/>
          <p:cNvSpPr/>
          <p:nvPr/>
        </p:nvSpPr>
        <p:spPr>
          <a:xfrm>
            <a:off x="8001000" y="2002536"/>
            <a:ext cx="1143000" cy="310896"/>
          </a:xfrm>
          <a:prstGeom prst="rect">
            <a:avLst/>
          </a:prstGeom>
          <a:solidFill>
            <a:srgbClr val="F3F7F8"/>
          </a:solidFill>
          <a:ln w="9525">
            <a:solidFill>
              <a:srgbClr val="CFDEE1"/>
            </a:solidFill>
            <a:prstDash val="solid"/>
          </a:ln>
        </p:spPr>
      </p:sp>
      <p:sp>
        <p:nvSpPr>
          <p:cNvPr id="35" name="Text 33"/>
          <p:cNvSpPr/>
          <p:nvPr/>
        </p:nvSpPr>
        <p:spPr>
          <a:xfrm>
            <a:off x="8055864" y="2002536"/>
            <a:ext cx="103327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NORMAL</a:t>
            </a:r>
            <a:endParaRPr lang="en-US" sz="1100" dirty="0"/>
          </a:p>
        </p:txBody>
      </p:sp>
      <p:sp>
        <p:nvSpPr>
          <p:cNvPr id="36" name="Shape 34"/>
          <p:cNvSpPr/>
          <p:nvPr/>
        </p:nvSpPr>
        <p:spPr>
          <a:xfrm>
            <a:off x="9144000" y="2002536"/>
            <a:ext cx="1234440" cy="310896"/>
          </a:xfrm>
          <a:prstGeom prst="rect">
            <a:avLst/>
          </a:prstGeom>
          <a:solidFill>
            <a:srgbClr val="F3F7F8"/>
          </a:solidFill>
          <a:ln w="9525">
            <a:solidFill>
              <a:srgbClr val="CFDEE1"/>
            </a:solidFill>
            <a:prstDash val="solid"/>
          </a:ln>
        </p:spPr>
      </p:sp>
      <p:sp>
        <p:nvSpPr>
          <p:cNvPr id="37" name="Text 35"/>
          <p:cNvSpPr/>
          <p:nvPr/>
        </p:nvSpPr>
        <p:spPr>
          <a:xfrm>
            <a:off x="9198864" y="2002536"/>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CHEMISTRY</a:t>
            </a:r>
            <a:endParaRPr lang="en-US" sz="1100" dirty="0"/>
          </a:p>
        </p:txBody>
      </p:sp>
      <p:sp>
        <p:nvSpPr>
          <p:cNvPr id="38" name="Shape 36"/>
          <p:cNvSpPr/>
          <p:nvPr/>
        </p:nvSpPr>
        <p:spPr>
          <a:xfrm>
            <a:off x="10378440" y="2002536"/>
            <a:ext cx="1234440" cy="310896"/>
          </a:xfrm>
          <a:prstGeom prst="rect">
            <a:avLst/>
          </a:prstGeom>
          <a:solidFill>
            <a:srgbClr val="F3F7F8"/>
          </a:solidFill>
          <a:ln w="9525">
            <a:solidFill>
              <a:srgbClr val="CFDEE1"/>
            </a:solidFill>
            <a:prstDash val="solid"/>
          </a:ln>
        </p:spPr>
      </p:sp>
      <p:sp>
        <p:nvSpPr>
          <p:cNvPr id="39" name="Text 37"/>
          <p:cNvSpPr/>
          <p:nvPr/>
        </p:nvSpPr>
        <p:spPr>
          <a:xfrm>
            <a:off x="10433304" y="2002536"/>
            <a:ext cx="11247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1</a:t>
            </a:r>
            <a:endParaRPr lang="en-US" sz="1100" dirty="0"/>
          </a:p>
        </p:txBody>
      </p:sp>
      <p:sp>
        <p:nvSpPr>
          <p:cNvPr id="40" name="Shape 38"/>
          <p:cNvSpPr/>
          <p:nvPr/>
        </p:nvSpPr>
        <p:spPr>
          <a:xfrm>
            <a:off x="640080" y="2313432"/>
            <a:ext cx="1965960" cy="310896"/>
          </a:xfrm>
          <a:prstGeom prst="rect">
            <a:avLst/>
          </a:prstGeom>
          <a:solidFill>
            <a:srgbClr val="FFFFFF"/>
          </a:solidFill>
          <a:ln w="9525">
            <a:solidFill>
              <a:srgbClr val="CFDEE1"/>
            </a:solidFill>
            <a:prstDash val="solid"/>
          </a:ln>
        </p:spPr>
      </p:sp>
      <p:sp>
        <p:nvSpPr>
          <p:cNvPr id="41" name="Text 39"/>
          <p:cNvSpPr/>
          <p:nvPr/>
        </p:nvSpPr>
        <p:spPr>
          <a:xfrm>
            <a:off x="694944" y="2313432"/>
            <a:ext cx="185623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ABC-01-01-003</a:t>
            </a:r>
            <a:endParaRPr lang="en-US" sz="1100" dirty="0"/>
          </a:p>
        </p:txBody>
      </p:sp>
      <p:sp>
        <p:nvSpPr>
          <p:cNvPr id="42" name="Shape 40"/>
          <p:cNvSpPr/>
          <p:nvPr/>
        </p:nvSpPr>
        <p:spPr>
          <a:xfrm>
            <a:off x="2606040" y="2313432"/>
            <a:ext cx="1188720" cy="310896"/>
          </a:xfrm>
          <a:prstGeom prst="rect">
            <a:avLst/>
          </a:prstGeom>
          <a:solidFill>
            <a:srgbClr val="FFFFFF"/>
          </a:solidFill>
          <a:ln w="9525">
            <a:solidFill>
              <a:srgbClr val="CFDEE1"/>
            </a:solidFill>
            <a:prstDash val="solid"/>
          </a:ln>
        </p:spPr>
      </p:sp>
      <p:sp>
        <p:nvSpPr>
          <p:cNvPr id="43" name="Text 41"/>
          <p:cNvSpPr/>
          <p:nvPr/>
        </p:nvSpPr>
        <p:spPr>
          <a:xfrm>
            <a:off x="2660904" y="2313432"/>
            <a:ext cx="107899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WEEK 4</a:t>
            </a:r>
            <a:endParaRPr lang="en-US" sz="1100" dirty="0"/>
          </a:p>
        </p:txBody>
      </p:sp>
      <p:sp>
        <p:nvSpPr>
          <p:cNvPr id="44" name="Shape 42"/>
          <p:cNvSpPr/>
          <p:nvPr/>
        </p:nvSpPr>
        <p:spPr>
          <a:xfrm>
            <a:off x="3794760" y="2313432"/>
            <a:ext cx="1097280" cy="310896"/>
          </a:xfrm>
          <a:prstGeom prst="rect">
            <a:avLst/>
          </a:prstGeom>
          <a:solidFill>
            <a:srgbClr val="FFFFFF"/>
          </a:solidFill>
          <a:ln w="9525">
            <a:solidFill>
              <a:srgbClr val="CFDEE1"/>
            </a:solidFill>
            <a:prstDash val="solid"/>
          </a:ln>
        </p:spPr>
      </p:sp>
      <p:sp>
        <p:nvSpPr>
          <p:cNvPr id="45" name="Text 43"/>
          <p:cNvSpPr/>
          <p:nvPr/>
        </p:nvSpPr>
        <p:spPr>
          <a:xfrm>
            <a:off x="3849624" y="2313432"/>
            <a:ext cx="98755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ALT</a:t>
            </a:r>
            <a:endParaRPr lang="en-US" sz="1100" dirty="0"/>
          </a:p>
        </p:txBody>
      </p:sp>
      <p:sp>
        <p:nvSpPr>
          <p:cNvPr id="46" name="Shape 44"/>
          <p:cNvSpPr/>
          <p:nvPr/>
        </p:nvSpPr>
        <p:spPr>
          <a:xfrm>
            <a:off x="4892040" y="2313432"/>
            <a:ext cx="1005840" cy="310896"/>
          </a:xfrm>
          <a:prstGeom prst="rect">
            <a:avLst/>
          </a:prstGeom>
          <a:solidFill>
            <a:srgbClr val="FFFFFF"/>
          </a:solidFill>
          <a:ln w="9525">
            <a:solidFill>
              <a:srgbClr val="CFDEE1"/>
            </a:solidFill>
            <a:prstDash val="solid"/>
          </a:ln>
        </p:spPr>
      </p:sp>
      <p:sp>
        <p:nvSpPr>
          <p:cNvPr id="47" name="Text 45"/>
          <p:cNvSpPr/>
          <p:nvPr/>
        </p:nvSpPr>
        <p:spPr>
          <a:xfrm>
            <a:off x="4946904" y="2313432"/>
            <a:ext cx="896112" cy="310896"/>
          </a:xfrm>
          <a:prstGeom prst="rect">
            <a:avLst/>
          </a:prstGeom>
          <a:noFill/>
          <a:ln/>
        </p:spPr>
        <p:txBody>
          <a:bodyPr wrap="square" lIns="0" tIns="0" rIns="0" bIns="0" rtlCol="0" anchor="ctr"/>
          <a:lstStyle/>
          <a:p>
            <a:pPr algn="ctr" indent="0" marL="0">
              <a:buNone/>
            </a:pPr>
            <a:r>
              <a:rPr lang="en-US" sz="1100" b="1" dirty="0">
                <a:solidFill>
                  <a:srgbClr val="C0455B"/>
                </a:solidFill>
                <a:latin typeface="Courier New" pitchFamily="34" charset="0"/>
                <a:ea typeface="Courier New" pitchFamily="34" charset="-122"/>
                <a:cs typeface="Courier New" pitchFamily="34" charset="-120"/>
              </a:rPr>
              <a:t>72</a:t>
            </a:r>
            <a:endParaRPr lang="en-US" sz="1100" dirty="0"/>
          </a:p>
        </p:txBody>
      </p:sp>
      <p:sp>
        <p:nvSpPr>
          <p:cNvPr id="48" name="Shape 46"/>
          <p:cNvSpPr/>
          <p:nvPr/>
        </p:nvSpPr>
        <p:spPr>
          <a:xfrm>
            <a:off x="5897880" y="2313432"/>
            <a:ext cx="1051560" cy="310896"/>
          </a:xfrm>
          <a:prstGeom prst="rect">
            <a:avLst/>
          </a:prstGeom>
          <a:solidFill>
            <a:srgbClr val="FFFFFF"/>
          </a:solidFill>
          <a:ln w="9525">
            <a:solidFill>
              <a:srgbClr val="CFDEE1"/>
            </a:solidFill>
            <a:prstDash val="solid"/>
          </a:ln>
        </p:spPr>
      </p:sp>
      <p:sp>
        <p:nvSpPr>
          <p:cNvPr id="49" name="Text 47"/>
          <p:cNvSpPr/>
          <p:nvPr/>
        </p:nvSpPr>
        <p:spPr>
          <a:xfrm>
            <a:off x="5952744" y="2313432"/>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7</a:t>
            </a:r>
            <a:endParaRPr lang="en-US" sz="1100" dirty="0"/>
          </a:p>
        </p:txBody>
      </p:sp>
      <p:sp>
        <p:nvSpPr>
          <p:cNvPr id="50" name="Shape 48"/>
          <p:cNvSpPr/>
          <p:nvPr/>
        </p:nvSpPr>
        <p:spPr>
          <a:xfrm>
            <a:off x="6949440" y="2313432"/>
            <a:ext cx="1051560" cy="310896"/>
          </a:xfrm>
          <a:prstGeom prst="rect">
            <a:avLst/>
          </a:prstGeom>
          <a:solidFill>
            <a:srgbClr val="FFFFFF"/>
          </a:solidFill>
          <a:ln w="9525">
            <a:solidFill>
              <a:srgbClr val="CFDEE1"/>
            </a:solidFill>
            <a:prstDash val="solid"/>
          </a:ln>
        </p:spPr>
      </p:sp>
      <p:sp>
        <p:nvSpPr>
          <p:cNvPr id="51" name="Text 49"/>
          <p:cNvSpPr/>
          <p:nvPr/>
        </p:nvSpPr>
        <p:spPr>
          <a:xfrm>
            <a:off x="7004304" y="2313432"/>
            <a:ext cx="94183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56</a:t>
            </a:r>
            <a:endParaRPr lang="en-US" sz="1100" dirty="0"/>
          </a:p>
        </p:txBody>
      </p:sp>
      <p:sp>
        <p:nvSpPr>
          <p:cNvPr id="52" name="Shape 50"/>
          <p:cNvSpPr/>
          <p:nvPr/>
        </p:nvSpPr>
        <p:spPr>
          <a:xfrm>
            <a:off x="8001000" y="2313432"/>
            <a:ext cx="1143000" cy="310896"/>
          </a:xfrm>
          <a:prstGeom prst="rect">
            <a:avLst/>
          </a:prstGeom>
          <a:solidFill>
            <a:srgbClr val="FFFFFF"/>
          </a:solidFill>
          <a:ln w="9525">
            <a:solidFill>
              <a:srgbClr val="CFDEE1"/>
            </a:solidFill>
            <a:prstDash val="solid"/>
          </a:ln>
        </p:spPr>
      </p:sp>
      <p:sp>
        <p:nvSpPr>
          <p:cNvPr id="53" name="Text 51"/>
          <p:cNvSpPr/>
          <p:nvPr/>
        </p:nvSpPr>
        <p:spPr>
          <a:xfrm>
            <a:off x="8055864" y="2313432"/>
            <a:ext cx="1033272" cy="310896"/>
          </a:xfrm>
          <a:prstGeom prst="rect">
            <a:avLst/>
          </a:prstGeom>
          <a:noFill/>
          <a:ln/>
        </p:spPr>
        <p:txBody>
          <a:bodyPr wrap="square" lIns="0" tIns="0" rIns="0" bIns="0" rtlCol="0" anchor="ctr"/>
          <a:lstStyle/>
          <a:p>
            <a:pPr algn="ctr" indent="0" marL="0">
              <a:buNone/>
            </a:pPr>
            <a:r>
              <a:rPr lang="en-US" sz="1100" b="1" dirty="0">
                <a:solidFill>
                  <a:srgbClr val="C0455B"/>
                </a:solidFill>
                <a:latin typeface="Courier New" pitchFamily="34" charset="0"/>
                <a:ea typeface="Courier New" pitchFamily="34" charset="-122"/>
                <a:cs typeface="Courier New" pitchFamily="34" charset="-120"/>
              </a:rPr>
              <a:t>HIGH</a:t>
            </a:r>
            <a:endParaRPr lang="en-US" sz="1100" dirty="0"/>
          </a:p>
        </p:txBody>
      </p:sp>
      <p:sp>
        <p:nvSpPr>
          <p:cNvPr id="54" name="Shape 52"/>
          <p:cNvSpPr/>
          <p:nvPr/>
        </p:nvSpPr>
        <p:spPr>
          <a:xfrm>
            <a:off x="9144000" y="2313432"/>
            <a:ext cx="1234440" cy="310896"/>
          </a:xfrm>
          <a:prstGeom prst="rect">
            <a:avLst/>
          </a:prstGeom>
          <a:solidFill>
            <a:srgbClr val="FFFFFF"/>
          </a:solidFill>
          <a:ln w="9525">
            <a:solidFill>
              <a:srgbClr val="CFDEE1"/>
            </a:solidFill>
            <a:prstDash val="solid"/>
          </a:ln>
        </p:spPr>
      </p:sp>
      <p:sp>
        <p:nvSpPr>
          <p:cNvPr id="55" name="Text 53"/>
          <p:cNvSpPr/>
          <p:nvPr/>
        </p:nvSpPr>
        <p:spPr>
          <a:xfrm>
            <a:off x="9198864" y="2313432"/>
            <a:ext cx="1124712" cy="310896"/>
          </a:xfrm>
          <a:prstGeom prst="rect">
            <a:avLst/>
          </a:prstGeom>
          <a:noFill/>
          <a:ln/>
        </p:spPr>
        <p:txBody>
          <a:bodyPr wrap="square" lIns="0" tIns="0" rIns="0" bIns="0" rtlCol="0" anchor="ct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CHEMISTRY</a:t>
            </a:r>
            <a:endParaRPr lang="en-US" sz="1100" dirty="0"/>
          </a:p>
        </p:txBody>
      </p:sp>
      <p:sp>
        <p:nvSpPr>
          <p:cNvPr id="56" name="Shape 54"/>
          <p:cNvSpPr/>
          <p:nvPr/>
        </p:nvSpPr>
        <p:spPr>
          <a:xfrm>
            <a:off x="10378440" y="2313432"/>
            <a:ext cx="1234440" cy="310896"/>
          </a:xfrm>
          <a:prstGeom prst="rect">
            <a:avLst/>
          </a:prstGeom>
          <a:solidFill>
            <a:srgbClr val="FFFFFF"/>
          </a:solidFill>
          <a:ln w="9525">
            <a:solidFill>
              <a:srgbClr val="CFDEE1"/>
            </a:solidFill>
            <a:prstDash val="solid"/>
          </a:ln>
        </p:spPr>
      </p:sp>
      <p:sp>
        <p:nvSpPr>
          <p:cNvPr id="57" name="Text 55"/>
          <p:cNvSpPr/>
          <p:nvPr/>
        </p:nvSpPr>
        <p:spPr>
          <a:xfrm>
            <a:off x="10433304" y="2313432"/>
            <a:ext cx="1124712" cy="310896"/>
          </a:xfrm>
          <a:prstGeom prst="rect">
            <a:avLst/>
          </a:prstGeom>
          <a:noFill/>
          <a:ln/>
        </p:spPr>
        <p:txBody>
          <a:bodyPr wrap="square" lIns="0" tIns="0" rIns="0" bIns="0" rtlCol="0" anchor="ctr"/>
          <a:lstStyle/>
          <a:p>
            <a:pPr algn="ctr" indent="0" marL="0">
              <a:buNone/>
            </a:pPr>
            <a:r>
              <a:rPr lang="en-US" sz="1100" dirty="0">
                <a:solidFill>
                  <a:srgbClr val="0F2E3D"/>
                </a:solidFill>
                <a:latin typeface="Courier New" pitchFamily="34" charset="0"/>
                <a:ea typeface="Courier New" pitchFamily="34" charset="-122"/>
                <a:cs typeface="Courier New" pitchFamily="34" charset="-120"/>
              </a:rPr>
              <a:t>28</a:t>
            </a:r>
            <a:endParaRPr lang="en-US" sz="1100" dirty="0"/>
          </a:p>
        </p:txBody>
      </p:sp>
      <p:sp>
        <p:nvSpPr>
          <p:cNvPr id="58" name="Shape 56"/>
          <p:cNvSpPr/>
          <p:nvPr/>
        </p:nvSpPr>
        <p:spPr>
          <a:xfrm>
            <a:off x="640080" y="2880360"/>
            <a:ext cx="5394960" cy="1874520"/>
          </a:xfrm>
          <a:prstGeom prst="roundRect">
            <a:avLst>
              <a:gd name="adj" fmla="val 439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9" name="Text 57"/>
          <p:cNvSpPr/>
          <p:nvPr/>
        </p:nvSpPr>
        <p:spPr>
          <a:xfrm>
            <a:off x="914400" y="3017520"/>
            <a:ext cx="4846320" cy="32004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What the data says</a:t>
            </a:r>
            <a:endParaRPr lang="en-US" sz="1600" dirty="0"/>
          </a:p>
        </p:txBody>
      </p:sp>
      <p:sp>
        <p:nvSpPr>
          <p:cNvPr id="60" name="Text 58"/>
          <p:cNvSpPr/>
          <p:nvPr/>
        </p:nvSpPr>
        <p:spPr>
          <a:xfrm>
            <a:off x="914400" y="3364992"/>
            <a:ext cx="4846320" cy="1280160"/>
          </a:xfrm>
          <a:prstGeom prst="rect">
            <a:avLst/>
          </a:prstGeom>
          <a:noFill/>
          <a:ln/>
        </p:spPr>
        <p:txBody>
          <a:bodyPr wrap="square" lIns="0" tIns="0" rIns="0" bIns="0" rtlCol="0" anchor="ctr"/>
          <a:lstStyle/>
          <a:p>
            <a:pPr indent="0" marL="0">
              <a:lnSpc>
                <a:spcPts val="1600"/>
              </a:lnSpc>
              <a:buNone/>
            </a:pPr>
            <a:r>
              <a:rPr lang="en-US" sz="1250" dirty="0">
                <a:solidFill>
                  <a:srgbClr val="5A7682"/>
                </a:solidFill>
                <a:latin typeface="Calibri" pitchFamily="34" charset="0"/>
                <a:ea typeface="Calibri" pitchFamily="34" charset="-122"/>
                <a:cs typeface="Calibri" pitchFamily="34" charset="-120"/>
              </a:rPr>
              <a:t>Subject ABC-01-01-003's ALT (a liver enzyme) was 24 at Baseline — comfortably normal — and 72 at Week 4, above the upper limit of 56.</a:t>
            </a:r>
            <a:endParaRPr lang="en-US" sz="1250" dirty="0"/>
          </a:p>
          <a:p>
            <a:pPr indent="0" marL="0">
              <a:lnSpc>
                <a:spcPts val="1600"/>
              </a:lnSpc>
              <a:buNone/>
            </a:pPr>
            <a:endParaRPr lang="en-US" sz="1250" dirty="0"/>
          </a:p>
          <a:p>
            <a:pPr indent="0" marL="0">
              <a:lnSpc>
                <a:spcPts val="1600"/>
              </a:lnSpc>
              <a:buNone/>
            </a:pPr>
            <a:r>
              <a:rPr lang="en-US" sz="1250" dirty="0">
                <a:solidFill>
                  <a:srgbClr val="5A7682"/>
                </a:solidFill>
                <a:latin typeface="Calibri" pitchFamily="34" charset="0"/>
                <a:ea typeface="Calibri" pitchFamily="34" charset="-122"/>
                <a:cs typeface="Calibri" pitchFamily="34" charset="-120"/>
              </a:rPr>
              <a:t>LBNRIND is HIGH because the result exceeds LBSTNRHI. That is arithmetic, not judgement.</a:t>
            </a:r>
            <a:endParaRPr lang="en-US" sz="1250" dirty="0"/>
          </a:p>
        </p:txBody>
      </p:sp>
      <p:sp>
        <p:nvSpPr>
          <p:cNvPr id="61" name="Shape 59"/>
          <p:cNvSpPr/>
          <p:nvPr/>
        </p:nvSpPr>
        <p:spPr>
          <a:xfrm>
            <a:off x="6217920" y="2880360"/>
            <a:ext cx="5394960" cy="1874520"/>
          </a:xfrm>
          <a:prstGeom prst="roundRect">
            <a:avLst>
              <a:gd name="adj" fmla="val 4390"/>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2" name="Text 60"/>
          <p:cNvSpPr/>
          <p:nvPr/>
        </p:nvSpPr>
        <p:spPr>
          <a:xfrm>
            <a:off x="6492240" y="3017520"/>
            <a:ext cx="4846320" cy="320040"/>
          </a:xfrm>
          <a:prstGeom prst="rect">
            <a:avLst/>
          </a:prstGeom>
          <a:noFill/>
          <a:ln/>
        </p:spPr>
        <p:txBody>
          <a:bodyPr wrap="square" lIns="0" tIns="0" rIns="0" bIns="0" rtlCol="0" anchor="ctr"/>
          <a:lstStyle/>
          <a:p>
            <a:pPr indent="0" marL="0">
              <a:buNone/>
            </a:pPr>
            <a:r>
              <a:rPr lang="en-US" sz="1600" b="1" dirty="0">
                <a:solidFill>
                  <a:srgbClr val="B5651A"/>
                </a:solidFill>
                <a:latin typeface="Cambria" pitchFamily="34" charset="0"/>
                <a:ea typeface="Cambria" pitchFamily="34" charset="-122"/>
                <a:cs typeface="Cambria" pitchFamily="34" charset="-120"/>
              </a:rPr>
              <a:t>What the data does NOT say</a:t>
            </a:r>
            <a:endParaRPr lang="en-US" sz="1600" dirty="0"/>
          </a:p>
        </p:txBody>
      </p:sp>
      <p:sp>
        <p:nvSpPr>
          <p:cNvPr id="63" name="Text 61"/>
          <p:cNvSpPr/>
          <p:nvPr/>
        </p:nvSpPr>
        <p:spPr>
          <a:xfrm>
            <a:off x="6492240" y="3364992"/>
            <a:ext cx="4846320" cy="1325880"/>
          </a:xfrm>
          <a:prstGeom prst="rect">
            <a:avLst/>
          </a:prstGeom>
          <a:noFill/>
          <a:ln/>
        </p:spPr>
        <p:txBody>
          <a:bodyPr wrap="square" lIns="0" tIns="0" rIns="0" bIns="0" rtlCol="0" anchor="ctr"/>
          <a:lstStyle/>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That the subject was harmed. “HIGH” is a range comparison, nothing more.</a:t>
            </a:r>
            <a:endParaRPr lang="en-US" sz="1250" dirty="0"/>
          </a:p>
          <a:p>
            <a:pPr indent="0" marL="0">
              <a:lnSpc>
                <a:spcPts val="1600"/>
              </a:lnSpc>
              <a:buNone/>
            </a:pPr>
            <a:endParaRPr lang="en-US" sz="1250" dirty="0"/>
          </a:p>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Whether an abnormal lab is CLINICALLY SIGNIFICANT is a physician's judgement, recorded separately — and if it is, it becomes an adverse event in AE.</a:t>
            </a:r>
            <a:endParaRPr lang="en-US" sz="1250" dirty="0"/>
          </a:p>
        </p:txBody>
      </p:sp>
      <p:sp>
        <p:nvSpPr>
          <p:cNvPr id="64" name="Shape 62"/>
          <p:cNvSpPr/>
          <p:nvPr/>
        </p:nvSpPr>
        <p:spPr>
          <a:xfrm>
            <a:off x="640080" y="4937760"/>
            <a:ext cx="10972800" cy="1417320"/>
          </a:xfrm>
          <a:prstGeom prst="roundRect">
            <a:avLst>
              <a:gd name="adj" fmla="val 5806"/>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5" name="Text 63"/>
          <p:cNvSpPr/>
          <p:nvPr/>
        </p:nvSpPr>
        <p:spPr>
          <a:xfrm>
            <a:off x="914400" y="5074920"/>
            <a:ext cx="1042416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The programmer's line</a:t>
            </a:r>
            <a:endParaRPr lang="en-US" sz="1600" dirty="0"/>
          </a:p>
        </p:txBody>
      </p:sp>
      <p:sp>
        <p:nvSpPr>
          <p:cNvPr id="66" name="Text 64"/>
          <p:cNvSpPr/>
          <p:nvPr/>
        </p:nvSpPr>
        <p:spPr>
          <a:xfrm>
            <a:off x="914400" y="5440680"/>
            <a:ext cx="10424160" cy="82296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You derive LBNRIND. You do NOT decide clinical significance, and you never create an adverse event because a lab value looks bad. That subject has no ALT-related AE in ABC-01 — and inventing one to “make the data consistent” would be fabricating a safety finding.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CONTROLLED TERMINOLOGY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lab test name you were sent is not the one you submit</a:t>
            </a:r>
            <a:endParaRPr lang="en-US" sz="3000" dirty="0"/>
          </a:p>
        </p:txBody>
      </p:sp>
      <p:sp>
        <p:nvSpPr>
          <p:cNvPr id="4" name="Shape 2"/>
          <p:cNvSpPr/>
          <p:nvPr/>
        </p:nvSpPr>
        <p:spPr>
          <a:xfrm>
            <a:off x="640080" y="1737360"/>
            <a:ext cx="3383280" cy="310896"/>
          </a:xfrm>
          <a:prstGeom prst="rect">
            <a:avLst/>
          </a:prstGeom>
          <a:solidFill>
            <a:srgbClr val="0F2E3D"/>
          </a:solidFill>
          <a:ln w="9525">
            <a:solidFill>
              <a:srgbClr val="CFDEE1"/>
            </a:solidFill>
            <a:prstDash val="solid"/>
          </a:ln>
        </p:spPr>
      </p:sp>
      <p:sp>
        <p:nvSpPr>
          <p:cNvPr id="5" name="Text 3"/>
          <p:cNvSpPr/>
          <p:nvPr/>
        </p:nvSpPr>
        <p:spPr>
          <a:xfrm>
            <a:off x="694944" y="1737360"/>
            <a:ext cx="327355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RAW LBTEST (from the lab)</a:t>
            </a:r>
            <a:endParaRPr lang="en-US" sz="1150" dirty="0"/>
          </a:p>
        </p:txBody>
      </p:sp>
      <p:sp>
        <p:nvSpPr>
          <p:cNvPr id="6" name="Shape 4"/>
          <p:cNvSpPr/>
          <p:nvPr/>
        </p:nvSpPr>
        <p:spPr>
          <a:xfrm>
            <a:off x="4023360" y="1737360"/>
            <a:ext cx="1463040" cy="310896"/>
          </a:xfrm>
          <a:prstGeom prst="rect">
            <a:avLst/>
          </a:prstGeom>
          <a:solidFill>
            <a:srgbClr val="0F2E3D"/>
          </a:solidFill>
          <a:ln w="9525">
            <a:solidFill>
              <a:srgbClr val="CFDEE1"/>
            </a:solidFill>
            <a:prstDash val="solid"/>
          </a:ln>
        </p:spPr>
      </p:sp>
      <p:sp>
        <p:nvSpPr>
          <p:cNvPr id="7" name="Text 5"/>
          <p:cNvSpPr/>
          <p:nvPr/>
        </p:nvSpPr>
        <p:spPr>
          <a:xfrm>
            <a:off x="4078224" y="1737360"/>
            <a:ext cx="135331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LBTESTCD</a:t>
            </a:r>
            <a:endParaRPr lang="en-US" sz="1150" dirty="0"/>
          </a:p>
        </p:txBody>
      </p:sp>
      <p:sp>
        <p:nvSpPr>
          <p:cNvPr id="8" name="Shape 6"/>
          <p:cNvSpPr/>
          <p:nvPr/>
        </p:nvSpPr>
        <p:spPr>
          <a:xfrm>
            <a:off x="5486400" y="1737360"/>
            <a:ext cx="3291840" cy="310896"/>
          </a:xfrm>
          <a:prstGeom prst="rect">
            <a:avLst/>
          </a:prstGeom>
          <a:solidFill>
            <a:srgbClr val="0F2E3D"/>
          </a:solidFill>
          <a:ln w="9525">
            <a:solidFill>
              <a:srgbClr val="CFDEE1"/>
            </a:solidFill>
            <a:prstDash val="solid"/>
          </a:ln>
        </p:spPr>
      </p:sp>
      <p:sp>
        <p:nvSpPr>
          <p:cNvPr id="9" name="Text 7"/>
          <p:cNvSpPr/>
          <p:nvPr/>
        </p:nvSpPr>
        <p:spPr>
          <a:xfrm>
            <a:off x="5541264" y="1737360"/>
            <a:ext cx="3182112" cy="310896"/>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SDTM LBTEST (CDISC CT)</a:t>
            </a:r>
            <a:endParaRPr lang="en-US" sz="1150" dirty="0"/>
          </a:p>
        </p:txBody>
      </p:sp>
      <p:sp>
        <p:nvSpPr>
          <p:cNvPr id="10" name="Shape 8"/>
          <p:cNvSpPr/>
          <p:nvPr/>
        </p:nvSpPr>
        <p:spPr>
          <a:xfrm>
            <a:off x="8778240" y="1737360"/>
            <a:ext cx="2834640" cy="310896"/>
          </a:xfrm>
          <a:prstGeom prst="rect">
            <a:avLst/>
          </a:prstGeom>
          <a:solidFill>
            <a:srgbClr val="0F2E3D"/>
          </a:solidFill>
          <a:ln w="9525">
            <a:solidFill>
              <a:srgbClr val="CFDEE1"/>
            </a:solidFill>
            <a:prstDash val="solid"/>
          </a:ln>
        </p:spPr>
      </p:sp>
      <p:sp>
        <p:nvSpPr>
          <p:cNvPr id="11" name="Text 9"/>
          <p:cNvSpPr/>
          <p:nvPr/>
        </p:nvSpPr>
        <p:spPr>
          <a:xfrm>
            <a:off x="8833104" y="1737360"/>
            <a:ext cx="272491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same?</a:t>
            </a:r>
            <a:endParaRPr lang="en-US" sz="1150" dirty="0"/>
          </a:p>
        </p:txBody>
      </p:sp>
      <p:sp>
        <p:nvSpPr>
          <p:cNvPr id="12" name="Shape 10"/>
          <p:cNvSpPr/>
          <p:nvPr/>
        </p:nvSpPr>
        <p:spPr>
          <a:xfrm>
            <a:off x="640080" y="2048256"/>
            <a:ext cx="3383280" cy="310896"/>
          </a:xfrm>
          <a:prstGeom prst="rect">
            <a:avLst/>
          </a:prstGeom>
          <a:solidFill>
            <a:srgbClr val="F3F7F8"/>
          </a:solidFill>
          <a:ln w="9525">
            <a:solidFill>
              <a:srgbClr val="CFDEE1"/>
            </a:solidFill>
            <a:prstDash val="solid"/>
          </a:ln>
        </p:spPr>
      </p:sp>
      <p:sp>
        <p:nvSpPr>
          <p:cNvPr id="13" name="Text 11"/>
          <p:cNvSpPr/>
          <p:nvPr/>
        </p:nvSpPr>
        <p:spPr>
          <a:xfrm>
            <a:off x="694944" y="2048256"/>
            <a:ext cx="327355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Hemoglobin</a:t>
            </a:r>
            <a:endParaRPr lang="en-US" sz="1150" dirty="0"/>
          </a:p>
        </p:txBody>
      </p:sp>
      <p:sp>
        <p:nvSpPr>
          <p:cNvPr id="14" name="Shape 12"/>
          <p:cNvSpPr/>
          <p:nvPr/>
        </p:nvSpPr>
        <p:spPr>
          <a:xfrm>
            <a:off x="4023360" y="2048256"/>
            <a:ext cx="1463040" cy="310896"/>
          </a:xfrm>
          <a:prstGeom prst="rect">
            <a:avLst/>
          </a:prstGeom>
          <a:solidFill>
            <a:srgbClr val="F3F7F8"/>
          </a:solidFill>
          <a:ln w="9525">
            <a:solidFill>
              <a:srgbClr val="CFDEE1"/>
            </a:solidFill>
            <a:prstDash val="solid"/>
          </a:ln>
        </p:spPr>
      </p:sp>
      <p:sp>
        <p:nvSpPr>
          <p:cNvPr id="15" name="Text 13"/>
          <p:cNvSpPr/>
          <p:nvPr/>
        </p:nvSpPr>
        <p:spPr>
          <a:xfrm>
            <a:off x="4078224" y="2048256"/>
            <a:ext cx="13533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HGB</a:t>
            </a:r>
            <a:endParaRPr lang="en-US" sz="1150" dirty="0"/>
          </a:p>
        </p:txBody>
      </p:sp>
      <p:sp>
        <p:nvSpPr>
          <p:cNvPr id="16" name="Shape 14"/>
          <p:cNvSpPr/>
          <p:nvPr/>
        </p:nvSpPr>
        <p:spPr>
          <a:xfrm>
            <a:off x="5486400" y="2048256"/>
            <a:ext cx="3291840" cy="310896"/>
          </a:xfrm>
          <a:prstGeom prst="rect">
            <a:avLst/>
          </a:prstGeom>
          <a:solidFill>
            <a:srgbClr val="F3F7F8"/>
          </a:solidFill>
          <a:ln w="9525">
            <a:solidFill>
              <a:srgbClr val="CFDEE1"/>
            </a:solidFill>
            <a:prstDash val="solid"/>
          </a:ln>
        </p:spPr>
      </p:sp>
      <p:sp>
        <p:nvSpPr>
          <p:cNvPr id="17" name="Text 15"/>
          <p:cNvSpPr/>
          <p:nvPr/>
        </p:nvSpPr>
        <p:spPr>
          <a:xfrm>
            <a:off x="5541264" y="2048256"/>
            <a:ext cx="31821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Hemoglobin</a:t>
            </a:r>
            <a:endParaRPr lang="en-US" sz="1150" dirty="0"/>
          </a:p>
        </p:txBody>
      </p:sp>
      <p:sp>
        <p:nvSpPr>
          <p:cNvPr id="18" name="Shape 16"/>
          <p:cNvSpPr/>
          <p:nvPr/>
        </p:nvSpPr>
        <p:spPr>
          <a:xfrm>
            <a:off x="8778240" y="2048256"/>
            <a:ext cx="2834640" cy="310896"/>
          </a:xfrm>
          <a:prstGeom prst="rect">
            <a:avLst/>
          </a:prstGeom>
          <a:solidFill>
            <a:srgbClr val="F3F7F8"/>
          </a:solidFill>
          <a:ln w="9525">
            <a:solidFill>
              <a:srgbClr val="CFDEE1"/>
            </a:solidFill>
            <a:prstDash val="solid"/>
          </a:ln>
        </p:spPr>
      </p:sp>
      <p:sp>
        <p:nvSpPr>
          <p:cNvPr id="19" name="Text 17"/>
          <p:cNvSpPr/>
          <p:nvPr/>
        </p:nvSpPr>
        <p:spPr>
          <a:xfrm>
            <a:off x="8833104" y="2048256"/>
            <a:ext cx="27249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yes</a:t>
            </a:r>
            <a:endParaRPr lang="en-US" sz="1150" dirty="0"/>
          </a:p>
        </p:txBody>
      </p:sp>
      <p:sp>
        <p:nvSpPr>
          <p:cNvPr id="20" name="Shape 18"/>
          <p:cNvSpPr/>
          <p:nvPr/>
        </p:nvSpPr>
        <p:spPr>
          <a:xfrm>
            <a:off x="640080" y="2359152"/>
            <a:ext cx="3383280" cy="310896"/>
          </a:xfrm>
          <a:prstGeom prst="rect">
            <a:avLst/>
          </a:prstGeom>
          <a:solidFill>
            <a:srgbClr val="FFFFFF"/>
          </a:solidFill>
          <a:ln w="9525">
            <a:solidFill>
              <a:srgbClr val="CFDEE1"/>
            </a:solidFill>
            <a:prstDash val="solid"/>
          </a:ln>
        </p:spPr>
      </p:sp>
      <p:sp>
        <p:nvSpPr>
          <p:cNvPr id="21" name="Text 19"/>
          <p:cNvSpPr/>
          <p:nvPr/>
        </p:nvSpPr>
        <p:spPr>
          <a:xfrm>
            <a:off x="694944" y="2359152"/>
            <a:ext cx="327355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Hematocrit</a:t>
            </a:r>
            <a:endParaRPr lang="en-US" sz="1150" dirty="0"/>
          </a:p>
        </p:txBody>
      </p:sp>
      <p:sp>
        <p:nvSpPr>
          <p:cNvPr id="22" name="Shape 20"/>
          <p:cNvSpPr/>
          <p:nvPr/>
        </p:nvSpPr>
        <p:spPr>
          <a:xfrm>
            <a:off x="4023360" y="2359152"/>
            <a:ext cx="1463040" cy="310896"/>
          </a:xfrm>
          <a:prstGeom prst="rect">
            <a:avLst/>
          </a:prstGeom>
          <a:solidFill>
            <a:srgbClr val="FFFFFF"/>
          </a:solidFill>
          <a:ln w="9525">
            <a:solidFill>
              <a:srgbClr val="CFDEE1"/>
            </a:solidFill>
            <a:prstDash val="solid"/>
          </a:ln>
        </p:spPr>
      </p:sp>
      <p:sp>
        <p:nvSpPr>
          <p:cNvPr id="23" name="Text 21"/>
          <p:cNvSpPr/>
          <p:nvPr/>
        </p:nvSpPr>
        <p:spPr>
          <a:xfrm>
            <a:off x="4078224" y="2359152"/>
            <a:ext cx="13533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HCT</a:t>
            </a:r>
            <a:endParaRPr lang="en-US" sz="1150" dirty="0"/>
          </a:p>
        </p:txBody>
      </p:sp>
      <p:sp>
        <p:nvSpPr>
          <p:cNvPr id="24" name="Shape 22"/>
          <p:cNvSpPr/>
          <p:nvPr/>
        </p:nvSpPr>
        <p:spPr>
          <a:xfrm>
            <a:off x="5486400" y="2359152"/>
            <a:ext cx="3291840" cy="310896"/>
          </a:xfrm>
          <a:prstGeom prst="rect">
            <a:avLst/>
          </a:prstGeom>
          <a:solidFill>
            <a:srgbClr val="FFFFFF"/>
          </a:solidFill>
          <a:ln w="9525">
            <a:solidFill>
              <a:srgbClr val="CFDEE1"/>
            </a:solidFill>
            <a:prstDash val="solid"/>
          </a:ln>
        </p:spPr>
      </p:sp>
      <p:sp>
        <p:nvSpPr>
          <p:cNvPr id="25" name="Text 23"/>
          <p:cNvSpPr/>
          <p:nvPr/>
        </p:nvSpPr>
        <p:spPr>
          <a:xfrm>
            <a:off x="5541264" y="2359152"/>
            <a:ext cx="31821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Hematocrit</a:t>
            </a:r>
            <a:endParaRPr lang="en-US" sz="1150" dirty="0"/>
          </a:p>
        </p:txBody>
      </p:sp>
      <p:sp>
        <p:nvSpPr>
          <p:cNvPr id="26" name="Shape 24"/>
          <p:cNvSpPr/>
          <p:nvPr/>
        </p:nvSpPr>
        <p:spPr>
          <a:xfrm>
            <a:off x="8778240" y="2359152"/>
            <a:ext cx="2834640" cy="310896"/>
          </a:xfrm>
          <a:prstGeom prst="rect">
            <a:avLst/>
          </a:prstGeom>
          <a:solidFill>
            <a:srgbClr val="FFFFFF"/>
          </a:solidFill>
          <a:ln w="9525">
            <a:solidFill>
              <a:srgbClr val="CFDEE1"/>
            </a:solidFill>
            <a:prstDash val="solid"/>
          </a:ln>
        </p:spPr>
      </p:sp>
      <p:sp>
        <p:nvSpPr>
          <p:cNvPr id="27" name="Text 25"/>
          <p:cNvSpPr/>
          <p:nvPr/>
        </p:nvSpPr>
        <p:spPr>
          <a:xfrm>
            <a:off x="8833104" y="2359152"/>
            <a:ext cx="27249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yes</a:t>
            </a:r>
            <a:endParaRPr lang="en-US" sz="1150" dirty="0"/>
          </a:p>
        </p:txBody>
      </p:sp>
      <p:sp>
        <p:nvSpPr>
          <p:cNvPr id="28" name="Shape 26"/>
          <p:cNvSpPr/>
          <p:nvPr/>
        </p:nvSpPr>
        <p:spPr>
          <a:xfrm>
            <a:off x="640080" y="2670048"/>
            <a:ext cx="3383280" cy="310896"/>
          </a:xfrm>
          <a:prstGeom prst="rect">
            <a:avLst/>
          </a:prstGeom>
          <a:solidFill>
            <a:srgbClr val="F3F7F8"/>
          </a:solidFill>
          <a:ln w="9525">
            <a:solidFill>
              <a:srgbClr val="CFDEE1"/>
            </a:solidFill>
            <a:prstDash val="solid"/>
          </a:ln>
        </p:spPr>
      </p:sp>
      <p:sp>
        <p:nvSpPr>
          <p:cNvPr id="29" name="Text 27"/>
          <p:cNvSpPr/>
          <p:nvPr/>
        </p:nvSpPr>
        <p:spPr>
          <a:xfrm>
            <a:off x="694944" y="2670048"/>
            <a:ext cx="3273552" cy="310896"/>
          </a:xfrm>
          <a:prstGeom prst="rect">
            <a:avLst/>
          </a:prstGeom>
          <a:noFill/>
          <a:ln/>
        </p:spPr>
        <p:txBody>
          <a:bodyPr wrap="square" lIns="0" tIns="0" rIns="0" bIns="0" rtlCol="0" anchor="ctr"/>
          <a:lstStyle/>
          <a:p>
            <a:pPr algn="l" indent="0" marL="0">
              <a:buNone/>
            </a:pPr>
            <a:r>
              <a:rPr lang="en-US" sz="1150" b="1" dirty="0">
                <a:solidFill>
                  <a:srgbClr val="0F2E3D"/>
                </a:solidFill>
                <a:latin typeface="Calibri" pitchFamily="34" charset="0"/>
                <a:ea typeface="Calibri" pitchFamily="34" charset="-122"/>
                <a:cs typeface="Calibri" pitchFamily="34" charset="-120"/>
              </a:rPr>
              <a:t>White Blood Cells</a:t>
            </a:r>
            <a:endParaRPr lang="en-US" sz="1150" dirty="0"/>
          </a:p>
        </p:txBody>
      </p:sp>
      <p:sp>
        <p:nvSpPr>
          <p:cNvPr id="30" name="Shape 28"/>
          <p:cNvSpPr/>
          <p:nvPr/>
        </p:nvSpPr>
        <p:spPr>
          <a:xfrm>
            <a:off x="4023360" y="2670048"/>
            <a:ext cx="1463040" cy="310896"/>
          </a:xfrm>
          <a:prstGeom prst="rect">
            <a:avLst/>
          </a:prstGeom>
          <a:solidFill>
            <a:srgbClr val="F3F7F8"/>
          </a:solidFill>
          <a:ln w="9525">
            <a:solidFill>
              <a:srgbClr val="CFDEE1"/>
            </a:solidFill>
            <a:prstDash val="solid"/>
          </a:ln>
        </p:spPr>
      </p:sp>
      <p:sp>
        <p:nvSpPr>
          <p:cNvPr id="31" name="Text 29"/>
          <p:cNvSpPr/>
          <p:nvPr/>
        </p:nvSpPr>
        <p:spPr>
          <a:xfrm>
            <a:off x="4078224" y="2670048"/>
            <a:ext cx="1353312" cy="310896"/>
          </a:xfrm>
          <a:prstGeom prst="rect">
            <a:avLst/>
          </a:prstGeom>
          <a:noFill/>
          <a:ln/>
        </p:spPr>
        <p:txBody>
          <a:bodyPr wrap="square" lIns="0" tIns="0" rIns="0" bIns="0" rtlCol="0" anchor="ctr"/>
          <a:lstStyle/>
          <a:p>
            <a:pPr algn="ctr" indent="0" marL="0">
              <a:buNone/>
            </a:pPr>
            <a:r>
              <a:rPr lang="en-US" sz="1150" b="1" dirty="0">
                <a:solidFill>
                  <a:srgbClr val="0F2E3D"/>
                </a:solidFill>
                <a:latin typeface="Calibri" pitchFamily="34" charset="0"/>
                <a:ea typeface="Calibri" pitchFamily="34" charset="-122"/>
                <a:cs typeface="Calibri" pitchFamily="34" charset="-120"/>
              </a:rPr>
              <a:t>WBC</a:t>
            </a:r>
            <a:endParaRPr lang="en-US" sz="1150" dirty="0"/>
          </a:p>
        </p:txBody>
      </p:sp>
      <p:sp>
        <p:nvSpPr>
          <p:cNvPr id="32" name="Shape 30"/>
          <p:cNvSpPr/>
          <p:nvPr/>
        </p:nvSpPr>
        <p:spPr>
          <a:xfrm>
            <a:off x="5486400" y="2670048"/>
            <a:ext cx="3291840" cy="310896"/>
          </a:xfrm>
          <a:prstGeom prst="rect">
            <a:avLst/>
          </a:prstGeom>
          <a:solidFill>
            <a:srgbClr val="F3F7F8"/>
          </a:solidFill>
          <a:ln w="9525">
            <a:solidFill>
              <a:srgbClr val="CFDEE1"/>
            </a:solidFill>
            <a:prstDash val="solid"/>
          </a:ln>
        </p:spPr>
      </p:sp>
      <p:sp>
        <p:nvSpPr>
          <p:cNvPr id="33" name="Text 31"/>
          <p:cNvSpPr/>
          <p:nvPr/>
        </p:nvSpPr>
        <p:spPr>
          <a:xfrm>
            <a:off x="5541264" y="2670048"/>
            <a:ext cx="3182112" cy="310896"/>
          </a:xfrm>
          <a:prstGeom prst="rect">
            <a:avLst/>
          </a:prstGeom>
          <a:noFill/>
          <a:ln/>
        </p:spPr>
        <p:txBody>
          <a:bodyPr wrap="square" lIns="0" tIns="0" rIns="0" bIns="0" rtlCol="0" anchor="ctr"/>
          <a:lstStyle/>
          <a:p>
            <a:pPr algn="l" indent="0" marL="0">
              <a:buNone/>
            </a:pPr>
            <a:r>
              <a:rPr lang="en-US" sz="1150" b="1" dirty="0">
                <a:solidFill>
                  <a:srgbClr val="C0455B"/>
                </a:solidFill>
                <a:latin typeface="Calibri" pitchFamily="34" charset="0"/>
                <a:ea typeface="Calibri" pitchFamily="34" charset="-122"/>
                <a:cs typeface="Calibri" pitchFamily="34" charset="-120"/>
              </a:rPr>
              <a:t>Leukocytes</a:t>
            </a:r>
            <a:endParaRPr lang="en-US" sz="1150" dirty="0"/>
          </a:p>
        </p:txBody>
      </p:sp>
      <p:sp>
        <p:nvSpPr>
          <p:cNvPr id="34" name="Shape 32"/>
          <p:cNvSpPr/>
          <p:nvPr/>
        </p:nvSpPr>
        <p:spPr>
          <a:xfrm>
            <a:off x="8778240" y="2670048"/>
            <a:ext cx="2834640" cy="310896"/>
          </a:xfrm>
          <a:prstGeom prst="rect">
            <a:avLst/>
          </a:prstGeom>
          <a:solidFill>
            <a:srgbClr val="F3F7F8"/>
          </a:solidFill>
          <a:ln w="9525">
            <a:solidFill>
              <a:srgbClr val="CFDEE1"/>
            </a:solidFill>
            <a:prstDash val="solid"/>
          </a:ln>
        </p:spPr>
      </p:sp>
      <p:sp>
        <p:nvSpPr>
          <p:cNvPr id="35" name="Text 33"/>
          <p:cNvSpPr/>
          <p:nvPr/>
        </p:nvSpPr>
        <p:spPr>
          <a:xfrm>
            <a:off x="8833104" y="2670048"/>
            <a:ext cx="2724912" cy="310896"/>
          </a:xfrm>
          <a:prstGeom prst="rect">
            <a:avLst/>
          </a:prstGeom>
          <a:noFill/>
          <a:ln/>
        </p:spPr>
        <p:txBody>
          <a:bodyPr wrap="square" lIns="0" tIns="0" rIns="0" bIns="0" rtlCol="0" anchor="ctr"/>
          <a:lstStyle/>
          <a:p>
            <a:pPr algn="ctr" indent="0" marL="0">
              <a:buNone/>
            </a:pPr>
            <a:r>
              <a:rPr lang="en-US" sz="1150" b="1" dirty="0">
                <a:solidFill>
                  <a:srgbClr val="C0455B"/>
                </a:solidFill>
                <a:latin typeface="Calibri" pitchFamily="34" charset="0"/>
                <a:ea typeface="Calibri" pitchFamily="34" charset="-122"/>
                <a:cs typeface="Calibri" pitchFamily="34" charset="-120"/>
              </a:rPr>
              <a:t>NO — renamed</a:t>
            </a:r>
            <a:endParaRPr lang="en-US" sz="1150" dirty="0"/>
          </a:p>
        </p:txBody>
      </p:sp>
      <p:sp>
        <p:nvSpPr>
          <p:cNvPr id="36" name="Shape 34"/>
          <p:cNvSpPr/>
          <p:nvPr/>
        </p:nvSpPr>
        <p:spPr>
          <a:xfrm>
            <a:off x="640080" y="2980944"/>
            <a:ext cx="3383280" cy="310896"/>
          </a:xfrm>
          <a:prstGeom prst="rect">
            <a:avLst/>
          </a:prstGeom>
          <a:solidFill>
            <a:srgbClr val="FFFFFF"/>
          </a:solidFill>
          <a:ln w="9525">
            <a:solidFill>
              <a:srgbClr val="CFDEE1"/>
            </a:solidFill>
            <a:prstDash val="solid"/>
          </a:ln>
        </p:spPr>
      </p:sp>
      <p:sp>
        <p:nvSpPr>
          <p:cNvPr id="37" name="Text 35"/>
          <p:cNvSpPr/>
          <p:nvPr/>
        </p:nvSpPr>
        <p:spPr>
          <a:xfrm>
            <a:off x="694944" y="2980944"/>
            <a:ext cx="327355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Platelets</a:t>
            </a:r>
            <a:endParaRPr lang="en-US" sz="1150" dirty="0"/>
          </a:p>
        </p:txBody>
      </p:sp>
      <p:sp>
        <p:nvSpPr>
          <p:cNvPr id="38" name="Shape 36"/>
          <p:cNvSpPr/>
          <p:nvPr/>
        </p:nvSpPr>
        <p:spPr>
          <a:xfrm>
            <a:off x="4023360" y="2980944"/>
            <a:ext cx="1463040" cy="310896"/>
          </a:xfrm>
          <a:prstGeom prst="rect">
            <a:avLst/>
          </a:prstGeom>
          <a:solidFill>
            <a:srgbClr val="FFFFFF"/>
          </a:solidFill>
          <a:ln w="9525">
            <a:solidFill>
              <a:srgbClr val="CFDEE1"/>
            </a:solidFill>
            <a:prstDash val="solid"/>
          </a:ln>
        </p:spPr>
      </p:sp>
      <p:sp>
        <p:nvSpPr>
          <p:cNvPr id="39" name="Text 37"/>
          <p:cNvSpPr/>
          <p:nvPr/>
        </p:nvSpPr>
        <p:spPr>
          <a:xfrm>
            <a:off x="4078224" y="2980944"/>
            <a:ext cx="13533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PLAT</a:t>
            </a:r>
            <a:endParaRPr lang="en-US" sz="1150" dirty="0"/>
          </a:p>
        </p:txBody>
      </p:sp>
      <p:sp>
        <p:nvSpPr>
          <p:cNvPr id="40" name="Shape 38"/>
          <p:cNvSpPr/>
          <p:nvPr/>
        </p:nvSpPr>
        <p:spPr>
          <a:xfrm>
            <a:off x="5486400" y="2980944"/>
            <a:ext cx="3291840" cy="310896"/>
          </a:xfrm>
          <a:prstGeom prst="rect">
            <a:avLst/>
          </a:prstGeom>
          <a:solidFill>
            <a:srgbClr val="FFFFFF"/>
          </a:solidFill>
          <a:ln w="9525">
            <a:solidFill>
              <a:srgbClr val="CFDEE1"/>
            </a:solidFill>
            <a:prstDash val="solid"/>
          </a:ln>
        </p:spPr>
      </p:sp>
      <p:sp>
        <p:nvSpPr>
          <p:cNvPr id="41" name="Text 39"/>
          <p:cNvSpPr/>
          <p:nvPr/>
        </p:nvSpPr>
        <p:spPr>
          <a:xfrm>
            <a:off x="5541264" y="2980944"/>
            <a:ext cx="31821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Platelets</a:t>
            </a:r>
            <a:endParaRPr lang="en-US" sz="1150" dirty="0"/>
          </a:p>
        </p:txBody>
      </p:sp>
      <p:sp>
        <p:nvSpPr>
          <p:cNvPr id="42" name="Shape 40"/>
          <p:cNvSpPr/>
          <p:nvPr/>
        </p:nvSpPr>
        <p:spPr>
          <a:xfrm>
            <a:off x="8778240" y="2980944"/>
            <a:ext cx="2834640" cy="310896"/>
          </a:xfrm>
          <a:prstGeom prst="rect">
            <a:avLst/>
          </a:prstGeom>
          <a:solidFill>
            <a:srgbClr val="FFFFFF"/>
          </a:solidFill>
          <a:ln w="9525">
            <a:solidFill>
              <a:srgbClr val="CFDEE1"/>
            </a:solidFill>
            <a:prstDash val="solid"/>
          </a:ln>
        </p:spPr>
      </p:sp>
      <p:sp>
        <p:nvSpPr>
          <p:cNvPr id="43" name="Text 41"/>
          <p:cNvSpPr/>
          <p:nvPr/>
        </p:nvSpPr>
        <p:spPr>
          <a:xfrm>
            <a:off x="8833104" y="2980944"/>
            <a:ext cx="27249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yes</a:t>
            </a:r>
            <a:endParaRPr lang="en-US" sz="1150" dirty="0"/>
          </a:p>
        </p:txBody>
      </p:sp>
      <p:sp>
        <p:nvSpPr>
          <p:cNvPr id="44" name="Shape 42"/>
          <p:cNvSpPr/>
          <p:nvPr/>
        </p:nvSpPr>
        <p:spPr>
          <a:xfrm>
            <a:off x="640080" y="3291840"/>
            <a:ext cx="3383280" cy="310896"/>
          </a:xfrm>
          <a:prstGeom prst="rect">
            <a:avLst/>
          </a:prstGeom>
          <a:solidFill>
            <a:srgbClr val="F3F7F8"/>
          </a:solidFill>
          <a:ln w="9525">
            <a:solidFill>
              <a:srgbClr val="CFDEE1"/>
            </a:solidFill>
            <a:prstDash val="solid"/>
          </a:ln>
        </p:spPr>
      </p:sp>
      <p:sp>
        <p:nvSpPr>
          <p:cNvPr id="45" name="Text 43"/>
          <p:cNvSpPr/>
          <p:nvPr/>
        </p:nvSpPr>
        <p:spPr>
          <a:xfrm>
            <a:off x="694944" y="3291840"/>
            <a:ext cx="327355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Alanine Aminotransferase</a:t>
            </a:r>
            <a:endParaRPr lang="en-US" sz="1150" dirty="0"/>
          </a:p>
        </p:txBody>
      </p:sp>
      <p:sp>
        <p:nvSpPr>
          <p:cNvPr id="46" name="Shape 44"/>
          <p:cNvSpPr/>
          <p:nvPr/>
        </p:nvSpPr>
        <p:spPr>
          <a:xfrm>
            <a:off x="4023360" y="3291840"/>
            <a:ext cx="1463040" cy="310896"/>
          </a:xfrm>
          <a:prstGeom prst="rect">
            <a:avLst/>
          </a:prstGeom>
          <a:solidFill>
            <a:srgbClr val="F3F7F8"/>
          </a:solidFill>
          <a:ln w="9525">
            <a:solidFill>
              <a:srgbClr val="CFDEE1"/>
            </a:solidFill>
            <a:prstDash val="solid"/>
          </a:ln>
        </p:spPr>
      </p:sp>
      <p:sp>
        <p:nvSpPr>
          <p:cNvPr id="47" name="Text 45"/>
          <p:cNvSpPr/>
          <p:nvPr/>
        </p:nvSpPr>
        <p:spPr>
          <a:xfrm>
            <a:off x="4078224" y="3291840"/>
            <a:ext cx="13533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ALT</a:t>
            </a:r>
            <a:endParaRPr lang="en-US" sz="1150" dirty="0"/>
          </a:p>
        </p:txBody>
      </p:sp>
      <p:sp>
        <p:nvSpPr>
          <p:cNvPr id="48" name="Shape 46"/>
          <p:cNvSpPr/>
          <p:nvPr/>
        </p:nvSpPr>
        <p:spPr>
          <a:xfrm>
            <a:off x="5486400" y="3291840"/>
            <a:ext cx="3291840" cy="310896"/>
          </a:xfrm>
          <a:prstGeom prst="rect">
            <a:avLst/>
          </a:prstGeom>
          <a:solidFill>
            <a:srgbClr val="F3F7F8"/>
          </a:solidFill>
          <a:ln w="9525">
            <a:solidFill>
              <a:srgbClr val="CFDEE1"/>
            </a:solidFill>
            <a:prstDash val="solid"/>
          </a:ln>
        </p:spPr>
      </p:sp>
      <p:sp>
        <p:nvSpPr>
          <p:cNvPr id="49" name="Text 47"/>
          <p:cNvSpPr/>
          <p:nvPr/>
        </p:nvSpPr>
        <p:spPr>
          <a:xfrm>
            <a:off x="5541264" y="3291840"/>
            <a:ext cx="31821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Alanine Aminotransferase</a:t>
            </a:r>
            <a:endParaRPr lang="en-US" sz="1150" dirty="0"/>
          </a:p>
        </p:txBody>
      </p:sp>
      <p:sp>
        <p:nvSpPr>
          <p:cNvPr id="50" name="Shape 48"/>
          <p:cNvSpPr/>
          <p:nvPr/>
        </p:nvSpPr>
        <p:spPr>
          <a:xfrm>
            <a:off x="8778240" y="3291840"/>
            <a:ext cx="2834640" cy="310896"/>
          </a:xfrm>
          <a:prstGeom prst="rect">
            <a:avLst/>
          </a:prstGeom>
          <a:solidFill>
            <a:srgbClr val="F3F7F8"/>
          </a:solidFill>
          <a:ln w="9525">
            <a:solidFill>
              <a:srgbClr val="CFDEE1"/>
            </a:solidFill>
            <a:prstDash val="solid"/>
          </a:ln>
        </p:spPr>
      </p:sp>
      <p:sp>
        <p:nvSpPr>
          <p:cNvPr id="51" name="Text 49"/>
          <p:cNvSpPr/>
          <p:nvPr/>
        </p:nvSpPr>
        <p:spPr>
          <a:xfrm>
            <a:off x="8833104" y="3291840"/>
            <a:ext cx="27249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yes</a:t>
            </a:r>
            <a:endParaRPr lang="en-US" sz="1150" dirty="0"/>
          </a:p>
        </p:txBody>
      </p:sp>
      <p:sp>
        <p:nvSpPr>
          <p:cNvPr id="52" name="Shape 50"/>
          <p:cNvSpPr/>
          <p:nvPr/>
        </p:nvSpPr>
        <p:spPr>
          <a:xfrm>
            <a:off x="640080" y="3602736"/>
            <a:ext cx="3383280" cy="310896"/>
          </a:xfrm>
          <a:prstGeom prst="rect">
            <a:avLst/>
          </a:prstGeom>
          <a:solidFill>
            <a:srgbClr val="FFFFFF"/>
          </a:solidFill>
          <a:ln w="9525">
            <a:solidFill>
              <a:srgbClr val="CFDEE1"/>
            </a:solidFill>
            <a:prstDash val="solid"/>
          </a:ln>
        </p:spPr>
      </p:sp>
      <p:sp>
        <p:nvSpPr>
          <p:cNvPr id="53" name="Text 51"/>
          <p:cNvSpPr/>
          <p:nvPr/>
        </p:nvSpPr>
        <p:spPr>
          <a:xfrm>
            <a:off x="694944" y="3602736"/>
            <a:ext cx="327355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Creatinine</a:t>
            </a:r>
            <a:endParaRPr lang="en-US" sz="1150" dirty="0"/>
          </a:p>
        </p:txBody>
      </p:sp>
      <p:sp>
        <p:nvSpPr>
          <p:cNvPr id="54" name="Shape 52"/>
          <p:cNvSpPr/>
          <p:nvPr/>
        </p:nvSpPr>
        <p:spPr>
          <a:xfrm>
            <a:off x="4023360" y="3602736"/>
            <a:ext cx="1463040" cy="310896"/>
          </a:xfrm>
          <a:prstGeom prst="rect">
            <a:avLst/>
          </a:prstGeom>
          <a:solidFill>
            <a:srgbClr val="FFFFFF"/>
          </a:solidFill>
          <a:ln w="9525">
            <a:solidFill>
              <a:srgbClr val="CFDEE1"/>
            </a:solidFill>
            <a:prstDash val="solid"/>
          </a:ln>
        </p:spPr>
      </p:sp>
      <p:sp>
        <p:nvSpPr>
          <p:cNvPr id="55" name="Text 53"/>
          <p:cNvSpPr/>
          <p:nvPr/>
        </p:nvSpPr>
        <p:spPr>
          <a:xfrm>
            <a:off x="4078224" y="3602736"/>
            <a:ext cx="13533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CREAT</a:t>
            </a:r>
            <a:endParaRPr lang="en-US" sz="1150" dirty="0"/>
          </a:p>
        </p:txBody>
      </p:sp>
      <p:sp>
        <p:nvSpPr>
          <p:cNvPr id="56" name="Shape 54"/>
          <p:cNvSpPr/>
          <p:nvPr/>
        </p:nvSpPr>
        <p:spPr>
          <a:xfrm>
            <a:off x="5486400" y="3602736"/>
            <a:ext cx="3291840" cy="310896"/>
          </a:xfrm>
          <a:prstGeom prst="rect">
            <a:avLst/>
          </a:prstGeom>
          <a:solidFill>
            <a:srgbClr val="FFFFFF"/>
          </a:solidFill>
          <a:ln w="9525">
            <a:solidFill>
              <a:srgbClr val="CFDEE1"/>
            </a:solidFill>
            <a:prstDash val="solid"/>
          </a:ln>
        </p:spPr>
      </p:sp>
      <p:sp>
        <p:nvSpPr>
          <p:cNvPr id="57" name="Text 55"/>
          <p:cNvSpPr/>
          <p:nvPr/>
        </p:nvSpPr>
        <p:spPr>
          <a:xfrm>
            <a:off x="5541264" y="3602736"/>
            <a:ext cx="3182112" cy="310896"/>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Creatinine</a:t>
            </a:r>
            <a:endParaRPr lang="en-US" sz="1150" dirty="0"/>
          </a:p>
        </p:txBody>
      </p:sp>
      <p:sp>
        <p:nvSpPr>
          <p:cNvPr id="58" name="Shape 56"/>
          <p:cNvSpPr/>
          <p:nvPr/>
        </p:nvSpPr>
        <p:spPr>
          <a:xfrm>
            <a:off x="8778240" y="3602736"/>
            <a:ext cx="2834640" cy="310896"/>
          </a:xfrm>
          <a:prstGeom prst="rect">
            <a:avLst/>
          </a:prstGeom>
          <a:solidFill>
            <a:srgbClr val="FFFFFF"/>
          </a:solidFill>
          <a:ln w="9525">
            <a:solidFill>
              <a:srgbClr val="CFDEE1"/>
            </a:solidFill>
            <a:prstDash val="solid"/>
          </a:ln>
        </p:spPr>
      </p:sp>
      <p:sp>
        <p:nvSpPr>
          <p:cNvPr id="59" name="Text 57"/>
          <p:cNvSpPr/>
          <p:nvPr/>
        </p:nvSpPr>
        <p:spPr>
          <a:xfrm>
            <a:off x="8833104" y="3602736"/>
            <a:ext cx="2724912" cy="310896"/>
          </a:xfrm>
          <a:prstGeom prst="rect">
            <a:avLst/>
          </a:prstGeom>
          <a:noFill/>
          <a:ln/>
        </p:spPr>
        <p:txBody>
          <a:bodyPr wrap="square" lIns="0" tIns="0" rIns="0" bIns="0" rtlCol="0" anchor="ctr"/>
          <a:lstStyle/>
          <a:p>
            <a:pPr algn="ctr" indent="0" marL="0">
              <a:buNone/>
            </a:pPr>
            <a:r>
              <a:rPr lang="en-US" sz="1150" dirty="0">
                <a:solidFill>
                  <a:srgbClr val="0F2E3D"/>
                </a:solidFill>
                <a:latin typeface="Calibri" pitchFamily="34" charset="0"/>
                <a:ea typeface="Calibri" pitchFamily="34" charset="-122"/>
                <a:cs typeface="Calibri" pitchFamily="34" charset="-120"/>
              </a:rPr>
              <a:t>yes</a:t>
            </a:r>
            <a:endParaRPr lang="en-US" sz="1150" dirty="0"/>
          </a:p>
        </p:txBody>
      </p:sp>
      <p:sp>
        <p:nvSpPr>
          <p:cNvPr id="60" name="Shape 58"/>
          <p:cNvSpPr/>
          <p:nvPr/>
        </p:nvSpPr>
        <p:spPr>
          <a:xfrm>
            <a:off x="640080" y="4160520"/>
            <a:ext cx="10972800" cy="1051560"/>
          </a:xfrm>
          <a:prstGeom prst="roundRect">
            <a:avLst>
              <a:gd name="adj" fmla="val 7826"/>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1" name="Text 59"/>
          <p:cNvSpPr/>
          <p:nvPr/>
        </p:nvSpPr>
        <p:spPr>
          <a:xfrm>
            <a:off x="914400" y="4279392"/>
            <a:ext cx="10424160" cy="82296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“White Blood Cells” is what the lab calls it. “Leukocytes” is what CDISC calls it. </a:t>
            </a:r>
            <a:pPr indent="0" marL="0">
              <a:buNone/>
            </a:pPr>
            <a:r>
              <a:rPr lang="en-US" sz="1300" dirty="0">
                <a:solidFill>
                  <a:srgbClr val="0F2E3D"/>
                </a:solidFill>
                <a:latin typeface="Calibri" pitchFamily="34" charset="0"/>
                <a:ea typeface="Calibri" pitchFamily="34" charset="-122"/>
                <a:cs typeface="Calibri" pitchFamily="34" charset="-120"/>
              </a:rPr>
              <a:t>Five of six pass straight through, so a programmer who spot-checks two rows concludes the column maps 1-to-1 — and ships the sixth wrong.</a:t>
            </a:r>
            <a:endParaRPr lang="en-US" sz="1300" dirty="0"/>
          </a:p>
        </p:txBody>
      </p:sp>
      <p:sp>
        <p:nvSpPr>
          <p:cNvPr id="62" name="Text 60"/>
          <p:cNvSpPr/>
          <p:nvPr/>
        </p:nvSpPr>
        <p:spPr>
          <a:xfrm>
            <a:off x="640080" y="5440680"/>
            <a:ext cx="10972800" cy="3200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Both columns are controlled terminology — check both</a:t>
            </a:r>
            <a:endParaRPr lang="en-US" sz="1300" dirty="0"/>
          </a:p>
        </p:txBody>
      </p:sp>
      <p:sp>
        <p:nvSpPr>
          <p:cNvPr id="63" name="Text 61"/>
          <p:cNvSpPr/>
          <p:nvPr/>
        </p:nvSpPr>
        <p:spPr>
          <a:xfrm>
            <a:off x="640080" y="5779008"/>
            <a:ext cx="1097280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LBTESTCD is the short code (max 8 characters, no spaces) and LBTEST is the full name. Both come from the CDISC LBTESTCD/LBTEST codelists, and they are PAIRED — you cannot mix a code from the list with a name of your own. Look every test up; never translate by eye.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TWO YOU'RE ABOUT TO BUILD</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Same class, different challenges</a:t>
            </a:r>
            <a:endParaRPr lang="en-US" sz="3000" dirty="0"/>
          </a:p>
        </p:txBody>
      </p:sp>
      <p:sp>
        <p:nvSpPr>
          <p:cNvPr id="4" name="Shape 2"/>
          <p:cNvSpPr/>
          <p:nvPr/>
        </p:nvSpPr>
        <p:spPr>
          <a:xfrm>
            <a:off x="640080" y="1737360"/>
            <a:ext cx="2834640" cy="384048"/>
          </a:xfrm>
          <a:prstGeom prst="rect">
            <a:avLst/>
          </a:prstGeom>
          <a:solidFill>
            <a:srgbClr val="0F2E3D"/>
          </a:solidFill>
          <a:ln w="9525">
            <a:solidFill>
              <a:srgbClr val="CFDEE1"/>
            </a:solidFill>
            <a:prstDash val="solid"/>
          </a:ln>
        </p:spPr>
      </p:sp>
      <p:sp>
        <p:nvSpPr>
          <p:cNvPr id="5" name="Text 3"/>
          <p:cNvSpPr/>
          <p:nvPr/>
        </p:nvSpPr>
        <p:spPr>
          <a:xfrm>
            <a:off x="694944" y="1737360"/>
            <a:ext cx="2724912" cy="384048"/>
          </a:xfrm>
          <a:prstGeom prst="rect">
            <a:avLst/>
          </a:prstGeom>
          <a:noFill/>
          <a:ln/>
        </p:spPr>
        <p:txBody>
          <a:bodyPr wrap="square" lIns="0" tIns="0" rIns="0" bIns="0" rtlCol="0" anchor="ctr"/>
          <a:lstStyle/>
          <a:p>
            <a:pPr algn="l" indent="0" marL="0">
              <a:buNone/>
            </a:pPr>
            <a:endParaRPr lang="en-US" sz="1150" dirty="0"/>
          </a:p>
        </p:txBody>
      </p:sp>
      <p:sp>
        <p:nvSpPr>
          <p:cNvPr id="6" name="Shape 4"/>
          <p:cNvSpPr/>
          <p:nvPr/>
        </p:nvSpPr>
        <p:spPr>
          <a:xfrm>
            <a:off x="3474720" y="1737360"/>
            <a:ext cx="4069080" cy="384048"/>
          </a:xfrm>
          <a:prstGeom prst="rect">
            <a:avLst/>
          </a:prstGeom>
          <a:solidFill>
            <a:srgbClr val="0F2E3D"/>
          </a:solidFill>
          <a:ln w="9525">
            <a:solidFill>
              <a:srgbClr val="CFDEE1"/>
            </a:solidFill>
            <a:prstDash val="solid"/>
          </a:ln>
        </p:spPr>
      </p:sp>
      <p:sp>
        <p:nvSpPr>
          <p:cNvPr id="7" name="Text 5"/>
          <p:cNvSpPr/>
          <p:nvPr/>
        </p:nvSpPr>
        <p:spPr>
          <a:xfrm>
            <a:off x="3529584" y="1737360"/>
            <a:ext cx="3959352"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VS  ·  Notebook 08</a:t>
            </a:r>
            <a:endParaRPr lang="en-US" sz="1150" dirty="0"/>
          </a:p>
        </p:txBody>
      </p:sp>
      <p:sp>
        <p:nvSpPr>
          <p:cNvPr id="8" name="Shape 6"/>
          <p:cNvSpPr/>
          <p:nvPr/>
        </p:nvSpPr>
        <p:spPr>
          <a:xfrm>
            <a:off x="7543800" y="1737360"/>
            <a:ext cx="4069080" cy="384048"/>
          </a:xfrm>
          <a:prstGeom prst="rect">
            <a:avLst/>
          </a:prstGeom>
          <a:solidFill>
            <a:srgbClr val="0F2E3D"/>
          </a:solidFill>
          <a:ln w="9525">
            <a:solidFill>
              <a:srgbClr val="CFDEE1"/>
            </a:solidFill>
            <a:prstDash val="solid"/>
          </a:ln>
        </p:spPr>
      </p:sp>
      <p:sp>
        <p:nvSpPr>
          <p:cNvPr id="9" name="Text 7"/>
          <p:cNvSpPr/>
          <p:nvPr/>
        </p:nvSpPr>
        <p:spPr>
          <a:xfrm>
            <a:off x="7598664" y="1737360"/>
            <a:ext cx="3959352"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LB  ·  Notebook 09</a:t>
            </a:r>
            <a:endParaRPr lang="en-US" sz="1150" dirty="0"/>
          </a:p>
        </p:txBody>
      </p:sp>
      <p:sp>
        <p:nvSpPr>
          <p:cNvPr id="10" name="Shape 8"/>
          <p:cNvSpPr/>
          <p:nvPr/>
        </p:nvSpPr>
        <p:spPr>
          <a:xfrm>
            <a:off x="640080" y="2121408"/>
            <a:ext cx="2834640" cy="384048"/>
          </a:xfrm>
          <a:prstGeom prst="rect">
            <a:avLst/>
          </a:prstGeom>
          <a:solidFill>
            <a:srgbClr val="F3F7F8"/>
          </a:solidFill>
          <a:ln w="9525">
            <a:solidFill>
              <a:srgbClr val="CFDEE1"/>
            </a:solidFill>
            <a:prstDash val="solid"/>
          </a:ln>
        </p:spPr>
      </p:sp>
      <p:sp>
        <p:nvSpPr>
          <p:cNvPr id="11" name="Text 9"/>
          <p:cNvSpPr/>
          <p:nvPr/>
        </p:nvSpPr>
        <p:spPr>
          <a:xfrm>
            <a:off x="694944" y="2121408"/>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Raw shape</a:t>
            </a:r>
            <a:endParaRPr lang="en-US" sz="1150" dirty="0"/>
          </a:p>
        </p:txBody>
      </p:sp>
      <p:sp>
        <p:nvSpPr>
          <p:cNvPr id="12" name="Shape 10"/>
          <p:cNvSpPr/>
          <p:nvPr/>
        </p:nvSpPr>
        <p:spPr>
          <a:xfrm>
            <a:off x="3474720" y="2121408"/>
            <a:ext cx="4069080" cy="384048"/>
          </a:xfrm>
          <a:prstGeom prst="rect">
            <a:avLst/>
          </a:prstGeom>
          <a:solidFill>
            <a:srgbClr val="F3F7F8"/>
          </a:solidFill>
          <a:ln w="9525">
            <a:solidFill>
              <a:srgbClr val="CFDEE1"/>
            </a:solidFill>
            <a:prstDash val="solid"/>
          </a:ln>
        </p:spPr>
      </p:sp>
      <p:sp>
        <p:nvSpPr>
          <p:cNvPr id="13" name="Text 11"/>
          <p:cNvSpPr/>
          <p:nvPr/>
        </p:nvSpPr>
        <p:spPr>
          <a:xfrm>
            <a:off x="3529584" y="2121408"/>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WIDE — 1 row per visit, 6 value columns</a:t>
            </a:r>
            <a:endParaRPr lang="en-US" sz="1150" dirty="0"/>
          </a:p>
        </p:txBody>
      </p:sp>
      <p:sp>
        <p:nvSpPr>
          <p:cNvPr id="14" name="Shape 12"/>
          <p:cNvSpPr/>
          <p:nvPr/>
        </p:nvSpPr>
        <p:spPr>
          <a:xfrm>
            <a:off x="7543800" y="2121408"/>
            <a:ext cx="4069080" cy="384048"/>
          </a:xfrm>
          <a:prstGeom prst="rect">
            <a:avLst/>
          </a:prstGeom>
          <a:solidFill>
            <a:srgbClr val="F3F7F8"/>
          </a:solidFill>
          <a:ln w="9525">
            <a:solidFill>
              <a:srgbClr val="CFDEE1"/>
            </a:solidFill>
            <a:prstDash val="solid"/>
          </a:ln>
        </p:spPr>
      </p:sp>
      <p:sp>
        <p:nvSpPr>
          <p:cNvPr id="15" name="Text 13"/>
          <p:cNvSpPr/>
          <p:nvPr/>
        </p:nvSpPr>
        <p:spPr>
          <a:xfrm>
            <a:off x="7598664" y="2121408"/>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TALL — already 1 row per test</a:t>
            </a:r>
            <a:endParaRPr lang="en-US" sz="1150" dirty="0"/>
          </a:p>
        </p:txBody>
      </p:sp>
      <p:sp>
        <p:nvSpPr>
          <p:cNvPr id="16" name="Shape 14"/>
          <p:cNvSpPr/>
          <p:nvPr/>
        </p:nvSpPr>
        <p:spPr>
          <a:xfrm>
            <a:off x="640080" y="2505456"/>
            <a:ext cx="2834640" cy="384048"/>
          </a:xfrm>
          <a:prstGeom prst="rect">
            <a:avLst/>
          </a:prstGeom>
          <a:solidFill>
            <a:srgbClr val="FFFFFF"/>
          </a:solidFill>
          <a:ln w="9525">
            <a:solidFill>
              <a:srgbClr val="CFDEE1"/>
            </a:solidFill>
            <a:prstDash val="solid"/>
          </a:ln>
        </p:spPr>
      </p:sp>
      <p:sp>
        <p:nvSpPr>
          <p:cNvPr id="17" name="Text 15"/>
          <p:cNvSpPr/>
          <p:nvPr/>
        </p:nvSpPr>
        <p:spPr>
          <a:xfrm>
            <a:off x="694944" y="2505456"/>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Main challenge</a:t>
            </a:r>
            <a:endParaRPr lang="en-US" sz="1150" dirty="0"/>
          </a:p>
        </p:txBody>
      </p:sp>
      <p:sp>
        <p:nvSpPr>
          <p:cNvPr id="18" name="Shape 16"/>
          <p:cNvSpPr/>
          <p:nvPr/>
        </p:nvSpPr>
        <p:spPr>
          <a:xfrm>
            <a:off x="3474720" y="2505456"/>
            <a:ext cx="4069080" cy="384048"/>
          </a:xfrm>
          <a:prstGeom prst="rect">
            <a:avLst/>
          </a:prstGeom>
          <a:solidFill>
            <a:srgbClr val="FFFFFF"/>
          </a:solidFill>
          <a:ln w="9525">
            <a:solidFill>
              <a:srgbClr val="CFDEE1"/>
            </a:solidFill>
            <a:prstDash val="solid"/>
          </a:ln>
        </p:spPr>
      </p:sp>
      <p:sp>
        <p:nvSpPr>
          <p:cNvPr id="19" name="Text 17"/>
          <p:cNvSpPr/>
          <p:nvPr/>
        </p:nvSpPr>
        <p:spPr>
          <a:xfrm>
            <a:off x="3529584" y="2505456"/>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the transpose</a:t>
            </a:r>
            <a:endParaRPr lang="en-US" sz="1150" dirty="0"/>
          </a:p>
        </p:txBody>
      </p:sp>
      <p:sp>
        <p:nvSpPr>
          <p:cNvPr id="20" name="Shape 18"/>
          <p:cNvSpPr/>
          <p:nvPr/>
        </p:nvSpPr>
        <p:spPr>
          <a:xfrm>
            <a:off x="7543800" y="2505456"/>
            <a:ext cx="4069080" cy="384048"/>
          </a:xfrm>
          <a:prstGeom prst="rect">
            <a:avLst/>
          </a:prstGeom>
          <a:solidFill>
            <a:srgbClr val="FFFFFF"/>
          </a:solidFill>
          <a:ln w="9525">
            <a:solidFill>
              <a:srgbClr val="CFDEE1"/>
            </a:solidFill>
            <a:prstDash val="solid"/>
          </a:ln>
        </p:spPr>
      </p:sp>
      <p:sp>
        <p:nvSpPr>
          <p:cNvPr id="21" name="Text 19"/>
          <p:cNvSpPr/>
          <p:nvPr/>
        </p:nvSpPr>
        <p:spPr>
          <a:xfrm>
            <a:off x="7598664" y="2505456"/>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reference ranges and CT lookups</a:t>
            </a:r>
            <a:endParaRPr lang="en-US" sz="1150" dirty="0"/>
          </a:p>
        </p:txBody>
      </p:sp>
      <p:sp>
        <p:nvSpPr>
          <p:cNvPr id="22" name="Shape 20"/>
          <p:cNvSpPr/>
          <p:nvPr/>
        </p:nvSpPr>
        <p:spPr>
          <a:xfrm>
            <a:off x="640080" y="2889504"/>
            <a:ext cx="2834640" cy="384048"/>
          </a:xfrm>
          <a:prstGeom prst="rect">
            <a:avLst/>
          </a:prstGeom>
          <a:solidFill>
            <a:srgbClr val="F3F7F8"/>
          </a:solidFill>
          <a:ln w="9525">
            <a:solidFill>
              <a:srgbClr val="CFDEE1"/>
            </a:solidFill>
            <a:prstDash val="solid"/>
          </a:ln>
        </p:spPr>
      </p:sp>
      <p:sp>
        <p:nvSpPr>
          <p:cNvPr id="23" name="Text 21"/>
          <p:cNvSpPr/>
          <p:nvPr/>
        </p:nvSpPr>
        <p:spPr>
          <a:xfrm>
            <a:off x="694944" y="2889504"/>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Raw rows</a:t>
            </a:r>
            <a:endParaRPr lang="en-US" sz="1150" dirty="0"/>
          </a:p>
        </p:txBody>
      </p:sp>
      <p:sp>
        <p:nvSpPr>
          <p:cNvPr id="24" name="Shape 22"/>
          <p:cNvSpPr/>
          <p:nvPr/>
        </p:nvSpPr>
        <p:spPr>
          <a:xfrm>
            <a:off x="3474720" y="2889504"/>
            <a:ext cx="4069080" cy="384048"/>
          </a:xfrm>
          <a:prstGeom prst="rect">
            <a:avLst/>
          </a:prstGeom>
          <a:solidFill>
            <a:srgbClr val="F3F7F8"/>
          </a:solidFill>
          <a:ln w="9525">
            <a:solidFill>
              <a:srgbClr val="CFDEE1"/>
            </a:solidFill>
            <a:prstDash val="solid"/>
          </a:ln>
        </p:spPr>
      </p:sp>
      <p:sp>
        <p:nvSpPr>
          <p:cNvPr id="25" name="Text 23"/>
          <p:cNvSpPr/>
          <p:nvPr/>
        </p:nvSpPr>
        <p:spPr>
          <a:xfrm>
            <a:off x="3529584" y="2889504"/>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24</a:t>
            </a:r>
            <a:endParaRPr lang="en-US" sz="1150" dirty="0"/>
          </a:p>
        </p:txBody>
      </p:sp>
      <p:sp>
        <p:nvSpPr>
          <p:cNvPr id="26" name="Shape 24"/>
          <p:cNvSpPr/>
          <p:nvPr/>
        </p:nvSpPr>
        <p:spPr>
          <a:xfrm>
            <a:off x="7543800" y="2889504"/>
            <a:ext cx="4069080" cy="384048"/>
          </a:xfrm>
          <a:prstGeom prst="rect">
            <a:avLst/>
          </a:prstGeom>
          <a:solidFill>
            <a:srgbClr val="F3F7F8"/>
          </a:solidFill>
          <a:ln w="9525">
            <a:solidFill>
              <a:srgbClr val="CFDEE1"/>
            </a:solidFill>
            <a:prstDash val="solid"/>
          </a:ln>
        </p:spPr>
      </p:sp>
      <p:sp>
        <p:nvSpPr>
          <p:cNvPr id="27" name="Text 25"/>
          <p:cNvSpPr/>
          <p:nvPr/>
        </p:nvSpPr>
        <p:spPr>
          <a:xfrm>
            <a:off x="7598664" y="2889504"/>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48</a:t>
            </a:r>
            <a:endParaRPr lang="en-US" sz="1150" dirty="0"/>
          </a:p>
        </p:txBody>
      </p:sp>
      <p:sp>
        <p:nvSpPr>
          <p:cNvPr id="28" name="Shape 26"/>
          <p:cNvSpPr/>
          <p:nvPr/>
        </p:nvSpPr>
        <p:spPr>
          <a:xfrm>
            <a:off x="640080" y="3273552"/>
            <a:ext cx="2834640" cy="384048"/>
          </a:xfrm>
          <a:prstGeom prst="rect">
            <a:avLst/>
          </a:prstGeom>
          <a:solidFill>
            <a:srgbClr val="FFFFFF"/>
          </a:solidFill>
          <a:ln w="9525">
            <a:solidFill>
              <a:srgbClr val="CFDEE1"/>
            </a:solidFill>
            <a:prstDash val="solid"/>
          </a:ln>
        </p:spPr>
      </p:sp>
      <p:sp>
        <p:nvSpPr>
          <p:cNvPr id="29" name="Text 27"/>
          <p:cNvSpPr/>
          <p:nvPr/>
        </p:nvSpPr>
        <p:spPr>
          <a:xfrm>
            <a:off x="694944" y="3273552"/>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SDTM rows</a:t>
            </a:r>
            <a:endParaRPr lang="en-US" sz="1150" dirty="0"/>
          </a:p>
        </p:txBody>
      </p:sp>
      <p:sp>
        <p:nvSpPr>
          <p:cNvPr id="30" name="Shape 28"/>
          <p:cNvSpPr/>
          <p:nvPr/>
        </p:nvSpPr>
        <p:spPr>
          <a:xfrm>
            <a:off x="3474720" y="3273552"/>
            <a:ext cx="4069080" cy="384048"/>
          </a:xfrm>
          <a:prstGeom prst="rect">
            <a:avLst/>
          </a:prstGeom>
          <a:solidFill>
            <a:srgbClr val="FFFFFF"/>
          </a:solidFill>
          <a:ln w="9525">
            <a:solidFill>
              <a:srgbClr val="CFDEE1"/>
            </a:solidFill>
            <a:prstDash val="solid"/>
          </a:ln>
        </p:spPr>
      </p:sp>
      <p:sp>
        <p:nvSpPr>
          <p:cNvPr id="31" name="Text 29"/>
          <p:cNvSpPr/>
          <p:nvPr/>
        </p:nvSpPr>
        <p:spPr>
          <a:xfrm>
            <a:off x="3529584" y="3273552"/>
            <a:ext cx="3959352" cy="384048"/>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128</a:t>
            </a:r>
            <a:endParaRPr lang="en-US" sz="1150" dirty="0"/>
          </a:p>
        </p:txBody>
      </p:sp>
      <p:sp>
        <p:nvSpPr>
          <p:cNvPr id="32" name="Shape 30"/>
          <p:cNvSpPr/>
          <p:nvPr/>
        </p:nvSpPr>
        <p:spPr>
          <a:xfrm>
            <a:off x="7543800" y="3273552"/>
            <a:ext cx="4069080" cy="384048"/>
          </a:xfrm>
          <a:prstGeom prst="rect">
            <a:avLst/>
          </a:prstGeom>
          <a:solidFill>
            <a:srgbClr val="FFFFFF"/>
          </a:solidFill>
          <a:ln w="9525">
            <a:solidFill>
              <a:srgbClr val="CFDEE1"/>
            </a:solidFill>
            <a:prstDash val="solid"/>
          </a:ln>
        </p:spPr>
      </p:sp>
      <p:sp>
        <p:nvSpPr>
          <p:cNvPr id="33" name="Text 31"/>
          <p:cNvSpPr/>
          <p:nvPr/>
        </p:nvSpPr>
        <p:spPr>
          <a:xfrm>
            <a:off x="7598664" y="3273552"/>
            <a:ext cx="3959352" cy="384048"/>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48</a:t>
            </a:r>
            <a:endParaRPr lang="en-US" sz="1150" dirty="0"/>
          </a:p>
        </p:txBody>
      </p:sp>
      <p:sp>
        <p:nvSpPr>
          <p:cNvPr id="34" name="Shape 32"/>
          <p:cNvSpPr/>
          <p:nvPr/>
        </p:nvSpPr>
        <p:spPr>
          <a:xfrm>
            <a:off x="640080" y="3657600"/>
            <a:ext cx="2834640" cy="384048"/>
          </a:xfrm>
          <a:prstGeom prst="rect">
            <a:avLst/>
          </a:prstGeom>
          <a:solidFill>
            <a:srgbClr val="F3F7F8"/>
          </a:solidFill>
          <a:ln w="9525">
            <a:solidFill>
              <a:srgbClr val="CFDEE1"/>
            </a:solidFill>
            <a:prstDash val="solid"/>
          </a:ln>
        </p:spPr>
      </p:sp>
      <p:sp>
        <p:nvSpPr>
          <p:cNvPr id="35" name="Text 33"/>
          <p:cNvSpPr/>
          <p:nvPr/>
        </p:nvSpPr>
        <p:spPr>
          <a:xfrm>
            <a:off x="694944" y="3657600"/>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Tests</a:t>
            </a:r>
            <a:endParaRPr lang="en-US" sz="1150" dirty="0"/>
          </a:p>
        </p:txBody>
      </p:sp>
      <p:sp>
        <p:nvSpPr>
          <p:cNvPr id="36" name="Shape 34"/>
          <p:cNvSpPr/>
          <p:nvPr/>
        </p:nvSpPr>
        <p:spPr>
          <a:xfrm>
            <a:off x="3474720" y="3657600"/>
            <a:ext cx="4069080" cy="384048"/>
          </a:xfrm>
          <a:prstGeom prst="rect">
            <a:avLst/>
          </a:prstGeom>
          <a:solidFill>
            <a:srgbClr val="F3F7F8"/>
          </a:solidFill>
          <a:ln w="9525">
            <a:solidFill>
              <a:srgbClr val="CFDEE1"/>
            </a:solidFill>
            <a:prstDash val="solid"/>
          </a:ln>
        </p:spPr>
      </p:sp>
      <p:sp>
        <p:nvSpPr>
          <p:cNvPr id="37" name="Text 35"/>
          <p:cNvSpPr/>
          <p:nvPr/>
        </p:nvSpPr>
        <p:spPr>
          <a:xfrm>
            <a:off x="3529584" y="3657600"/>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6 (height only at screening)</a:t>
            </a:r>
            <a:endParaRPr lang="en-US" sz="1150" dirty="0"/>
          </a:p>
        </p:txBody>
      </p:sp>
      <p:sp>
        <p:nvSpPr>
          <p:cNvPr id="38" name="Shape 36"/>
          <p:cNvSpPr/>
          <p:nvPr/>
        </p:nvSpPr>
        <p:spPr>
          <a:xfrm>
            <a:off x="7543800" y="3657600"/>
            <a:ext cx="4069080" cy="384048"/>
          </a:xfrm>
          <a:prstGeom prst="rect">
            <a:avLst/>
          </a:prstGeom>
          <a:solidFill>
            <a:srgbClr val="F3F7F8"/>
          </a:solidFill>
          <a:ln w="9525">
            <a:solidFill>
              <a:srgbClr val="CFDEE1"/>
            </a:solidFill>
            <a:prstDash val="solid"/>
          </a:ln>
        </p:spPr>
      </p:sp>
      <p:sp>
        <p:nvSpPr>
          <p:cNvPr id="39" name="Text 37"/>
          <p:cNvSpPr/>
          <p:nvPr/>
        </p:nvSpPr>
        <p:spPr>
          <a:xfrm>
            <a:off x="7598664" y="3657600"/>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6 across 2 panels</a:t>
            </a:r>
            <a:endParaRPr lang="en-US" sz="1150" dirty="0"/>
          </a:p>
        </p:txBody>
      </p:sp>
      <p:sp>
        <p:nvSpPr>
          <p:cNvPr id="40" name="Shape 38"/>
          <p:cNvSpPr/>
          <p:nvPr/>
        </p:nvSpPr>
        <p:spPr>
          <a:xfrm>
            <a:off x="640080" y="4041648"/>
            <a:ext cx="2834640" cy="384048"/>
          </a:xfrm>
          <a:prstGeom prst="rect">
            <a:avLst/>
          </a:prstGeom>
          <a:solidFill>
            <a:srgbClr val="FFFFFF"/>
          </a:solidFill>
          <a:ln w="9525">
            <a:solidFill>
              <a:srgbClr val="CFDEE1"/>
            </a:solidFill>
            <a:prstDash val="solid"/>
          </a:ln>
        </p:spPr>
      </p:sp>
      <p:sp>
        <p:nvSpPr>
          <p:cNvPr id="41" name="Text 39"/>
          <p:cNvSpPr/>
          <p:nvPr/>
        </p:nvSpPr>
        <p:spPr>
          <a:xfrm>
            <a:off x="694944" y="4041648"/>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Visits</a:t>
            </a:r>
            <a:endParaRPr lang="en-US" sz="1150" dirty="0"/>
          </a:p>
        </p:txBody>
      </p:sp>
      <p:sp>
        <p:nvSpPr>
          <p:cNvPr id="42" name="Shape 40"/>
          <p:cNvSpPr/>
          <p:nvPr/>
        </p:nvSpPr>
        <p:spPr>
          <a:xfrm>
            <a:off x="3474720" y="4041648"/>
            <a:ext cx="4069080" cy="384048"/>
          </a:xfrm>
          <a:prstGeom prst="rect">
            <a:avLst/>
          </a:prstGeom>
          <a:solidFill>
            <a:srgbClr val="FFFFFF"/>
          </a:solidFill>
          <a:ln w="9525">
            <a:solidFill>
              <a:srgbClr val="CFDEE1"/>
            </a:solidFill>
            <a:prstDash val="solid"/>
          </a:ln>
        </p:spPr>
      </p:sp>
      <p:sp>
        <p:nvSpPr>
          <p:cNvPr id="43" name="Text 41"/>
          <p:cNvSpPr/>
          <p:nvPr/>
        </p:nvSpPr>
        <p:spPr>
          <a:xfrm>
            <a:off x="3529584" y="4041648"/>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SCREENING, BASELINE, WEEK 4</a:t>
            </a:r>
            <a:endParaRPr lang="en-US" sz="1150" dirty="0"/>
          </a:p>
        </p:txBody>
      </p:sp>
      <p:sp>
        <p:nvSpPr>
          <p:cNvPr id="44" name="Shape 42"/>
          <p:cNvSpPr/>
          <p:nvPr/>
        </p:nvSpPr>
        <p:spPr>
          <a:xfrm>
            <a:off x="7543800" y="4041648"/>
            <a:ext cx="4069080" cy="384048"/>
          </a:xfrm>
          <a:prstGeom prst="rect">
            <a:avLst/>
          </a:prstGeom>
          <a:solidFill>
            <a:srgbClr val="FFFFFF"/>
          </a:solidFill>
          <a:ln w="9525">
            <a:solidFill>
              <a:srgbClr val="CFDEE1"/>
            </a:solidFill>
            <a:prstDash val="solid"/>
          </a:ln>
        </p:spPr>
      </p:sp>
      <p:sp>
        <p:nvSpPr>
          <p:cNvPr id="45" name="Text 43"/>
          <p:cNvSpPr/>
          <p:nvPr/>
        </p:nvSpPr>
        <p:spPr>
          <a:xfrm>
            <a:off x="7598664" y="4041648"/>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BASELINE, WEEK 4</a:t>
            </a:r>
            <a:endParaRPr lang="en-US" sz="1150" dirty="0"/>
          </a:p>
        </p:txBody>
      </p:sp>
      <p:sp>
        <p:nvSpPr>
          <p:cNvPr id="46" name="Shape 44"/>
          <p:cNvSpPr/>
          <p:nvPr/>
        </p:nvSpPr>
        <p:spPr>
          <a:xfrm>
            <a:off x="640080" y="4425696"/>
            <a:ext cx="2834640" cy="384048"/>
          </a:xfrm>
          <a:prstGeom prst="rect">
            <a:avLst/>
          </a:prstGeom>
          <a:solidFill>
            <a:srgbClr val="F3F7F8"/>
          </a:solidFill>
          <a:ln w="9525">
            <a:solidFill>
              <a:srgbClr val="CFDEE1"/>
            </a:solidFill>
            <a:prstDash val="solid"/>
          </a:ln>
        </p:spPr>
      </p:sp>
      <p:sp>
        <p:nvSpPr>
          <p:cNvPr id="47" name="Text 45"/>
          <p:cNvSpPr/>
          <p:nvPr/>
        </p:nvSpPr>
        <p:spPr>
          <a:xfrm>
            <a:off x="694944" y="4425696"/>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Baseline flags</a:t>
            </a:r>
            <a:endParaRPr lang="en-US" sz="1150" dirty="0"/>
          </a:p>
        </p:txBody>
      </p:sp>
      <p:sp>
        <p:nvSpPr>
          <p:cNvPr id="48" name="Shape 46"/>
          <p:cNvSpPr/>
          <p:nvPr/>
        </p:nvSpPr>
        <p:spPr>
          <a:xfrm>
            <a:off x="3474720" y="4425696"/>
            <a:ext cx="4069080" cy="384048"/>
          </a:xfrm>
          <a:prstGeom prst="rect">
            <a:avLst/>
          </a:prstGeom>
          <a:solidFill>
            <a:srgbClr val="F3F7F8"/>
          </a:solidFill>
          <a:ln w="9525">
            <a:solidFill>
              <a:srgbClr val="CFDEE1"/>
            </a:solidFill>
            <a:prstDash val="solid"/>
          </a:ln>
        </p:spPr>
      </p:sp>
      <p:sp>
        <p:nvSpPr>
          <p:cNvPr id="49" name="Text 47"/>
          <p:cNvSpPr/>
          <p:nvPr/>
        </p:nvSpPr>
        <p:spPr>
          <a:xfrm>
            <a:off x="3529584" y="4425696"/>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40</a:t>
            </a:r>
            <a:endParaRPr lang="en-US" sz="1150" dirty="0"/>
          </a:p>
        </p:txBody>
      </p:sp>
      <p:sp>
        <p:nvSpPr>
          <p:cNvPr id="50" name="Shape 48"/>
          <p:cNvSpPr/>
          <p:nvPr/>
        </p:nvSpPr>
        <p:spPr>
          <a:xfrm>
            <a:off x="7543800" y="4425696"/>
            <a:ext cx="4069080" cy="384048"/>
          </a:xfrm>
          <a:prstGeom prst="rect">
            <a:avLst/>
          </a:prstGeom>
          <a:solidFill>
            <a:srgbClr val="F3F7F8"/>
          </a:solidFill>
          <a:ln w="9525">
            <a:solidFill>
              <a:srgbClr val="CFDEE1"/>
            </a:solidFill>
            <a:prstDash val="solid"/>
          </a:ln>
        </p:spPr>
      </p:sp>
      <p:sp>
        <p:nvSpPr>
          <p:cNvPr id="51" name="Text 49"/>
          <p:cNvSpPr/>
          <p:nvPr/>
        </p:nvSpPr>
        <p:spPr>
          <a:xfrm>
            <a:off x="7598664" y="4425696"/>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24</a:t>
            </a:r>
            <a:endParaRPr lang="en-US" sz="1150" dirty="0"/>
          </a:p>
        </p:txBody>
      </p:sp>
      <p:sp>
        <p:nvSpPr>
          <p:cNvPr id="52" name="Shape 50"/>
          <p:cNvSpPr/>
          <p:nvPr/>
        </p:nvSpPr>
        <p:spPr>
          <a:xfrm>
            <a:off x="640080" y="4809744"/>
            <a:ext cx="2834640" cy="384048"/>
          </a:xfrm>
          <a:prstGeom prst="rect">
            <a:avLst/>
          </a:prstGeom>
          <a:solidFill>
            <a:srgbClr val="FFFFFF"/>
          </a:solidFill>
          <a:ln w="9525">
            <a:solidFill>
              <a:srgbClr val="CFDEE1"/>
            </a:solidFill>
            <a:prstDash val="solid"/>
          </a:ln>
        </p:spPr>
      </p:sp>
      <p:sp>
        <p:nvSpPr>
          <p:cNvPr id="53" name="Text 51"/>
          <p:cNvSpPr/>
          <p:nvPr/>
        </p:nvSpPr>
        <p:spPr>
          <a:xfrm>
            <a:off x="694944" y="4809744"/>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Derived qualifier</a:t>
            </a:r>
            <a:endParaRPr lang="en-US" sz="1150" dirty="0"/>
          </a:p>
        </p:txBody>
      </p:sp>
      <p:sp>
        <p:nvSpPr>
          <p:cNvPr id="54" name="Shape 52"/>
          <p:cNvSpPr/>
          <p:nvPr/>
        </p:nvSpPr>
        <p:spPr>
          <a:xfrm>
            <a:off x="3474720" y="4809744"/>
            <a:ext cx="4069080" cy="384048"/>
          </a:xfrm>
          <a:prstGeom prst="rect">
            <a:avLst/>
          </a:prstGeom>
          <a:solidFill>
            <a:srgbClr val="FFFFFF"/>
          </a:solidFill>
          <a:ln w="9525">
            <a:solidFill>
              <a:srgbClr val="CFDEE1"/>
            </a:solidFill>
            <a:prstDash val="solid"/>
          </a:ln>
        </p:spPr>
      </p:sp>
      <p:sp>
        <p:nvSpPr>
          <p:cNvPr id="55" name="Text 53"/>
          <p:cNvSpPr/>
          <p:nvPr/>
        </p:nvSpPr>
        <p:spPr>
          <a:xfrm>
            <a:off x="3529584" y="4809744"/>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VSBLFL</a:t>
            </a:r>
            <a:endParaRPr lang="en-US" sz="1150" dirty="0"/>
          </a:p>
        </p:txBody>
      </p:sp>
      <p:sp>
        <p:nvSpPr>
          <p:cNvPr id="56" name="Shape 54"/>
          <p:cNvSpPr/>
          <p:nvPr/>
        </p:nvSpPr>
        <p:spPr>
          <a:xfrm>
            <a:off x="7543800" y="4809744"/>
            <a:ext cx="4069080" cy="384048"/>
          </a:xfrm>
          <a:prstGeom prst="rect">
            <a:avLst/>
          </a:prstGeom>
          <a:solidFill>
            <a:srgbClr val="FFFFFF"/>
          </a:solidFill>
          <a:ln w="9525">
            <a:solidFill>
              <a:srgbClr val="CFDEE1"/>
            </a:solidFill>
            <a:prstDash val="solid"/>
          </a:ln>
        </p:spPr>
      </p:sp>
      <p:sp>
        <p:nvSpPr>
          <p:cNvPr id="57" name="Text 55"/>
          <p:cNvSpPr/>
          <p:nvPr/>
        </p:nvSpPr>
        <p:spPr>
          <a:xfrm>
            <a:off x="7598664" y="4809744"/>
            <a:ext cx="395935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LBBLFL, LBCAT, LBNRIND</a:t>
            </a:r>
            <a:endParaRPr lang="en-US" sz="1150" dirty="0"/>
          </a:p>
        </p:txBody>
      </p:sp>
      <p:sp>
        <p:nvSpPr>
          <p:cNvPr id="58" name="Shape 56"/>
          <p:cNvSpPr/>
          <p:nvPr/>
        </p:nvSpPr>
        <p:spPr>
          <a:xfrm>
            <a:off x="640080" y="5193792"/>
            <a:ext cx="2834640" cy="384048"/>
          </a:xfrm>
          <a:prstGeom prst="rect">
            <a:avLst/>
          </a:prstGeom>
          <a:solidFill>
            <a:srgbClr val="F3F7F8"/>
          </a:solidFill>
          <a:ln w="9525">
            <a:solidFill>
              <a:srgbClr val="CFDEE1"/>
            </a:solidFill>
            <a:prstDash val="solid"/>
          </a:ln>
        </p:spPr>
      </p:sp>
      <p:sp>
        <p:nvSpPr>
          <p:cNvPr id="59" name="Text 57"/>
          <p:cNvSpPr/>
          <p:nvPr/>
        </p:nvSpPr>
        <p:spPr>
          <a:xfrm>
            <a:off x="694944" y="5193792"/>
            <a:ext cx="272491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Watch out for</a:t>
            </a:r>
            <a:endParaRPr lang="en-US" sz="1150" dirty="0"/>
          </a:p>
        </p:txBody>
      </p:sp>
      <p:sp>
        <p:nvSpPr>
          <p:cNvPr id="60" name="Shape 58"/>
          <p:cNvSpPr/>
          <p:nvPr/>
        </p:nvSpPr>
        <p:spPr>
          <a:xfrm>
            <a:off x="3474720" y="5193792"/>
            <a:ext cx="4069080" cy="384048"/>
          </a:xfrm>
          <a:prstGeom prst="rect">
            <a:avLst/>
          </a:prstGeom>
          <a:solidFill>
            <a:srgbClr val="F3F7F8"/>
          </a:solidFill>
          <a:ln w="9525">
            <a:solidFill>
              <a:srgbClr val="CFDEE1"/>
            </a:solidFill>
            <a:prstDash val="solid"/>
          </a:ln>
        </p:spPr>
      </p:sp>
      <p:sp>
        <p:nvSpPr>
          <p:cNvPr id="61" name="Text 59"/>
          <p:cNvSpPr/>
          <p:nvPr/>
        </p:nvSpPr>
        <p:spPr>
          <a:xfrm>
            <a:off x="3529584" y="5193792"/>
            <a:ext cx="3959352" cy="384048"/>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OUTPUT inside the loop; height's missing values</a:t>
            </a:r>
            <a:endParaRPr lang="en-US" sz="1150" dirty="0"/>
          </a:p>
        </p:txBody>
      </p:sp>
      <p:sp>
        <p:nvSpPr>
          <p:cNvPr id="62" name="Shape 60"/>
          <p:cNvSpPr/>
          <p:nvPr/>
        </p:nvSpPr>
        <p:spPr>
          <a:xfrm>
            <a:off x="7543800" y="5193792"/>
            <a:ext cx="4069080" cy="384048"/>
          </a:xfrm>
          <a:prstGeom prst="rect">
            <a:avLst/>
          </a:prstGeom>
          <a:solidFill>
            <a:srgbClr val="F3F7F8"/>
          </a:solidFill>
          <a:ln w="9525">
            <a:solidFill>
              <a:srgbClr val="CFDEE1"/>
            </a:solidFill>
            <a:prstDash val="solid"/>
          </a:ln>
        </p:spPr>
      </p:sp>
      <p:sp>
        <p:nvSpPr>
          <p:cNvPr id="63" name="Text 61"/>
          <p:cNvSpPr/>
          <p:nvPr/>
        </p:nvSpPr>
        <p:spPr>
          <a:xfrm>
            <a:off x="7598664" y="5193792"/>
            <a:ext cx="3959352" cy="384048"/>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“White Blood Cells” → Leukocytes</a:t>
            </a:r>
            <a:endParaRPr lang="en-US" sz="1150" dirty="0"/>
          </a:p>
        </p:txBody>
      </p:sp>
      <p:sp>
        <p:nvSpPr>
          <p:cNvPr id="64" name="Text 62"/>
          <p:cNvSpPr/>
          <p:nvPr/>
        </p:nvSpPr>
        <p:spPr>
          <a:xfrm>
            <a:off x="640080" y="5943600"/>
            <a:ext cx="10972800" cy="457200"/>
          </a:xfrm>
          <a:prstGeom prst="rect">
            <a:avLst/>
          </a:prstGeom>
          <a:noFill/>
          <a:ln/>
        </p:spPr>
        <p:txBody>
          <a:bodyPr wrap="square" lIns="0" tIns="0" rIns="0" bIns="0" rtlCol="0" anchor="ctr"/>
          <a:lstStyle/>
          <a:p>
            <a:pPr indent="0" marL="0">
              <a:buNone/>
            </a:pPr>
            <a:r>
              <a:rPr lang="en-US" sz="1350" i="1" dirty="0">
                <a:solidFill>
                  <a:srgbClr val="0E7C86"/>
                </a:solidFill>
                <a:latin typeface="Calibri" pitchFamily="34" charset="0"/>
                <a:ea typeface="Calibri" pitchFamily="34" charset="-122"/>
                <a:cs typeface="Calibri" pitchFamily="34" charset="-120"/>
              </a:rPr>
              <a:t>Note the row counts: VS goes from 24 raw rows to 128 SDTM rows, while LB stays at 48. That difference IS the transpose.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BEFORE YOU START</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five that cost the most time</a:t>
            </a:r>
            <a:endParaRPr lang="en-US" sz="3000" dirty="0"/>
          </a:p>
        </p:txBody>
      </p:sp>
      <p:sp>
        <p:nvSpPr>
          <p:cNvPr id="4" name="Shape 2"/>
          <p:cNvSpPr/>
          <p:nvPr/>
        </p:nvSpPr>
        <p:spPr>
          <a:xfrm>
            <a:off x="640080" y="1783080"/>
            <a:ext cx="10972800" cy="859536"/>
          </a:xfrm>
          <a:prstGeom prst="roundRect">
            <a:avLst>
              <a:gd name="adj" fmla="val 8511"/>
            </a:avLst>
          </a:prstGeom>
          <a:solidFill>
            <a:srgbClr val="1A4152"/>
          </a:solidFill>
          <a:ln w="12700">
            <a:solidFill>
              <a:srgbClr val="24576B"/>
            </a:solidFill>
            <a:prstDash val="solid"/>
          </a:ln>
        </p:spPr>
      </p:sp>
      <p:sp>
        <p:nvSpPr>
          <p:cNvPr id="5" name="Shape 3"/>
          <p:cNvSpPr/>
          <p:nvPr/>
        </p:nvSpPr>
        <p:spPr>
          <a:xfrm>
            <a:off x="868680" y="1965960"/>
            <a:ext cx="493776" cy="493776"/>
          </a:xfrm>
          <a:prstGeom prst="ellipse">
            <a:avLst/>
          </a:prstGeom>
          <a:solidFill>
            <a:srgbClr val="C0455B"/>
          </a:solidFill>
          <a:ln/>
        </p:spPr>
      </p:sp>
      <p:sp>
        <p:nvSpPr>
          <p:cNvPr id="6" name="Text 4"/>
          <p:cNvSpPr/>
          <p:nvPr/>
        </p:nvSpPr>
        <p:spPr>
          <a:xfrm>
            <a:off x="868680" y="1965960"/>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36192" y="1892808"/>
            <a:ext cx="35661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OUTPUT after the loop</a:t>
            </a:r>
            <a:endParaRPr lang="en-US" sz="1350" dirty="0"/>
          </a:p>
        </p:txBody>
      </p:sp>
      <p:sp>
        <p:nvSpPr>
          <p:cNvPr id="8" name="Text 6"/>
          <p:cNvSpPr/>
          <p:nvPr/>
        </p:nvSpPr>
        <p:spPr>
          <a:xfrm>
            <a:off x="1536192" y="2240280"/>
            <a:ext cx="667512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You get 1 row per visit instead of 6. The dataset looks fine until you count it.</a:t>
            </a:r>
            <a:endParaRPr lang="en-US" sz="1150" dirty="0"/>
          </a:p>
        </p:txBody>
      </p:sp>
      <p:sp>
        <p:nvSpPr>
          <p:cNvPr id="9" name="Text 7"/>
          <p:cNvSpPr/>
          <p:nvPr/>
        </p:nvSpPr>
        <p:spPr>
          <a:xfrm>
            <a:off x="8412480" y="2039112"/>
            <a:ext cx="301752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count your rows first, always</a:t>
            </a:r>
            <a:endParaRPr lang="en-US" sz="1150" dirty="0"/>
          </a:p>
        </p:txBody>
      </p:sp>
      <p:sp>
        <p:nvSpPr>
          <p:cNvPr id="10" name="Shape 8"/>
          <p:cNvSpPr/>
          <p:nvPr/>
        </p:nvSpPr>
        <p:spPr>
          <a:xfrm>
            <a:off x="640080" y="2715768"/>
            <a:ext cx="10972800" cy="859536"/>
          </a:xfrm>
          <a:prstGeom prst="roundRect">
            <a:avLst>
              <a:gd name="adj" fmla="val 8511"/>
            </a:avLst>
          </a:prstGeom>
          <a:solidFill>
            <a:srgbClr val="163B4B"/>
          </a:solidFill>
          <a:ln w="12700">
            <a:solidFill>
              <a:srgbClr val="24576B"/>
            </a:solidFill>
            <a:prstDash val="solid"/>
          </a:ln>
        </p:spPr>
      </p:sp>
      <p:sp>
        <p:nvSpPr>
          <p:cNvPr id="11" name="Shape 9"/>
          <p:cNvSpPr/>
          <p:nvPr/>
        </p:nvSpPr>
        <p:spPr>
          <a:xfrm>
            <a:off x="868680" y="2898648"/>
            <a:ext cx="493776" cy="493776"/>
          </a:xfrm>
          <a:prstGeom prst="ellipse">
            <a:avLst/>
          </a:prstGeom>
          <a:solidFill>
            <a:srgbClr val="E8833A"/>
          </a:solidFill>
          <a:ln/>
        </p:spPr>
      </p:sp>
      <p:sp>
        <p:nvSpPr>
          <p:cNvPr id="12" name="Text 10"/>
          <p:cNvSpPr/>
          <p:nvPr/>
        </p:nvSpPr>
        <p:spPr>
          <a:xfrm>
            <a:off x="868680" y="2898648"/>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36192" y="2825496"/>
            <a:ext cx="35661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Arrays out of order</a:t>
            </a:r>
            <a:endParaRPr lang="en-US" sz="1350" dirty="0"/>
          </a:p>
        </p:txBody>
      </p:sp>
      <p:sp>
        <p:nvSpPr>
          <p:cNvPr id="14" name="Text 12"/>
          <p:cNvSpPr/>
          <p:nvPr/>
        </p:nvSpPr>
        <p:spPr>
          <a:xfrm>
            <a:off x="1536192" y="3172968"/>
            <a:ext cx="667512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The value array and the test-code array must line up exactly, or every pulse is labelled a temperature.</a:t>
            </a:r>
            <a:endParaRPr lang="en-US" sz="1150" dirty="0"/>
          </a:p>
        </p:txBody>
      </p:sp>
      <p:sp>
        <p:nvSpPr>
          <p:cNvPr id="15" name="Text 13"/>
          <p:cNvSpPr/>
          <p:nvPr/>
        </p:nvSpPr>
        <p:spPr>
          <a:xfrm>
            <a:off x="8412480" y="2971800"/>
            <a:ext cx="301752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read the two ARRAY statements side by side</a:t>
            </a:r>
            <a:endParaRPr lang="en-US" sz="1150" dirty="0"/>
          </a:p>
        </p:txBody>
      </p:sp>
      <p:sp>
        <p:nvSpPr>
          <p:cNvPr id="16" name="Shape 14"/>
          <p:cNvSpPr/>
          <p:nvPr/>
        </p:nvSpPr>
        <p:spPr>
          <a:xfrm>
            <a:off x="640080" y="3648456"/>
            <a:ext cx="10972800" cy="859536"/>
          </a:xfrm>
          <a:prstGeom prst="roundRect">
            <a:avLst>
              <a:gd name="adj" fmla="val 8511"/>
            </a:avLst>
          </a:prstGeom>
          <a:solidFill>
            <a:srgbClr val="1A4152"/>
          </a:solidFill>
          <a:ln w="12700">
            <a:solidFill>
              <a:srgbClr val="24576B"/>
            </a:solidFill>
            <a:prstDash val="solid"/>
          </a:ln>
        </p:spPr>
      </p:sp>
      <p:sp>
        <p:nvSpPr>
          <p:cNvPr id="17" name="Shape 15"/>
          <p:cNvSpPr/>
          <p:nvPr/>
        </p:nvSpPr>
        <p:spPr>
          <a:xfrm>
            <a:off x="868680" y="3831336"/>
            <a:ext cx="493776" cy="493776"/>
          </a:xfrm>
          <a:prstGeom prst="ellipse">
            <a:avLst/>
          </a:prstGeom>
          <a:solidFill>
            <a:srgbClr val="1FA8A0"/>
          </a:solidFill>
          <a:ln/>
        </p:spPr>
      </p:sp>
      <p:sp>
        <p:nvSpPr>
          <p:cNvPr id="18" name="Text 16"/>
          <p:cNvSpPr/>
          <p:nvPr/>
        </p:nvSpPr>
        <p:spPr>
          <a:xfrm>
            <a:off x="868680" y="383133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536192" y="3758184"/>
            <a:ext cx="35661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Rows for values that weren't measured</a:t>
            </a:r>
            <a:endParaRPr lang="en-US" sz="1350" dirty="0"/>
          </a:p>
        </p:txBody>
      </p:sp>
      <p:sp>
        <p:nvSpPr>
          <p:cNvPr id="20" name="Text 18"/>
          <p:cNvSpPr/>
          <p:nvPr/>
        </p:nvSpPr>
        <p:spPr>
          <a:xfrm>
            <a:off x="1536192" y="4105656"/>
            <a:ext cx="667512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Height is collected once. Emitting a blank HEIGHT row at every visit inflates the domain with nothing.</a:t>
            </a:r>
            <a:endParaRPr lang="en-US" sz="1150" dirty="0"/>
          </a:p>
        </p:txBody>
      </p:sp>
      <p:sp>
        <p:nvSpPr>
          <p:cNvPr id="21" name="Text 19"/>
          <p:cNvSpPr/>
          <p:nvPr/>
        </p:nvSpPr>
        <p:spPr>
          <a:xfrm>
            <a:off x="8412480" y="3904488"/>
            <a:ext cx="301752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test NOT MISSING before OUTPUT</a:t>
            </a:r>
            <a:endParaRPr lang="en-US" sz="1150" dirty="0"/>
          </a:p>
        </p:txBody>
      </p:sp>
      <p:sp>
        <p:nvSpPr>
          <p:cNvPr id="22" name="Shape 20"/>
          <p:cNvSpPr/>
          <p:nvPr/>
        </p:nvSpPr>
        <p:spPr>
          <a:xfrm>
            <a:off x="640080" y="4581144"/>
            <a:ext cx="10972800" cy="859536"/>
          </a:xfrm>
          <a:prstGeom prst="roundRect">
            <a:avLst>
              <a:gd name="adj" fmla="val 8511"/>
            </a:avLst>
          </a:prstGeom>
          <a:solidFill>
            <a:srgbClr val="163B4B"/>
          </a:solidFill>
          <a:ln w="12700">
            <a:solidFill>
              <a:srgbClr val="24576B"/>
            </a:solidFill>
            <a:prstDash val="solid"/>
          </a:ln>
        </p:spPr>
      </p:sp>
      <p:sp>
        <p:nvSpPr>
          <p:cNvPr id="23" name="Shape 21"/>
          <p:cNvSpPr/>
          <p:nvPr/>
        </p:nvSpPr>
        <p:spPr>
          <a:xfrm>
            <a:off x="868680" y="4764024"/>
            <a:ext cx="493776" cy="493776"/>
          </a:xfrm>
          <a:prstGeom prst="ellipse">
            <a:avLst/>
          </a:prstGeom>
          <a:solidFill>
            <a:srgbClr val="0E7C86"/>
          </a:solidFill>
          <a:ln/>
        </p:spPr>
      </p:sp>
      <p:sp>
        <p:nvSpPr>
          <p:cNvPr id="24" name="Text 22"/>
          <p:cNvSpPr/>
          <p:nvPr/>
        </p:nvSpPr>
        <p:spPr>
          <a:xfrm>
            <a:off x="868680" y="476402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536192" y="4690872"/>
            <a:ext cx="35661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Flagging baseline on SCREENING</a:t>
            </a:r>
            <a:endParaRPr lang="en-US" sz="1350" dirty="0"/>
          </a:p>
        </p:txBody>
      </p:sp>
      <p:sp>
        <p:nvSpPr>
          <p:cNvPr id="26" name="Text 24"/>
          <p:cNvSpPr/>
          <p:nvPr/>
        </p:nvSpPr>
        <p:spPr>
          <a:xfrm>
            <a:off x="1536192" y="5038344"/>
            <a:ext cx="667512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--BLFL is the LAST record before first dose, not the first record in the study.</a:t>
            </a:r>
            <a:endParaRPr lang="en-US" sz="1150" dirty="0"/>
          </a:p>
        </p:txBody>
      </p:sp>
      <p:sp>
        <p:nvSpPr>
          <p:cNvPr id="27" name="Text 25"/>
          <p:cNvSpPr/>
          <p:nvPr/>
        </p:nvSpPr>
        <p:spPr>
          <a:xfrm>
            <a:off x="8412480" y="4837176"/>
            <a:ext cx="301752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check it lands on exactly one record per subject per test</a:t>
            </a:r>
            <a:endParaRPr lang="en-US" sz="1150" dirty="0"/>
          </a:p>
        </p:txBody>
      </p:sp>
      <p:sp>
        <p:nvSpPr>
          <p:cNvPr id="28" name="Shape 26"/>
          <p:cNvSpPr/>
          <p:nvPr/>
        </p:nvSpPr>
        <p:spPr>
          <a:xfrm>
            <a:off x="640080" y="5513832"/>
            <a:ext cx="10972800" cy="859536"/>
          </a:xfrm>
          <a:prstGeom prst="roundRect">
            <a:avLst>
              <a:gd name="adj" fmla="val 8511"/>
            </a:avLst>
          </a:prstGeom>
          <a:solidFill>
            <a:srgbClr val="1A4152"/>
          </a:solidFill>
          <a:ln w="12700">
            <a:solidFill>
              <a:srgbClr val="24576B"/>
            </a:solidFill>
            <a:prstDash val="solid"/>
          </a:ln>
        </p:spPr>
      </p:sp>
      <p:sp>
        <p:nvSpPr>
          <p:cNvPr id="29" name="Shape 27"/>
          <p:cNvSpPr/>
          <p:nvPr/>
        </p:nvSpPr>
        <p:spPr>
          <a:xfrm>
            <a:off x="868680" y="5696712"/>
            <a:ext cx="493776" cy="493776"/>
          </a:xfrm>
          <a:prstGeom prst="ellipse">
            <a:avLst/>
          </a:prstGeom>
          <a:solidFill>
            <a:srgbClr val="6FC8B4"/>
          </a:solidFill>
          <a:ln/>
        </p:spPr>
      </p:sp>
      <p:sp>
        <p:nvSpPr>
          <p:cNvPr id="30" name="Text 28"/>
          <p:cNvSpPr/>
          <p:nvPr/>
        </p:nvSpPr>
        <p:spPr>
          <a:xfrm>
            <a:off x="868680" y="5696712"/>
            <a:ext cx="493776" cy="493776"/>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1536192" y="5623560"/>
            <a:ext cx="35661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Translating test names by eye</a:t>
            </a:r>
            <a:endParaRPr lang="en-US" sz="1350" dirty="0"/>
          </a:p>
        </p:txBody>
      </p:sp>
      <p:sp>
        <p:nvSpPr>
          <p:cNvPr id="32" name="Text 30"/>
          <p:cNvSpPr/>
          <p:nvPr/>
        </p:nvSpPr>
        <p:spPr>
          <a:xfrm>
            <a:off x="1536192" y="5971032"/>
            <a:ext cx="667512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Five of six lab tests map straight through. The sixth does not.</a:t>
            </a:r>
            <a:endParaRPr lang="en-US" sz="1150" dirty="0"/>
          </a:p>
        </p:txBody>
      </p:sp>
      <p:sp>
        <p:nvSpPr>
          <p:cNvPr id="33" name="Text 31"/>
          <p:cNvSpPr/>
          <p:nvPr/>
        </p:nvSpPr>
        <p:spPr>
          <a:xfrm>
            <a:off x="8412480" y="5769864"/>
            <a:ext cx="301752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look up every value in the codelist</a:t>
            </a:r>
            <a:endParaRPr lang="en-US" sz="1150" dirty="0"/>
          </a:p>
        </p:txBody>
      </p:sp>
      <p:sp>
        <p:nvSpPr>
          <p:cNvPr id="34" name="Text 32"/>
          <p:cNvSpPr/>
          <p:nvPr/>
        </p:nvSpPr>
        <p:spPr>
          <a:xfrm>
            <a:off x="640080" y="6263640"/>
            <a:ext cx="10972800" cy="365760"/>
          </a:xfrm>
          <a:prstGeom prst="rect">
            <a:avLst/>
          </a:prstGeom>
          <a:noFill/>
          <a:ln/>
        </p:spPr>
        <p:txBody>
          <a:bodyPr wrap="square" lIns="0" tIns="0" rIns="0" bIns="0" rtlCol="0" anchor="ctr"/>
          <a:lstStyle/>
          <a:p>
            <a:pPr indent="0" marL="0">
              <a:buNone/>
            </a:pPr>
            <a:r>
              <a:rPr lang="en-US" sz="1300" b="1" dirty="0">
                <a:solidFill>
                  <a:srgbClr val="6FC8B4"/>
                </a:solidFill>
                <a:latin typeface="Calibri" pitchFamily="34" charset="0"/>
                <a:ea typeface="Calibri" pitchFamily="34" charset="-122"/>
                <a:cs typeface="Calibri" pitchFamily="34" charset="-120"/>
              </a:rPr>
              <a:t>Next:  Notebook 08 · Build the VS Domain   →   Notebook 09 · Build the LB Domain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Findings Domains</dc:title>
  <dc:subject>PptxGenJS Presentation</dc:subject>
  <dc:creator>Clinical Programming Bootcamp</dc:creator>
  <cp:lastModifiedBy>Clinical Programming Bootcamp</cp:lastModifiedBy>
  <cp:revision>1</cp:revision>
  <dcterms:created xsi:type="dcterms:W3CDTF">2026-07-26T04:23:21Z</dcterms:created>
  <dcterms:modified xsi:type="dcterms:W3CDTF">2026-07-26T04:23:21Z</dcterms:modified>
</cp:coreProperties>
</file>