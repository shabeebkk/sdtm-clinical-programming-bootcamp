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Lst>
  <p:notesMasterIdLst>
    <p:notesMasterId r:id="rId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notesMaster" Target="notesMasters/notesMaster1.xml"/><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heme" Target="theme/theme1.xml"/><Relationship Id="rId1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12 is where several loose threads from the whole course finally get their explanation — the 8-character variable names, the character dates, the codelist references. All of them exist because of the two things this module covers: XPT v5 and define.xml.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expectations: ADaM is a whole separate course, mentioned so they know SDTM is not the end. The aCRF they have actually seen — it is in the data folder. The point is that a submission is a documented PACKAGE, and undocumented datasets are nearly useless to a reviewer.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that retro-justifies half the course. The 8-char names, the character dates, the short labels — trainees have followed these rules for two weeks without knowing why. The answer is a 1980s file format the FDA still mandates for its permanence. Have them run the XPT export against their SDTM library as an optional extension of Notebook 12.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define.xml is generated by tools (including Pinnacle 21), not hand-written — but the programmer supplies the metadata it is built from, which is exactly the mapping spec they have been maintaining all course. The Origin concept ties back to QORIG in SUPPAE, which they have already populated with DERIVED.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thesis of the entire bootcamp, delivered on the second-to-last content slide. Every artefact they have built or seen — the datasets, the aCRF in the data folder, the mapping spec, the CRF PDF — is one link in this chain. SDTM is not paperwork; it is traceability, and traceability is what a regulator is actually buying.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Day 9 by pulling the four ideas together: a submission is a documented, traceable package in a permanent format. The capstone then asks them to produce a slice of one themselves. This is the last concept slide of the course proper.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2E3D"/>
        </a:solidFill>
      </p:bgPr>
    </p:bg>
    <p:spTree>
      <p:nvGrpSpPr>
        <p:cNvPr id="1" name=""/>
        <p:cNvGrpSpPr/>
        <p:nvPr/>
      </p:nvGrpSpPr>
      <p:grpSpPr>
        <a:xfrm>
          <a:off x="0" y="0"/>
          <a:ext cx="0" cy="0"/>
          <a:chOff x="0" y="0"/>
          <a:chExt cx="0" cy="0"/>
        </a:xfrm>
      </p:grpSpPr>
      <p:sp>
        <p:nvSpPr>
          <p:cNvPr id="2" name="Shape 0"/>
          <p:cNvSpPr/>
          <p:nvPr/>
        </p:nvSpPr>
        <p:spPr>
          <a:xfrm>
            <a:off x="8869680" y="-1463040"/>
            <a:ext cx="4754880" cy="4754880"/>
          </a:xfrm>
          <a:prstGeom prst="ellipse">
            <a:avLst/>
          </a:prstGeom>
          <a:solidFill>
            <a:srgbClr val="133B4C"/>
          </a:solidFill>
          <a:ln/>
        </p:spPr>
      </p:sp>
      <p:sp>
        <p:nvSpPr>
          <p:cNvPr id="3" name="Shape 1"/>
          <p:cNvSpPr/>
          <p:nvPr/>
        </p:nvSpPr>
        <p:spPr>
          <a:xfrm>
            <a:off x="9784080" y="-548640"/>
            <a:ext cx="2926080" cy="2926080"/>
          </a:xfrm>
          <a:prstGeom prst="ellipse">
            <a:avLst/>
          </a:prstGeom>
          <a:solidFill>
            <a:srgbClr val="E8833A"/>
          </a:solidFill>
          <a:ln/>
        </p:spPr>
      </p:sp>
      <p:sp>
        <p:nvSpPr>
          <p:cNvPr id="4" name="Shape 2"/>
          <p:cNvSpPr/>
          <p:nvPr/>
        </p:nvSpPr>
        <p:spPr>
          <a:xfrm>
            <a:off x="10469880" y="137160"/>
            <a:ext cx="1554480" cy="1554480"/>
          </a:xfrm>
          <a:prstGeom prst="ellipse">
            <a:avLst/>
          </a:prstGeom>
          <a:solidFill>
            <a:srgbClr val="6FC8B4"/>
          </a:solidFill>
          <a:ln/>
        </p:spPr>
      </p:sp>
      <p:sp>
        <p:nvSpPr>
          <p:cNvPr id="5" name="Text 3"/>
          <p:cNvSpPr/>
          <p:nvPr/>
        </p:nvSpPr>
        <p:spPr>
          <a:xfrm>
            <a:off x="640080" y="1828800"/>
            <a:ext cx="8229600" cy="365760"/>
          </a:xfrm>
          <a:prstGeom prst="rect">
            <a:avLst/>
          </a:prstGeom>
          <a:noFill/>
          <a:ln/>
        </p:spPr>
        <p:txBody>
          <a:bodyPr wrap="square" lIns="0" tIns="0" rIns="0" bIns="0" rtlCol="0" anchor="ctr"/>
          <a:lstStyle/>
          <a:p>
            <a:pPr indent="0" marL="0">
              <a:buNone/>
            </a:pPr>
            <a:r>
              <a:rPr lang="en-US" sz="1400" b="1" spc="200" kern="0" dirty="0">
                <a:solidFill>
                  <a:srgbClr val="6FC8B4"/>
                </a:solidFill>
                <a:latin typeface="Calibri" pitchFamily="34" charset="0"/>
                <a:ea typeface="Calibri" pitchFamily="34" charset="-122"/>
                <a:cs typeface="Calibri" pitchFamily="34" charset="-120"/>
              </a:rPr>
              <a:t>CLINICAL PROGRAMMING BOOTCAMP  ·  MODULE 12</a:t>
            </a:r>
            <a:endParaRPr lang="en-US" sz="1400" dirty="0"/>
          </a:p>
        </p:txBody>
      </p:sp>
      <p:sp>
        <p:nvSpPr>
          <p:cNvPr id="6" name="Text 4"/>
          <p:cNvSpPr/>
          <p:nvPr/>
        </p:nvSpPr>
        <p:spPr>
          <a:xfrm>
            <a:off x="603504" y="2286000"/>
            <a:ext cx="8778240" cy="1554480"/>
          </a:xfrm>
          <a:prstGeom prst="rect">
            <a:avLst/>
          </a:prstGeom>
          <a:noFill/>
          <a:ln/>
        </p:spPr>
        <p:txBody>
          <a:bodyPr wrap="square" lIns="0" tIns="0" rIns="0" bIns="0" rtlCol="0" anchor="ctr"/>
          <a:lstStyle/>
          <a:p>
            <a:pPr indent="0" marL="0">
              <a:lnSpc>
                <a:spcPts val="4800"/>
              </a:lnSpc>
              <a:buNone/>
            </a:pPr>
            <a:r>
              <a:rPr lang="en-US" sz="4400" b="1" dirty="0">
                <a:solidFill>
                  <a:srgbClr val="FFFFFF"/>
                </a:solidFill>
                <a:latin typeface="Cambria" pitchFamily="34" charset="0"/>
                <a:ea typeface="Cambria" pitchFamily="34" charset="-122"/>
                <a:cs typeface="Cambria" pitchFamily="34" charset="-120"/>
              </a:rPr>
              <a:t>Define-XML</a:t>
            </a:r>
            <a:endParaRPr lang="en-US" sz="4400" dirty="0"/>
          </a:p>
          <a:p>
            <a:pPr indent="0" marL="0">
              <a:lnSpc>
                <a:spcPts val="4800"/>
              </a:lnSpc>
              <a:buNone/>
            </a:pPr>
            <a:r>
              <a:rPr lang="en-US" sz="4400" b="1" dirty="0">
                <a:solidFill>
                  <a:srgbClr val="FFFFFF"/>
                </a:solidFill>
                <a:latin typeface="Cambria" pitchFamily="34" charset="0"/>
                <a:ea typeface="Cambria" pitchFamily="34" charset="-122"/>
                <a:cs typeface="Cambria" pitchFamily="34" charset="-120"/>
              </a:rPr>
              <a:t>&amp; Submission</a:t>
            </a:r>
            <a:endParaRPr lang="en-US" sz="4400" dirty="0"/>
          </a:p>
        </p:txBody>
      </p:sp>
      <p:sp>
        <p:nvSpPr>
          <p:cNvPr id="7" name="Text 5"/>
          <p:cNvSpPr/>
          <p:nvPr/>
        </p:nvSpPr>
        <p:spPr>
          <a:xfrm>
            <a:off x="640080" y="3886200"/>
            <a:ext cx="8778240" cy="548640"/>
          </a:xfrm>
          <a:prstGeom prst="rect">
            <a:avLst/>
          </a:prstGeom>
          <a:noFill/>
          <a:ln/>
        </p:spPr>
        <p:txBody>
          <a:bodyPr wrap="square" lIns="0" tIns="0" rIns="0" bIns="0" rtlCol="0" anchor="ctr"/>
          <a:lstStyle/>
          <a:p>
            <a:pPr indent="0" marL="0">
              <a:buNone/>
            </a:pPr>
            <a:r>
              <a:rPr lang="en-US" sz="2200" dirty="0">
                <a:solidFill>
                  <a:srgbClr val="6FC8B4"/>
                </a:solidFill>
                <a:latin typeface="Cambria" pitchFamily="34" charset="0"/>
                <a:ea typeface="Cambria" pitchFamily="34" charset="-122"/>
                <a:cs typeface="Cambria" pitchFamily="34" charset="-120"/>
              </a:rPr>
              <a:t>What actually goes to the FDA — and in what format</a:t>
            </a:r>
            <a:endParaRPr lang="en-US" sz="2200" dirty="0"/>
          </a:p>
        </p:txBody>
      </p:sp>
      <p:sp>
        <p:nvSpPr>
          <p:cNvPr id="8" name="Text 6"/>
          <p:cNvSpPr/>
          <p:nvPr/>
        </p:nvSpPr>
        <p:spPr>
          <a:xfrm>
            <a:off x="640080" y="4572000"/>
            <a:ext cx="8412480" cy="822960"/>
          </a:xfrm>
          <a:prstGeom prst="rect">
            <a:avLst/>
          </a:prstGeom>
          <a:noFill/>
          <a:ln/>
        </p:spPr>
        <p:txBody>
          <a:bodyPr wrap="square" lIns="0" tIns="0" rIns="0" bIns="0" rtlCol="0" anchor="ctr"/>
          <a:lstStyle/>
          <a:p>
            <a:pPr indent="0" marL="0">
              <a:buNone/>
            </a:pPr>
            <a:r>
              <a:rPr lang="en-US" sz="1600" dirty="0">
                <a:solidFill>
                  <a:srgbClr val="C7DCE0"/>
                </a:solidFill>
                <a:latin typeface="Calibri" pitchFamily="34" charset="0"/>
                <a:ea typeface="Calibri" pitchFamily="34" charset="-122"/>
                <a:cs typeface="Calibri" pitchFamily="34" charset="-120"/>
              </a:rPr>
              <a:t>Your datasets are only part of the package. This module covers the metadata that describes them, and the file format the regulator actually accepts.</a:t>
            </a:r>
            <a:endParaRPr lang="en-US" sz="1600" dirty="0"/>
          </a:p>
        </p:txBody>
      </p:sp>
      <p:sp>
        <p:nvSpPr>
          <p:cNvPr id="9" name="Text 7"/>
          <p:cNvSpPr/>
          <p:nvPr/>
        </p:nvSpPr>
        <p:spPr>
          <a:xfrm>
            <a:off x="640080" y="5943600"/>
            <a:ext cx="10972800" cy="365760"/>
          </a:xfrm>
          <a:prstGeom prst="rect">
            <a:avLst/>
          </a:prstGeom>
          <a:noFill/>
          <a:ln/>
        </p:spPr>
        <p:txBody>
          <a:bodyPr wrap="square" lIns="0" tIns="0" rIns="0" bIns="0" rtlCol="0" anchor="ctr"/>
          <a:lstStyle/>
          <a:p>
            <a:pPr indent="0" marL="0">
              <a:buNone/>
            </a:pPr>
            <a:r>
              <a:rPr lang="en-US" sz="1200" i="1" dirty="0">
                <a:solidFill>
                  <a:srgbClr val="5A7682"/>
                </a:solidFill>
                <a:latin typeface="Calibri" pitchFamily="34" charset="0"/>
                <a:ea typeface="Calibri" pitchFamily="34" charset="-122"/>
                <a:cs typeface="Calibri" pitchFamily="34" charset="-120"/>
              </a:rPr>
              <a:t>Concept module — closes the submission story.</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0972800" cy="274320"/>
          </a:xfrm>
          <a:prstGeom prst="rect">
            <a:avLst/>
          </a:prstGeom>
          <a:noFill/>
          <a:ln/>
        </p:spPr>
        <p:txBody>
          <a:bodyPr wrap="square" lIns="0" tIns="0" rIns="0" bIns="0" rtlCol="0" anchor="ctr"/>
          <a:lstStyle/>
          <a:p>
            <a:pPr indent="0" marL="0">
              <a:buNone/>
            </a:pPr>
            <a:r>
              <a:rPr lang="en-US" sz="1200" b="1" spc="200" kern="0" dirty="0">
                <a:solidFill>
                  <a:srgbClr val="0E7C86"/>
                </a:solidFill>
                <a:latin typeface="Calibri" pitchFamily="34" charset="0"/>
                <a:ea typeface="Calibri" pitchFamily="34" charset="-122"/>
                <a:cs typeface="Calibri" pitchFamily="34" charset="-120"/>
              </a:rPr>
              <a:t>WHAT A SUBMISSION CONTAINS</a:t>
            </a:r>
            <a:endParaRPr lang="en-US" sz="1200" dirty="0"/>
          </a:p>
        </p:txBody>
      </p:sp>
      <p:sp>
        <p:nvSpPr>
          <p:cNvPr id="3" name="Text 1"/>
          <p:cNvSpPr/>
          <p:nvPr/>
        </p:nvSpPr>
        <p:spPr>
          <a:xfrm>
            <a:off x="548640" y="658368"/>
            <a:ext cx="11064240" cy="731520"/>
          </a:xfrm>
          <a:prstGeom prst="rect">
            <a:avLst/>
          </a:prstGeom>
          <a:noFill/>
          <a:ln/>
        </p:spPr>
        <p:txBody>
          <a:bodyPr wrap="square" lIns="0" tIns="0" rIns="0" bIns="0" rtlCol="0" anchor="ctr"/>
          <a:lstStyle/>
          <a:p>
            <a:pPr indent="0" marL="0">
              <a:buNone/>
            </a:pPr>
            <a:r>
              <a:rPr lang="en-US" sz="3000" b="1" dirty="0">
                <a:solidFill>
                  <a:srgbClr val="0F2E3D"/>
                </a:solidFill>
                <a:latin typeface="Cambria" pitchFamily="34" charset="0"/>
                <a:ea typeface="Cambria" pitchFamily="34" charset="-122"/>
                <a:cs typeface="Cambria" pitchFamily="34" charset="-120"/>
              </a:rPr>
              <a:t>Datasets are one of five things</a:t>
            </a:r>
            <a:endParaRPr lang="en-US" sz="3000" dirty="0"/>
          </a:p>
        </p:txBody>
      </p:sp>
      <p:sp>
        <p:nvSpPr>
          <p:cNvPr id="4" name="Shape 2"/>
          <p:cNvSpPr/>
          <p:nvPr/>
        </p:nvSpPr>
        <p:spPr>
          <a:xfrm>
            <a:off x="640080" y="1691640"/>
            <a:ext cx="10972800" cy="868680"/>
          </a:xfrm>
          <a:prstGeom prst="roundRect">
            <a:avLst>
              <a:gd name="adj" fmla="val 9474"/>
            </a:avLst>
          </a:prstGeom>
          <a:solidFill>
            <a:srgbClr val="F3F7F8"/>
          </a:solidFill>
          <a:ln w="12700">
            <a:solidFill>
              <a:srgbClr val="CFDEE1"/>
            </a:solidFill>
            <a:prstDash val="solid"/>
          </a:ln>
          <a:effectLst>
            <a:outerShdw sx="100000" sy="100000" kx="0" ky="0" algn="bl" rotWithShape="0" blurRad="101600" dist="38100" dir="5400000">
              <a:srgbClr val="8AA0A8">
                <a:alpha val="35000"/>
              </a:srgbClr>
            </a:outerShdw>
          </a:effectLst>
        </p:spPr>
      </p:sp>
      <p:sp>
        <p:nvSpPr>
          <p:cNvPr id="5" name="Shape 3"/>
          <p:cNvSpPr/>
          <p:nvPr/>
        </p:nvSpPr>
        <p:spPr>
          <a:xfrm>
            <a:off x="640080" y="1691640"/>
            <a:ext cx="82296" cy="868680"/>
          </a:xfrm>
          <a:prstGeom prst="rect">
            <a:avLst/>
          </a:prstGeom>
          <a:solidFill>
            <a:srgbClr val="0E7C86"/>
          </a:solidFill>
          <a:ln/>
        </p:spPr>
      </p:sp>
      <p:sp>
        <p:nvSpPr>
          <p:cNvPr id="6" name="Text 4"/>
          <p:cNvSpPr/>
          <p:nvPr/>
        </p:nvSpPr>
        <p:spPr>
          <a:xfrm>
            <a:off x="914400" y="1837944"/>
            <a:ext cx="3017520" cy="365760"/>
          </a:xfrm>
          <a:prstGeom prst="rect">
            <a:avLst/>
          </a:prstGeom>
          <a:noFill/>
          <a:ln/>
        </p:spPr>
        <p:txBody>
          <a:bodyPr wrap="square" lIns="0" tIns="0" rIns="0" bIns="0" rtlCol="0" anchor="ctr"/>
          <a:lstStyle/>
          <a:p>
            <a:pPr indent="0" marL="0">
              <a:buNone/>
            </a:pPr>
            <a:r>
              <a:rPr lang="en-US" sz="1500" b="1" dirty="0">
                <a:solidFill>
                  <a:srgbClr val="0E7C86"/>
                </a:solidFill>
                <a:latin typeface="Cambria" pitchFamily="34" charset="0"/>
                <a:ea typeface="Cambria" pitchFamily="34" charset="-122"/>
                <a:cs typeface="Cambria" pitchFamily="34" charset="-120"/>
              </a:rPr>
              <a:t>SDTM datasets</a:t>
            </a:r>
            <a:endParaRPr lang="en-US" sz="1500" dirty="0"/>
          </a:p>
        </p:txBody>
      </p:sp>
      <p:sp>
        <p:nvSpPr>
          <p:cNvPr id="7" name="Text 5"/>
          <p:cNvSpPr/>
          <p:nvPr/>
        </p:nvSpPr>
        <p:spPr>
          <a:xfrm>
            <a:off x="914400" y="2203704"/>
            <a:ext cx="7315200" cy="292608"/>
          </a:xfrm>
          <a:prstGeom prst="rect">
            <a:avLst/>
          </a:prstGeom>
          <a:noFill/>
          <a:ln/>
        </p:spPr>
        <p:txBody>
          <a:bodyPr wrap="square" lIns="0" tIns="0" rIns="0" bIns="0" rtlCol="0" anchor="ctr"/>
          <a:lstStyle/>
          <a:p>
            <a:pPr indent="0" marL="0">
              <a:buNone/>
            </a:pPr>
            <a:r>
              <a:rPr lang="en-US" sz="1150" dirty="0">
                <a:solidFill>
                  <a:srgbClr val="5A7682"/>
                </a:solidFill>
                <a:latin typeface="Calibri" pitchFamily="34" charset="0"/>
                <a:ea typeface="Calibri" pitchFamily="34" charset="-122"/>
                <a:cs typeface="Calibri" pitchFamily="34" charset="-120"/>
              </a:rPr>
              <a:t>the tabulation data you built — as XPT v5 files</a:t>
            </a:r>
            <a:endParaRPr lang="en-US" sz="1150" dirty="0"/>
          </a:p>
        </p:txBody>
      </p:sp>
      <p:sp>
        <p:nvSpPr>
          <p:cNvPr id="8" name="Text 6"/>
          <p:cNvSpPr/>
          <p:nvPr/>
        </p:nvSpPr>
        <p:spPr>
          <a:xfrm>
            <a:off x="8412480" y="1947672"/>
            <a:ext cx="3017520" cy="384048"/>
          </a:xfrm>
          <a:prstGeom prst="rect">
            <a:avLst/>
          </a:prstGeom>
          <a:noFill/>
          <a:ln/>
        </p:spPr>
        <p:txBody>
          <a:bodyPr wrap="square" lIns="0" tIns="0" rIns="0" bIns="0" rtlCol="0" anchor="ctr"/>
          <a:lstStyle/>
          <a:p>
            <a:pPr indent="0" marL="0">
              <a:buNone/>
            </a:pPr>
            <a:r>
              <a:rPr lang="en-US" sz="1150" dirty="0">
                <a:solidFill>
                  <a:srgbClr val="0F2E3D"/>
                </a:solidFill>
                <a:latin typeface="Courier New" pitchFamily="34" charset="0"/>
                <a:ea typeface="Courier New" pitchFamily="34" charset="-122"/>
                <a:cs typeface="Courier New" pitchFamily="34" charset="-120"/>
              </a:rPr>
              <a:t>dm.xpt · ae.xpt · vs.xpt · …</a:t>
            </a:r>
            <a:endParaRPr lang="en-US" sz="1150" dirty="0"/>
          </a:p>
        </p:txBody>
      </p:sp>
      <p:sp>
        <p:nvSpPr>
          <p:cNvPr id="9" name="Shape 7"/>
          <p:cNvSpPr/>
          <p:nvPr/>
        </p:nvSpPr>
        <p:spPr>
          <a:xfrm>
            <a:off x="640080" y="2633472"/>
            <a:ext cx="10972800" cy="868680"/>
          </a:xfrm>
          <a:prstGeom prst="roundRect">
            <a:avLst>
              <a:gd name="adj" fmla="val 9474"/>
            </a:avLst>
          </a:prstGeom>
          <a:solidFill>
            <a:srgbClr val="F3F7F8"/>
          </a:solidFill>
          <a:ln w="12700">
            <a:solidFill>
              <a:srgbClr val="CFDEE1"/>
            </a:solidFill>
            <a:prstDash val="solid"/>
          </a:ln>
          <a:effectLst>
            <a:outerShdw sx="100000" sy="100000" kx="0" ky="0" algn="bl" rotWithShape="0" blurRad="101600" dist="38100" dir="5400000">
              <a:srgbClr val="8AA0A8">
                <a:alpha val="35000"/>
              </a:srgbClr>
            </a:outerShdw>
          </a:effectLst>
        </p:spPr>
      </p:sp>
      <p:sp>
        <p:nvSpPr>
          <p:cNvPr id="10" name="Shape 8"/>
          <p:cNvSpPr/>
          <p:nvPr/>
        </p:nvSpPr>
        <p:spPr>
          <a:xfrm>
            <a:off x="640080" y="2633472"/>
            <a:ext cx="82296" cy="868680"/>
          </a:xfrm>
          <a:prstGeom prst="rect">
            <a:avLst/>
          </a:prstGeom>
          <a:solidFill>
            <a:srgbClr val="1FA8A0"/>
          </a:solidFill>
          <a:ln/>
        </p:spPr>
      </p:sp>
      <p:sp>
        <p:nvSpPr>
          <p:cNvPr id="11" name="Text 9"/>
          <p:cNvSpPr/>
          <p:nvPr/>
        </p:nvSpPr>
        <p:spPr>
          <a:xfrm>
            <a:off x="914400" y="2779776"/>
            <a:ext cx="3017520" cy="365760"/>
          </a:xfrm>
          <a:prstGeom prst="rect">
            <a:avLst/>
          </a:prstGeom>
          <a:noFill/>
          <a:ln/>
        </p:spPr>
        <p:txBody>
          <a:bodyPr wrap="square" lIns="0" tIns="0" rIns="0" bIns="0" rtlCol="0" anchor="ctr"/>
          <a:lstStyle/>
          <a:p>
            <a:pPr indent="0" marL="0">
              <a:buNone/>
            </a:pPr>
            <a:r>
              <a:rPr lang="en-US" sz="1500" b="1" dirty="0">
                <a:solidFill>
                  <a:srgbClr val="1FA8A0"/>
                </a:solidFill>
                <a:latin typeface="Cambria" pitchFamily="34" charset="0"/>
                <a:ea typeface="Cambria" pitchFamily="34" charset="-122"/>
                <a:cs typeface="Cambria" pitchFamily="34" charset="-120"/>
              </a:rPr>
              <a:t>ADaM datasets</a:t>
            </a:r>
            <a:endParaRPr lang="en-US" sz="1500" dirty="0"/>
          </a:p>
        </p:txBody>
      </p:sp>
      <p:sp>
        <p:nvSpPr>
          <p:cNvPr id="12" name="Text 10"/>
          <p:cNvSpPr/>
          <p:nvPr/>
        </p:nvSpPr>
        <p:spPr>
          <a:xfrm>
            <a:off x="914400" y="3145536"/>
            <a:ext cx="7315200" cy="292608"/>
          </a:xfrm>
          <a:prstGeom prst="rect">
            <a:avLst/>
          </a:prstGeom>
          <a:noFill/>
          <a:ln/>
        </p:spPr>
        <p:txBody>
          <a:bodyPr wrap="square" lIns="0" tIns="0" rIns="0" bIns="0" rtlCol="0" anchor="ctr"/>
          <a:lstStyle/>
          <a:p>
            <a:pPr indent="0" marL="0">
              <a:buNone/>
            </a:pPr>
            <a:r>
              <a:rPr lang="en-US" sz="1150" dirty="0">
                <a:solidFill>
                  <a:srgbClr val="5A7682"/>
                </a:solidFill>
                <a:latin typeface="Calibri" pitchFamily="34" charset="0"/>
                <a:ea typeface="Calibri" pitchFamily="34" charset="-122"/>
                <a:cs typeface="Calibri" pitchFamily="34" charset="-120"/>
              </a:rPr>
              <a:t>analysis-ready data, derived FROM SDTM (a later course)</a:t>
            </a:r>
            <a:endParaRPr lang="en-US" sz="1150" dirty="0"/>
          </a:p>
        </p:txBody>
      </p:sp>
      <p:sp>
        <p:nvSpPr>
          <p:cNvPr id="13" name="Text 11"/>
          <p:cNvSpPr/>
          <p:nvPr/>
        </p:nvSpPr>
        <p:spPr>
          <a:xfrm>
            <a:off x="8412480" y="2889504"/>
            <a:ext cx="3017520" cy="384048"/>
          </a:xfrm>
          <a:prstGeom prst="rect">
            <a:avLst/>
          </a:prstGeom>
          <a:noFill/>
          <a:ln/>
        </p:spPr>
        <p:txBody>
          <a:bodyPr wrap="square" lIns="0" tIns="0" rIns="0" bIns="0" rtlCol="0" anchor="ctr"/>
          <a:lstStyle/>
          <a:p>
            <a:pPr indent="0" marL="0">
              <a:buNone/>
            </a:pPr>
            <a:r>
              <a:rPr lang="en-US" sz="1150" dirty="0">
                <a:solidFill>
                  <a:srgbClr val="0F2E3D"/>
                </a:solidFill>
                <a:latin typeface="Courier New" pitchFamily="34" charset="0"/>
                <a:ea typeface="Courier New" pitchFamily="34" charset="-122"/>
                <a:cs typeface="Courier New" pitchFamily="34" charset="-120"/>
              </a:rPr>
              <a:t>adsl.xpt · adae.xpt</a:t>
            </a:r>
            <a:endParaRPr lang="en-US" sz="1150" dirty="0"/>
          </a:p>
        </p:txBody>
      </p:sp>
      <p:sp>
        <p:nvSpPr>
          <p:cNvPr id="14" name="Shape 12"/>
          <p:cNvSpPr/>
          <p:nvPr/>
        </p:nvSpPr>
        <p:spPr>
          <a:xfrm>
            <a:off x="640080" y="3575304"/>
            <a:ext cx="10972800" cy="868680"/>
          </a:xfrm>
          <a:prstGeom prst="roundRect">
            <a:avLst>
              <a:gd name="adj" fmla="val 9474"/>
            </a:avLst>
          </a:prstGeom>
          <a:solidFill>
            <a:srgbClr val="F3F7F8"/>
          </a:solidFill>
          <a:ln w="12700">
            <a:solidFill>
              <a:srgbClr val="CFDEE1"/>
            </a:solidFill>
            <a:prstDash val="solid"/>
          </a:ln>
          <a:effectLst>
            <a:outerShdw sx="100000" sy="100000" kx="0" ky="0" algn="bl" rotWithShape="0" blurRad="101600" dist="38100" dir="5400000">
              <a:srgbClr val="8AA0A8">
                <a:alpha val="35000"/>
              </a:srgbClr>
            </a:outerShdw>
          </a:effectLst>
        </p:spPr>
      </p:sp>
      <p:sp>
        <p:nvSpPr>
          <p:cNvPr id="15" name="Shape 13"/>
          <p:cNvSpPr/>
          <p:nvPr/>
        </p:nvSpPr>
        <p:spPr>
          <a:xfrm>
            <a:off x="640080" y="3575304"/>
            <a:ext cx="82296" cy="868680"/>
          </a:xfrm>
          <a:prstGeom prst="rect">
            <a:avLst/>
          </a:prstGeom>
          <a:solidFill>
            <a:srgbClr val="E8833A"/>
          </a:solidFill>
          <a:ln/>
        </p:spPr>
      </p:sp>
      <p:sp>
        <p:nvSpPr>
          <p:cNvPr id="16" name="Text 14"/>
          <p:cNvSpPr/>
          <p:nvPr/>
        </p:nvSpPr>
        <p:spPr>
          <a:xfrm>
            <a:off x="914400" y="3721608"/>
            <a:ext cx="3017520" cy="365760"/>
          </a:xfrm>
          <a:prstGeom prst="rect">
            <a:avLst/>
          </a:prstGeom>
          <a:noFill/>
          <a:ln/>
        </p:spPr>
        <p:txBody>
          <a:bodyPr wrap="square" lIns="0" tIns="0" rIns="0" bIns="0" rtlCol="0" anchor="ctr"/>
          <a:lstStyle/>
          <a:p>
            <a:pPr indent="0" marL="0">
              <a:buNone/>
            </a:pPr>
            <a:r>
              <a:rPr lang="en-US" sz="1500" b="1" dirty="0">
                <a:solidFill>
                  <a:srgbClr val="E8833A"/>
                </a:solidFill>
                <a:latin typeface="Cambria" pitchFamily="34" charset="0"/>
                <a:ea typeface="Cambria" pitchFamily="34" charset="-122"/>
                <a:cs typeface="Cambria" pitchFamily="34" charset="-120"/>
              </a:rPr>
              <a:t>define.xml</a:t>
            </a:r>
            <a:endParaRPr lang="en-US" sz="1500" dirty="0"/>
          </a:p>
        </p:txBody>
      </p:sp>
      <p:sp>
        <p:nvSpPr>
          <p:cNvPr id="17" name="Text 15"/>
          <p:cNvSpPr/>
          <p:nvPr/>
        </p:nvSpPr>
        <p:spPr>
          <a:xfrm>
            <a:off x="914400" y="4087368"/>
            <a:ext cx="7315200" cy="292608"/>
          </a:xfrm>
          <a:prstGeom prst="rect">
            <a:avLst/>
          </a:prstGeom>
          <a:noFill/>
          <a:ln/>
        </p:spPr>
        <p:txBody>
          <a:bodyPr wrap="square" lIns="0" tIns="0" rIns="0" bIns="0" rtlCol="0" anchor="ctr"/>
          <a:lstStyle/>
          <a:p>
            <a:pPr indent="0" marL="0">
              <a:buNone/>
            </a:pPr>
            <a:r>
              <a:rPr lang="en-US" sz="1150" dirty="0">
                <a:solidFill>
                  <a:srgbClr val="5A7682"/>
                </a:solidFill>
                <a:latin typeface="Calibri" pitchFamily="34" charset="0"/>
                <a:ea typeface="Calibri" pitchFamily="34" charset="-122"/>
                <a:cs typeface="Calibri" pitchFamily="34" charset="-120"/>
              </a:rPr>
              <a:t>the machine-readable metadata describing every dataset and variable</a:t>
            </a:r>
            <a:endParaRPr lang="en-US" sz="1150" dirty="0"/>
          </a:p>
        </p:txBody>
      </p:sp>
      <p:sp>
        <p:nvSpPr>
          <p:cNvPr id="18" name="Text 16"/>
          <p:cNvSpPr/>
          <p:nvPr/>
        </p:nvSpPr>
        <p:spPr>
          <a:xfrm>
            <a:off x="8412480" y="3831336"/>
            <a:ext cx="3017520" cy="384048"/>
          </a:xfrm>
          <a:prstGeom prst="rect">
            <a:avLst/>
          </a:prstGeom>
          <a:noFill/>
          <a:ln/>
        </p:spPr>
        <p:txBody>
          <a:bodyPr wrap="square" lIns="0" tIns="0" rIns="0" bIns="0" rtlCol="0" anchor="ctr"/>
          <a:lstStyle/>
          <a:p>
            <a:pPr indent="0" marL="0">
              <a:buNone/>
            </a:pPr>
            <a:r>
              <a:rPr lang="en-US" sz="1150" dirty="0">
                <a:solidFill>
                  <a:srgbClr val="0F2E3D"/>
                </a:solidFill>
                <a:latin typeface="Courier New" pitchFamily="34" charset="0"/>
                <a:ea typeface="Courier New" pitchFamily="34" charset="-122"/>
                <a:cs typeface="Courier New" pitchFamily="34" charset="-120"/>
              </a:rPr>
              <a:t>define.xml</a:t>
            </a:r>
            <a:endParaRPr lang="en-US" sz="1150" dirty="0"/>
          </a:p>
        </p:txBody>
      </p:sp>
      <p:sp>
        <p:nvSpPr>
          <p:cNvPr id="19" name="Shape 17"/>
          <p:cNvSpPr/>
          <p:nvPr/>
        </p:nvSpPr>
        <p:spPr>
          <a:xfrm>
            <a:off x="640080" y="4517136"/>
            <a:ext cx="10972800" cy="868680"/>
          </a:xfrm>
          <a:prstGeom prst="roundRect">
            <a:avLst>
              <a:gd name="adj" fmla="val 9474"/>
            </a:avLst>
          </a:prstGeom>
          <a:solidFill>
            <a:srgbClr val="F3F7F8"/>
          </a:solidFill>
          <a:ln w="12700">
            <a:solidFill>
              <a:srgbClr val="CFDEE1"/>
            </a:solidFill>
            <a:prstDash val="solid"/>
          </a:ln>
          <a:effectLst>
            <a:outerShdw sx="100000" sy="100000" kx="0" ky="0" algn="bl" rotWithShape="0" blurRad="101600" dist="38100" dir="5400000">
              <a:srgbClr val="8AA0A8">
                <a:alpha val="35000"/>
              </a:srgbClr>
            </a:outerShdw>
          </a:effectLst>
        </p:spPr>
      </p:sp>
      <p:sp>
        <p:nvSpPr>
          <p:cNvPr id="20" name="Shape 18"/>
          <p:cNvSpPr/>
          <p:nvPr/>
        </p:nvSpPr>
        <p:spPr>
          <a:xfrm>
            <a:off x="640080" y="4517136"/>
            <a:ext cx="82296" cy="868680"/>
          </a:xfrm>
          <a:prstGeom prst="rect">
            <a:avLst/>
          </a:prstGeom>
          <a:solidFill>
            <a:srgbClr val="6FC8B4"/>
          </a:solidFill>
          <a:ln/>
        </p:spPr>
      </p:sp>
      <p:sp>
        <p:nvSpPr>
          <p:cNvPr id="21" name="Text 19"/>
          <p:cNvSpPr/>
          <p:nvPr/>
        </p:nvSpPr>
        <p:spPr>
          <a:xfrm>
            <a:off x="914400" y="4663440"/>
            <a:ext cx="3017520" cy="365760"/>
          </a:xfrm>
          <a:prstGeom prst="rect">
            <a:avLst/>
          </a:prstGeom>
          <a:noFill/>
          <a:ln/>
        </p:spPr>
        <p:txBody>
          <a:bodyPr wrap="square" lIns="0" tIns="0" rIns="0" bIns="0" rtlCol="0" anchor="ctr"/>
          <a:lstStyle/>
          <a:p>
            <a:pPr indent="0" marL="0">
              <a:buNone/>
            </a:pPr>
            <a:r>
              <a:rPr lang="en-US" sz="1500" b="1" dirty="0">
                <a:solidFill>
                  <a:srgbClr val="6FC8B4"/>
                </a:solidFill>
                <a:latin typeface="Cambria" pitchFamily="34" charset="0"/>
                <a:ea typeface="Cambria" pitchFamily="34" charset="-122"/>
                <a:cs typeface="Cambria" pitchFamily="34" charset="-120"/>
              </a:rPr>
              <a:t>Annotated CRF</a:t>
            </a:r>
            <a:endParaRPr lang="en-US" sz="1500" dirty="0"/>
          </a:p>
        </p:txBody>
      </p:sp>
      <p:sp>
        <p:nvSpPr>
          <p:cNvPr id="22" name="Text 20"/>
          <p:cNvSpPr/>
          <p:nvPr/>
        </p:nvSpPr>
        <p:spPr>
          <a:xfrm>
            <a:off x="914400" y="5029200"/>
            <a:ext cx="7315200" cy="292608"/>
          </a:xfrm>
          <a:prstGeom prst="rect">
            <a:avLst/>
          </a:prstGeom>
          <a:noFill/>
          <a:ln/>
        </p:spPr>
        <p:txBody>
          <a:bodyPr wrap="square" lIns="0" tIns="0" rIns="0" bIns="0" rtlCol="0" anchor="ctr"/>
          <a:lstStyle/>
          <a:p>
            <a:pPr indent="0" marL="0">
              <a:buNone/>
            </a:pPr>
            <a:r>
              <a:rPr lang="en-US" sz="1150" dirty="0">
                <a:solidFill>
                  <a:srgbClr val="5A7682"/>
                </a:solidFill>
                <a:latin typeface="Calibri" pitchFamily="34" charset="0"/>
                <a:ea typeface="Calibri" pitchFamily="34" charset="-122"/>
                <a:cs typeface="Calibri" pitchFamily="34" charset="-120"/>
              </a:rPr>
              <a:t>the blank CRF marked up with the SDTM variable each field maps to</a:t>
            </a:r>
            <a:endParaRPr lang="en-US" sz="1150" dirty="0"/>
          </a:p>
        </p:txBody>
      </p:sp>
      <p:sp>
        <p:nvSpPr>
          <p:cNvPr id="23" name="Text 21"/>
          <p:cNvSpPr/>
          <p:nvPr/>
        </p:nvSpPr>
        <p:spPr>
          <a:xfrm>
            <a:off x="8412480" y="4773168"/>
            <a:ext cx="3017520" cy="384048"/>
          </a:xfrm>
          <a:prstGeom prst="rect">
            <a:avLst/>
          </a:prstGeom>
          <a:noFill/>
          <a:ln/>
        </p:spPr>
        <p:txBody>
          <a:bodyPr wrap="square" lIns="0" tIns="0" rIns="0" bIns="0" rtlCol="0" anchor="ctr"/>
          <a:lstStyle/>
          <a:p>
            <a:pPr indent="0" marL="0">
              <a:buNone/>
            </a:pPr>
            <a:r>
              <a:rPr lang="en-US" sz="1150" dirty="0">
                <a:solidFill>
                  <a:srgbClr val="0F2E3D"/>
                </a:solidFill>
                <a:latin typeface="Courier New" pitchFamily="34" charset="0"/>
                <a:ea typeface="Courier New" pitchFamily="34" charset="-122"/>
                <a:cs typeface="Courier New" pitchFamily="34" charset="-120"/>
              </a:rPr>
              <a:t>acrf.pdf</a:t>
            </a:r>
            <a:endParaRPr lang="en-US" sz="1150" dirty="0"/>
          </a:p>
        </p:txBody>
      </p:sp>
      <p:sp>
        <p:nvSpPr>
          <p:cNvPr id="24" name="Shape 22"/>
          <p:cNvSpPr/>
          <p:nvPr/>
        </p:nvSpPr>
        <p:spPr>
          <a:xfrm>
            <a:off x="640080" y="5458968"/>
            <a:ext cx="10972800" cy="868680"/>
          </a:xfrm>
          <a:prstGeom prst="roundRect">
            <a:avLst>
              <a:gd name="adj" fmla="val 9474"/>
            </a:avLst>
          </a:prstGeom>
          <a:solidFill>
            <a:srgbClr val="F3F7F8"/>
          </a:solidFill>
          <a:ln w="12700">
            <a:solidFill>
              <a:srgbClr val="CFDEE1"/>
            </a:solidFill>
            <a:prstDash val="solid"/>
          </a:ln>
          <a:effectLst>
            <a:outerShdw sx="100000" sy="100000" kx="0" ky="0" algn="bl" rotWithShape="0" blurRad="101600" dist="38100" dir="5400000">
              <a:srgbClr val="8AA0A8">
                <a:alpha val="35000"/>
              </a:srgbClr>
            </a:outerShdw>
          </a:effectLst>
        </p:spPr>
      </p:sp>
      <p:sp>
        <p:nvSpPr>
          <p:cNvPr id="25" name="Shape 23"/>
          <p:cNvSpPr/>
          <p:nvPr/>
        </p:nvSpPr>
        <p:spPr>
          <a:xfrm>
            <a:off x="640080" y="5458968"/>
            <a:ext cx="82296" cy="868680"/>
          </a:xfrm>
          <a:prstGeom prst="rect">
            <a:avLst/>
          </a:prstGeom>
          <a:solidFill>
            <a:srgbClr val="C0455B"/>
          </a:solidFill>
          <a:ln/>
        </p:spPr>
      </p:sp>
      <p:sp>
        <p:nvSpPr>
          <p:cNvPr id="26" name="Text 24"/>
          <p:cNvSpPr/>
          <p:nvPr/>
        </p:nvSpPr>
        <p:spPr>
          <a:xfrm>
            <a:off x="914400" y="5605272"/>
            <a:ext cx="3017520" cy="365760"/>
          </a:xfrm>
          <a:prstGeom prst="rect">
            <a:avLst/>
          </a:prstGeom>
          <a:noFill/>
          <a:ln/>
        </p:spPr>
        <p:txBody>
          <a:bodyPr wrap="square" lIns="0" tIns="0" rIns="0" bIns="0" rtlCol="0" anchor="ctr"/>
          <a:lstStyle/>
          <a:p>
            <a:pPr indent="0" marL="0">
              <a:buNone/>
            </a:pPr>
            <a:r>
              <a:rPr lang="en-US" sz="1500" b="1" dirty="0">
                <a:solidFill>
                  <a:srgbClr val="C0455B"/>
                </a:solidFill>
                <a:latin typeface="Cambria" pitchFamily="34" charset="0"/>
                <a:ea typeface="Cambria" pitchFamily="34" charset="-122"/>
                <a:cs typeface="Cambria" pitchFamily="34" charset="-120"/>
              </a:rPr>
              <a:t>Reviewer's Guides</a:t>
            </a:r>
            <a:endParaRPr lang="en-US" sz="1500" dirty="0"/>
          </a:p>
        </p:txBody>
      </p:sp>
      <p:sp>
        <p:nvSpPr>
          <p:cNvPr id="27" name="Text 25"/>
          <p:cNvSpPr/>
          <p:nvPr/>
        </p:nvSpPr>
        <p:spPr>
          <a:xfrm>
            <a:off x="914400" y="5971032"/>
            <a:ext cx="7315200" cy="292608"/>
          </a:xfrm>
          <a:prstGeom prst="rect">
            <a:avLst/>
          </a:prstGeom>
          <a:noFill/>
          <a:ln/>
        </p:spPr>
        <p:txBody>
          <a:bodyPr wrap="square" lIns="0" tIns="0" rIns="0" bIns="0" rtlCol="0" anchor="ctr"/>
          <a:lstStyle/>
          <a:p>
            <a:pPr indent="0" marL="0">
              <a:buNone/>
            </a:pPr>
            <a:r>
              <a:rPr lang="en-US" sz="1150" dirty="0">
                <a:solidFill>
                  <a:srgbClr val="5A7682"/>
                </a:solidFill>
                <a:latin typeface="Calibri" pitchFamily="34" charset="0"/>
                <a:ea typeface="Calibri" pitchFamily="34" charset="-122"/>
                <a:cs typeface="Calibri" pitchFamily="34" charset="-120"/>
              </a:rPr>
              <a:t>cSDRG and ADRG — the human explanation of the data</a:t>
            </a:r>
            <a:endParaRPr lang="en-US" sz="1150" dirty="0"/>
          </a:p>
        </p:txBody>
      </p:sp>
      <p:sp>
        <p:nvSpPr>
          <p:cNvPr id="28" name="Text 26"/>
          <p:cNvSpPr/>
          <p:nvPr/>
        </p:nvSpPr>
        <p:spPr>
          <a:xfrm>
            <a:off x="8412480" y="5715000"/>
            <a:ext cx="3017520" cy="384048"/>
          </a:xfrm>
          <a:prstGeom prst="rect">
            <a:avLst/>
          </a:prstGeom>
          <a:noFill/>
          <a:ln/>
        </p:spPr>
        <p:txBody>
          <a:bodyPr wrap="square" lIns="0" tIns="0" rIns="0" bIns="0" rtlCol="0" anchor="ctr"/>
          <a:lstStyle/>
          <a:p>
            <a:pPr indent="0" marL="0">
              <a:buNone/>
            </a:pPr>
            <a:r>
              <a:rPr lang="en-US" sz="1150" dirty="0">
                <a:solidFill>
                  <a:srgbClr val="0F2E3D"/>
                </a:solidFill>
                <a:latin typeface="Courier New" pitchFamily="34" charset="0"/>
                <a:ea typeface="Courier New" pitchFamily="34" charset="-122"/>
                <a:cs typeface="Courier New" pitchFamily="34" charset="-120"/>
              </a:rPr>
              <a:t>csdrg.pdf</a:t>
            </a:r>
            <a:endParaRPr lang="en-US" sz="1150" dirty="0"/>
          </a:p>
        </p:txBody>
      </p:sp>
      <p:sp>
        <p:nvSpPr>
          <p:cNvPr id="29" name="Text 27"/>
          <p:cNvSpPr/>
          <p:nvPr/>
        </p:nvSpPr>
        <p:spPr>
          <a:xfrm>
            <a:off x="640080" y="6446520"/>
            <a:ext cx="10972800" cy="365760"/>
          </a:xfrm>
          <a:prstGeom prst="rect">
            <a:avLst/>
          </a:prstGeom>
          <a:noFill/>
          <a:ln/>
        </p:spPr>
        <p:txBody>
          <a:bodyPr wrap="square" lIns="0" tIns="0" rIns="0" bIns="0" rtlCol="0" anchor="ctr"/>
          <a:lstStyle/>
          <a:p>
            <a:pPr indent="0" marL="0">
              <a:buNone/>
            </a:pPr>
            <a:r>
              <a:rPr lang="en-US" sz="1200" i="1" dirty="0">
                <a:solidFill>
                  <a:srgbClr val="0E7C86"/>
                </a:solidFill>
                <a:latin typeface="Calibri" pitchFamily="34" charset="0"/>
                <a:ea typeface="Calibri" pitchFamily="34" charset="-122"/>
                <a:cs typeface="Calibri" pitchFamily="34" charset="-120"/>
              </a:rPr>
              <a:t>You built the first box. This module is about the middle three — the metadata and format that make the datasets usable by someone who has never seen your study.</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F2E3D"/>
        </a:solidFill>
      </p:bgPr>
    </p:bg>
    <p:spTree>
      <p:nvGrpSpPr>
        <p:cNvPr id="1" name=""/>
        <p:cNvGrpSpPr/>
        <p:nvPr/>
      </p:nvGrpSpPr>
      <p:grpSpPr>
        <a:xfrm>
          <a:off x="0" y="0"/>
          <a:ext cx="0" cy="0"/>
          <a:chOff x="0" y="0"/>
          <a:chExt cx="0" cy="0"/>
        </a:xfrm>
      </p:grpSpPr>
      <p:sp>
        <p:nvSpPr>
          <p:cNvPr id="2" name="Text 0"/>
          <p:cNvSpPr/>
          <p:nvPr/>
        </p:nvSpPr>
        <p:spPr>
          <a:xfrm>
            <a:off x="640080" y="502920"/>
            <a:ext cx="10972800" cy="274320"/>
          </a:xfrm>
          <a:prstGeom prst="rect">
            <a:avLst/>
          </a:prstGeom>
          <a:noFill/>
          <a:ln/>
        </p:spPr>
        <p:txBody>
          <a:bodyPr wrap="square" lIns="0" tIns="0" rIns="0" bIns="0" rtlCol="0" anchor="ctr"/>
          <a:lstStyle/>
          <a:p>
            <a:pPr indent="0" marL="0">
              <a:buNone/>
            </a:pPr>
            <a:r>
              <a:rPr lang="en-US" sz="1200" b="1" spc="200" kern="0" dirty="0">
                <a:solidFill>
                  <a:srgbClr val="6FC8B4"/>
                </a:solidFill>
                <a:latin typeface="Calibri" pitchFamily="34" charset="0"/>
                <a:ea typeface="Calibri" pitchFamily="34" charset="-122"/>
                <a:cs typeface="Calibri" pitchFamily="34" charset="-120"/>
              </a:rPr>
              <a:t>THE FILE FORMAT</a:t>
            </a:r>
            <a:endParaRPr lang="en-US" sz="1200" dirty="0"/>
          </a:p>
        </p:txBody>
      </p:sp>
      <p:sp>
        <p:nvSpPr>
          <p:cNvPr id="3" name="Text 1"/>
          <p:cNvSpPr/>
          <p:nvPr/>
        </p:nvSpPr>
        <p:spPr>
          <a:xfrm>
            <a:off x="603504" y="822960"/>
            <a:ext cx="10972800" cy="68580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SAS Transport v5 — and the constraints it forces</a:t>
            </a:r>
            <a:endParaRPr lang="en-US" sz="3000" dirty="0"/>
          </a:p>
        </p:txBody>
      </p:sp>
      <p:sp>
        <p:nvSpPr>
          <p:cNvPr id="4" name="Text 2"/>
          <p:cNvSpPr/>
          <p:nvPr/>
        </p:nvSpPr>
        <p:spPr>
          <a:xfrm>
            <a:off x="640080" y="1600200"/>
            <a:ext cx="10972800" cy="502920"/>
          </a:xfrm>
          <a:prstGeom prst="rect">
            <a:avLst/>
          </a:prstGeom>
          <a:noFill/>
          <a:ln/>
        </p:spPr>
        <p:txBody>
          <a:bodyPr wrap="square" lIns="0" tIns="0" rIns="0" bIns="0" rtlCol="0" anchor="ctr"/>
          <a:lstStyle/>
          <a:p>
            <a:pPr indent="0" marL="0">
              <a:buNone/>
            </a:pPr>
            <a:r>
              <a:rPr lang="en-US" sz="1350" dirty="0">
                <a:solidFill>
                  <a:srgbClr val="AFCBD3"/>
                </a:solidFill>
                <a:latin typeface="Calibri" pitchFamily="34" charset="0"/>
                <a:ea typeface="Calibri" pitchFamily="34" charset="-122"/>
                <a:cs typeface="Calibri" pitchFamily="34" charset="-120"/>
              </a:rPr>
              <a:t>The FDA does not accept .sas7bdat. It accepts XPORT version 5 (XPT) — an open, decades-old format any system can read. That longevity is the point: a submission must be readable in 25 years.</a:t>
            </a:r>
            <a:endParaRPr lang="en-US" sz="1350" dirty="0"/>
          </a:p>
        </p:txBody>
      </p:sp>
      <p:sp>
        <p:nvSpPr>
          <p:cNvPr id="5" name="Shape 3"/>
          <p:cNvSpPr/>
          <p:nvPr/>
        </p:nvSpPr>
        <p:spPr>
          <a:xfrm>
            <a:off x="640080" y="2194560"/>
            <a:ext cx="10972800" cy="1774444"/>
          </a:xfrm>
          <a:prstGeom prst="roundRect">
            <a:avLst>
              <a:gd name="adj" fmla="val 4123"/>
            </a:avLst>
          </a:prstGeom>
          <a:solidFill>
            <a:srgbClr val="13323F"/>
          </a:solidFill>
          <a:ln w="19050">
            <a:solidFill>
              <a:srgbClr val="6FC8B4"/>
            </a:solidFill>
            <a:prstDash val="solid"/>
          </a:ln>
        </p:spPr>
      </p:sp>
      <p:sp>
        <p:nvSpPr>
          <p:cNvPr id="6" name="Text 4"/>
          <p:cNvSpPr/>
          <p:nvPr/>
        </p:nvSpPr>
        <p:spPr>
          <a:xfrm>
            <a:off x="868680" y="2286000"/>
            <a:ext cx="5486400" cy="320040"/>
          </a:xfrm>
          <a:prstGeom prst="rect">
            <a:avLst/>
          </a:prstGeom>
          <a:noFill/>
          <a:ln/>
        </p:spPr>
        <p:txBody>
          <a:bodyPr wrap="square" lIns="0" tIns="0" rIns="0" bIns="0" rtlCol="0" anchor="ctr"/>
          <a:lstStyle/>
          <a:p>
            <a:pPr indent="0" marL="0">
              <a:buNone/>
            </a:pPr>
            <a:r>
              <a:rPr lang="en-US" sz="1400" b="1" dirty="0">
                <a:solidFill>
                  <a:srgbClr val="6FC8B4"/>
                </a:solidFill>
                <a:latin typeface="Cambria" pitchFamily="34" charset="0"/>
                <a:ea typeface="Cambria" pitchFamily="34" charset="-122"/>
                <a:cs typeface="Cambria" pitchFamily="34" charset="-120"/>
              </a:rPr>
              <a:t>SAS  ·  writing an XPT v5 file</a:t>
            </a:r>
            <a:endParaRPr lang="en-US" sz="1400" dirty="0"/>
          </a:p>
        </p:txBody>
      </p:sp>
      <p:sp>
        <p:nvSpPr>
          <p:cNvPr id="7" name="Text 5"/>
          <p:cNvSpPr/>
          <p:nvPr/>
        </p:nvSpPr>
        <p:spPr>
          <a:xfrm>
            <a:off x="868680" y="2651760"/>
            <a:ext cx="10561320" cy="1207516"/>
          </a:xfrm>
          <a:prstGeom prst="rect">
            <a:avLst/>
          </a:prstGeom>
          <a:noFill/>
          <a:ln/>
        </p:spPr>
        <p:txBody>
          <a:bodyPr wrap="square" lIns="0" tIns="0" rIns="0" bIns="0" rtlCol="0" anchor="t"/>
          <a:lstStyle/>
          <a:p>
            <a:pPr indent="0" marL="0">
              <a:lnSpc>
                <a:spcPts val="1700"/>
              </a:lnSpc>
              <a:buNone/>
            </a:pPr>
            <a:r>
              <a:rPr lang="en-US" sz="1200" dirty="0">
                <a:solidFill>
                  <a:srgbClr val="DCEBEF"/>
                </a:solidFill>
                <a:latin typeface="Courier New" pitchFamily="34" charset="0"/>
                <a:ea typeface="Courier New" pitchFamily="34" charset="-122"/>
                <a:cs typeface="Courier New" pitchFamily="34" charset="-120"/>
              </a:rPr>
              <a:t>libname xptout xport "&amp;outpath/dm.xpt";   /* the XPORT engine */</a:t>
            </a:r>
            <a:endParaRPr lang="en-US" sz="1200" dirty="0"/>
          </a:p>
          <a:p>
            <a:pPr indent="0" marL="0">
              <a:lnSpc>
                <a:spcPts val="1700"/>
              </a:lnSpc>
              <a:buNone/>
            </a:pPr>
            <a:r>
              <a:rPr lang="en-US" sz="1200" dirty="0">
                <a:solidFill>
                  <a:srgbClr val="DCEBEF"/>
                </a:solidFill>
                <a:latin typeface="Courier New" pitchFamily="34" charset="0"/>
                <a:ea typeface="Courier New" pitchFamily="34" charset="-122"/>
                <a:cs typeface="Courier New" pitchFamily="34" charset="-120"/>
              </a:rPr>
              <a:t>data xptout.dm;</a:t>
            </a:r>
            <a:endParaRPr lang="en-US" sz="1200" dirty="0"/>
          </a:p>
          <a:p>
            <a:pPr indent="0" marL="0">
              <a:lnSpc>
                <a:spcPts val="1700"/>
              </a:lnSpc>
              <a:buNone/>
            </a:pPr>
            <a:r>
              <a:rPr lang="en-US" sz="1200" dirty="0">
                <a:solidFill>
                  <a:srgbClr val="DCEBEF"/>
                </a:solidFill>
                <a:latin typeface="Courier New" pitchFamily="34" charset="0"/>
                <a:ea typeface="Courier New" pitchFamily="34" charset="-122"/>
                <a:cs typeface="Courier New" pitchFamily="34" charset="-120"/>
              </a:rPr>
              <a:t>    set sdtm.dm;</a:t>
            </a:r>
            <a:endParaRPr lang="en-US" sz="1200" dirty="0"/>
          </a:p>
          <a:p>
            <a:pPr indent="0" marL="0">
              <a:lnSpc>
                <a:spcPts val="1700"/>
              </a:lnSpc>
              <a:buNone/>
            </a:pPr>
            <a:r>
              <a:rPr lang="en-US" sz="1200" dirty="0">
                <a:solidFill>
                  <a:srgbClr val="DCEBEF"/>
                </a:solidFill>
                <a:latin typeface="Courier New" pitchFamily="34" charset="0"/>
                <a:ea typeface="Courier New" pitchFamily="34" charset="-122"/>
                <a:cs typeface="Courier New" pitchFamily="34" charset="-120"/>
              </a:rPr>
              <a:t>run;</a:t>
            </a:r>
            <a:endParaRPr lang="en-US" sz="1200" dirty="0"/>
          </a:p>
          <a:p>
            <a:pPr indent="0" marL="0">
              <a:lnSpc>
                <a:spcPts val="1700"/>
              </a:lnSpc>
              <a:buNone/>
            </a:pPr>
            <a:r>
              <a:rPr lang="en-US" sz="1200" dirty="0">
                <a:solidFill>
                  <a:srgbClr val="DCEBEF"/>
                </a:solidFill>
                <a:latin typeface="Courier New" pitchFamily="34" charset="0"/>
                <a:ea typeface="Courier New" pitchFamily="34" charset="-122"/>
                <a:cs typeface="Courier New" pitchFamily="34" charset="-120"/>
              </a:rPr>
              <a:t>libname xptout clear;</a:t>
            </a:r>
            <a:endParaRPr lang="en-US" sz="1200" dirty="0"/>
          </a:p>
        </p:txBody>
      </p:sp>
      <p:sp>
        <p:nvSpPr>
          <p:cNvPr id="8" name="Shape 6"/>
          <p:cNvSpPr/>
          <p:nvPr/>
        </p:nvSpPr>
        <p:spPr>
          <a:xfrm>
            <a:off x="640080" y="3794760"/>
            <a:ext cx="10972800" cy="640080"/>
          </a:xfrm>
          <a:prstGeom prst="roundRect">
            <a:avLst>
              <a:gd name="adj" fmla="val 10000"/>
            </a:avLst>
          </a:prstGeom>
          <a:solidFill>
            <a:srgbClr val="163B4B"/>
          </a:solidFill>
          <a:ln w="12700">
            <a:solidFill>
              <a:srgbClr val="E8833A"/>
            </a:solidFill>
            <a:prstDash val="solid"/>
          </a:ln>
        </p:spPr>
      </p:sp>
      <p:sp>
        <p:nvSpPr>
          <p:cNvPr id="9" name="Text 7"/>
          <p:cNvSpPr/>
          <p:nvPr/>
        </p:nvSpPr>
        <p:spPr>
          <a:xfrm>
            <a:off x="914400" y="3941064"/>
            <a:ext cx="3291840" cy="365760"/>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Dataset &amp; variable names</a:t>
            </a:r>
            <a:endParaRPr lang="en-US" sz="1250" dirty="0"/>
          </a:p>
        </p:txBody>
      </p:sp>
      <p:sp>
        <p:nvSpPr>
          <p:cNvPr id="10" name="Text 8"/>
          <p:cNvSpPr/>
          <p:nvPr/>
        </p:nvSpPr>
        <p:spPr>
          <a:xfrm>
            <a:off x="4297680" y="3941064"/>
            <a:ext cx="3017520" cy="365760"/>
          </a:xfrm>
          <a:prstGeom prst="rect">
            <a:avLst/>
          </a:prstGeom>
          <a:noFill/>
          <a:ln/>
        </p:spPr>
        <p:txBody>
          <a:bodyPr wrap="square" lIns="0" tIns="0" rIns="0" bIns="0" rtlCol="0" anchor="ctr"/>
          <a:lstStyle/>
          <a:p>
            <a:pPr indent="0" marL="0">
              <a:buNone/>
            </a:pPr>
            <a:r>
              <a:rPr lang="en-US" sz="1150" dirty="0">
                <a:solidFill>
                  <a:srgbClr val="6FC8B4"/>
                </a:solidFill>
                <a:latin typeface="Courier New" pitchFamily="34" charset="0"/>
                <a:ea typeface="Courier New" pitchFamily="34" charset="-122"/>
                <a:cs typeface="Courier New" pitchFamily="34" charset="-120"/>
              </a:rPr>
              <a:t>≤ 8 characters, uppercase</a:t>
            </a:r>
            <a:endParaRPr lang="en-US" sz="1150" dirty="0"/>
          </a:p>
        </p:txBody>
      </p:sp>
      <p:sp>
        <p:nvSpPr>
          <p:cNvPr id="11" name="Text 9"/>
          <p:cNvSpPr/>
          <p:nvPr/>
        </p:nvSpPr>
        <p:spPr>
          <a:xfrm>
            <a:off x="7406640" y="3941064"/>
            <a:ext cx="4023360" cy="365760"/>
          </a:xfrm>
          <a:prstGeom prst="rect">
            <a:avLst/>
          </a:prstGeom>
          <a:noFill/>
          <a:ln/>
        </p:spPr>
        <p:txBody>
          <a:bodyPr wrap="square" lIns="0" tIns="0" rIns="0" bIns="0" rtlCol="0" anchor="ctr"/>
          <a:lstStyle/>
          <a:p>
            <a:pPr indent="0" marL="0">
              <a:buNone/>
            </a:pPr>
            <a:r>
              <a:rPr lang="en-US" sz="1100" i="1" dirty="0">
                <a:solidFill>
                  <a:srgbClr val="AFCBD3"/>
                </a:solidFill>
                <a:latin typeface="Calibri" pitchFamily="34" charset="0"/>
                <a:ea typeface="Calibri" pitchFamily="34" charset="-122"/>
                <a:cs typeface="Calibri" pitchFamily="34" charset="-120"/>
              </a:rPr>
              <a:t>why AESEQ, LBTESTCD, not a long name</a:t>
            </a:r>
            <a:endParaRPr lang="en-US" sz="1100" dirty="0"/>
          </a:p>
        </p:txBody>
      </p:sp>
      <p:sp>
        <p:nvSpPr>
          <p:cNvPr id="12" name="Shape 10"/>
          <p:cNvSpPr/>
          <p:nvPr/>
        </p:nvSpPr>
        <p:spPr>
          <a:xfrm>
            <a:off x="640080" y="4507992"/>
            <a:ext cx="10972800" cy="640080"/>
          </a:xfrm>
          <a:prstGeom prst="roundRect">
            <a:avLst>
              <a:gd name="adj" fmla="val 10000"/>
            </a:avLst>
          </a:prstGeom>
          <a:solidFill>
            <a:srgbClr val="163B4B"/>
          </a:solidFill>
          <a:ln w="12700">
            <a:solidFill>
              <a:srgbClr val="E8833A"/>
            </a:solidFill>
            <a:prstDash val="solid"/>
          </a:ln>
        </p:spPr>
      </p:sp>
      <p:sp>
        <p:nvSpPr>
          <p:cNvPr id="13" name="Text 11"/>
          <p:cNvSpPr/>
          <p:nvPr/>
        </p:nvSpPr>
        <p:spPr>
          <a:xfrm>
            <a:off x="914400" y="4654296"/>
            <a:ext cx="3291840" cy="365760"/>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Variable labels</a:t>
            </a:r>
            <a:endParaRPr lang="en-US" sz="1250" dirty="0"/>
          </a:p>
        </p:txBody>
      </p:sp>
      <p:sp>
        <p:nvSpPr>
          <p:cNvPr id="14" name="Text 12"/>
          <p:cNvSpPr/>
          <p:nvPr/>
        </p:nvSpPr>
        <p:spPr>
          <a:xfrm>
            <a:off x="4297680" y="4654296"/>
            <a:ext cx="3017520" cy="365760"/>
          </a:xfrm>
          <a:prstGeom prst="rect">
            <a:avLst/>
          </a:prstGeom>
          <a:noFill/>
          <a:ln/>
        </p:spPr>
        <p:txBody>
          <a:bodyPr wrap="square" lIns="0" tIns="0" rIns="0" bIns="0" rtlCol="0" anchor="ctr"/>
          <a:lstStyle/>
          <a:p>
            <a:pPr indent="0" marL="0">
              <a:buNone/>
            </a:pPr>
            <a:r>
              <a:rPr lang="en-US" sz="1150" dirty="0">
                <a:solidFill>
                  <a:srgbClr val="6FC8B4"/>
                </a:solidFill>
                <a:latin typeface="Courier New" pitchFamily="34" charset="0"/>
                <a:ea typeface="Courier New" pitchFamily="34" charset="-122"/>
                <a:cs typeface="Courier New" pitchFamily="34" charset="-120"/>
              </a:rPr>
              <a:t>≤ 40 characters</a:t>
            </a:r>
            <a:endParaRPr lang="en-US" sz="1150" dirty="0"/>
          </a:p>
        </p:txBody>
      </p:sp>
      <p:sp>
        <p:nvSpPr>
          <p:cNvPr id="15" name="Text 13"/>
          <p:cNvSpPr/>
          <p:nvPr/>
        </p:nvSpPr>
        <p:spPr>
          <a:xfrm>
            <a:off x="7406640" y="4654296"/>
            <a:ext cx="4023360" cy="365760"/>
          </a:xfrm>
          <a:prstGeom prst="rect">
            <a:avLst/>
          </a:prstGeom>
          <a:noFill/>
          <a:ln/>
        </p:spPr>
        <p:txBody>
          <a:bodyPr wrap="square" lIns="0" tIns="0" rIns="0" bIns="0" rtlCol="0" anchor="ctr"/>
          <a:lstStyle/>
          <a:p>
            <a:pPr indent="0" marL="0">
              <a:buNone/>
            </a:pPr>
            <a:r>
              <a:rPr lang="en-US" sz="1100" i="1" dirty="0">
                <a:solidFill>
                  <a:srgbClr val="AFCBD3"/>
                </a:solidFill>
                <a:latin typeface="Calibri" pitchFamily="34" charset="0"/>
                <a:ea typeface="Calibri" pitchFamily="34" charset="-122"/>
                <a:cs typeface="Calibri" pitchFamily="34" charset="-120"/>
              </a:rPr>
              <a:t>the short QLABEL you have been writing</a:t>
            </a:r>
            <a:endParaRPr lang="en-US" sz="1100" dirty="0"/>
          </a:p>
        </p:txBody>
      </p:sp>
      <p:sp>
        <p:nvSpPr>
          <p:cNvPr id="16" name="Shape 14"/>
          <p:cNvSpPr/>
          <p:nvPr/>
        </p:nvSpPr>
        <p:spPr>
          <a:xfrm>
            <a:off x="640080" y="5221224"/>
            <a:ext cx="10972800" cy="640080"/>
          </a:xfrm>
          <a:prstGeom prst="roundRect">
            <a:avLst>
              <a:gd name="adj" fmla="val 10000"/>
            </a:avLst>
          </a:prstGeom>
          <a:solidFill>
            <a:srgbClr val="163B4B"/>
          </a:solidFill>
          <a:ln w="12700">
            <a:solidFill>
              <a:srgbClr val="E8833A"/>
            </a:solidFill>
            <a:prstDash val="solid"/>
          </a:ln>
        </p:spPr>
      </p:sp>
      <p:sp>
        <p:nvSpPr>
          <p:cNvPr id="17" name="Text 15"/>
          <p:cNvSpPr/>
          <p:nvPr/>
        </p:nvSpPr>
        <p:spPr>
          <a:xfrm>
            <a:off x="914400" y="5367528"/>
            <a:ext cx="3291840" cy="365760"/>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Character values</a:t>
            </a:r>
            <a:endParaRPr lang="en-US" sz="1250" dirty="0"/>
          </a:p>
        </p:txBody>
      </p:sp>
      <p:sp>
        <p:nvSpPr>
          <p:cNvPr id="18" name="Text 16"/>
          <p:cNvSpPr/>
          <p:nvPr/>
        </p:nvSpPr>
        <p:spPr>
          <a:xfrm>
            <a:off x="4297680" y="5367528"/>
            <a:ext cx="3017520" cy="365760"/>
          </a:xfrm>
          <a:prstGeom prst="rect">
            <a:avLst/>
          </a:prstGeom>
          <a:noFill/>
          <a:ln/>
        </p:spPr>
        <p:txBody>
          <a:bodyPr wrap="square" lIns="0" tIns="0" rIns="0" bIns="0" rtlCol="0" anchor="ctr"/>
          <a:lstStyle/>
          <a:p>
            <a:pPr indent="0" marL="0">
              <a:buNone/>
            </a:pPr>
            <a:r>
              <a:rPr lang="en-US" sz="1150" dirty="0">
                <a:solidFill>
                  <a:srgbClr val="6FC8B4"/>
                </a:solidFill>
                <a:latin typeface="Courier New" pitchFamily="34" charset="0"/>
                <a:ea typeface="Courier New" pitchFamily="34" charset="-122"/>
                <a:cs typeface="Courier New" pitchFamily="34" charset="-120"/>
              </a:rPr>
              <a:t>≤ 200 bytes</a:t>
            </a:r>
            <a:endParaRPr lang="en-US" sz="1150" dirty="0"/>
          </a:p>
        </p:txBody>
      </p:sp>
      <p:sp>
        <p:nvSpPr>
          <p:cNvPr id="19" name="Text 17"/>
          <p:cNvSpPr/>
          <p:nvPr/>
        </p:nvSpPr>
        <p:spPr>
          <a:xfrm>
            <a:off x="7406640" y="5367528"/>
            <a:ext cx="4023360" cy="365760"/>
          </a:xfrm>
          <a:prstGeom prst="rect">
            <a:avLst/>
          </a:prstGeom>
          <a:noFill/>
          <a:ln/>
        </p:spPr>
        <p:txBody>
          <a:bodyPr wrap="square" lIns="0" tIns="0" rIns="0" bIns="0" rtlCol="0" anchor="ctr"/>
          <a:lstStyle/>
          <a:p>
            <a:pPr indent="0" marL="0">
              <a:buNone/>
            </a:pPr>
            <a:r>
              <a:rPr lang="en-US" sz="1100" i="1" dirty="0">
                <a:solidFill>
                  <a:srgbClr val="AFCBD3"/>
                </a:solidFill>
                <a:latin typeface="Calibri" pitchFamily="34" charset="0"/>
                <a:ea typeface="Calibri" pitchFamily="34" charset="-122"/>
                <a:cs typeface="Calibri" pitchFamily="34" charset="-120"/>
              </a:rPr>
              <a:t>long text must be split across --TESTCD groups</a:t>
            </a:r>
            <a:endParaRPr lang="en-US" sz="1100" dirty="0"/>
          </a:p>
        </p:txBody>
      </p:sp>
      <p:sp>
        <p:nvSpPr>
          <p:cNvPr id="20" name="Shape 18"/>
          <p:cNvSpPr/>
          <p:nvPr/>
        </p:nvSpPr>
        <p:spPr>
          <a:xfrm>
            <a:off x="640080" y="5934456"/>
            <a:ext cx="10972800" cy="640080"/>
          </a:xfrm>
          <a:prstGeom prst="roundRect">
            <a:avLst>
              <a:gd name="adj" fmla="val 10000"/>
            </a:avLst>
          </a:prstGeom>
          <a:solidFill>
            <a:srgbClr val="163B4B"/>
          </a:solidFill>
          <a:ln w="12700">
            <a:solidFill>
              <a:srgbClr val="E8833A"/>
            </a:solidFill>
            <a:prstDash val="solid"/>
          </a:ln>
        </p:spPr>
      </p:sp>
      <p:sp>
        <p:nvSpPr>
          <p:cNvPr id="21" name="Text 19"/>
          <p:cNvSpPr/>
          <p:nvPr/>
        </p:nvSpPr>
        <p:spPr>
          <a:xfrm>
            <a:off x="914400" y="6080760"/>
            <a:ext cx="3291840" cy="365760"/>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Numeric dates</a:t>
            </a:r>
            <a:endParaRPr lang="en-US" sz="1250" dirty="0"/>
          </a:p>
        </p:txBody>
      </p:sp>
      <p:sp>
        <p:nvSpPr>
          <p:cNvPr id="22" name="Text 20"/>
          <p:cNvSpPr/>
          <p:nvPr/>
        </p:nvSpPr>
        <p:spPr>
          <a:xfrm>
            <a:off x="4297680" y="6080760"/>
            <a:ext cx="3017520" cy="365760"/>
          </a:xfrm>
          <a:prstGeom prst="rect">
            <a:avLst/>
          </a:prstGeom>
          <a:noFill/>
          <a:ln/>
        </p:spPr>
        <p:txBody>
          <a:bodyPr wrap="square" lIns="0" tIns="0" rIns="0" bIns="0" rtlCol="0" anchor="ctr"/>
          <a:lstStyle/>
          <a:p>
            <a:pPr indent="0" marL="0">
              <a:buNone/>
            </a:pPr>
            <a:r>
              <a:rPr lang="en-US" sz="1150" dirty="0">
                <a:solidFill>
                  <a:srgbClr val="6FC8B4"/>
                </a:solidFill>
                <a:latin typeface="Courier New" pitchFamily="34" charset="0"/>
                <a:ea typeface="Courier New" pitchFamily="34" charset="-122"/>
                <a:cs typeface="Courier New" pitchFamily="34" charset="-120"/>
              </a:rPr>
              <a:t>not allowed — dates are CHARACTER ISO 8601</a:t>
            </a:r>
            <a:endParaRPr lang="en-US" sz="1150" dirty="0"/>
          </a:p>
        </p:txBody>
      </p:sp>
      <p:sp>
        <p:nvSpPr>
          <p:cNvPr id="23" name="Text 21"/>
          <p:cNvSpPr/>
          <p:nvPr/>
        </p:nvSpPr>
        <p:spPr>
          <a:xfrm>
            <a:off x="7406640" y="6080760"/>
            <a:ext cx="4023360" cy="365760"/>
          </a:xfrm>
          <a:prstGeom prst="rect">
            <a:avLst/>
          </a:prstGeom>
          <a:noFill/>
          <a:ln/>
        </p:spPr>
        <p:txBody>
          <a:bodyPr wrap="square" lIns="0" tIns="0" rIns="0" bIns="0" rtlCol="0" anchor="ctr"/>
          <a:lstStyle/>
          <a:p>
            <a:pPr indent="0" marL="0">
              <a:buNone/>
            </a:pPr>
            <a:r>
              <a:rPr lang="en-US" sz="1100" i="1" dirty="0">
                <a:solidFill>
                  <a:srgbClr val="AFCBD3"/>
                </a:solidFill>
                <a:latin typeface="Calibri" pitchFamily="34" charset="0"/>
                <a:ea typeface="Calibri" pitchFamily="34" charset="-122"/>
                <a:cs typeface="Calibri" pitchFamily="34" charset="-120"/>
              </a:rPr>
              <a:t>why every --DTC is a string, never a SAS date</a:t>
            </a:r>
            <a:endParaRPr lang="en-US" sz="1100" dirty="0"/>
          </a:p>
        </p:txBody>
      </p:sp>
      <p:sp>
        <p:nvSpPr>
          <p:cNvPr id="24" name="Text 22"/>
          <p:cNvSpPr/>
          <p:nvPr/>
        </p:nvSpPr>
        <p:spPr>
          <a:xfrm>
            <a:off x="640080" y="6537960"/>
            <a:ext cx="10972800" cy="320040"/>
          </a:xfrm>
          <a:prstGeom prst="rect">
            <a:avLst/>
          </a:prstGeom>
          <a:noFill/>
          <a:ln/>
        </p:spPr>
        <p:txBody>
          <a:bodyPr wrap="square" lIns="0" tIns="0" rIns="0" bIns="0" rtlCol="0" anchor="ctr"/>
          <a:lstStyle/>
          <a:p>
            <a:pPr indent="0" marL="0">
              <a:buNone/>
            </a:pPr>
            <a:r>
              <a:rPr lang="en-US" sz="1250" i="1" dirty="0">
                <a:solidFill>
                  <a:srgbClr val="6FC8B4"/>
                </a:solidFill>
                <a:latin typeface="Calibri" pitchFamily="34" charset="0"/>
                <a:ea typeface="Calibri" pitchFamily="34" charset="-122"/>
                <a:cs typeface="Calibri" pitchFamily="34" charset="-120"/>
              </a:rPr>
              <a:t>Every one of these explains a design choice you already met. XPT v5 is WHY SDTM looks the way it does.</a:t>
            </a:r>
            <a:endParaRPr lang="en-US" sz="12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0972800" cy="274320"/>
          </a:xfrm>
          <a:prstGeom prst="rect">
            <a:avLst/>
          </a:prstGeom>
          <a:noFill/>
          <a:ln/>
        </p:spPr>
        <p:txBody>
          <a:bodyPr wrap="square" lIns="0" tIns="0" rIns="0" bIns="0" rtlCol="0" anchor="ctr"/>
          <a:lstStyle/>
          <a:p>
            <a:pPr indent="0" marL="0">
              <a:buNone/>
            </a:pPr>
            <a:r>
              <a:rPr lang="en-US" sz="1200" b="1" spc="200" kern="0" dirty="0">
                <a:solidFill>
                  <a:srgbClr val="0E7C86"/>
                </a:solidFill>
                <a:latin typeface="Calibri" pitchFamily="34" charset="0"/>
                <a:ea typeface="Calibri" pitchFamily="34" charset="-122"/>
                <a:cs typeface="Calibri" pitchFamily="34" charset="-120"/>
              </a:rPr>
              <a:t>THE MOST IMPORTANT FILE IN THE PACKAGE</a:t>
            </a:r>
            <a:endParaRPr lang="en-US" sz="1200" dirty="0"/>
          </a:p>
        </p:txBody>
      </p:sp>
      <p:sp>
        <p:nvSpPr>
          <p:cNvPr id="3" name="Text 1"/>
          <p:cNvSpPr/>
          <p:nvPr/>
        </p:nvSpPr>
        <p:spPr>
          <a:xfrm>
            <a:off x="548640" y="658368"/>
            <a:ext cx="11064240" cy="731520"/>
          </a:xfrm>
          <a:prstGeom prst="rect">
            <a:avLst/>
          </a:prstGeom>
          <a:noFill/>
          <a:ln/>
        </p:spPr>
        <p:txBody>
          <a:bodyPr wrap="square" lIns="0" tIns="0" rIns="0" bIns="0" rtlCol="0" anchor="ctr"/>
          <a:lstStyle/>
          <a:p>
            <a:pPr indent="0" marL="0">
              <a:buNone/>
            </a:pPr>
            <a:r>
              <a:rPr lang="en-US" sz="3000" b="1" dirty="0">
                <a:solidFill>
                  <a:srgbClr val="0F2E3D"/>
                </a:solidFill>
                <a:latin typeface="Cambria" pitchFamily="34" charset="0"/>
                <a:ea typeface="Cambria" pitchFamily="34" charset="-122"/>
                <a:cs typeface="Cambria" pitchFamily="34" charset="-120"/>
              </a:rPr>
              <a:t>define.xml — the data's instruction manual</a:t>
            </a:r>
            <a:endParaRPr lang="en-US" sz="3000" dirty="0"/>
          </a:p>
        </p:txBody>
      </p:sp>
      <p:sp>
        <p:nvSpPr>
          <p:cNvPr id="4" name="Shape 2"/>
          <p:cNvSpPr/>
          <p:nvPr/>
        </p:nvSpPr>
        <p:spPr>
          <a:xfrm>
            <a:off x="640080" y="1645920"/>
            <a:ext cx="10972800" cy="1371600"/>
          </a:xfrm>
          <a:prstGeom prst="roundRect">
            <a:avLst>
              <a:gd name="adj" fmla="val 6000"/>
            </a:avLst>
          </a:prstGeom>
          <a:solidFill>
            <a:srgbClr val="E7F4F2"/>
          </a:solidFill>
          <a:ln w="12700">
            <a:solidFill>
              <a:srgbClr val="CFDEE1"/>
            </a:solidFill>
            <a:prstDash val="solid"/>
          </a:ln>
          <a:effectLst>
            <a:outerShdw sx="100000" sy="100000" kx="0" ky="0" algn="bl" rotWithShape="0" blurRad="101600" dist="38100" dir="5400000">
              <a:srgbClr val="8AA0A8">
                <a:alpha val="35000"/>
              </a:srgbClr>
            </a:outerShdw>
          </a:effectLst>
        </p:spPr>
      </p:sp>
      <p:sp>
        <p:nvSpPr>
          <p:cNvPr id="5" name="Text 3"/>
          <p:cNvSpPr/>
          <p:nvPr/>
        </p:nvSpPr>
        <p:spPr>
          <a:xfrm>
            <a:off x="914400" y="1783080"/>
            <a:ext cx="10424160" cy="365760"/>
          </a:xfrm>
          <a:prstGeom prst="rect">
            <a:avLst/>
          </a:prstGeom>
          <a:noFill/>
          <a:ln/>
        </p:spPr>
        <p:txBody>
          <a:bodyPr wrap="square" lIns="0" tIns="0" rIns="0" bIns="0" rtlCol="0" anchor="ctr"/>
          <a:lstStyle/>
          <a:p>
            <a:pPr indent="0" marL="0">
              <a:buNone/>
            </a:pPr>
            <a:r>
              <a:rPr lang="en-US" sz="1600" b="1" dirty="0">
                <a:solidFill>
                  <a:srgbClr val="0E7C86"/>
                </a:solidFill>
                <a:latin typeface="Cambria" pitchFamily="34" charset="0"/>
                <a:ea typeface="Cambria" pitchFamily="34" charset="-122"/>
                <a:cs typeface="Cambria" pitchFamily="34" charset="-120"/>
              </a:rPr>
              <a:t>Without it, your datasets are a pile of columns with cryptic names.</a:t>
            </a:r>
            <a:endParaRPr lang="en-US" sz="1600" dirty="0"/>
          </a:p>
        </p:txBody>
      </p:sp>
      <p:sp>
        <p:nvSpPr>
          <p:cNvPr id="6" name="Text 4"/>
          <p:cNvSpPr/>
          <p:nvPr/>
        </p:nvSpPr>
        <p:spPr>
          <a:xfrm>
            <a:off x="914400" y="2148840"/>
            <a:ext cx="10424160" cy="822960"/>
          </a:xfrm>
          <a:prstGeom prst="rect">
            <a:avLst/>
          </a:prstGeom>
          <a:noFill/>
          <a:ln/>
        </p:spPr>
        <p:txBody>
          <a:bodyPr wrap="square" lIns="0" tIns="0" rIns="0" bIns="0" rtlCol="0" anchor="ctr"/>
          <a:lstStyle/>
          <a:p>
            <a:pPr indent="0" marL="0">
              <a:buNone/>
            </a:pPr>
            <a:r>
              <a:rPr lang="en-US" sz="1300" dirty="0">
                <a:solidFill>
                  <a:srgbClr val="5A7682"/>
                </a:solidFill>
                <a:latin typeface="Calibri" pitchFamily="34" charset="0"/>
                <a:ea typeface="Calibri" pitchFamily="34" charset="-122"/>
                <a:cs typeface="Calibri" pitchFamily="34" charset="-120"/>
              </a:rPr>
              <a:t>define.xml is machine-readable metadata that describes EVERY dataset and EVERY variable: its label, type, length, the codelist it draws from, where it came from, and how it was derived. A reviewer opens define.xml FIRST, and their tools read it to make sense of everything else.</a:t>
            </a:r>
            <a:endParaRPr lang="en-US" sz="1300" dirty="0"/>
          </a:p>
        </p:txBody>
      </p:sp>
      <p:sp>
        <p:nvSpPr>
          <p:cNvPr id="7" name="Text 5"/>
          <p:cNvSpPr/>
          <p:nvPr/>
        </p:nvSpPr>
        <p:spPr>
          <a:xfrm>
            <a:off x="640080" y="3246120"/>
            <a:ext cx="10972800" cy="320040"/>
          </a:xfrm>
          <a:prstGeom prst="rect">
            <a:avLst/>
          </a:prstGeom>
          <a:noFill/>
          <a:ln/>
        </p:spPr>
        <p:txBody>
          <a:bodyPr wrap="square" lIns="0" tIns="0" rIns="0" bIns="0" rtlCol="0" anchor="ctr"/>
          <a:lstStyle/>
          <a:p>
            <a:pPr indent="0" marL="0">
              <a:buNone/>
            </a:pPr>
            <a:r>
              <a:rPr lang="en-US" sz="1300" b="1" dirty="0">
                <a:solidFill>
                  <a:srgbClr val="0F2E3D"/>
                </a:solidFill>
                <a:latin typeface="Calibri" pitchFamily="34" charset="0"/>
                <a:ea typeface="Calibri" pitchFamily="34" charset="-122"/>
                <a:cs typeface="Calibri" pitchFamily="34" charset="-120"/>
              </a:rPr>
              <a:t>For every variable, define.xml records:</a:t>
            </a:r>
            <a:endParaRPr lang="en-US" sz="1300" dirty="0"/>
          </a:p>
        </p:txBody>
      </p:sp>
      <p:sp>
        <p:nvSpPr>
          <p:cNvPr id="8" name="Shape 6"/>
          <p:cNvSpPr/>
          <p:nvPr/>
        </p:nvSpPr>
        <p:spPr>
          <a:xfrm>
            <a:off x="640080" y="3611880"/>
            <a:ext cx="2743200" cy="384048"/>
          </a:xfrm>
          <a:prstGeom prst="rect">
            <a:avLst/>
          </a:prstGeom>
          <a:solidFill>
            <a:srgbClr val="0F2E3D"/>
          </a:solidFill>
          <a:ln w="9525">
            <a:solidFill>
              <a:srgbClr val="CFDEE1"/>
            </a:solidFill>
            <a:prstDash val="solid"/>
          </a:ln>
        </p:spPr>
      </p:sp>
      <p:sp>
        <p:nvSpPr>
          <p:cNvPr id="9" name="Text 7"/>
          <p:cNvSpPr/>
          <p:nvPr/>
        </p:nvSpPr>
        <p:spPr>
          <a:xfrm>
            <a:off x="694944" y="3611880"/>
            <a:ext cx="2633472" cy="384048"/>
          </a:xfrm>
          <a:prstGeom prst="rect">
            <a:avLst/>
          </a:prstGeom>
          <a:noFill/>
          <a:ln/>
        </p:spPr>
        <p:txBody>
          <a:bodyPr wrap="square" lIns="0" tIns="0" rIns="0" bIns="0" rtlCol="0" anchor="ctr"/>
          <a:lstStyle/>
          <a:p>
            <a:pPr algn="l" indent="0" marL="0">
              <a:buNone/>
            </a:pPr>
            <a:r>
              <a:rPr lang="en-US" sz="1150" b="1" dirty="0">
                <a:solidFill>
                  <a:srgbClr val="FFFFFF"/>
                </a:solidFill>
                <a:latin typeface="Calibri" pitchFamily="34" charset="0"/>
                <a:ea typeface="Calibri" pitchFamily="34" charset="-122"/>
                <a:cs typeface="Calibri" pitchFamily="34" charset="-120"/>
              </a:rPr>
              <a:t>Metadata</a:t>
            </a:r>
            <a:endParaRPr lang="en-US" sz="1150" dirty="0"/>
          </a:p>
        </p:txBody>
      </p:sp>
      <p:sp>
        <p:nvSpPr>
          <p:cNvPr id="10" name="Shape 8"/>
          <p:cNvSpPr/>
          <p:nvPr/>
        </p:nvSpPr>
        <p:spPr>
          <a:xfrm>
            <a:off x="3383280" y="3611880"/>
            <a:ext cx="3657600" cy="384048"/>
          </a:xfrm>
          <a:prstGeom prst="rect">
            <a:avLst/>
          </a:prstGeom>
          <a:solidFill>
            <a:srgbClr val="0F2E3D"/>
          </a:solidFill>
          <a:ln w="9525">
            <a:solidFill>
              <a:srgbClr val="CFDEE1"/>
            </a:solidFill>
            <a:prstDash val="solid"/>
          </a:ln>
        </p:spPr>
      </p:sp>
      <p:sp>
        <p:nvSpPr>
          <p:cNvPr id="11" name="Text 9"/>
          <p:cNvSpPr/>
          <p:nvPr/>
        </p:nvSpPr>
        <p:spPr>
          <a:xfrm>
            <a:off x="3438144" y="3611880"/>
            <a:ext cx="3547872" cy="384048"/>
          </a:xfrm>
          <a:prstGeom prst="rect">
            <a:avLst/>
          </a:prstGeom>
          <a:noFill/>
          <a:ln/>
        </p:spPr>
        <p:txBody>
          <a:bodyPr wrap="square" lIns="0" tIns="0" rIns="0" bIns="0" rtlCol="0" anchor="ctr"/>
          <a:lstStyle/>
          <a:p>
            <a:pPr algn="l" indent="0" marL="0">
              <a:buNone/>
            </a:pPr>
            <a:r>
              <a:rPr lang="en-US" sz="1150" b="1" dirty="0">
                <a:solidFill>
                  <a:srgbClr val="FFFFFF"/>
                </a:solidFill>
                <a:latin typeface="Calibri" pitchFamily="34" charset="0"/>
                <a:ea typeface="Calibri" pitchFamily="34" charset="-122"/>
                <a:cs typeface="Calibri" pitchFamily="34" charset="-120"/>
              </a:rPr>
              <a:t>For AEOUT, say</a:t>
            </a:r>
            <a:endParaRPr lang="en-US" sz="1150" dirty="0"/>
          </a:p>
        </p:txBody>
      </p:sp>
      <p:sp>
        <p:nvSpPr>
          <p:cNvPr id="12" name="Shape 10"/>
          <p:cNvSpPr/>
          <p:nvPr/>
        </p:nvSpPr>
        <p:spPr>
          <a:xfrm>
            <a:off x="7040880" y="3611880"/>
            <a:ext cx="4572000" cy="384048"/>
          </a:xfrm>
          <a:prstGeom prst="rect">
            <a:avLst/>
          </a:prstGeom>
          <a:solidFill>
            <a:srgbClr val="0F2E3D"/>
          </a:solidFill>
          <a:ln w="9525">
            <a:solidFill>
              <a:srgbClr val="CFDEE1"/>
            </a:solidFill>
            <a:prstDash val="solid"/>
          </a:ln>
        </p:spPr>
      </p:sp>
      <p:sp>
        <p:nvSpPr>
          <p:cNvPr id="13" name="Text 11"/>
          <p:cNvSpPr/>
          <p:nvPr/>
        </p:nvSpPr>
        <p:spPr>
          <a:xfrm>
            <a:off x="7095744" y="3611880"/>
            <a:ext cx="4462272" cy="384048"/>
          </a:xfrm>
          <a:prstGeom prst="rect">
            <a:avLst/>
          </a:prstGeom>
          <a:noFill/>
          <a:ln/>
        </p:spPr>
        <p:txBody>
          <a:bodyPr wrap="square" lIns="0" tIns="0" rIns="0" bIns="0" rtlCol="0" anchor="ctr"/>
          <a:lstStyle/>
          <a:p>
            <a:pPr algn="l" indent="0" marL="0">
              <a:buNone/>
            </a:pPr>
            <a:r>
              <a:rPr lang="en-US" sz="1150" b="1" dirty="0">
                <a:solidFill>
                  <a:srgbClr val="FFFFFF"/>
                </a:solidFill>
                <a:latin typeface="Calibri" pitchFamily="34" charset="0"/>
                <a:ea typeface="Calibri" pitchFamily="34" charset="-122"/>
                <a:cs typeface="Calibri" pitchFamily="34" charset="-120"/>
              </a:rPr>
              <a:t>Why the reviewer needs it</a:t>
            </a:r>
            <a:endParaRPr lang="en-US" sz="1150" dirty="0"/>
          </a:p>
        </p:txBody>
      </p:sp>
      <p:sp>
        <p:nvSpPr>
          <p:cNvPr id="14" name="Shape 12"/>
          <p:cNvSpPr/>
          <p:nvPr/>
        </p:nvSpPr>
        <p:spPr>
          <a:xfrm>
            <a:off x="640080" y="3995928"/>
            <a:ext cx="2743200" cy="384048"/>
          </a:xfrm>
          <a:prstGeom prst="rect">
            <a:avLst/>
          </a:prstGeom>
          <a:solidFill>
            <a:srgbClr val="F3F7F8"/>
          </a:solidFill>
          <a:ln w="9525">
            <a:solidFill>
              <a:srgbClr val="CFDEE1"/>
            </a:solidFill>
            <a:prstDash val="solid"/>
          </a:ln>
        </p:spPr>
      </p:sp>
      <p:sp>
        <p:nvSpPr>
          <p:cNvPr id="15" name="Text 13"/>
          <p:cNvSpPr/>
          <p:nvPr/>
        </p:nvSpPr>
        <p:spPr>
          <a:xfrm>
            <a:off x="694944" y="3995928"/>
            <a:ext cx="2633472" cy="384048"/>
          </a:xfrm>
          <a:prstGeom prst="rect">
            <a:avLst/>
          </a:prstGeom>
          <a:noFill/>
          <a:ln/>
        </p:spPr>
        <p:txBody>
          <a:bodyPr wrap="square" lIns="0" tIns="0" rIns="0" bIns="0" rtlCol="0" anchor="ctr"/>
          <a:lstStyle/>
          <a:p>
            <a:pPr algn="l" indent="0" marL="0">
              <a:buNone/>
            </a:pPr>
            <a:r>
              <a:rPr lang="en-US" sz="1150" dirty="0">
                <a:solidFill>
                  <a:srgbClr val="0F2E3D"/>
                </a:solidFill>
                <a:latin typeface="Calibri" pitchFamily="34" charset="0"/>
                <a:ea typeface="Calibri" pitchFamily="34" charset="-122"/>
                <a:cs typeface="Calibri" pitchFamily="34" charset="-120"/>
              </a:rPr>
              <a:t>Label &amp; type</a:t>
            </a:r>
            <a:endParaRPr lang="en-US" sz="1150" dirty="0"/>
          </a:p>
        </p:txBody>
      </p:sp>
      <p:sp>
        <p:nvSpPr>
          <p:cNvPr id="16" name="Shape 14"/>
          <p:cNvSpPr/>
          <p:nvPr/>
        </p:nvSpPr>
        <p:spPr>
          <a:xfrm>
            <a:off x="3383280" y="3995928"/>
            <a:ext cx="3657600" cy="384048"/>
          </a:xfrm>
          <a:prstGeom prst="rect">
            <a:avLst/>
          </a:prstGeom>
          <a:solidFill>
            <a:srgbClr val="F3F7F8"/>
          </a:solidFill>
          <a:ln w="9525">
            <a:solidFill>
              <a:srgbClr val="CFDEE1"/>
            </a:solidFill>
            <a:prstDash val="solid"/>
          </a:ln>
        </p:spPr>
      </p:sp>
      <p:sp>
        <p:nvSpPr>
          <p:cNvPr id="17" name="Text 15"/>
          <p:cNvSpPr/>
          <p:nvPr/>
        </p:nvSpPr>
        <p:spPr>
          <a:xfrm>
            <a:off x="3438144" y="3995928"/>
            <a:ext cx="3547872" cy="384048"/>
          </a:xfrm>
          <a:prstGeom prst="rect">
            <a:avLst/>
          </a:prstGeom>
          <a:noFill/>
          <a:ln/>
        </p:spPr>
        <p:txBody>
          <a:bodyPr wrap="square" lIns="0" tIns="0" rIns="0" bIns="0" rtlCol="0" anchor="ctr"/>
          <a:lstStyle/>
          <a:p>
            <a:pPr algn="l" indent="0" marL="0">
              <a:buNone/>
            </a:pPr>
            <a:r>
              <a:rPr lang="en-US" sz="1150" dirty="0">
                <a:solidFill>
                  <a:srgbClr val="0F2E3D"/>
                </a:solidFill>
                <a:latin typeface="Calibri" pitchFamily="34" charset="0"/>
                <a:ea typeface="Calibri" pitchFamily="34" charset="-122"/>
                <a:cs typeface="Calibri" pitchFamily="34" charset="-120"/>
              </a:rPr>
              <a:t>"Outcome of AE", text</a:t>
            </a:r>
            <a:endParaRPr lang="en-US" sz="1150" dirty="0"/>
          </a:p>
        </p:txBody>
      </p:sp>
      <p:sp>
        <p:nvSpPr>
          <p:cNvPr id="18" name="Shape 16"/>
          <p:cNvSpPr/>
          <p:nvPr/>
        </p:nvSpPr>
        <p:spPr>
          <a:xfrm>
            <a:off x="7040880" y="3995928"/>
            <a:ext cx="4572000" cy="384048"/>
          </a:xfrm>
          <a:prstGeom prst="rect">
            <a:avLst/>
          </a:prstGeom>
          <a:solidFill>
            <a:srgbClr val="F3F7F8"/>
          </a:solidFill>
          <a:ln w="9525">
            <a:solidFill>
              <a:srgbClr val="CFDEE1"/>
            </a:solidFill>
            <a:prstDash val="solid"/>
          </a:ln>
        </p:spPr>
      </p:sp>
      <p:sp>
        <p:nvSpPr>
          <p:cNvPr id="19" name="Text 17"/>
          <p:cNvSpPr/>
          <p:nvPr/>
        </p:nvSpPr>
        <p:spPr>
          <a:xfrm>
            <a:off x="7095744" y="3995928"/>
            <a:ext cx="4462272" cy="384048"/>
          </a:xfrm>
          <a:prstGeom prst="rect">
            <a:avLst/>
          </a:prstGeom>
          <a:noFill/>
          <a:ln/>
        </p:spPr>
        <p:txBody>
          <a:bodyPr wrap="square" lIns="0" tIns="0" rIns="0" bIns="0" rtlCol="0" anchor="ctr"/>
          <a:lstStyle/>
          <a:p>
            <a:pPr algn="l" indent="0" marL="0">
              <a:buNone/>
            </a:pPr>
            <a:r>
              <a:rPr lang="en-US" sz="1150" dirty="0">
                <a:solidFill>
                  <a:srgbClr val="0F2E3D"/>
                </a:solidFill>
                <a:latin typeface="Calibri" pitchFamily="34" charset="0"/>
                <a:ea typeface="Calibri" pitchFamily="34" charset="-122"/>
                <a:cs typeface="Calibri" pitchFamily="34" charset="-120"/>
              </a:rPr>
              <a:t>to read the column at all</a:t>
            </a:r>
            <a:endParaRPr lang="en-US" sz="1150" dirty="0"/>
          </a:p>
        </p:txBody>
      </p:sp>
      <p:sp>
        <p:nvSpPr>
          <p:cNvPr id="20" name="Shape 18"/>
          <p:cNvSpPr/>
          <p:nvPr/>
        </p:nvSpPr>
        <p:spPr>
          <a:xfrm>
            <a:off x="640080" y="4379976"/>
            <a:ext cx="2743200" cy="384048"/>
          </a:xfrm>
          <a:prstGeom prst="rect">
            <a:avLst/>
          </a:prstGeom>
          <a:solidFill>
            <a:srgbClr val="FFFFFF"/>
          </a:solidFill>
          <a:ln w="9525">
            <a:solidFill>
              <a:srgbClr val="CFDEE1"/>
            </a:solidFill>
            <a:prstDash val="solid"/>
          </a:ln>
        </p:spPr>
      </p:sp>
      <p:sp>
        <p:nvSpPr>
          <p:cNvPr id="21" name="Text 19"/>
          <p:cNvSpPr/>
          <p:nvPr/>
        </p:nvSpPr>
        <p:spPr>
          <a:xfrm>
            <a:off x="694944" y="4379976"/>
            <a:ext cx="2633472" cy="384048"/>
          </a:xfrm>
          <a:prstGeom prst="rect">
            <a:avLst/>
          </a:prstGeom>
          <a:noFill/>
          <a:ln/>
        </p:spPr>
        <p:txBody>
          <a:bodyPr wrap="square" lIns="0" tIns="0" rIns="0" bIns="0" rtlCol="0" anchor="ctr"/>
          <a:lstStyle/>
          <a:p>
            <a:pPr algn="l" indent="0" marL="0">
              <a:buNone/>
            </a:pPr>
            <a:r>
              <a:rPr lang="en-US" sz="1150" dirty="0">
                <a:solidFill>
                  <a:srgbClr val="0F2E3D"/>
                </a:solidFill>
                <a:latin typeface="Calibri" pitchFamily="34" charset="0"/>
                <a:ea typeface="Calibri" pitchFamily="34" charset="-122"/>
                <a:cs typeface="Calibri" pitchFamily="34" charset="-120"/>
              </a:rPr>
              <a:t>Codelist</a:t>
            </a:r>
            <a:endParaRPr lang="en-US" sz="1150" dirty="0"/>
          </a:p>
        </p:txBody>
      </p:sp>
      <p:sp>
        <p:nvSpPr>
          <p:cNvPr id="22" name="Shape 20"/>
          <p:cNvSpPr/>
          <p:nvPr/>
        </p:nvSpPr>
        <p:spPr>
          <a:xfrm>
            <a:off x="3383280" y="4379976"/>
            <a:ext cx="3657600" cy="384048"/>
          </a:xfrm>
          <a:prstGeom prst="rect">
            <a:avLst/>
          </a:prstGeom>
          <a:solidFill>
            <a:srgbClr val="FFFFFF"/>
          </a:solidFill>
          <a:ln w="9525">
            <a:solidFill>
              <a:srgbClr val="CFDEE1"/>
            </a:solidFill>
            <a:prstDash val="solid"/>
          </a:ln>
        </p:spPr>
      </p:sp>
      <p:sp>
        <p:nvSpPr>
          <p:cNvPr id="23" name="Text 21"/>
          <p:cNvSpPr/>
          <p:nvPr/>
        </p:nvSpPr>
        <p:spPr>
          <a:xfrm>
            <a:off x="3438144" y="4379976"/>
            <a:ext cx="3547872" cy="384048"/>
          </a:xfrm>
          <a:prstGeom prst="rect">
            <a:avLst/>
          </a:prstGeom>
          <a:noFill/>
          <a:ln/>
        </p:spPr>
        <p:txBody>
          <a:bodyPr wrap="square" lIns="0" tIns="0" rIns="0" bIns="0" rtlCol="0" anchor="ctr"/>
          <a:lstStyle/>
          <a:p>
            <a:pPr algn="l" indent="0" marL="0">
              <a:buNone/>
            </a:pPr>
            <a:r>
              <a:rPr lang="en-US" sz="1150" dirty="0">
                <a:solidFill>
                  <a:srgbClr val="0F2E3D"/>
                </a:solidFill>
                <a:latin typeface="Calibri" pitchFamily="34" charset="0"/>
                <a:ea typeface="Calibri" pitchFamily="34" charset="-122"/>
                <a:cs typeface="Calibri" pitchFamily="34" charset="-120"/>
              </a:rPr>
              <a:t>→ the AEOUT codelist</a:t>
            </a:r>
            <a:endParaRPr lang="en-US" sz="1150" dirty="0"/>
          </a:p>
        </p:txBody>
      </p:sp>
      <p:sp>
        <p:nvSpPr>
          <p:cNvPr id="24" name="Shape 22"/>
          <p:cNvSpPr/>
          <p:nvPr/>
        </p:nvSpPr>
        <p:spPr>
          <a:xfrm>
            <a:off x="7040880" y="4379976"/>
            <a:ext cx="4572000" cy="384048"/>
          </a:xfrm>
          <a:prstGeom prst="rect">
            <a:avLst/>
          </a:prstGeom>
          <a:solidFill>
            <a:srgbClr val="FFFFFF"/>
          </a:solidFill>
          <a:ln w="9525">
            <a:solidFill>
              <a:srgbClr val="CFDEE1"/>
            </a:solidFill>
            <a:prstDash val="solid"/>
          </a:ln>
        </p:spPr>
      </p:sp>
      <p:sp>
        <p:nvSpPr>
          <p:cNvPr id="25" name="Text 23"/>
          <p:cNvSpPr/>
          <p:nvPr/>
        </p:nvSpPr>
        <p:spPr>
          <a:xfrm>
            <a:off x="7095744" y="4379976"/>
            <a:ext cx="4462272" cy="384048"/>
          </a:xfrm>
          <a:prstGeom prst="rect">
            <a:avLst/>
          </a:prstGeom>
          <a:noFill/>
          <a:ln/>
        </p:spPr>
        <p:txBody>
          <a:bodyPr wrap="square" lIns="0" tIns="0" rIns="0" bIns="0" rtlCol="0" anchor="ctr"/>
          <a:lstStyle/>
          <a:p>
            <a:pPr algn="l" indent="0" marL="0">
              <a:buNone/>
            </a:pPr>
            <a:r>
              <a:rPr lang="en-US" sz="1150" dirty="0">
                <a:solidFill>
                  <a:srgbClr val="0F2E3D"/>
                </a:solidFill>
                <a:latin typeface="Calibri" pitchFamily="34" charset="0"/>
                <a:ea typeface="Calibri" pitchFamily="34" charset="-122"/>
                <a:cs typeface="Calibri" pitchFamily="34" charset="-120"/>
              </a:rPr>
              <a:t>to know the allowed values</a:t>
            </a:r>
            <a:endParaRPr lang="en-US" sz="1150" dirty="0"/>
          </a:p>
        </p:txBody>
      </p:sp>
      <p:sp>
        <p:nvSpPr>
          <p:cNvPr id="26" name="Shape 24"/>
          <p:cNvSpPr/>
          <p:nvPr/>
        </p:nvSpPr>
        <p:spPr>
          <a:xfrm>
            <a:off x="640080" y="4764024"/>
            <a:ext cx="2743200" cy="384048"/>
          </a:xfrm>
          <a:prstGeom prst="rect">
            <a:avLst/>
          </a:prstGeom>
          <a:solidFill>
            <a:srgbClr val="F3F7F8"/>
          </a:solidFill>
          <a:ln w="9525">
            <a:solidFill>
              <a:srgbClr val="CFDEE1"/>
            </a:solidFill>
            <a:prstDash val="solid"/>
          </a:ln>
        </p:spPr>
      </p:sp>
      <p:sp>
        <p:nvSpPr>
          <p:cNvPr id="27" name="Text 25"/>
          <p:cNvSpPr/>
          <p:nvPr/>
        </p:nvSpPr>
        <p:spPr>
          <a:xfrm>
            <a:off x="694944" y="4764024"/>
            <a:ext cx="2633472" cy="384048"/>
          </a:xfrm>
          <a:prstGeom prst="rect">
            <a:avLst/>
          </a:prstGeom>
          <a:noFill/>
          <a:ln/>
        </p:spPr>
        <p:txBody>
          <a:bodyPr wrap="square" lIns="0" tIns="0" rIns="0" bIns="0" rtlCol="0" anchor="ctr"/>
          <a:lstStyle/>
          <a:p>
            <a:pPr algn="l" indent="0" marL="0">
              <a:buNone/>
            </a:pPr>
            <a:r>
              <a:rPr lang="en-US" sz="1150" dirty="0">
                <a:solidFill>
                  <a:srgbClr val="0F2E3D"/>
                </a:solidFill>
                <a:latin typeface="Calibri" pitchFamily="34" charset="0"/>
                <a:ea typeface="Calibri" pitchFamily="34" charset="-122"/>
                <a:cs typeface="Calibri" pitchFamily="34" charset="-120"/>
              </a:rPr>
              <a:t>Origin</a:t>
            </a:r>
            <a:endParaRPr lang="en-US" sz="1150" dirty="0"/>
          </a:p>
        </p:txBody>
      </p:sp>
      <p:sp>
        <p:nvSpPr>
          <p:cNvPr id="28" name="Shape 26"/>
          <p:cNvSpPr/>
          <p:nvPr/>
        </p:nvSpPr>
        <p:spPr>
          <a:xfrm>
            <a:off x="3383280" y="4764024"/>
            <a:ext cx="3657600" cy="384048"/>
          </a:xfrm>
          <a:prstGeom prst="rect">
            <a:avLst/>
          </a:prstGeom>
          <a:solidFill>
            <a:srgbClr val="F3F7F8"/>
          </a:solidFill>
          <a:ln w="9525">
            <a:solidFill>
              <a:srgbClr val="CFDEE1"/>
            </a:solidFill>
            <a:prstDash val="solid"/>
          </a:ln>
        </p:spPr>
      </p:sp>
      <p:sp>
        <p:nvSpPr>
          <p:cNvPr id="29" name="Text 27"/>
          <p:cNvSpPr/>
          <p:nvPr/>
        </p:nvSpPr>
        <p:spPr>
          <a:xfrm>
            <a:off x="3438144" y="4764024"/>
            <a:ext cx="3547872" cy="384048"/>
          </a:xfrm>
          <a:prstGeom prst="rect">
            <a:avLst/>
          </a:prstGeom>
          <a:noFill/>
          <a:ln/>
        </p:spPr>
        <p:txBody>
          <a:bodyPr wrap="square" lIns="0" tIns="0" rIns="0" bIns="0" rtlCol="0" anchor="ctr"/>
          <a:lstStyle/>
          <a:p>
            <a:pPr algn="l" indent="0" marL="0">
              <a:buNone/>
            </a:pPr>
            <a:r>
              <a:rPr lang="en-US" sz="1150" dirty="0">
                <a:solidFill>
                  <a:srgbClr val="0F2E3D"/>
                </a:solidFill>
                <a:latin typeface="Calibri" pitchFamily="34" charset="0"/>
                <a:ea typeface="Calibri" pitchFamily="34" charset="-122"/>
                <a:cs typeface="Calibri" pitchFamily="34" charset="-120"/>
              </a:rPr>
              <a:t>CRF / DERIVED / ASSIGNED</a:t>
            </a:r>
            <a:endParaRPr lang="en-US" sz="1150" dirty="0"/>
          </a:p>
        </p:txBody>
      </p:sp>
      <p:sp>
        <p:nvSpPr>
          <p:cNvPr id="30" name="Shape 28"/>
          <p:cNvSpPr/>
          <p:nvPr/>
        </p:nvSpPr>
        <p:spPr>
          <a:xfrm>
            <a:off x="7040880" y="4764024"/>
            <a:ext cx="4572000" cy="384048"/>
          </a:xfrm>
          <a:prstGeom prst="rect">
            <a:avLst/>
          </a:prstGeom>
          <a:solidFill>
            <a:srgbClr val="F3F7F8"/>
          </a:solidFill>
          <a:ln w="9525">
            <a:solidFill>
              <a:srgbClr val="CFDEE1"/>
            </a:solidFill>
            <a:prstDash val="solid"/>
          </a:ln>
        </p:spPr>
      </p:sp>
      <p:sp>
        <p:nvSpPr>
          <p:cNvPr id="31" name="Text 29"/>
          <p:cNvSpPr/>
          <p:nvPr/>
        </p:nvSpPr>
        <p:spPr>
          <a:xfrm>
            <a:off x="7095744" y="4764024"/>
            <a:ext cx="4462272" cy="384048"/>
          </a:xfrm>
          <a:prstGeom prst="rect">
            <a:avLst/>
          </a:prstGeom>
          <a:noFill/>
          <a:ln/>
        </p:spPr>
        <p:txBody>
          <a:bodyPr wrap="square" lIns="0" tIns="0" rIns="0" bIns="0" rtlCol="0" anchor="ctr"/>
          <a:lstStyle/>
          <a:p>
            <a:pPr algn="l" indent="0" marL="0">
              <a:buNone/>
            </a:pPr>
            <a:r>
              <a:rPr lang="en-US" sz="1150" dirty="0">
                <a:solidFill>
                  <a:srgbClr val="0F2E3D"/>
                </a:solidFill>
                <a:latin typeface="Calibri" pitchFamily="34" charset="0"/>
                <a:ea typeface="Calibri" pitchFamily="34" charset="-122"/>
                <a:cs typeface="Calibri" pitchFamily="34" charset="-120"/>
              </a:rPr>
              <a:t>to trust where it came from</a:t>
            </a:r>
            <a:endParaRPr lang="en-US" sz="1150" dirty="0"/>
          </a:p>
        </p:txBody>
      </p:sp>
      <p:sp>
        <p:nvSpPr>
          <p:cNvPr id="32" name="Shape 30"/>
          <p:cNvSpPr/>
          <p:nvPr/>
        </p:nvSpPr>
        <p:spPr>
          <a:xfrm>
            <a:off x="640080" y="5148072"/>
            <a:ext cx="2743200" cy="384048"/>
          </a:xfrm>
          <a:prstGeom prst="rect">
            <a:avLst/>
          </a:prstGeom>
          <a:solidFill>
            <a:srgbClr val="FFFFFF"/>
          </a:solidFill>
          <a:ln w="9525">
            <a:solidFill>
              <a:srgbClr val="CFDEE1"/>
            </a:solidFill>
            <a:prstDash val="solid"/>
          </a:ln>
        </p:spPr>
      </p:sp>
      <p:sp>
        <p:nvSpPr>
          <p:cNvPr id="33" name="Text 31"/>
          <p:cNvSpPr/>
          <p:nvPr/>
        </p:nvSpPr>
        <p:spPr>
          <a:xfrm>
            <a:off x="694944" y="5148072"/>
            <a:ext cx="2633472" cy="384048"/>
          </a:xfrm>
          <a:prstGeom prst="rect">
            <a:avLst/>
          </a:prstGeom>
          <a:noFill/>
          <a:ln/>
        </p:spPr>
        <p:txBody>
          <a:bodyPr wrap="square" lIns="0" tIns="0" rIns="0" bIns="0" rtlCol="0" anchor="ctr"/>
          <a:lstStyle/>
          <a:p>
            <a:pPr algn="l" indent="0" marL="0">
              <a:buNone/>
            </a:pPr>
            <a:r>
              <a:rPr lang="en-US" sz="1150" dirty="0">
                <a:solidFill>
                  <a:srgbClr val="0F2E3D"/>
                </a:solidFill>
                <a:latin typeface="Calibri" pitchFamily="34" charset="0"/>
                <a:ea typeface="Calibri" pitchFamily="34" charset="-122"/>
                <a:cs typeface="Calibri" pitchFamily="34" charset="-120"/>
              </a:rPr>
              <a:t>Derivation</a:t>
            </a:r>
            <a:endParaRPr lang="en-US" sz="1150" dirty="0"/>
          </a:p>
        </p:txBody>
      </p:sp>
      <p:sp>
        <p:nvSpPr>
          <p:cNvPr id="34" name="Shape 32"/>
          <p:cNvSpPr/>
          <p:nvPr/>
        </p:nvSpPr>
        <p:spPr>
          <a:xfrm>
            <a:off x="3383280" y="5148072"/>
            <a:ext cx="3657600" cy="384048"/>
          </a:xfrm>
          <a:prstGeom prst="rect">
            <a:avLst/>
          </a:prstGeom>
          <a:solidFill>
            <a:srgbClr val="FFFFFF"/>
          </a:solidFill>
          <a:ln w="9525">
            <a:solidFill>
              <a:srgbClr val="CFDEE1"/>
            </a:solidFill>
            <a:prstDash val="solid"/>
          </a:ln>
        </p:spPr>
      </p:sp>
      <p:sp>
        <p:nvSpPr>
          <p:cNvPr id="35" name="Text 33"/>
          <p:cNvSpPr/>
          <p:nvPr/>
        </p:nvSpPr>
        <p:spPr>
          <a:xfrm>
            <a:off x="3438144" y="5148072"/>
            <a:ext cx="3547872" cy="384048"/>
          </a:xfrm>
          <a:prstGeom prst="rect">
            <a:avLst/>
          </a:prstGeom>
          <a:noFill/>
          <a:ln/>
        </p:spPr>
        <p:txBody>
          <a:bodyPr wrap="square" lIns="0" tIns="0" rIns="0" bIns="0" rtlCol="0" anchor="ctr"/>
          <a:lstStyle/>
          <a:p>
            <a:pPr algn="l" indent="0" marL="0">
              <a:buNone/>
            </a:pPr>
            <a:r>
              <a:rPr lang="en-US" sz="1150" dirty="0">
                <a:solidFill>
                  <a:srgbClr val="0F2E3D"/>
                </a:solidFill>
                <a:latin typeface="Calibri" pitchFamily="34" charset="0"/>
                <a:ea typeface="Calibri" pitchFamily="34" charset="-122"/>
                <a:cs typeface="Calibri" pitchFamily="34" charset="-120"/>
              </a:rPr>
              <a:t>"decoded from raw code 1-5"</a:t>
            </a:r>
            <a:endParaRPr lang="en-US" sz="1150" dirty="0"/>
          </a:p>
        </p:txBody>
      </p:sp>
      <p:sp>
        <p:nvSpPr>
          <p:cNvPr id="36" name="Shape 34"/>
          <p:cNvSpPr/>
          <p:nvPr/>
        </p:nvSpPr>
        <p:spPr>
          <a:xfrm>
            <a:off x="7040880" y="5148072"/>
            <a:ext cx="4572000" cy="384048"/>
          </a:xfrm>
          <a:prstGeom prst="rect">
            <a:avLst/>
          </a:prstGeom>
          <a:solidFill>
            <a:srgbClr val="FFFFFF"/>
          </a:solidFill>
          <a:ln w="9525">
            <a:solidFill>
              <a:srgbClr val="CFDEE1"/>
            </a:solidFill>
            <a:prstDash val="solid"/>
          </a:ln>
        </p:spPr>
      </p:sp>
      <p:sp>
        <p:nvSpPr>
          <p:cNvPr id="37" name="Text 35"/>
          <p:cNvSpPr/>
          <p:nvPr/>
        </p:nvSpPr>
        <p:spPr>
          <a:xfrm>
            <a:off x="7095744" y="5148072"/>
            <a:ext cx="4462272" cy="384048"/>
          </a:xfrm>
          <a:prstGeom prst="rect">
            <a:avLst/>
          </a:prstGeom>
          <a:noFill/>
          <a:ln/>
        </p:spPr>
        <p:txBody>
          <a:bodyPr wrap="square" lIns="0" tIns="0" rIns="0" bIns="0" rtlCol="0" anchor="ctr"/>
          <a:lstStyle/>
          <a:p>
            <a:pPr algn="l" indent="0" marL="0">
              <a:buNone/>
            </a:pPr>
            <a:r>
              <a:rPr lang="en-US" sz="1150" dirty="0">
                <a:solidFill>
                  <a:srgbClr val="0F2E3D"/>
                </a:solidFill>
                <a:latin typeface="Calibri" pitchFamily="34" charset="0"/>
                <a:ea typeface="Calibri" pitchFamily="34" charset="-122"/>
                <a:cs typeface="Calibri" pitchFamily="34" charset="-120"/>
              </a:rPr>
              <a:t>to reproduce or audit it</a:t>
            </a:r>
            <a:endParaRPr lang="en-US" sz="1150" dirty="0"/>
          </a:p>
        </p:txBody>
      </p:sp>
      <p:sp>
        <p:nvSpPr>
          <p:cNvPr id="38" name="Shape 36"/>
          <p:cNvSpPr/>
          <p:nvPr/>
        </p:nvSpPr>
        <p:spPr>
          <a:xfrm>
            <a:off x="640080" y="5623560"/>
            <a:ext cx="10972800" cy="777240"/>
          </a:xfrm>
          <a:prstGeom prst="roundRect">
            <a:avLst>
              <a:gd name="adj" fmla="val 10588"/>
            </a:avLst>
          </a:prstGeom>
          <a:solidFill>
            <a:srgbClr val="FDF1E7"/>
          </a:solidFill>
          <a:ln w="12700">
            <a:solidFill>
              <a:srgbClr val="CFDEE1"/>
            </a:solidFill>
            <a:prstDash val="solid"/>
          </a:ln>
          <a:effectLst>
            <a:outerShdw sx="100000" sy="100000" kx="0" ky="0" algn="bl" rotWithShape="0" blurRad="101600" dist="38100" dir="5400000">
              <a:srgbClr val="8AA0A8">
                <a:alpha val="35000"/>
              </a:srgbClr>
            </a:outerShdw>
          </a:effectLst>
        </p:spPr>
      </p:sp>
      <p:sp>
        <p:nvSpPr>
          <p:cNvPr id="39" name="Text 37"/>
          <p:cNvSpPr/>
          <p:nvPr/>
        </p:nvSpPr>
        <p:spPr>
          <a:xfrm>
            <a:off x="914400" y="5733288"/>
            <a:ext cx="10424160" cy="594360"/>
          </a:xfrm>
          <a:prstGeom prst="rect">
            <a:avLst/>
          </a:prstGeom>
          <a:noFill/>
          <a:ln/>
        </p:spPr>
        <p:txBody>
          <a:bodyPr wrap="square" lIns="0" tIns="0" rIns="0" bIns="0" rtlCol="0" anchor="ctr"/>
          <a:lstStyle/>
          <a:p>
            <a:pPr indent="0" marL="0">
              <a:buNone/>
            </a:pPr>
            <a:r>
              <a:rPr lang="en-US" sz="1250" b="1" dirty="0">
                <a:solidFill>
                  <a:srgbClr val="B5651A"/>
                </a:solidFill>
                <a:latin typeface="Calibri" pitchFamily="34" charset="0"/>
                <a:ea typeface="Calibri" pitchFamily="34" charset="-122"/>
                <a:cs typeface="Calibri" pitchFamily="34" charset="-120"/>
              </a:rPr>
              <a:t>Origin is the one people underestimate.  </a:t>
            </a:r>
            <a:pPr indent="0" marL="0">
              <a:buNone/>
            </a:pPr>
            <a:r>
              <a:rPr lang="en-US" sz="1250" dirty="0">
                <a:solidFill>
                  <a:srgbClr val="0F2E3D"/>
                </a:solidFill>
                <a:latin typeface="Calibri" pitchFamily="34" charset="0"/>
                <a:ea typeface="Calibri" pitchFamily="34" charset="-122"/>
                <a:cs typeface="Calibri" pitchFamily="34" charset="-120"/>
              </a:rPr>
              <a:t>It tells the reviewer whether a value was collected on the CRF, derived by a program, or assigned by the sponsor. AETRTEM is DERIVED; AETERM is CRF. That provenance is what makes the data auditable.</a:t>
            </a:r>
            <a:endParaRPr lang="en-US" sz="12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F2E3D"/>
        </a:solidFill>
      </p:bgPr>
    </p:bg>
    <p:spTree>
      <p:nvGrpSpPr>
        <p:cNvPr id="1" name=""/>
        <p:cNvGrpSpPr/>
        <p:nvPr/>
      </p:nvGrpSpPr>
      <p:grpSpPr>
        <a:xfrm>
          <a:off x="0" y="0"/>
          <a:ext cx="0" cy="0"/>
          <a:chOff x="0" y="0"/>
          <a:chExt cx="0" cy="0"/>
        </a:xfrm>
      </p:grpSpPr>
      <p:sp>
        <p:nvSpPr>
          <p:cNvPr id="2" name="Text 0"/>
          <p:cNvSpPr/>
          <p:nvPr/>
        </p:nvSpPr>
        <p:spPr>
          <a:xfrm>
            <a:off x="640080" y="502920"/>
            <a:ext cx="10972800" cy="274320"/>
          </a:xfrm>
          <a:prstGeom prst="rect">
            <a:avLst/>
          </a:prstGeom>
          <a:noFill/>
          <a:ln/>
        </p:spPr>
        <p:txBody>
          <a:bodyPr wrap="square" lIns="0" tIns="0" rIns="0" bIns="0" rtlCol="0" anchor="ctr"/>
          <a:lstStyle/>
          <a:p>
            <a:pPr indent="0" marL="0">
              <a:buNone/>
            </a:pPr>
            <a:r>
              <a:rPr lang="en-US" sz="1200" b="1" spc="200" kern="0" dirty="0">
                <a:solidFill>
                  <a:srgbClr val="6FC8B4"/>
                </a:solidFill>
                <a:latin typeface="Calibri" pitchFamily="34" charset="0"/>
                <a:ea typeface="Calibri" pitchFamily="34" charset="-122"/>
                <a:cs typeface="Calibri" pitchFamily="34" charset="-120"/>
              </a:rPr>
              <a:t>ONE CHAIN OF TRACEABILITY</a:t>
            </a:r>
            <a:endParaRPr lang="en-US" sz="1200" dirty="0"/>
          </a:p>
        </p:txBody>
      </p:sp>
      <p:sp>
        <p:nvSpPr>
          <p:cNvPr id="3" name="Text 1"/>
          <p:cNvSpPr/>
          <p:nvPr/>
        </p:nvSpPr>
        <p:spPr>
          <a:xfrm>
            <a:off x="603504" y="822960"/>
            <a:ext cx="10972800" cy="68580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From the reviewer's question back to the CRF</a:t>
            </a:r>
            <a:endParaRPr lang="en-US" sz="3000" dirty="0"/>
          </a:p>
        </p:txBody>
      </p:sp>
      <p:sp>
        <p:nvSpPr>
          <p:cNvPr id="4" name="Shape 2"/>
          <p:cNvSpPr/>
          <p:nvPr/>
        </p:nvSpPr>
        <p:spPr>
          <a:xfrm>
            <a:off x="1280160" y="1783080"/>
            <a:ext cx="9692640" cy="658368"/>
          </a:xfrm>
          <a:prstGeom prst="roundRect">
            <a:avLst>
              <a:gd name="adj" fmla="val 11111"/>
            </a:avLst>
          </a:prstGeom>
          <a:solidFill>
            <a:srgbClr val="163B4B"/>
          </a:solidFill>
          <a:ln w="16510">
            <a:solidFill>
              <a:srgbClr val="0E7C86"/>
            </a:solidFill>
            <a:prstDash val="solid"/>
          </a:ln>
        </p:spPr>
      </p:sp>
      <p:sp>
        <p:nvSpPr>
          <p:cNvPr id="5" name="Text 3"/>
          <p:cNvSpPr/>
          <p:nvPr/>
        </p:nvSpPr>
        <p:spPr>
          <a:xfrm>
            <a:off x="1554480" y="1920240"/>
            <a:ext cx="3200400" cy="384048"/>
          </a:xfrm>
          <a:prstGeom prst="rect">
            <a:avLst/>
          </a:prstGeom>
          <a:noFill/>
          <a:ln/>
        </p:spPr>
        <p:txBody>
          <a:bodyPr wrap="square" lIns="0" tIns="0" rIns="0" bIns="0" rtlCol="0" anchor="ctr"/>
          <a:lstStyle/>
          <a:p>
            <a:pPr indent="0" marL="0">
              <a:buNone/>
            </a:pPr>
            <a:r>
              <a:rPr lang="en-US" sz="1300" b="1" dirty="0">
                <a:solidFill>
                  <a:srgbClr val="0E7C86"/>
                </a:solidFill>
                <a:latin typeface="Cambria" pitchFamily="34" charset="0"/>
                <a:ea typeface="Cambria" pitchFamily="34" charset="-122"/>
                <a:cs typeface="Cambria" pitchFamily="34" charset="-120"/>
              </a:rPr>
              <a:t>A value in ae.xpt</a:t>
            </a:r>
            <a:endParaRPr lang="en-US" sz="1300" dirty="0"/>
          </a:p>
        </p:txBody>
      </p:sp>
      <p:sp>
        <p:nvSpPr>
          <p:cNvPr id="6" name="Text 4"/>
          <p:cNvSpPr/>
          <p:nvPr/>
        </p:nvSpPr>
        <p:spPr>
          <a:xfrm>
            <a:off x="4846320" y="1920240"/>
            <a:ext cx="5852160" cy="384048"/>
          </a:xfrm>
          <a:prstGeom prst="rect">
            <a:avLst/>
          </a:prstGeom>
          <a:noFill/>
          <a:ln/>
        </p:spPr>
        <p:txBody>
          <a:bodyPr wrap="square" lIns="0" tIns="0" rIns="0" bIns="0" rtlCol="0" anchor="ctr"/>
          <a:lstStyle/>
          <a:p>
            <a:pPr indent="0" marL="0">
              <a:buNone/>
            </a:pPr>
            <a:r>
              <a:rPr lang="en-US" sz="1150" dirty="0">
                <a:solidFill>
                  <a:srgbClr val="DCEBEF"/>
                </a:solidFill>
                <a:latin typeface="Calibri" pitchFamily="34" charset="0"/>
                <a:ea typeface="Calibri" pitchFamily="34" charset="-122"/>
                <a:cs typeface="Calibri" pitchFamily="34" charset="-120"/>
              </a:rPr>
              <a:t>AEOUT = RECOVERED/RESOLVED</a:t>
            </a:r>
            <a:endParaRPr lang="en-US" sz="1150" dirty="0"/>
          </a:p>
        </p:txBody>
      </p:sp>
      <p:sp>
        <p:nvSpPr>
          <p:cNvPr id="7" name="Text 5"/>
          <p:cNvSpPr/>
          <p:nvPr/>
        </p:nvSpPr>
        <p:spPr>
          <a:xfrm>
            <a:off x="5852160" y="2423160"/>
            <a:ext cx="457200" cy="256032"/>
          </a:xfrm>
          <a:prstGeom prst="rect">
            <a:avLst/>
          </a:prstGeom>
          <a:noFill/>
          <a:ln/>
        </p:spPr>
        <p:txBody>
          <a:bodyPr wrap="square" lIns="0" tIns="0" rIns="0" bIns="0" rtlCol="0" anchor="ctr"/>
          <a:lstStyle/>
          <a:p>
            <a:pPr algn="ctr" indent="0" marL="0">
              <a:buNone/>
            </a:pPr>
            <a:r>
              <a:rPr lang="en-US" sz="1300" dirty="0">
                <a:solidFill>
                  <a:srgbClr val="5A7682"/>
                </a:solidFill>
              </a:rPr>
              <a:t>▼</a:t>
            </a:r>
            <a:endParaRPr lang="en-US" sz="1300" dirty="0"/>
          </a:p>
        </p:txBody>
      </p:sp>
      <p:sp>
        <p:nvSpPr>
          <p:cNvPr id="8" name="Shape 6"/>
          <p:cNvSpPr/>
          <p:nvPr/>
        </p:nvSpPr>
        <p:spPr>
          <a:xfrm>
            <a:off x="1280160" y="2642616"/>
            <a:ext cx="9692640" cy="658368"/>
          </a:xfrm>
          <a:prstGeom prst="roundRect">
            <a:avLst>
              <a:gd name="adj" fmla="val 11111"/>
            </a:avLst>
          </a:prstGeom>
          <a:solidFill>
            <a:srgbClr val="163B4B"/>
          </a:solidFill>
          <a:ln w="16510">
            <a:solidFill>
              <a:srgbClr val="E8833A"/>
            </a:solidFill>
            <a:prstDash val="solid"/>
          </a:ln>
        </p:spPr>
      </p:sp>
      <p:sp>
        <p:nvSpPr>
          <p:cNvPr id="9" name="Text 7"/>
          <p:cNvSpPr/>
          <p:nvPr/>
        </p:nvSpPr>
        <p:spPr>
          <a:xfrm>
            <a:off x="1554480" y="2779776"/>
            <a:ext cx="3200400" cy="384048"/>
          </a:xfrm>
          <a:prstGeom prst="rect">
            <a:avLst/>
          </a:prstGeom>
          <a:noFill/>
          <a:ln/>
        </p:spPr>
        <p:txBody>
          <a:bodyPr wrap="square" lIns="0" tIns="0" rIns="0" bIns="0" rtlCol="0" anchor="ctr"/>
          <a:lstStyle/>
          <a:p>
            <a:pPr indent="0" marL="0">
              <a:buNone/>
            </a:pPr>
            <a:r>
              <a:rPr lang="en-US" sz="1300" b="1" dirty="0">
                <a:solidFill>
                  <a:srgbClr val="E8833A"/>
                </a:solidFill>
                <a:latin typeface="Cambria" pitchFamily="34" charset="0"/>
                <a:ea typeface="Cambria" pitchFamily="34" charset="-122"/>
                <a:cs typeface="Cambria" pitchFamily="34" charset="-120"/>
              </a:rPr>
              <a:t>define.xml says</a:t>
            </a:r>
            <a:endParaRPr lang="en-US" sz="1300" dirty="0"/>
          </a:p>
        </p:txBody>
      </p:sp>
      <p:sp>
        <p:nvSpPr>
          <p:cNvPr id="10" name="Text 8"/>
          <p:cNvSpPr/>
          <p:nvPr/>
        </p:nvSpPr>
        <p:spPr>
          <a:xfrm>
            <a:off x="4846320" y="2779776"/>
            <a:ext cx="5852160" cy="384048"/>
          </a:xfrm>
          <a:prstGeom prst="rect">
            <a:avLst/>
          </a:prstGeom>
          <a:noFill/>
          <a:ln/>
        </p:spPr>
        <p:txBody>
          <a:bodyPr wrap="square" lIns="0" tIns="0" rIns="0" bIns="0" rtlCol="0" anchor="ctr"/>
          <a:lstStyle/>
          <a:p>
            <a:pPr indent="0" marL="0">
              <a:buNone/>
            </a:pPr>
            <a:r>
              <a:rPr lang="en-US" sz="1150" dirty="0">
                <a:solidFill>
                  <a:srgbClr val="DCEBEF"/>
                </a:solidFill>
                <a:latin typeface="Calibri" pitchFamily="34" charset="0"/>
                <a:ea typeface="Calibri" pitchFamily="34" charset="-122"/>
                <a:cs typeface="Calibri" pitchFamily="34" charset="-120"/>
              </a:rPr>
              <a:t>origin CRF, decoded via the AEOUT codelist from a 1-5 code</a:t>
            </a:r>
            <a:endParaRPr lang="en-US" sz="1150" dirty="0"/>
          </a:p>
        </p:txBody>
      </p:sp>
      <p:sp>
        <p:nvSpPr>
          <p:cNvPr id="11" name="Text 9"/>
          <p:cNvSpPr/>
          <p:nvPr/>
        </p:nvSpPr>
        <p:spPr>
          <a:xfrm>
            <a:off x="5852160" y="3282696"/>
            <a:ext cx="457200" cy="256032"/>
          </a:xfrm>
          <a:prstGeom prst="rect">
            <a:avLst/>
          </a:prstGeom>
          <a:noFill/>
          <a:ln/>
        </p:spPr>
        <p:txBody>
          <a:bodyPr wrap="square" lIns="0" tIns="0" rIns="0" bIns="0" rtlCol="0" anchor="ctr"/>
          <a:lstStyle/>
          <a:p>
            <a:pPr algn="ctr" indent="0" marL="0">
              <a:buNone/>
            </a:pPr>
            <a:r>
              <a:rPr lang="en-US" sz="1300" dirty="0">
                <a:solidFill>
                  <a:srgbClr val="5A7682"/>
                </a:solidFill>
              </a:rPr>
              <a:t>▼</a:t>
            </a:r>
            <a:endParaRPr lang="en-US" sz="1300" dirty="0"/>
          </a:p>
        </p:txBody>
      </p:sp>
      <p:sp>
        <p:nvSpPr>
          <p:cNvPr id="12" name="Shape 10"/>
          <p:cNvSpPr/>
          <p:nvPr/>
        </p:nvSpPr>
        <p:spPr>
          <a:xfrm>
            <a:off x="1280160" y="3502152"/>
            <a:ext cx="9692640" cy="658368"/>
          </a:xfrm>
          <a:prstGeom prst="roundRect">
            <a:avLst>
              <a:gd name="adj" fmla="val 11111"/>
            </a:avLst>
          </a:prstGeom>
          <a:solidFill>
            <a:srgbClr val="163B4B"/>
          </a:solidFill>
          <a:ln w="16510">
            <a:solidFill>
              <a:srgbClr val="6FC8B4"/>
            </a:solidFill>
            <a:prstDash val="solid"/>
          </a:ln>
        </p:spPr>
      </p:sp>
      <p:sp>
        <p:nvSpPr>
          <p:cNvPr id="13" name="Text 11"/>
          <p:cNvSpPr/>
          <p:nvPr/>
        </p:nvSpPr>
        <p:spPr>
          <a:xfrm>
            <a:off x="1554480" y="3639312"/>
            <a:ext cx="3200400" cy="384048"/>
          </a:xfrm>
          <a:prstGeom prst="rect">
            <a:avLst/>
          </a:prstGeom>
          <a:noFill/>
          <a:ln/>
        </p:spPr>
        <p:txBody>
          <a:bodyPr wrap="square" lIns="0" tIns="0" rIns="0" bIns="0" rtlCol="0" anchor="ctr"/>
          <a:lstStyle/>
          <a:p>
            <a:pPr indent="0" marL="0">
              <a:buNone/>
            </a:pPr>
            <a:r>
              <a:rPr lang="en-US" sz="1300" b="1" dirty="0">
                <a:solidFill>
                  <a:srgbClr val="6FC8B4"/>
                </a:solidFill>
                <a:latin typeface="Cambria" pitchFamily="34" charset="0"/>
                <a:ea typeface="Cambria" pitchFamily="34" charset="-122"/>
                <a:cs typeface="Cambria" pitchFamily="34" charset="-120"/>
              </a:rPr>
              <a:t>The annotated CRF shows</a:t>
            </a:r>
            <a:endParaRPr lang="en-US" sz="1300" dirty="0"/>
          </a:p>
        </p:txBody>
      </p:sp>
      <p:sp>
        <p:nvSpPr>
          <p:cNvPr id="14" name="Text 12"/>
          <p:cNvSpPr/>
          <p:nvPr/>
        </p:nvSpPr>
        <p:spPr>
          <a:xfrm>
            <a:off x="4846320" y="3639312"/>
            <a:ext cx="5852160" cy="384048"/>
          </a:xfrm>
          <a:prstGeom prst="rect">
            <a:avLst/>
          </a:prstGeom>
          <a:noFill/>
          <a:ln/>
        </p:spPr>
        <p:txBody>
          <a:bodyPr wrap="square" lIns="0" tIns="0" rIns="0" bIns="0" rtlCol="0" anchor="ctr"/>
          <a:lstStyle/>
          <a:p>
            <a:pPr indent="0" marL="0">
              <a:buNone/>
            </a:pPr>
            <a:r>
              <a:rPr lang="en-US" sz="1150" dirty="0">
                <a:solidFill>
                  <a:srgbClr val="DCEBEF"/>
                </a:solidFill>
                <a:latin typeface="Calibri" pitchFamily="34" charset="0"/>
                <a:ea typeface="Calibri" pitchFamily="34" charset="-122"/>
                <a:cs typeface="Calibri" pitchFamily="34" charset="-120"/>
              </a:rPr>
              <a:t>the exact CRF field, tagged AEOUT</a:t>
            </a:r>
            <a:endParaRPr lang="en-US" sz="1150" dirty="0"/>
          </a:p>
        </p:txBody>
      </p:sp>
      <p:sp>
        <p:nvSpPr>
          <p:cNvPr id="15" name="Text 13"/>
          <p:cNvSpPr/>
          <p:nvPr/>
        </p:nvSpPr>
        <p:spPr>
          <a:xfrm>
            <a:off x="5852160" y="4142232"/>
            <a:ext cx="457200" cy="256032"/>
          </a:xfrm>
          <a:prstGeom prst="rect">
            <a:avLst/>
          </a:prstGeom>
          <a:noFill/>
          <a:ln/>
        </p:spPr>
        <p:txBody>
          <a:bodyPr wrap="square" lIns="0" tIns="0" rIns="0" bIns="0" rtlCol="0" anchor="ctr"/>
          <a:lstStyle/>
          <a:p>
            <a:pPr algn="ctr" indent="0" marL="0">
              <a:buNone/>
            </a:pPr>
            <a:r>
              <a:rPr lang="en-US" sz="1300" dirty="0">
                <a:solidFill>
                  <a:srgbClr val="5A7682"/>
                </a:solidFill>
              </a:rPr>
              <a:t>▼</a:t>
            </a:r>
            <a:endParaRPr lang="en-US" sz="1300" dirty="0"/>
          </a:p>
        </p:txBody>
      </p:sp>
      <p:sp>
        <p:nvSpPr>
          <p:cNvPr id="16" name="Shape 14"/>
          <p:cNvSpPr/>
          <p:nvPr/>
        </p:nvSpPr>
        <p:spPr>
          <a:xfrm>
            <a:off x="1280160" y="4361688"/>
            <a:ext cx="9692640" cy="658368"/>
          </a:xfrm>
          <a:prstGeom prst="roundRect">
            <a:avLst>
              <a:gd name="adj" fmla="val 11111"/>
            </a:avLst>
          </a:prstGeom>
          <a:solidFill>
            <a:srgbClr val="163B4B"/>
          </a:solidFill>
          <a:ln w="16510">
            <a:solidFill>
              <a:srgbClr val="1FA8A0"/>
            </a:solidFill>
            <a:prstDash val="solid"/>
          </a:ln>
        </p:spPr>
      </p:sp>
      <p:sp>
        <p:nvSpPr>
          <p:cNvPr id="17" name="Text 15"/>
          <p:cNvSpPr/>
          <p:nvPr/>
        </p:nvSpPr>
        <p:spPr>
          <a:xfrm>
            <a:off x="1554480" y="4498848"/>
            <a:ext cx="3200400" cy="384048"/>
          </a:xfrm>
          <a:prstGeom prst="rect">
            <a:avLst/>
          </a:prstGeom>
          <a:noFill/>
          <a:ln/>
        </p:spPr>
        <p:txBody>
          <a:bodyPr wrap="square" lIns="0" tIns="0" rIns="0" bIns="0" rtlCol="0" anchor="ctr"/>
          <a:lstStyle/>
          <a:p>
            <a:pPr indent="0" marL="0">
              <a:buNone/>
            </a:pPr>
            <a:r>
              <a:rPr lang="en-US" sz="1300" b="1" dirty="0">
                <a:solidFill>
                  <a:srgbClr val="1FA8A0"/>
                </a:solidFill>
                <a:latin typeface="Cambria" pitchFamily="34" charset="0"/>
                <a:ea typeface="Cambria" pitchFamily="34" charset="-122"/>
                <a:cs typeface="Cambria" pitchFamily="34" charset="-120"/>
              </a:rPr>
              <a:t>The mapping spec records</a:t>
            </a:r>
            <a:endParaRPr lang="en-US" sz="1300" dirty="0"/>
          </a:p>
        </p:txBody>
      </p:sp>
      <p:sp>
        <p:nvSpPr>
          <p:cNvPr id="18" name="Text 16"/>
          <p:cNvSpPr/>
          <p:nvPr/>
        </p:nvSpPr>
        <p:spPr>
          <a:xfrm>
            <a:off x="4846320" y="4498848"/>
            <a:ext cx="5852160" cy="384048"/>
          </a:xfrm>
          <a:prstGeom prst="rect">
            <a:avLst/>
          </a:prstGeom>
          <a:noFill/>
          <a:ln/>
        </p:spPr>
        <p:txBody>
          <a:bodyPr wrap="square" lIns="0" tIns="0" rIns="0" bIns="0" rtlCol="0" anchor="ctr"/>
          <a:lstStyle/>
          <a:p>
            <a:pPr indent="0" marL="0">
              <a:buNone/>
            </a:pPr>
            <a:r>
              <a:rPr lang="en-US" sz="1150" dirty="0">
                <a:solidFill>
                  <a:srgbClr val="DCEBEF"/>
                </a:solidFill>
                <a:latin typeface="Calibri" pitchFamily="34" charset="0"/>
                <a:ea typeface="Calibri" pitchFamily="34" charset="-122"/>
                <a:cs typeface="Calibri" pitchFamily="34" charset="-120"/>
              </a:rPr>
              <a:t>how raw code 1 became the CT term</a:t>
            </a:r>
            <a:endParaRPr lang="en-US" sz="1150" dirty="0"/>
          </a:p>
        </p:txBody>
      </p:sp>
      <p:sp>
        <p:nvSpPr>
          <p:cNvPr id="19" name="Text 17"/>
          <p:cNvSpPr/>
          <p:nvPr/>
        </p:nvSpPr>
        <p:spPr>
          <a:xfrm>
            <a:off x="5852160" y="5001768"/>
            <a:ext cx="457200" cy="256032"/>
          </a:xfrm>
          <a:prstGeom prst="rect">
            <a:avLst/>
          </a:prstGeom>
          <a:noFill/>
          <a:ln/>
        </p:spPr>
        <p:txBody>
          <a:bodyPr wrap="square" lIns="0" tIns="0" rIns="0" bIns="0" rtlCol="0" anchor="ctr"/>
          <a:lstStyle/>
          <a:p>
            <a:pPr algn="ctr" indent="0" marL="0">
              <a:buNone/>
            </a:pPr>
            <a:r>
              <a:rPr lang="en-US" sz="1300" dirty="0">
                <a:solidFill>
                  <a:srgbClr val="5A7682"/>
                </a:solidFill>
              </a:rPr>
              <a:t>▼</a:t>
            </a:r>
            <a:endParaRPr lang="en-US" sz="1300" dirty="0"/>
          </a:p>
        </p:txBody>
      </p:sp>
      <p:sp>
        <p:nvSpPr>
          <p:cNvPr id="20" name="Shape 18"/>
          <p:cNvSpPr/>
          <p:nvPr/>
        </p:nvSpPr>
        <p:spPr>
          <a:xfrm>
            <a:off x="1280160" y="5221224"/>
            <a:ext cx="9692640" cy="658368"/>
          </a:xfrm>
          <a:prstGeom prst="roundRect">
            <a:avLst>
              <a:gd name="adj" fmla="val 11111"/>
            </a:avLst>
          </a:prstGeom>
          <a:solidFill>
            <a:srgbClr val="163B4B"/>
          </a:solidFill>
          <a:ln w="16510">
            <a:solidFill>
              <a:srgbClr val="C0455B"/>
            </a:solidFill>
            <a:prstDash val="solid"/>
          </a:ln>
        </p:spPr>
      </p:sp>
      <p:sp>
        <p:nvSpPr>
          <p:cNvPr id="21" name="Text 19"/>
          <p:cNvSpPr/>
          <p:nvPr/>
        </p:nvSpPr>
        <p:spPr>
          <a:xfrm>
            <a:off x="1554480" y="5358384"/>
            <a:ext cx="3200400" cy="384048"/>
          </a:xfrm>
          <a:prstGeom prst="rect">
            <a:avLst/>
          </a:prstGeom>
          <a:noFill/>
          <a:ln/>
        </p:spPr>
        <p:txBody>
          <a:bodyPr wrap="square" lIns="0" tIns="0" rIns="0" bIns="0" rtlCol="0" anchor="ctr"/>
          <a:lstStyle/>
          <a:p>
            <a:pPr indent="0" marL="0">
              <a:buNone/>
            </a:pPr>
            <a:r>
              <a:rPr lang="en-US" sz="1300" b="1" dirty="0">
                <a:solidFill>
                  <a:srgbClr val="C0455B"/>
                </a:solidFill>
                <a:latin typeface="Cambria" pitchFamily="34" charset="0"/>
                <a:ea typeface="Cambria" pitchFamily="34" charset="-122"/>
                <a:cs typeface="Cambria" pitchFamily="34" charset="-120"/>
              </a:rPr>
              <a:t>The blank CRF proves</a:t>
            </a:r>
            <a:endParaRPr lang="en-US" sz="1300" dirty="0"/>
          </a:p>
        </p:txBody>
      </p:sp>
      <p:sp>
        <p:nvSpPr>
          <p:cNvPr id="22" name="Text 20"/>
          <p:cNvSpPr/>
          <p:nvPr/>
        </p:nvSpPr>
        <p:spPr>
          <a:xfrm>
            <a:off x="4846320" y="5358384"/>
            <a:ext cx="5852160" cy="384048"/>
          </a:xfrm>
          <a:prstGeom prst="rect">
            <a:avLst/>
          </a:prstGeom>
          <a:noFill/>
          <a:ln/>
        </p:spPr>
        <p:txBody>
          <a:bodyPr wrap="square" lIns="0" tIns="0" rIns="0" bIns="0" rtlCol="0" anchor="ctr"/>
          <a:lstStyle/>
          <a:p>
            <a:pPr indent="0" marL="0">
              <a:buNone/>
            </a:pPr>
            <a:r>
              <a:rPr lang="en-US" sz="1150" dirty="0">
                <a:solidFill>
                  <a:srgbClr val="DCEBEF"/>
                </a:solidFill>
                <a:latin typeface="Calibri" pitchFamily="34" charset="0"/>
                <a:ea typeface="Calibri" pitchFamily="34" charset="-122"/>
                <a:cs typeface="Calibri" pitchFamily="34" charset="-120"/>
              </a:rPr>
              <a:t>what the site was actually asked</a:t>
            </a:r>
            <a:endParaRPr lang="en-US" sz="1150" dirty="0"/>
          </a:p>
        </p:txBody>
      </p:sp>
      <p:sp>
        <p:nvSpPr>
          <p:cNvPr id="23" name="Text 21"/>
          <p:cNvSpPr/>
          <p:nvPr/>
        </p:nvSpPr>
        <p:spPr>
          <a:xfrm>
            <a:off x="640080" y="6355080"/>
            <a:ext cx="10972800" cy="411480"/>
          </a:xfrm>
          <a:prstGeom prst="rect">
            <a:avLst/>
          </a:prstGeom>
          <a:noFill/>
          <a:ln/>
        </p:spPr>
        <p:txBody>
          <a:bodyPr wrap="square" lIns="0" tIns="0" rIns="0" bIns="0" rtlCol="0" anchor="ctr"/>
          <a:lstStyle/>
          <a:p>
            <a:pPr algn="ctr" indent="0" marL="0">
              <a:buNone/>
            </a:pPr>
            <a:r>
              <a:rPr lang="en-US" sz="1200" i="1" dirty="0">
                <a:solidFill>
                  <a:srgbClr val="6FC8B4"/>
                </a:solidFill>
                <a:latin typeface="Calibri" pitchFamily="34" charset="0"/>
                <a:ea typeface="Calibri" pitchFamily="34" charset="-122"/>
                <a:cs typeface="Calibri" pitchFamily="34" charset="-120"/>
              </a:rPr>
              <a:t>A reviewer can start at any submitted value and trace it all the way back to the question the site answered. That chain — value → metadata → aCRF → spec → CRF — is what makes clinical data TRUSTWORTHY, not just tidy.</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0972800" cy="274320"/>
          </a:xfrm>
          <a:prstGeom prst="rect">
            <a:avLst/>
          </a:prstGeom>
          <a:noFill/>
          <a:ln/>
        </p:spPr>
        <p:txBody>
          <a:bodyPr wrap="square" lIns="0" tIns="0" rIns="0" bIns="0" rtlCol="0" anchor="ctr"/>
          <a:lstStyle/>
          <a:p>
            <a:pPr indent="0" marL="0">
              <a:buNone/>
            </a:pPr>
            <a:r>
              <a:rPr lang="en-US" sz="1200" b="1" spc="200" kern="0" dirty="0">
                <a:solidFill>
                  <a:srgbClr val="0E7C86"/>
                </a:solidFill>
                <a:latin typeface="Calibri" pitchFamily="34" charset="0"/>
                <a:ea typeface="Calibri" pitchFamily="34" charset="-122"/>
                <a:cs typeface="Calibri" pitchFamily="34" charset="-120"/>
              </a:rPr>
              <a:t>THE SUBMISSION MINDSET</a:t>
            </a:r>
            <a:endParaRPr lang="en-US" sz="1200" dirty="0"/>
          </a:p>
        </p:txBody>
      </p:sp>
      <p:sp>
        <p:nvSpPr>
          <p:cNvPr id="3" name="Text 1"/>
          <p:cNvSpPr/>
          <p:nvPr/>
        </p:nvSpPr>
        <p:spPr>
          <a:xfrm>
            <a:off x="548640" y="658368"/>
            <a:ext cx="11064240" cy="731520"/>
          </a:xfrm>
          <a:prstGeom prst="rect">
            <a:avLst/>
          </a:prstGeom>
          <a:noFill/>
          <a:ln/>
        </p:spPr>
        <p:txBody>
          <a:bodyPr wrap="square" lIns="0" tIns="0" rIns="0" bIns="0" rtlCol="0" anchor="ctr"/>
          <a:lstStyle/>
          <a:p>
            <a:pPr indent="0" marL="0">
              <a:buNone/>
            </a:pPr>
            <a:r>
              <a:rPr lang="en-US" sz="3000" b="1" dirty="0">
                <a:solidFill>
                  <a:srgbClr val="0F2E3D"/>
                </a:solidFill>
                <a:latin typeface="Cambria" pitchFamily="34" charset="0"/>
                <a:ea typeface="Cambria" pitchFamily="34" charset="-122"/>
                <a:cs typeface="Cambria" pitchFamily="34" charset="-120"/>
              </a:rPr>
              <a:t>What to carry out of Day 9</a:t>
            </a:r>
            <a:endParaRPr lang="en-US" sz="3000" dirty="0"/>
          </a:p>
        </p:txBody>
      </p:sp>
      <p:sp>
        <p:nvSpPr>
          <p:cNvPr id="4" name="Shape 2"/>
          <p:cNvSpPr/>
          <p:nvPr/>
        </p:nvSpPr>
        <p:spPr>
          <a:xfrm>
            <a:off x="640080" y="1737360"/>
            <a:ext cx="10972800" cy="1097280"/>
          </a:xfrm>
          <a:prstGeom prst="roundRect">
            <a:avLst>
              <a:gd name="adj" fmla="val 7500"/>
            </a:avLst>
          </a:prstGeom>
          <a:solidFill>
            <a:srgbClr val="FFFFFF"/>
          </a:solidFill>
          <a:ln w="12700">
            <a:solidFill>
              <a:srgbClr val="CFDEE1"/>
            </a:solidFill>
            <a:prstDash val="solid"/>
          </a:ln>
          <a:effectLst>
            <a:outerShdw sx="100000" sy="100000" kx="0" ky="0" algn="bl" rotWithShape="0" blurRad="101600" dist="38100" dir="5400000">
              <a:srgbClr val="8AA0A8">
                <a:alpha val="35000"/>
              </a:srgbClr>
            </a:outerShdw>
          </a:effectLst>
        </p:spPr>
      </p:sp>
      <p:sp>
        <p:nvSpPr>
          <p:cNvPr id="5" name="Shape 3"/>
          <p:cNvSpPr/>
          <p:nvPr/>
        </p:nvSpPr>
        <p:spPr>
          <a:xfrm>
            <a:off x="640080" y="1737360"/>
            <a:ext cx="82296" cy="1097280"/>
          </a:xfrm>
          <a:prstGeom prst="rect">
            <a:avLst/>
          </a:prstGeom>
          <a:solidFill>
            <a:srgbClr val="0E7C86"/>
          </a:solidFill>
          <a:ln/>
        </p:spPr>
      </p:sp>
      <p:sp>
        <p:nvSpPr>
          <p:cNvPr id="6" name="Text 4"/>
          <p:cNvSpPr/>
          <p:nvPr/>
        </p:nvSpPr>
        <p:spPr>
          <a:xfrm>
            <a:off x="914400" y="1901952"/>
            <a:ext cx="10424160" cy="365760"/>
          </a:xfrm>
          <a:prstGeom prst="rect">
            <a:avLst/>
          </a:prstGeom>
          <a:noFill/>
          <a:ln/>
        </p:spPr>
        <p:txBody>
          <a:bodyPr wrap="square" lIns="0" tIns="0" rIns="0" bIns="0" rtlCol="0" anchor="ctr"/>
          <a:lstStyle/>
          <a:p>
            <a:pPr indent="0" marL="0">
              <a:buNone/>
            </a:pPr>
            <a:r>
              <a:rPr lang="en-US" sz="1600" b="1" dirty="0">
                <a:solidFill>
                  <a:srgbClr val="0E7C86"/>
                </a:solidFill>
                <a:latin typeface="Cambria" pitchFamily="34" charset="0"/>
                <a:ea typeface="Cambria" pitchFamily="34" charset="-122"/>
                <a:cs typeface="Cambria" pitchFamily="34" charset="-120"/>
              </a:rPr>
              <a:t>Datasets alone are not a submission</a:t>
            </a:r>
            <a:endParaRPr lang="en-US" sz="1600" dirty="0"/>
          </a:p>
        </p:txBody>
      </p:sp>
      <p:sp>
        <p:nvSpPr>
          <p:cNvPr id="7" name="Text 5"/>
          <p:cNvSpPr/>
          <p:nvPr/>
        </p:nvSpPr>
        <p:spPr>
          <a:xfrm>
            <a:off x="914400" y="2304288"/>
            <a:ext cx="10424160" cy="457200"/>
          </a:xfrm>
          <a:prstGeom prst="rect">
            <a:avLst/>
          </a:prstGeom>
          <a:noFill/>
          <a:ln/>
        </p:spPr>
        <p:txBody>
          <a:bodyPr wrap="square" lIns="0" tIns="0" rIns="0" bIns="0" rtlCol="0" anchor="ctr"/>
          <a:lstStyle/>
          <a:p>
            <a:pPr indent="0" marL="0">
              <a:buNone/>
            </a:pPr>
            <a:r>
              <a:rPr lang="en-US" sz="1250" dirty="0">
                <a:solidFill>
                  <a:srgbClr val="5A7682"/>
                </a:solidFill>
                <a:latin typeface="Calibri" pitchFamily="34" charset="0"/>
                <a:ea typeface="Calibri" pitchFamily="34" charset="-122"/>
                <a:cs typeface="Calibri" pitchFamily="34" charset="-120"/>
              </a:rPr>
              <a:t>define.xml, the aCRF and the reviewer's guides are not optional extras — they are what make the data usable.</a:t>
            </a:r>
            <a:endParaRPr lang="en-US" sz="1250" dirty="0"/>
          </a:p>
        </p:txBody>
      </p:sp>
      <p:sp>
        <p:nvSpPr>
          <p:cNvPr id="8" name="Shape 6"/>
          <p:cNvSpPr/>
          <p:nvPr/>
        </p:nvSpPr>
        <p:spPr>
          <a:xfrm>
            <a:off x="640080" y="2907792"/>
            <a:ext cx="10972800" cy="1097280"/>
          </a:xfrm>
          <a:prstGeom prst="roundRect">
            <a:avLst>
              <a:gd name="adj" fmla="val 7500"/>
            </a:avLst>
          </a:prstGeom>
          <a:solidFill>
            <a:srgbClr val="F3F7F8"/>
          </a:solidFill>
          <a:ln w="12700">
            <a:solidFill>
              <a:srgbClr val="CFDEE1"/>
            </a:solidFill>
            <a:prstDash val="solid"/>
          </a:ln>
          <a:effectLst>
            <a:outerShdw sx="100000" sy="100000" kx="0" ky="0" algn="bl" rotWithShape="0" blurRad="101600" dist="38100" dir="5400000">
              <a:srgbClr val="8AA0A8">
                <a:alpha val="35000"/>
              </a:srgbClr>
            </a:outerShdw>
          </a:effectLst>
        </p:spPr>
      </p:sp>
      <p:sp>
        <p:nvSpPr>
          <p:cNvPr id="9" name="Shape 7"/>
          <p:cNvSpPr/>
          <p:nvPr/>
        </p:nvSpPr>
        <p:spPr>
          <a:xfrm>
            <a:off x="640080" y="2907792"/>
            <a:ext cx="82296" cy="1097280"/>
          </a:xfrm>
          <a:prstGeom prst="rect">
            <a:avLst/>
          </a:prstGeom>
          <a:solidFill>
            <a:srgbClr val="E8833A"/>
          </a:solidFill>
          <a:ln/>
        </p:spPr>
      </p:sp>
      <p:sp>
        <p:nvSpPr>
          <p:cNvPr id="10" name="Text 8"/>
          <p:cNvSpPr/>
          <p:nvPr/>
        </p:nvSpPr>
        <p:spPr>
          <a:xfrm>
            <a:off x="914400" y="3072384"/>
            <a:ext cx="10424160" cy="365760"/>
          </a:xfrm>
          <a:prstGeom prst="rect">
            <a:avLst/>
          </a:prstGeom>
          <a:noFill/>
          <a:ln/>
        </p:spPr>
        <p:txBody>
          <a:bodyPr wrap="square" lIns="0" tIns="0" rIns="0" bIns="0" rtlCol="0" anchor="ctr"/>
          <a:lstStyle/>
          <a:p>
            <a:pPr indent="0" marL="0">
              <a:buNone/>
            </a:pPr>
            <a:r>
              <a:rPr lang="en-US" sz="1600" b="1" dirty="0">
                <a:solidFill>
                  <a:srgbClr val="E8833A"/>
                </a:solidFill>
                <a:latin typeface="Cambria" pitchFamily="34" charset="0"/>
                <a:ea typeface="Cambria" pitchFamily="34" charset="-122"/>
                <a:cs typeface="Cambria" pitchFamily="34" charset="-120"/>
              </a:rPr>
              <a:t>The format shapes the standard</a:t>
            </a:r>
            <a:endParaRPr lang="en-US" sz="1600" dirty="0"/>
          </a:p>
        </p:txBody>
      </p:sp>
      <p:sp>
        <p:nvSpPr>
          <p:cNvPr id="11" name="Text 9"/>
          <p:cNvSpPr/>
          <p:nvPr/>
        </p:nvSpPr>
        <p:spPr>
          <a:xfrm>
            <a:off x="914400" y="3474720"/>
            <a:ext cx="10424160" cy="457200"/>
          </a:xfrm>
          <a:prstGeom prst="rect">
            <a:avLst/>
          </a:prstGeom>
          <a:noFill/>
          <a:ln/>
        </p:spPr>
        <p:txBody>
          <a:bodyPr wrap="square" lIns="0" tIns="0" rIns="0" bIns="0" rtlCol="0" anchor="ctr"/>
          <a:lstStyle/>
          <a:p>
            <a:pPr indent="0" marL="0">
              <a:buNone/>
            </a:pPr>
            <a:r>
              <a:rPr lang="en-US" sz="1250" dirty="0">
                <a:solidFill>
                  <a:srgbClr val="5A7682"/>
                </a:solidFill>
                <a:latin typeface="Calibri" pitchFamily="34" charset="0"/>
                <a:ea typeface="Calibri" pitchFamily="34" charset="-122"/>
                <a:cs typeface="Calibri" pitchFamily="34" charset="-120"/>
              </a:rPr>
              <a:t>8-char names, character dates, short labels — XPT v5 is why SDTM looks the way it does.</a:t>
            </a:r>
            <a:endParaRPr lang="en-US" sz="1250" dirty="0"/>
          </a:p>
        </p:txBody>
      </p:sp>
      <p:sp>
        <p:nvSpPr>
          <p:cNvPr id="12" name="Shape 10"/>
          <p:cNvSpPr/>
          <p:nvPr/>
        </p:nvSpPr>
        <p:spPr>
          <a:xfrm>
            <a:off x="640080" y="4078224"/>
            <a:ext cx="10972800" cy="1097280"/>
          </a:xfrm>
          <a:prstGeom prst="roundRect">
            <a:avLst>
              <a:gd name="adj" fmla="val 7500"/>
            </a:avLst>
          </a:prstGeom>
          <a:solidFill>
            <a:srgbClr val="FFFFFF"/>
          </a:solidFill>
          <a:ln w="12700">
            <a:solidFill>
              <a:srgbClr val="CFDEE1"/>
            </a:solidFill>
            <a:prstDash val="solid"/>
          </a:ln>
          <a:effectLst>
            <a:outerShdw sx="100000" sy="100000" kx="0" ky="0" algn="bl" rotWithShape="0" blurRad="101600" dist="38100" dir="5400000">
              <a:srgbClr val="8AA0A8">
                <a:alpha val="35000"/>
              </a:srgbClr>
            </a:outerShdw>
          </a:effectLst>
        </p:spPr>
      </p:sp>
      <p:sp>
        <p:nvSpPr>
          <p:cNvPr id="13" name="Shape 11"/>
          <p:cNvSpPr/>
          <p:nvPr/>
        </p:nvSpPr>
        <p:spPr>
          <a:xfrm>
            <a:off x="640080" y="4078224"/>
            <a:ext cx="82296" cy="1097280"/>
          </a:xfrm>
          <a:prstGeom prst="rect">
            <a:avLst/>
          </a:prstGeom>
          <a:solidFill>
            <a:srgbClr val="1FA8A0"/>
          </a:solidFill>
          <a:ln/>
        </p:spPr>
      </p:sp>
      <p:sp>
        <p:nvSpPr>
          <p:cNvPr id="14" name="Text 12"/>
          <p:cNvSpPr/>
          <p:nvPr/>
        </p:nvSpPr>
        <p:spPr>
          <a:xfrm>
            <a:off x="914400" y="4242816"/>
            <a:ext cx="10424160" cy="365760"/>
          </a:xfrm>
          <a:prstGeom prst="rect">
            <a:avLst/>
          </a:prstGeom>
          <a:noFill/>
          <a:ln/>
        </p:spPr>
        <p:txBody>
          <a:bodyPr wrap="square" lIns="0" tIns="0" rIns="0" bIns="0" rtlCol="0" anchor="ctr"/>
          <a:lstStyle/>
          <a:p>
            <a:pPr indent="0" marL="0">
              <a:buNone/>
            </a:pPr>
            <a:r>
              <a:rPr lang="en-US" sz="1600" b="1" dirty="0">
                <a:solidFill>
                  <a:srgbClr val="1FA8A0"/>
                </a:solidFill>
                <a:latin typeface="Cambria" pitchFamily="34" charset="0"/>
                <a:ea typeface="Cambria" pitchFamily="34" charset="-122"/>
                <a:cs typeface="Cambria" pitchFamily="34" charset="-120"/>
              </a:rPr>
              <a:t>Origin is provenance</a:t>
            </a:r>
            <a:endParaRPr lang="en-US" sz="1600" dirty="0"/>
          </a:p>
        </p:txBody>
      </p:sp>
      <p:sp>
        <p:nvSpPr>
          <p:cNvPr id="15" name="Text 13"/>
          <p:cNvSpPr/>
          <p:nvPr/>
        </p:nvSpPr>
        <p:spPr>
          <a:xfrm>
            <a:off x="914400" y="4645152"/>
            <a:ext cx="10424160" cy="457200"/>
          </a:xfrm>
          <a:prstGeom prst="rect">
            <a:avLst/>
          </a:prstGeom>
          <a:noFill/>
          <a:ln/>
        </p:spPr>
        <p:txBody>
          <a:bodyPr wrap="square" lIns="0" tIns="0" rIns="0" bIns="0" rtlCol="0" anchor="ctr"/>
          <a:lstStyle/>
          <a:p>
            <a:pPr indent="0" marL="0">
              <a:buNone/>
            </a:pPr>
            <a:r>
              <a:rPr lang="en-US" sz="1250" dirty="0">
                <a:solidFill>
                  <a:srgbClr val="5A7682"/>
                </a:solidFill>
                <a:latin typeface="Calibri" pitchFamily="34" charset="0"/>
                <a:ea typeface="Calibri" pitchFamily="34" charset="-122"/>
                <a:cs typeface="Calibri" pitchFamily="34" charset="-120"/>
              </a:rPr>
              <a:t>every value is CRF, DERIVED or ASSIGNED, and define.xml records which. That is what makes it auditable.</a:t>
            </a:r>
            <a:endParaRPr lang="en-US" sz="1250" dirty="0"/>
          </a:p>
        </p:txBody>
      </p:sp>
      <p:sp>
        <p:nvSpPr>
          <p:cNvPr id="16" name="Shape 14"/>
          <p:cNvSpPr/>
          <p:nvPr/>
        </p:nvSpPr>
        <p:spPr>
          <a:xfrm>
            <a:off x="640080" y="5248656"/>
            <a:ext cx="10972800" cy="1097280"/>
          </a:xfrm>
          <a:prstGeom prst="roundRect">
            <a:avLst>
              <a:gd name="adj" fmla="val 7500"/>
            </a:avLst>
          </a:prstGeom>
          <a:solidFill>
            <a:srgbClr val="F3F7F8"/>
          </a:solidFill>
          <a:ln w="12700">
            <a:solidFill>
              <a:srgbClr val="CFDEE1"/>
            </a:solidFill>
            <a:prstDash val="solid"/>
          </a:ln>
          <a:effectLst>
            <a:outerShdw sx="100000" sy="100000" kx="0" ky="0" algn="bl" rotWithShape="0" blurRad="101600" dist="38100" dir="5400000">
              <a:srgbClr val="8AA0A8">
                <a:alpha val="35000"/>
              </a:srgbClr>
            </a:outerShdw>
          </a:effectLst>
        </p:spPr>
      </p:sp>
      <p:sp>
        <p:nvSpPr>
          <p:cNvPr id="17" name="Shape 15"/>
          <p:cNvSpPr/>
          <p:nvPr/>
        </p:nvSpPr>
        <p:spPr>
          <a:xfrm>
            <a:off x="640080" y="5248656"/>
            <a:ext cx="82296" cy="1097280"/>
          </a:xfrm>
          <a:prstGeom prst="rect">
            <a:avLst/>
          </a:prstGeom>
          <a:solidFill>
            <a:srgbClr val="6FC8B4"/>
          </a:solidFill>
          <a:ln/>
        </p:spPr>
      </p:sp>
      <p:sp>
        <p:nvSpPr>
          <p:cNvPr id="18" name="Text 16"/>
          <p:cNvSpPr/>
          <p:nvPr/>
        </p:nvSpPr>
        <p:spPr>
          <a:xfrm>
            <a:off x="914400" y="5413248"/>
            <a:ext cx="10424160" cy="365760"/>
          </a:xfrm>
          <a:prstGeom prst="rect">
            <a:avLst/>
          </a:prstGeom>
          <a:noFill/>
          <a:ln/>
        </p:spPr>
        <p:txBody>
          <a:bodyPr wrap="square" lIns="0" tIns="0" rIns="0" bIns="0" rtlCol="0" anchor="ctr"/>
          <a:lstStyle/>
          <a:p>
            <a:pPr indent="0" marL="0">
              <a:buNone/>
            </a:pPr>
            <a:r>
              <a:rPr lang="en-US" sz="1600" b="1" dirty="0">
                <a:solidFill>
                  <a:srgbClr val="6FC8B4"/>
                </a:solidFill>
                <a:latin typeface="Cambria" pitchFamily="34" charset="0"/>
                <a:ea typeface="Cambria" pitchFamily="34" charset="-122"/>
                <a:cs typeface="Cambria" pitchFamily="34" charset="-120"/>
              </a:rPr>
              <a:t>Everything must trace back</a:t>
            </a:r>
            <a:endParaRPr lang="en-US" sz="1600" dirty="0"/>
          </a:p>
        </p:txBody>
      </p:sp>
      <p:sp>
        <p:nvSpPr>
          <p:cNvPr id="19" name="Text 17"/>
          <p:cNvSpPr/>
          <p:nvPr/>
        </p:nvSpPr>
        <p:spPr>
          <a:xfrm>
            <a:off x="914400" y="5815584"/>
            <a:ext cx="10424160" cy="457200"/>
          </a:xfrm>
          <a:prstGeom prst="rect">
            <a:avLst/>
          </a:prstGeom>
          <a:noFill/>
          <a:ln/>
        </p:spPr>
        <p:txBody>
          <a:bodyPr wrap="square" lIns="0" tIns="0" rIns="0" bIns="0" rtlCol="0" anchor="ctr"/>
          <a:lstStyle/>
          <a:p>
            <a:pPr indent="0" marL="0">
              <a:buNone/>
            </a:pPr>
            <a:r>
              <a:rPr lang="en-US" sz="1250" dirty="0">
                <a:solidFill>
                  <a:srgbClr val="5A7682"/>
                </a:solidFill>
                <a:latin typeface="Calibri" pitchFamily="34" charset="0"/>
                <a:ea typeface="Calibri" pitchFamily="34" charset="-122"/>
                <a:cs typeface="Calibri" pitchFamily="34" charset="-120"/>
              </a:rPr>
              <a:t>value → define.xml → aCRF → spec → CRF. If a value cannot be traced to a question, it cannot be trusted.</a:t>
            </a:r>
            <a:endParaRPr lang="en-US" sz="1250" dirty="0"/>
          </a:p>
        </p:txBody>
      </p:sp>
      <p:sp>
        <p:nvSpPr>
          <p:cNvPr id="20" name="Text 18"/>
          <p:cNvSpPr/>
          <p:nvPr/>
        </p:nvSpPr>
        <p:spPr>
          <a:xfrm>
            <a:off x="640080" y="6446520"/>
            <a:ext cx="10972800" cy="365760"/>
          </a:xfrm>
          <a:prstGeom prst="rect">
            <a:avLst/>
          </a:prstGeom>
          <a:noFill/>
          <a:ln/>
        </p:spPr>
        <p:txBody>
          <a:bodyPr wrap="square" lIns="0" tIns="0" rIns="0" bIns="0" rtlCol="0" anchor="ctr"/>
          <a:lstStyle/>
          <a:p>
            <a:pPr indent="0" marL="0">
              <a:buNone/>
            </a:pPr>
            <a:r>
              <a:rPr lang="en-US" sz="1300" b="1" dirty="0">
                <a:solidFill>
                  <a:srgbClr val="0E7C86"/>
                </a:solidFill>
                <a:latin typeface="Calibri" pitchFamily="34" charset="0"/>
                <a:ea typeface="Calibri" pitchFamily="34" charset="-122"/>
                <a:cs typeface="Calibri" pitchFamily="34" charset="-120"/>
              </a:rPr>
              <a:t>Next:  Day 10 · Capstone — map a fresh study end to end</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Slides>
  <Notes>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Arial</vt:lpstr>
      <vt:lpstr>Calibri</vt:lpstr>
      <vt:lpstr>Office Theme</vt:lpstr>
      <vt:lpstr>Slide 1</vt:lpstr>
      <vt:lpstr>Slide 2</vt:lpstr>
      <vt:lpstr>Slide 3</vt:lpstr>
      <vt:lpstr>Slide 4</vt:lpstr>
      <vt:lpstr>Slide 5</vt:lpstr>
      <vt:lpstr>Slide 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Define-XML &amp; the Submission Package</dc:title>
  <dc:subject>PptxGenJS Presentation</dc:subject>
  <dc:creator>Clinical Programming Bootcamp</dc:creator>
  <cp:lastModifiedBy>Clinical Programming Bootcamp</cp:lastModifiedBy>
  <cp:revision>1</cp:revision>
  <dcterms:created xsi:type="dcterms:W3CDTF">2026-07-19T19:52:09Z</dcterms:created>
  <dcterms:modified xsi:type="dcterms:W3CDTF">2026-07-19T19:52:09Z</dcterms:modified>
</cp:coreProperties>
</file>