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day with this. The point is orientation, not content — they should leave this deck able to picture the work, not perform it. Adjust the hours and tasks to match your own routine; the shape is what matters. Everything shown later uses the real ABC-01 study data they will build in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sit for a moment. Freshers usually arrive thinking the job is SAS. It is not — SAS is the tool. The job is making data legible to someone who was never in the room. Ask them: who is the reader? Answer: a reviewer who cannot phone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stressing the timescale: the gap between the nurse and the reviewer can be years, and by then nobody remembers what a value meant. That is the entire reason standards and define.xml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habit that separates a reliable programmer from an unreliable one, and it costs nothing. The log shown is a real pattern from this course: a length mismatch on USUBJID that truncates data while the run reports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is genuinely from ABC-01 — subject 01-002 has an adverse event starting five days before first dose. It is not an error; it is a screening event, and it is why AETRTEM exists. Trainees meet this exact record on Day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first rows of ABC-01. Point at three things: subject 001 exists at both sites so USUBJID has to be constructed; sex arrives as a numeric code and must be decoded; and date of birth is collected but never submitted — AGE is derived from it and the birth date stays behind. That last one usually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Freshers assume seniority means writing harder code. It does not — it means being trusted in this meeting. Encourage them to speak up in spec reviews early; having read the data is a real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reaction — it sounds wasteful. Explain the economics: a wrong number in a submission can cost a company a review cycle, or worse, mislead a safety decision. Two independent implementations is cheap by comparison. They will do this on Day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quietly justifies the whole course design — why we generate rather than hand-write, and why every check gets tested by breaking it on purpose. If they take one working habit away, make it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these proportions to your own experience before presenting — they are indicative of a typical study week, not a timesheet. The teaching point holds regardless: this is a reading job more than a writing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people from a clinical background and people from a coding background both do well here, for different reasons, and both have a gap to close. Nobody in the room is starting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 that Day 10 is unguided on purpose. They get a data dictionary and a skeleton, and the four hard cases are named but not solved. That is the closest thing here to a real first week on a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sentence, not on logistics. It is the thread running through every module, and it is the habit that will make them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5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PROGRAMMING BOOTCAMP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in the life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clinical programmer actually does, hour by hour</a:t>
            </a:r>
            <a:endParaRPr lang="en-US" sz="2300" dirty="0"/>
          </a:p>
        </p:txBody>
      </p:sp>
      <p:pic>
        <p:nvPicPr>
          <p:cNvPr id="6" name="Image 0" descr="/Volumes/D Drive/SDTM Training/Bootcamp/presentations/assets_day1/daya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3017520"/>
            <a:ext cx="4754880" cy="2459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open a single dataset — this is the job you are training for.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31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job, in one sentence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54864" cy="2194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82880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messy data a hospital actually recorded, and turn it into something a regulator on the other side of the world can read without asking you a single question.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4343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else — the standards, the code, the checks — exists to make that sentence true.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48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one link in a long chain</a:t>
            </a:r>
            <a:endParaRPr lang="en-US" sz="3200" dirty="0"/>
          </a:p>
        </p:txBody>
      </p:sp>
      <p:pic>
        <p:nvPicPr>
          <p:cNvPr id="3" name="Image 0" descr="/Volumes/D Drive/SDTM Training/Bootcamp/presentations/assets_day1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813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42062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nurse writes on a form. Years later a reviewer decides whether a medicine reaches patients. Your datasets are what connects those two people.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8680" y="5029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ten days ahead cover the amber stretch — raw extract through to analysis-ready.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thing I do is read yesterday's 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the output. The log. Overnight the study data refreshed and every programme re-ran.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6249924"/>
            <a:ext cx="155448" cy="15544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4528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9" name="Shape 7"/>
          <p:cNvSpPr/>
          <p:nvPr/>
        </p:nvSpPr>
        <p:spPr>
          <a:xfrm>
            <a:off x="501731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708934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1" name="Shape 9"/>
          <p:cNvSpPr/>
          <p:nvPr/>
        </p:nvSpPr>
        <p:spPr>
          <a:xfrm>
            <a:off x="916137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340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pic>
        <p:nvPicPr>
          <p:cNvPr id="13" name="Image 0" descr="/Volumes/D Drive/SDTM Training/Bootcamp/presentations/assets_day1/sas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6400800" cy="34107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43800" y="2697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comes first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1089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programme can finish with no error and still be wrong.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43800" y="40690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of the four worst bugs in this course announced themselves only as a WARNING.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43800" y="50292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“It ran fine” is not a status. The log is the status.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72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asks me a question I cannot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in the data is not possible. I am not allowed to guess — so I ask the site.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7" name="Shape 5"/>
          <p:cNvSpPr/>
          <p:nvPr/>
        </p:nvSpPr>
        <p:spPr>
          <a:xfrm>
            <a:off x="2908706" y="6249924"/>
            <a:ext cx="155448" cy="155448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2437790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1731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708934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1" name="Shape 9"/>
          <p:cNvSpPr/>
          <p:nvPr/>
        </p:nvSpPr>
        <p:spPr>
          <a:xfrm>
            <a:off x="916137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340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pic>
        <p:nvPicPr>
          <p:cNvPr id="13" name="Image 0" descr="/Volumes/D Drive/SDTM Training/Bootcamp/presentations/assets_day1/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5669280" cy="2240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72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0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programmer never invents a value.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49440" y="36576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 date is impossible, you do not repair it quietly. You raise a query, and the site — the people who saw the patient — answer it. That answer is part of the trial record.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4944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2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Guessing is the one unforgivable habit in this job.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067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 build the thing I am paid to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raw file in. One standard dataset out. This is the craft at the centre of the job.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7" name="Shape 5"/>
          <p:cNvSpPr/>
          <p:nvPr/>
        </p:nvSpPr>
        <p:spPr>
          <a:xfrm>
            <a:off x="294528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8" name="Shape 6"/>
          <p:cNvSpPr/>
          <p:nvPr/>
        </p:nvSpPr>
        <p:spPr>
          <a:xfrm>
            <a:off x="4980737" y="6249924"/>
            <a:ext cx="155448" cy="1554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4509821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7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934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1" name="Shape 9"/>
          <p:cNvSpPr/>
          <p:nvPr/>
        </p:nvSpPr>
        <p:spPr>
          <a:xfrm>
            <a:off x="916137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340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pic>
        <p:nvPicPr>
          <p:cNvPr id="13" name="Image 0" descr="/Volumes/D Drive/SDTM Training/Bootcamp/presentations/assets_day1/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1060704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5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of this job is agreeing what a column means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Afternoon: a spec review. Five people, one spreadsheet, one argument about a variable.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7" name="Shape 5"/>
          <p:cNvSpPr/>
          <p:nvPr/>
        </p:nvSpPr>
        <p:spPr>
          <a:xfrm>
            <a:off x="294528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8" name="Shape 6"/>
          <p:cNvSpPr/>
          <p:nvPr/>
        </p:nvSpPr>
        <p:spPr>
          <a:xfrm>
            <a:off x="501731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9" name="Shape 7"/>
          <p:cNvSpPr/>
          <p:nvPr/>
        </p:nvSpPr>
        <p:spPr>
          <a:xfrm>
            <a:off x="7052767" y="6249924"/>
            <a:ext cx="155448" cy="155448"/>
          </a:xfrm>
          <a:prstGeom prst="ellipse">
            <a:avLst/>
          </a:prstGeom>
          <a:solidFill>
            <a:srgbClr val="D97742"/>
          </a:solidFill>
          <a:ln/>
        </p:spPr>
      </p:sp>
      <p:sp>
        <p:nvSpPr>
          <p:cNvPr id="10" name="Text 8"/>
          <p:cNvSpPr/>
          <p:nvPr/>
        </p:nvSpPr>
        <p:spPr>
          <a:xfrm>
            <a:off x="6581851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5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6137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340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743200"/>
            <a:ext cx="45720" cy="914400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C5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argued about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Whether a value is 'derived' or 'collected'. Where a non-standard flag belongs. Which visit counts as baseline.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794760"/>
            <a:ext cx="45720" cy="914400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794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C5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 more than the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specification is the contract. Code that perfectly implements a wrong spec is wrong.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4846320"/>
            <a:ext cx="45720" cy="914400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C5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contribute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are the person who has actually looked at the data. That makes you the person who knows what is really in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14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else writes my programme again, from scratch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programming. Two people, one specification, no conversation — then the results are compared.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7" name="Shape 5"/>
          <p:cNvSpPr/>
          <p:nvPr/>
        </p:nvSpPr>
        <p:spPr>
          <a:xfrm>
            <a:off x="294528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8" name="Shape 6"/>
          <p:cNvSpPr/>
          <p:nvPr/>
        </p:nvSpPr>
        <p:spPr>
          <a:xfrm>
            <a:off x="501731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9" name="Shape 7"/>
          <p:cNvSpPr/>
          <p:nvPr/>
        </p:nvSpPr>
        <p:spPr>
          <a:xfrm>
            <a:off x="708934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9124798" y="6249924"/>
            <a:ext cx="155448" cy="155448"/>
          </a:xfrm>
          <a:prstGeom prst="ellipse">
            <a:avLst/>
          </a:prstGeom>
          <a:solidFill>
            <a:srgbClr val="B5485D"/>
          </a:solidFill>
          <a:ln/>
        </p:spPr>
      </p:sp>
      <p:sp>
        <p:nvSpPr>
          <p:cNvPr id="11" name="Text 9"/>
          <p:cNvSpPr/>
          <p:nvPr/>
        </p:nvSpPr>
        <p:spPr>
          <a:xfrm>
            <a:off x="8653882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4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23340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743200"/>
            <a:ext cx="4846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F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46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dm.sas from the spec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4846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F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46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QC partner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200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writes it again, never seeing your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3891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4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COMPARE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93776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 two datasets differ by a single value, one of you is wrong — and the point is to find out which before a regulator does.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4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16:45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something changes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afternoon. The spec is updated, or the data refreshes, and work you finished is suddenly out of date.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327648"/>
            <a:ext cx="10360152" cy="0"/>
          </a:xfrm>
          <a:prstGeom prst="line">
            <a:avLst/>
          </a:prstGeom>
          <a:noFill/>
          <a:ln w="12700">
            <a:solidFill>
              <a:srgbClr val="D3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7" name="Shape 5"/>
          <p:cNvSpPr/>
          <p:nvPr/>
        </p:nvSpPr>
        <p:spPr>
          <a:xfrm>
            <a:off x="2945282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8" name="Shape 6"/>
          <p:cNvSpPr/>
          <p:nvPr/>
        </p:nvSpPr>
        <p:spPr>
          <a:xfrm>
            <a:off x="501731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9" name="Shape 7"/>
          <p:cNvSpPr/>
          <p:nvPr/>
        </p:nvSpPr>
        <p:spPr>
          <a:xfrm>
            <a:off x="7089343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9161374" y="6286500"/>
            <a:ext cx="82296" cy="82296"/>
          </a:xfrm>
          <a:prstGeom prst="ellipse">
            <a:avLst/>
          </a:prstGeom>
          <a:solidFill>
            <a:srgbClr val="D3CFC7"/>
          </a:solidFill>
          <a:ln/>
        </p:spPr>
      </p:sp>
      <p:sp>
        <p:nvSpPr>
          <p:cNvPr id="11" name="Shape 9"/>
          <p:cNvSpPr/>
          <p:nvPr/>
        </p:nvSpPr>
        <p:spPr>
          <a:xfrm>
            <a:off x="11196828" y="6249924"/>
            <a:ext cx="155448" cy="155448"/>
          </a:xfrm>
          <a:prstGeom prst="ellipse">
            <a:avLst/>
          </a:prstGeom>
          <a:solidFill>
            <a:srgbClr val="7B4B94"/>
          </a:solidFill>
          <a:ln/>
        </p:spPr>
      </p:sp>
      <p:sp>
        <p:nvSpPr>
          <p:cNvPr id="12" name="Text 10"/>
          <p:cNvSpPr/>
          <p:nvPr/>
        </p:nvSpPr>
        <p:spPr>
          <a:xfrm>
            <a:off x="10725912" y="6455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4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16:45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B4B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600200" y="278892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sign that something went wrong. It is the normal condition of a live study.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1148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is why everything you will learn here is built to be RE-RUN, not hand-edited: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83080" y="4617720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4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programme, not a spreadsheet edit  —  </a:t>
            </a:r>
            <a:pPr indent="0" marL="0"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change is repeatable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83080" y="5001768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4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specification, not a memory  —  </a:t>
            </a:r>
            <a:pPr indent="0" marL="0"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reason survives the person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5385816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4B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check that fails loudly  —  </a:t>
            </a:r>
            <a:pPr indent="0" marL="0"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a stale result cannot pass quietly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 Drive/SDTM Training/Bootcamp/presentations/assets_day1/time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10881360" cy="2715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only remember one slide from today, remember this one.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will spend far more time reading — code, logs, specifications, other people's programmes — than writing. Being fast at typing is worth very little. Being careful when reading is worth almost everything.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makes someone good at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of these is about how much SAS you know on your first 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185416"/>
            <a:ext cx="201168" cy="20116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Suspicion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480560" y="20848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assume a clean-looking result is hiding something, and you go and check.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3172968"/>
            <a:ext cx="201168" cy="201168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about words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80560" y="3072384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notice that 'severe' and 'serious' are different, and that the difference matters.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0325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Comfort asking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0560" y="4059936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raise the query rather than quietly making the data look tidy.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5148072"/>
            <a:ext cx="201168" cy="201168"/>
          </a:xfrm>
          <a:prstGeom prst="ellipse">
            <a:avLst/>
          </a:prstGeom>
          <a:solidFill>
            <a:srgbClr val="D97742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0200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Leaving a trail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480560" y="50474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Someone can pick up your work in two years and see why every value is what it is.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are learnable. That is the good news.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next ten days look like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will build a complete study — then do it again on your own.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10378440" cy="27432"/>
          </a:xfrm>
          <a:prstGeom prst="rect">
            <a:avLst/>
          </a:prstGeom>
          <a:solidFill>
            <a:srgbClr val="D3CFC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577840" y="23042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trials, the toolkit, and getting raw data in without breaking it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10378440" cy="27432"/>
          </a:xfrm>
          <a:prstGeom prst="rect">
            <a:avLst/>
          </a:prstGeom>
          <a:solidFill>
            <a:srgbClr val="D3CFC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2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4–7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3209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domains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77840" y="32644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DM, AE, CM, EX, VS, LB — one observation class at a time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10378440" cy="27432"/>
          </a:xfrm>
          <a:prstGeom prst="rect">
            <a:avLst/>
          </a:prstGeom>
          <a:solidFill>
            <a:srgbClr val="D3CF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67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8–9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rigour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77840" y="42245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terminology, derivations, QC, and the submission package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983480"/>
            <a:ext cx="10378440" cy="27432"/>
          </a:xfrm>
          <a:prstGeom prst="rect">
            <a:avLst/>
          </a:prstGeom>
          <a:solidFill>
            <a:srgbClr val="D3CFC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5129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your own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577840" y="51846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second study, no worked notebook, four traps nobody solves for you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68680" y="5943600"/>
            <a:ext cx="10378440" cy="27432"/>
          </a:xfrm>
          <a:prstGeom prst="rect">
            <a:avLst/>
          </a:prstGeom>
          <a:solidFill>
            <a:srgbClr val="D3CFC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A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Day 10 you will have built two studies, and read a lot more code than you wrote.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B4B9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B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thing to carry into tomorrow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clean-looking run is not a correct run.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D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in the next ten days is a way of proving that a result is right, rather than hoping it is. Bring the suspicion. We will supply the rest.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A6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Tomorrow: Module 01 · Introduction to CDISC &amp; SDTM Foundations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Day in the Life of a Clinical Programmer</dc:title>
  <dc:subject>PptxGenJS Presentation</dc:subject>
  <dc:creator>Clinical Programming Bootcamp</dc:creator>
  <cp:lastModifiedBy>Clinical Programming Bootcamp</cp:lastModifiedBy>
  <cp:revision>1</cp:revision>
  <dcterms:created xsi:type="dcterms:W3CDTF">2026-08-06T15:18:49Z</dcterms:created>
  <dcterms:modified xsi:type="dcterms:W3CDTF">2026-08-06T15:18:49Z</dcterms:modified>
</cp:coreProperties>
</file>