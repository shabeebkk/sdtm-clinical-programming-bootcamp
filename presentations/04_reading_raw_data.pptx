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04. This is the first module where trainees touch the real study data. The theme: importing is not a formality — the choices you make when reading a file determine whether your mapping can succeed. Pair this deck with Notebook 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expectations. This module is deliberately unglamorous — it is about discipline. Emphasise goal 5: the output of good inspection is a mapping plan, which is what Module 05 executes for DM.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 trainees in the data folder. Every file has STUDYID, SITEID, SUBJID. Point out the row counts so they can check their imports landed correctly — an import that produces the wrong number of rows is the first thing to catch. Flag the wide/tall difference now; it becomes a whole exercise in Module 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Types drive everything downstream. The key surprise for beginners: SDTM dates are CHARACTER, not date-typed — ISO 8601 strings. Internally both languages have date types you use for arithmetic (like study day), but what you store in a --DTC variable is text. Missing is the fourth state and deserves its own emphasis.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precise here — the tools genuinely differ. SAS PROC IMPORT guesses numeric for all-digit IDs and loses the zeros (guessingrows=max makes it scan every row but does not change that choice). Base R's read.csv() does the same. Modern readr::read_csv() is smarter: it detects the leading zeros and keeps the column as character, so it survives. The lesson is NOT 'R is better' — it is 'declare your types explicitly'. Relying on a good guess is fragile: if a future extract has site 10 with no leading zero, the guess flips to numeric and your IDs break. Notebook 03 demonstrates all three behaviours on the real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raw data mixes formats deliberately because real extracts do. The ambiguity point is critical and genuinely dangerous: 01/03/2024 cannot be resolved from the value alone — you need the data dictionary or the source system's convention. For ABC-01 the dictionary states DD/MM/YYYY. The blank-date rule is a compliance point as much as a technical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blank cell has several possible meanings and they map differently. Not-collected stays null. Ongoing stays null (and may drive a flag elsewhere). 'Unknown' recorded as a value is NOT missing — it maps to a CT term like UNKNOWN. The message: ask what the blank means before deciding how to handle it, and never fill it with a guess or a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Neither shape is wrong — they reflect how the CRF was built. A vital signs form has boxes for BP, pulse and temperature on one page, so the extract is wide. A lab result feed comes back one analyte at a time, so it is tall. Since SDTM Findings are tall, wide files need a transpose. Give the concrete numbers: VS 24 rows becomes 128; LB 48 stays 48.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survey of what makes raw values messy. Note the important distinction on row 3: free-text medical terms cannot be resolved with a lookup table — they need dictionary coding by trained coders using MedDRA or WHODrug. Everything else here is a straightforward mapping table. We flag which is which so trainees don't think they can code adverse events with a CASE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this a habit. Notebook 03 walks through all six checks on all six ABC-01 files, in both languages. Check 3 is a genuine data-integrity check — a subject appearing in AE but not DM means something is wrong with the extract, and Pinnacle 21 will flag it later. Check 5 is how you build a CT mapping table: you cannot map values you have not looked 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payoff slide. Inspection is not academic — it produces this concrete list, and the list is the work plan for Modules 05 onward. Point trainees at mapping_specification.md, which documents each of these rules in full, and at data/sdtm/ which holds the finished result they are working towards.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'never edit the raw file' rule is worth dwelling on — it is a regulatory as well as a practical point. Every transformation must be reproducible from the source data by running a program. If you hand-edit a CSV, nobody can reproduce your dataset and you have broken traceability.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pointing at the notebooks. Mention that the reference SDTM datasets exist in data/sdtm/ so trainees can self-check — but insist they attempt the mapping before opening the answer. End of Module 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133B4C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548640"/>
            <a:ext cx="2926080" cy="292608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" name="Shape 2"/>
          <p:cNvSpPr/>
          <p:nvPr/>
        </p:nvSpPr>
        <p:spPr>
          <a:xfrm>
            <a:off x="10469880" y="137160"/>
            <a:ext cx="1554480" cy="155448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PROGRAMMING BOOTCAMP  ·  MODULE 04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3504" y="228600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Raw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Data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can map anything, you have to get the data in — with the right types, the right dates, and your eyes open for what's wrong with it.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Notebook 03 · Importing Raw Data (SAS &amp; R)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module you can…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92224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92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174650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 raw CSV correctly  </a:t>
            </a:r>
            <a:pPr indent="0" marL="0">
              <a:buNone/>
            </a:pPr>
            <a:r>
              <a:rPr lang="en-US" sz="13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 SAS and R, with the types you intended.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798064"/>
            <a:ext cx="548640" cy="548640"/>
          </a:xfrm>
          <a:prstGeom prst="ellipse">
            <a:avLst/>
          </a:prstGeom>
          <a:solidFill>
            <a:srgbClr val="1FA8A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98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00200" y="275234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the four data types  </a:t>
            </a:r>
            <a:pPr indent="0" marL="0">
              <a:buNone/>
            </a:pPr>
            <a:r>
              <a:rPr lang="en-US" sz="13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character, numeric, date, and missing — and tell them apart.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803904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803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00200" y="375818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classic traps  </a:t>
            </a:r>
            <a:pPr indent="0" marL="0">
              <a:buNone/>
            </a:pPr>
            <a:r>
              <a:rPr lang="en-US" sz="13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zeros, mixed date formats, blanks, wide structures.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809744"/>
            <a:ext cx="548640" cy="548640"/>
          </a:xfrm>
          <a:prstGeom prst="ellipse">
            <a:avLst/>
          </a:prstGeom>
          <a:solidFill>
            <a:srgbClr val="0F2E3D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809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00200" y="476402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before you map  </a:t>
            </a:r>
            <a:pPr indent="0" marL="0">
              <a:buNone/>
            </a:pPr>
            <a:r>
              <a:rPr lang="en-US" sz="13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standard checklist on any unfamiliar dataset.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5623560"/>
            <a:ext cx="1097280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5815584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815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00200" y="5769864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mapping  </a:t>
            </a:r>
            <a:pPr indent="0" marL="0">
              <a:buNone/>
            </a:pPr>
            <a:r>
              <a:rPr lang="en-US" sz="13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exactly what must change to reach SDTM.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raw extract actually looks like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CRF form — note Demographics and Disposition are separate forms, completed at different times.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4023360"/>
                <a:gridCol w="10972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CRF 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dm_raw.csv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Demographics (screening)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7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row per subject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E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ds_raw.csv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Disposition / end of study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7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row per subject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E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A8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ex_raw.csv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drug exposure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7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row per subject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E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83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ae_raw.csv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Adverse events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7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row per event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E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2E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cm_raw.csv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Concomitant meds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7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row per medication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E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vs_raw.csv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Vital signs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7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 — one row per visit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E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24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A8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lb_raw.csv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2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Laboratory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A7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 — one row per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2E3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48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vs_raw.csv is WIDE and lb_raw.csv is TALL — the same clinical idea, two different shapes. You'll handle both.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is one of three types (plus missing)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11880" cy="2834640"/>
          </a:xfrm>
          <a:prstGeom prst="roundRect">
            <a:avLst>
              <a:gd name="adj" fmla="val 2903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3611880" cy="6858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1051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Text. Anything you don't do arithmetic 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"ABC-01"  "F"  "bad headache"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IDs, codes, names, ISO dates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611880" cy="2834640"/>
          </a:xfrm>
          <a:prstGeom prst="roundRect">
            <a:avLst>
              <a:gd name="adj" fmla="val 2903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91640"/>
            <a:ext cx="3611880" cy="685800"/>
          </a:xfrm>
          <a:prstGeom prst="roundRect">
            <a:avLst>
              <a:gd name="adj" fmla="val 12000"/>
            </a:avLst>
          </a:prstGeom>
          <a:solidFill>
            <a:srgbClr val="1FA8A0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81051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25146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you can calculate with.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352044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50   36.7   122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A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Doses, results, ages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611880" cy="2834640"/>
          </a:xfrm>
          <a:prstGeom prst="roundRect">
            <a:avLst>
              <a:gd name="adj" fmla="val 2903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691640"/>
            <a:ext cx="3611880" cy="685800"/>
          </a:xfrm>
          <a:prstGeom prst="roundRect">
            <a:avLst>
              <a:gd name="adj" fmla="val 12000"/>
            </a:avLst>
          </a:prstGeom>
          <a:solidFill>
            <a:srgbClr val="E883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81051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66760" y="25146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calendar point. Stored as a number internally, but SDTM wants ISO text.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6760" y="352044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56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2024-03-01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6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(character in SDTM!)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754880"/>
            <a:ext cx="10972800" cy="1371600"/>
          </a:xfrm>
          <a:prstGeom prst="roundRect">
            <a:avLst>
              <a:gd name="adj" fmla="val 6000"/>
            </a:avLst>
          </a:prstGeom>
          <a:solidFill>
            <a:srgbClr val="0F2E3D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49377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fourth state: MISSING. 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that was not collected. In SAS a missing number is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missing text is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in R both are 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Missing is never the same as zero or an empty answer.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guessing can destroy IDs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guess column types from the values. An ID made only of digits looks like a number — and different tools make different guesses on the SAME file.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574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file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SITEID = 01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SUBJID = 001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0" y="192024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FDF1E7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20574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PROC IMPORT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 read.csv()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17720" y="26974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B56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SITEID = 1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B56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SUBJID = 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38160" y="1920240"/>
            <a:ext cx="3611880" cy="1737360"/>
          </a:xfrm>
          <a:prstGeom prst="roundRect">
            <a:avLst>
              <a:gd name="adj" fmla="val 4737"/>
            </a:avLst>
          </a:prstGeom>
          <a:solidFill>
            <a:srgbClr val="EAF5F0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66760" y="20574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readr read_csv()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366760" y="26974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SITEID = "01"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SUBJID = "001"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794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If the zeros are lost, USUBJID becomes ABC-01-1-1 instead of ABC-01-01-001 — wrong for every subject, in every domain.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297680"/>
            <a:ext cx="5394960" cy="1990344"/>
          </a:xfrm>
          <a:prstGeom prst="roundRect">
            <a:avLst>
              <a:gd name="adj" fmla="val 3675"/>
            </a:avLst>
          </a:prstGeom>
          <a:solidFill>
            <a:srgbClr val="13323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389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754880"/>
            <a:ext cx="4983480" cy="1423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CE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control the types yourself */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CE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dm_raw;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CE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infile "dm_raw.csv" dsd firstobs=2;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CE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length siteid $3 subjid $5;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CE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 studyid $ siteid $ subjid $ ...;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CE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4297680"/>
            <a:ext cx="5394960" cy="1990344"/>
          </a:xfrm>
          <a:prstGeom prst="roundRect">
            <a:avLst>
              <a:gd name="adj" fmla="val 3675"/>
            </a:avLst>
          </a:prstGeom>
          <a:solidFill>
            <a:srgbClr val="13323F"/>
          </a:solidFill>
          <a:ln w="19050">
            <a:solidFill>
              <a:srgbClr val="E883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4389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6520" y="4754880"/>
            <a:ext cx="4983480" cy="1423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CE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declare intent, never rely on luck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CE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read_csv("dm_raw.csv",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CE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col_types = cols(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CE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SITEID = col_character(),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CE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SUBJID = col_character(),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CE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.default = col_guess()))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raw date is ISO — convert every 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14-MAY-1969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840480" y="1965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DD-MMM-YYYY — the CRF standard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863840" y="1965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dm, ds, ex, vs, lb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108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56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15/03/2024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0" y="3108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DD/MM/YYYY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63840" y="3108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ae, cm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251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565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10-Mar-2024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840480" y="42519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DD-Mon-YYYY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863840" y="4251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ae, cm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212080"/>
            <a:ext cx="10972800" cy="1051560"/>
          </a:xfrm>
          <a:prstGeom prst="roundRect">
            <a:avLst>
              <a:gd name="adj" fmla="val 7826"/>
            </a:avLst>
          </a:prstGeom>
          <a:solidFill>
            <a:srgbClr val="0F2E3D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53492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dangers.  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01/03/2024 is ambiguous — 1 March or 3 January? Check the data dictionary, never guess.  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date means ongoing or not done — leave it null, never substitute today's date.  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DD-MMM-YYYY text does NOT sort chronologically — convert before any min/max.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Blank does not mean zero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16404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594360" cy="5943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83080" y="21305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collected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5877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wasn't done at this visit.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303520" y="2194560"/>
            <a:ext cx="0" cy="777240"/>
          </a:xfrm>
          <a:prstGeom prst="line">
            <a:avLst/>
          </a:prstGeom>
          <a:noFill/>
          <a:ln w="12700">
            <a:solidFill>
              <a:srgbClr val="2A55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32120" y="22402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is blank at BASELINE and WEEK 4 — height is measured once, at screening.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16404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611880"/>
            <a:ext cx="594360" cy="59436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611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83080" y="34564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ongoing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83080" y="39136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or medication hasn't ended.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303520" y="3520440"/>
            <a:ext cx="0" cy="777240"/>
          </a:xfrm>
          <a:prstGeom prst="line">
            <a:avLst/>
          </a:prstGeom>
          <a:noFill/>
          <a:ln w="12700">
            <a:solidFill>
              <a:srgbClr val="2A55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35661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AEENDT is blank for the Nausea event — it was still ongoing at the end of the study.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61772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16404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4937760"/>
            <a:ext cx="594360" cy="594360"/>
          </a:xfrm>
          <a:prstGeom prst="ellipse">
            <a:avLst/>
          </a:prstGeom>
          <a:solidFill>
            <a:srgbClr val="1FA8A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937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83080" y="47823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Genuinely unknown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83080" y="52395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asked but the answer isn't known.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303520" y="4846320"/>
            <a:ext cx="0" cy="777240"/>
          </a:xfrm>
          <a:prstGeom prst="line">
            <a:avLst/>
          </a:prstGeom>
          <a:noFill/>
          <a:ln w="12700">
            <a:solidFill>
              <a:srgbClr val="2A55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48920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ETHNIC = 'Unknown' for one subject — that is a real recorded value, not a blank.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943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reasons, same appearance in the file. Understanding which one you're looking at is a clinical question, not a technical one.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 and tall are both “normal”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— vs_raw.csv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SUBJID VISIT     SYSBP DIABP PULSE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    SCREENING  122    80    68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    BASELINE   120    78    66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visit · one column per measurement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F0F7F4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— lb_raw.csv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2402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SUBJID VISIT     LBTEST      LBORRES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    BASELINE  Hemoglobin  14.2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0F2E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    BASELINE  Hematocrit  42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92240" y="3429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measurement · a test-name column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E8833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605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SDTM Findings domains are always TALL — so wide data must be transposed on the way in.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5166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Recognising the shape is the first decision you make about a Findings file: does it need transposing, or is it already in the right form?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needs transposing (24 rows → 128).      LB does not (48 rows → 48).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idea, spelled many 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92808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828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numbers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114800" y="1828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SEX = 1 / 2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0" y="18288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the dictionary to know 1=Male, 2=Female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2990088"/>
            <a:ext cx="548640" cy="548640"/>
          </a:xfrm>
          <a:prstGeom prst="ellipse">
            <a:avLst/>
          </a:prstGeom>
          <a:solidFill>
            <a:srgbClr val="1FA8A0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990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2926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case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114800" y="2926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White / white / 'White '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0" y="29260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and upper-case before matching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" y="4087368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4087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4023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114800" y="40233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'bad headache' / 'Headache'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15200" y="40233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dictionary coding (MedDRA) — not a simple lookup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10972800" cy="960120"/>
          </a:xfrm>
          <a:prstGeom prst="roundRect">
            <a:avLst>
              <a:gd name="adj" fmla="val 8571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6112" y="5184648"/>
            <a:ext cx="548640" cy="548640"/>
          </a:xfrm>
          <a:prstGeom prst="ellipse">
            <a:avLst/>
          </a:prstGeom>
          <a:solidFill>
            <a:srgbClr val="0F2E3D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5184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45920" y="51206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114800" y="51206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8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'No' / 'N'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15200" y="51206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mean the same; map both to CT 'N'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these is Controlled Terminology work — Module 08. For now, just learn to spot them.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inspection checklist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on every unfamiliar dataset, every time. It takes two minutes and saves hours.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394960" cy="1161288"/>
          </a:xfrm>
          <a:prstGeom prst="roundRect">
            <a:avLst>
              <a:gd name="adj" fmla="val 7087"/>
            </a:avLst>
          </a:prstGeom>
          <a:solidFill>
            <a:srgbClr val="16404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04872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72768" y="225856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rows and columns?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572768" y="26700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row count match what you expected?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394960" cy="1161288"/>
          </a:xfrm>
          <a:prstGeom prst="roundRect">
            <a:avLst>
              <a:gd name="adj" fmla="val 7087"/>
            </a:avLst>
          </a:prstGeom>
          <a:solidFill>
            <a:srgbClr val="16404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404872"/>
            <a:ext cx="548640" cy="548640"/>
          </a:xfrm>
          <a:prstGeom prst="ellipse">
            <a:avLst/>
          </a:prstGeom>
          <a:solidFill>
            <a:srgbClr val="1FA8A0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50608" y="225856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type is every column?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150608" y="26700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the IDs — check the leading zeros survived.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401568"/>
            <a:ext cx="5394960" cy="1161288"/>
          </a:xfrm>
          <a:prstGeom prst="roundRect">
            <a:avLst>
              <a:gd name="adj" fmla="val 7087"/>
            </a:avLst>
          </a:prstGeom>
          <a:solidFill>
            <a:srgbClr val="16404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3703320"/>
            <a:ext cx="548640" cy="548640"/>
          </a:xfrm>
          <a:prstGeom prst="ellipse">
            <a:avLst/>
          </a:prstGeom>
          <a:solidFill>
            <a:srgbClr val="6FC8B4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72768" y="355701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distinct subjects?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572768" y="39684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DM. Any subject not in DM is a problem.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401568"/>
            <a:ext cx="5394960" cy="1161288"/>
          </a:xfrm>
          <a:prstGeom prst="roundRect">
            <a:avLst>
              <a:gd name="adj" fmla="val 7087"/>
            </a:avLst>
          </a:prstGeom>
          <a:solidFill>
            <a:srgbClr val="16404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3703320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50608" y="355701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columns have blanks?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150608" y="396849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does each blank mean?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700016"/>
            <a:ext cx="5394960" cy="1161288"/>
          </a:xfrm>
          <a:prstGeom prst="roundRect">
            <a:avLst>
              <a:gd name="adj" fmla="val 7087"/>
            </a:avLst>
          </a:prstGeom>
          <a:solidFill>
            <a:srgbClr val="16404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5001768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001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72768" y="485546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distinct values?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572768" y="526694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column you'll map to CT — look at every value.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4700016"/>
            <a:ext cx="5394960" cy="1161288"/>
          </a:xfrm>
          <a:prstGeom prst="roundRect">
            <a:avLst>
              <a:gd name="adj" fmla="val 7087"/>
            </a:avLst>
          </a:prstGeom>
          <a:solidFill>
            <a:srgbClr val="16404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46520" y="5001768"/>
            <a:ext cx="548640" cy="548640"/>
          </a:xfrm>
          <a:prstGeom prst="ellipse">
            <a:avLst/>
          </a:prstGeom>
          <a:solidFill>
            <a:srgbClr val="1FA8A0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5001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50608" y="485546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date formats appear?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150608" y="526694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more than one format in the same column.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OF INSPECTION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analysis: ABC-01 raw → SDTM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produces a to-do list. Here is the real one for our study.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7280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4572000"/>
                <a:gridCol w="16459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wrong in the raw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must 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E3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SUBJID not unique study-wide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USUBJID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76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 stored as 1 /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CT → M / 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76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RACE free text, mixed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Trim, upper-case, map to 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76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 date, no 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 AGE and AGEU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76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Dates in 3 formats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all to ISO 8601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76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AE, CM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study day anywhere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 --DY from RFSTDTC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76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record sequence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 --SEQ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76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2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is wide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7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Transpose to --TESTCD / --TEST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A76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documented in data/mapping_specification.md — your reference for the rest of the bootcamp.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mistakes that cost hours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75688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856232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checking the row count
</a:t>
            </a:r>
            <a:pPr indent="0" marL="0">
              <a:buNone/>
            </a:pPr>
            <a:r>
              <a:rPr lang="en-US" sz="118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imported 23 rows from a 24-row file, something was silently dropped.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2075688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78040" y="1856232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IDs become numbers
</a:t>
            </a:r>
            <a:pPr indent="0" marL="0">
              <a:buNone/>
            </a:pPr>
            <a:r>
              <a:rPr lang="en-US" sz="118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zeros vanish and your USUBJID is wrong for every subject.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538728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538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3319272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one date format
</a:t>
            </a:r>
            <a:pPr indent="0" marL="0">
              <a:buNone/>
            </a:pPr>
            <a:r>
              <a:rPr lang="en-US" sz="118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date column for more than one pattern.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154680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3538728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538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78040" y="3319272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blanks as zero
</a:t>
            </a:r>
            <a:pPr indent="0" marL="0">
              <a:buNone/>
            </a:pPr>
            <a:r>
              <a:rPr lang="en-US" sz="118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weight is not a weight of 0 kg.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F3F7F8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5001768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001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00200" y="4782312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the raw file
</a:t>
            </a:r>
            <a:pPr indent="0" marL="0">
              <a:buNone/>
            </a:pPr>
            <a:r>
              <a:rPr lang="en-US" sz="118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Never. Fix it in code so the step is documented and repeatable.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4617720"/>
            <a:ext cx="53949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CFDEE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A8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5001768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5001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78040" y="4782312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dictionary
</a:t>
            </a:r>
            <a:pPr indent="0" marL="0">
              <a:buNone/>
            </a:pPr>
            <a:r>
              <a:rPr lang="en-US" sz="1180" dirty="0">
                <a:solidFill>
                  <a:srgbClr val="5A7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dictionary tells you what 1/2 and DD/MM mean. Read it first.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4572000" cy="4572000"/>
          </a:xfrm>
          <a:prstGeom prst="ellipse">
            <a:avLst/>
          </a:prstGeom>
          <a:solidFill>
            <a:srgbClr val="133B4C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5120640"/>
            <a:ext cx="2743200" cy="2743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" y="17373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the data in, then build your first domain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2907792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03   </a:t>
            </a:r>
            <a:pPr indent="0" marL="0">
              <a:buNone/>
            </a:pPr>
            <a:r>
              <a:rPr lang="en-US" sz="140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Raw Data — read all six files, run the checklist (SAS &amp; R)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566928" cy="566928"/>
          </a:xfrm>
          <a:prstGeom prst="ellipse">
            <a:avLst/>
          </a:prstGeom>
          <a:solidFill>
            <a:srgbClr val="1FA8A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3822192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  </a:t>
            </a:r>
            <a:pPr indent="0" marL="0">
              <a:buNone/>
            </a:pPr>
            <a:r>
              <a:rPr lang="en-US" sz="140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DM domain — Special Purpose, one row per subject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566928" cy="566928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754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4736592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04   </a:t>
            </a:r>
            <a:pPr indent="0" marL="0">
              <a:buNone/>
            </a:pPr>
            <a:r>
              <a:rPr lang="en-US" sz="1400" dirty="0">
                <a:solidFill>
                  <a:srgbClr val="C7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DM end to end and check it against the reference dataset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" y="6035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FC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the finished answer in data/sdtm/ — but build it yourself first, then compare.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Reading &amp; Understanding Raw Clinical Data</dc:title>
  <dc:subject>PptxGenJS Presentation</dc:subject>
  <dc:creator>Clinical Programming Bootcamp</dc:creator>
  <cp:lastModifiedBy>Clinical Programming Bootcamp</cp:lastModifiedBy>
  <cp:revision>1</cp:revision>
  <dcterms:created xsi:type="dcterms:W3CDTF">2026-07-26T04:52:02Z</dcterms:created>
  <dcterms:modified xsi:type="dcterms:W3CDTF">2026-07-26T04:52:02Z</dcterms:modified>
</cp:coreProperties>
</file>