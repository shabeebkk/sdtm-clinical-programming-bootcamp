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04. This is the first module where trainees touch the real study data. The theme: importing is not a formality — the choices you make when reading a file determine whether your mapping can succeed. Pair this deck with Notebook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module is deliberately unglamorous — it is about discipline. Emphasise goal 5: the output of good inspection is a mapping plan, which is what Module 05 executes for 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trainees in the data folder. Every file has STUDYID, SITEID, SUBJID. Point out the row counts so they can check their imports landed correctly — an import that produces the wrong number of rows is the first thing to catch. Flag the wide/tall difference now; it becomes a whole exercise in Module 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Types drive everything downstream. The key surprise for beginners: SDTM dates are CHARACTER, not date-typed — ISO 8601 strings. Internally both languages have date types you use for arithmetic (like study day), but what you store in a --DTC variable is text. Missing is the fourth state and deserves its own emphasis.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 here — the tools genuinely differ. SAS PROC IMPORT guesses numeric for all-digit IDs and loses the zeros (guessingrows=max makes it scan every row but does not change that choice). Base R's read.csv() does the same. Modern readr::read_csv() is smarter: it detects the leading zeros and keeps the column as character, so it survives. The lesson is NOT 'R is better' — it is 'declare your types explicitly'. Relying on a good guess is fragile: if a future extract has site 10 with no leading zero, the guess flips to numeric and your IDs break. Notebook 03 demonstrates all three behaviours on the real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raw data mixes formats deliberately because real extracts do. The ambiguity point is critical and genuinely dangerous: 01/03/2024 cannot be resolved from the value alone — you need the data dictionary or the source system's convention. For ABC-01 the dictionary states DD/MM/YYYY. The blank-date rule is a compliance point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blank cell has several possible meanings and they map differently. Not-collected stays null. Ongoing stays null (and may drive a flag elsewhere). 'Unknown' recorded as a value is NOT missing — it maps to a CT term like UNKNOWN. The message: ask what the blank means before deciding how to handle it, and never fill it with a guess or 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Neither shape is wrong — they reflect how the CRF was built. A vital signs form has boxes for BP, pulse and temperature on one page, so the extract is wide. A lab result feed comes back one analyte at a time, so it is tall. Since SDTM Findings are tall, wide files need a transpose. Give the concrete numbers: VS 24 rows becomes 128; LB 48 stays 48.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survey of what makes raw values messy. Note the important distinction on row 3: free-text medical terms cannot be resolved with a lookup table — they need dictionary coding by trained coders using MedDRA or WHODrug. Everything else here is a straightforward mapping table. We flag which is which so trainees don't think they can code adverse events with a CASE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this a habit. Notebook 03 walks through all six checks on all six ABC-01 files, in both languages. Check 3 is a genuine data-integrity check — a subject appearing in AE but not DM means something is wrong with the extract, and Pinnacle 21 will flag it later. Check 5 is how you build a CT mapping table: you cannot map values you have not looked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slide. Inspection is not academic — it produces this concrete list, and the list is the work plan for Modules 05 onward. Point trainees at mapping_specification.md, which documents each of these rules in full, and at data/sdtm/ which holds the finished result they are working towards.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'never edit the raw file' rule is worth dwelling on — it is a regulatory as well as a practical point. Every transformation must be reproducible from the source data by running a program. If you hand-edit a CSV, nobody can reproduce your dataset and you have broken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pointing at the notebooks. Mention that the reference SDTM datasets exist in data/sdtm/ so trainees can self-check — but insist they attempt the mapping before opening the answer. End of Module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2926080" cy="2926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Shape 2"/>
          <p:cNvSpPr/>
          <p:nvPr/>
        </p:nvSpPr>
        <p:spPr>
          <a:xfrm>
            <a:off x="10469880" y="137160"/>
            <a:ext cx="1554480" cy="155448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Raw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Data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map anything, you have to get the data in — with the right types, the right dates, and your eyes open for what's wrong with it.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Notebook 03 · Importing Raw Data (SAS &amp; R)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module you can…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92224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4650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 raw CSV correctly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SAS and R, with the types you intended.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798064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798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00200" y="275234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four data types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character, numeric, date, and missing — and tell them apart.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03904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039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75818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classic traps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zeros, mixed date formats, blanks, wide structures.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809744"/>
            <a:ext cx="548640" cy="548640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00200" y="476402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before you map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standard checklist on any unfamiliar dataset.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562356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815584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815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00200" y="576986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mapping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exactly what must change to reach SDTM.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raw extract actually looks like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CRF form — note Demographics and Disposition are separate forms, completed at different times.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402336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CRF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 (screening)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Disposition / end of study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A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drug exposure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883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ae_raw.csv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Adverse 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event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cm_raw.csv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Concomitant meds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medication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Vital signs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 — one row per visit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A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 — one row per 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vs_raw.csv is WIDE and lb_raw.csv is TALL — the same clinical idea, two different shapes. You'll handle both.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one of three types (plus missing)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Text. Anything you don't do arithmetic 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"ABC-01"  "F"  "bad headache"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IDs, codes, names, ISO dates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1FA8A0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you can calculate with.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50   36.7   122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Doses, results, ages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E883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6676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calendar point. Stored as a number internally, but SDTM wants ISO text.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2024-03-01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(character in SDTM!)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0F2E3D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937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state: MISSING. 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that was not collected. In SAS a missing number is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missing text is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 R both are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Missing is never the same as zero or an empty answer.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guessing can destroy IDs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guess column types from the values. An ID made only of digits looks like a number — and different tools make different guesses on the SAME file.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01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001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DF1E7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PROC IMPORT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 read.csv()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1772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1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EAF5F0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readr read_csv()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6676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"01"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"001"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the zeros are lost, USUBJID becomes ABC-01-1-1 instead of ABC-01-01-001 — wrong for every subject, in every domain.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5394960" cy="1990344"/>
          </a:xfrm>
          <a:prstGeom prst="roundRect">
            <a:avLst>
              <a:gd name="adj" fmla="val 3675"/>
            </a:avLst>
          </a:prstGeom>
          <a:solidFill>
            <a:srgbClr val="13323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4754880"/>
            <a:ext cx="498348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control the types yourself */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dm_raw;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infile "dm_raw.csv" dsd firstobs=2;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length siteid $3 subjid $5;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input studyid $ siteid $ subjid $ ...;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run;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297680"/>
            <a:ext cx="5394960" cy="1990344"/>
          </a:xfrm>
          <a:prstGeom prst="roundRect">
            <a:avLst>
              <a:gd name="adj" fmla="val 3675"/>
            </a:avLst>
          </a:prstGeom>
          <a:solidFill>
            <a:srgbClr val="13323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46520" y="4754880"/>
            <a:ext cx="498348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declare intent, never rely on luck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read_csv("dm_raw.csv",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col_types = cols(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SITEID = col_character(),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SUBJID = col_character(),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.default = col_guess()))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raw date is ISO — convert every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14-MAY-1969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0" y="1965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DD-MMM-YYYY — the CRF standard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0" y="1965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dm, ds, ex, vs, lb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15/03/2024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0" y="3108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DD/MM/YYYY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863840" y="3108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ae, cm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251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10-Mar-2024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40480" y="4251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DD-Mon-YYYY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863840" y="4251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ae, cm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0F2E3D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dangers.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01/03/2024 is ambiguous — 1 March or 3 January? Check the data dictionary, never guess.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date means ongoing or not done — leave it null, never substitute today's date.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DD-MMM-YYYY text does NOT sort chronologically — convert before any min/max.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does not mean zero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594360" cy="5943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860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collected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587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wasn't done at this visit.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303520" y="219456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32120" y="22402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blank at BASELINE and WEEK 4 — height is measured once, at screening.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3611880"/>
            <a:ext cx="594360" cy="59436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8308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ongoing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9136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or medication hasn't ended.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303520" y="352044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35661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AEENDT is blank for the Nausea event — it was still ongoing at the end of the study.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4937760"/>
            <a:ext cx="594360" cy="59436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37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47823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Genuinely unknown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83080" y="52395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asked but the answer isn't known.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303520" y="484632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4892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ETHNIC = 'Unknown' for one subject — that is a real recorded value, not a blank.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reasons, same appearance in the file. Understanding which one you're looking at is a clinical question, not a technical one.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Wide and tall are both “normal”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— vs_raw.csv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VISIT     SYSBP DIABP PULSE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SCREENING  122    80    68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 120    78    66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visit · one column per measurement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0F7F4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— lb_raw.csv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VISIT     LBTEST      LBORRES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Hemoglobin  14.2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Hematocrit  42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9224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measurement · a test-name column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605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Findings domains are always TALL — so wide data must be transposed on the way in.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the shape is the first decision you make about a Findings file: does it need transposing, or is it already in the right form?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needs transposing (24 rows → 128).      LB does not (48 rows → 48).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idea, spelled many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92808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numbers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SEX = 1 / 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0" y="18288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dictionary to know 1=Male, 2=Female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990088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990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926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case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 / white / 'White 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0" y="2926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and upper-case before matching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0873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114800" y="4023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'bad headache' / 'Headache'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15200" y="40233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dictionary coding (MedDRA) — not a simple lookup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184648"/>
            <a:ext cx="548640" cy="548640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5184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5120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11480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'No' / 'N'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0" y="5120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mean the same; map both to CT 'N'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these is Controlled Terminology work — Module 08. For now, just learn to spot them.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inspection checklist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 every unfamiliar dataset, every time. It takes two minutes and saves hours.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4048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72768" y="22585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and columns?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72768" y="26700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row count match what you expected?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404872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0608" y="22585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type is every column?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26700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the IDs — check the leading zeros survived.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3703320"/>
            <a:ext cx="548640" cy="548640"/>
          </a:xfrm>
          <a:prstGeom prst="ellipse">
            <a:avLst/>
          </a:prstGeom>
          <a:solidFill>
            <a:srgbClr val="6FC8B4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72768" y="355701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distinct subjects?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72768" y="39684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DM. Any subject not in DM is a problem.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3703320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50608" y="355701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columns have blanks?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50608" y="39684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does each blank mean?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700016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72768" y="48554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distinct values?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572768" y="52669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column you'll map to CT — look at every value.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700016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46520" y="5001768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50608" y="48554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date formats appear?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7150608" y="52669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more than one format in the same column.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OF INSPECTION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analysis: ABC-01 raw → SDTM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produces a to-do list. Here is the real one for our study.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457200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wrong in the raw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must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SUBJID not unique study-wide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USUBJID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 stored as 1 /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CT → M /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RACE free text, mixed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Trim, upper-case, map to 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 date, no 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AGE and AGEU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in 3 formats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to ISO 8601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AE, CM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study day anywhere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--DY from RFSTDTC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sequence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--SEQ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is wide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Transpose to --TESTCD / --TEST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documented in data/mapping_specification.md — your reference for the rest of the bootcamp.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mistakes that cost hours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7568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85623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the row count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imported 23 rows from a 24-row file, something was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207568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78040" y="185623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IDs become numbers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zeros vanish and your USUBJID is wrong for every subject.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53872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538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31927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one date format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date column for more than one pattern.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315468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353872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538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78040" y="331927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blanks as zero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weight is not a weight of 0 kg.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478231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the raw file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Never. Fix it in code so the step is documented and repeatable.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50017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78040" y="478231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dictionary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dictionary tells you what 1/2 and DD/MM mean. Read it first.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4572000" cy="457200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5120640"/>
            <a:ext cx="2743200" cy="2743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737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data in, then build your first domain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9077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03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Importing Raw Data — read all six files, run the checklist (SAS &amp; R)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566928" cy="566928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DM domain — Special Purpose, one row per subject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7365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04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DM end to end and check it against the reference dataset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6035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the finished answer in data/sdtm/ — but build it yourself first, then compare.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&amp; Understanding Raw Clinical Data</dc:title>
  <dc:subject>PptxGenJS Presentation</dc:subject>
  <dc:creator>Clinical Programming Bootcamp</dc:creator>
  <cp:lastModifiedBy>Clinical Programming Bootcamp</cp:lastModifiedBy>
  <cp:revision>1</cp:revision>
  <dcterms:created xsi:type="dcterms:W3CDTF">2026-07-19T04:33:27Z</dcterms:created>
  <dcterms:modified xsi:type="dcterms:W3CDTF">2026-07-19T04:33:27Z</dcterms:modified>
</cp:coreProperties>
</file>