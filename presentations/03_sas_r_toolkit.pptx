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03. This is the orientation before the hands-on notebooks. Key message: SAS and R are treated as equal partners here. Some trainees will already know one; nobody is expected to know both. By the end they should be able to read a simple program in either language and recognise the same seven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balanced and honest. SAS dominates historically because of validation and regulatory familiarity, and because submission datasets go as SAS transport (.xpt) files. R has grown rapidly, is free, and is increasingly used and accepted; industry groups have worked to demonstrate R-based submissions. Do not tell trainees one is 'better' — the honest answer is that teams use both, and knowing both is a career advantage. Double-programming (independent checks in the other language) is a real QC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module. Freshers panic about syntax; reframe it as seven concepts with two spellings. Every notebook in the bootcamp is these moves in some order. Ask trainees to name which move they'd use to answer a simple question (e.g. 'how many subjects per arm?' → summarize).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building blocks. The DATA step is procedural — it loops row by row, which is unfamiliar to people from other languages but powerful. PROC steps are pre-written procedures you configure. The missing semicolon is the single most common beginner error in SAS; the log will usually point at it. Note comments are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reads left to right, top to bottom through the pipe. Say 'then' aloud when reading a pipe: take vs, THEN mutate, THEN count. Note the assignment arrow &lt;- (= also works but &lt;- is conventional). NA_character_ is R's typed missing value for text — introduce it lightly here; the missing-values slide covers it. Mention |&gt; is base R's pipe (R 4.1+); older code uses %&gt;% from magrittr — they behave the same for our purposes.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the seven moves. The key teaching point is type guessing. In SAS, PROC IMPORT scans rows and guesses; guessingrows=max makes it scan everything. In R, read_csv guesses too but col_types lets you be explicit up front. Leading-zero IDs are the classic clinical-data trap and appear immediately in our ABC-01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Inspection is a habit, not a step to skip. The four questions are what to ask every time you open an unfamiliar dataset. PROC CONTENTS and glimpse() are the direct equivalents. Encourage trainees to run these before writing any mapping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seven moves at once. Emphasise the == vs = distinction in R, a very common beginner error. In SAS, WHERE and IF can both subset in a DATA step; WHERE is usually preferable and also works on PROCs. In R, filter() and select() are separate verbs that chain with the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comparison in the deck — every domain build is this pattern. Walk through both sides slowly. SAS: LENGTH first, then assignment, then IF/THEN/ELSE. R: one mutate() with several new columns, case_when() for multi-way logic with a TRUE catch-all. The silent truncation warning is a real bug source: a USUBJID declared too short gets cut off with no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Sorting matters more in SAS than R: SAS MERGE requires sorted inputs, and --SEQ derivation depends on order. In R, joins do not require sorting. PROC FREQ vs PROC MEANS is a common early confusion — categories vs continuous numbers. group_by() + summarise() is the general R pattern for 'per group'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Joins deserve their own slide because they behave so differently. SAS MERGE with BY requires both datasets sorted by the key — forgetting this is a classic error (SAS will complain). The IN= dataset option flags which source contributed a row, used here to keep only DM rows, equivalent to a left join. R's left_join is declarative and needs no sorting. Preview the real use case: deriving study day needs the reference date joined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keep-it-open reference. Do not read it aloud line by line; point out that it is the seven moves plus joins and stacking. Tell trainees this table is reproduced in both Notebook 01 walkthroughs so they always have it beside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mapping. Emphasise missing values: SAS uses a dot for missing numerics and an empty string for missing character values; R uses NA, with typed variants like NA_character_. In R, most calculations return NA if any input is NA unless you pass na.rm = TRUE — a frequent surprise. In SAS, a missing numeric sorts as smaller than any number, which can silently affect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account for a large share of early frustration. The dates point is a preview: both languages have internal date types, but SDTM requires ISO 8601 character values (YYYY-MM-DD), so there is always a conversion step. We handle that properly in the domain-building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setup. Stress reading the SAS log: SAS often produces output even when something went wrong, so the log is the source of truth — look for ERROR, WARNING, and NOTE lines, especially notes about uninitialized variables or truncation. In R, errors stop execution and print in red. Tell trainees which environment your organisation provides so they can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and hand off to the notebooks. Encourage trainees who already know SAS to do the R notebook properly, and vice versa — the parallel structure is designed so the familiar language teaches them the unfamiliar one. End of Module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03</a:t>
            </a:r>
            <a:endParaRPr lang="en-US" sz="1400" dirty="0"/>
          </a:p>
        </p:txBody>
      </p:sp>
      <p:sp>
        <p:nvSpPr>
          <p:cNvPr id="6" name="Text 4"/>
          <p:cNvSpPr/>
          <p:nvPr/>
        </p:nvSpPr>
        <p:spPr>
          <a:xfrm>
            <a:off x="603504" y="2286000"/>
            <a:ext cx="877824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Your Toolkit</a:t>
            </a:r>
            <a:endParaRPr lang="en-US" sz="4600" dirty="0"/>
          </a:p>
        </p:txBody>
      </p:sp>
      <p:sp>
        <p:nvSpPr>
          <p:cNvPr id="7" name="Text 5"/>
          <p:cNvSpPr/>
          <p:nvPr/>
        </p:nvSpPr>
        <p:spPr>
          <a:xfrm>
            <a:off x="640080" y="3200400"/>
            <a:ext cx="8778240" cy="640080"/>
          </a:xfrm>
          <a:prstGeom prst="rect">
            <a:avLst/>
          </a:prstGeom>
          <a:noFill/>
          <a:ln/>
        </p:spPr>
        <p:txBody>
          <a:bodyPr wrap="square" lIns="0" tIns="0" rIns="0" bIns="0" rtlCol="0" anchor="ctr"/>
          <a:lstStyle/>
          <a:p>
            <a:pPr indent="0" marL="0">
              <a:buNone/>
            </a:pPr>
            <a:r>
              <a:rPr lang="en-US" sz="2800" dirty="0">
                <a:solidFill>
                  <a:srgbClr val="6FC8B4"/>
                </a:solidFill>
                <a:latin typeface="Cambria" pitchFamily="34" charset="0"/>
                <a:ea typeface="Cambria" pitchFamily="34" charset="-122"/>
                <a:cs typeface="Cambria" pitchFamily="34" charset="-120"/>
              </a:rPr>
              <a:t>SAS &amp; R for clinical programming</a:t>
            </a:r>
            <a:endParaRPr lang="en-US" sz="2800" dirty="0"/>
          </a:p>
        </p:txBody>
      </p:sp>
      <p:sp>
        <p:nvSpPr>
          <p:cNvPr id="8" name="Text 6"/>
          <p:cNvSpPr/>
          <p:nvPr/>
        </p:nvSpPr>
        <p:spPr>
          <a:xfrm>
            <a:off x="640080" y="4114800"/>
            <a:ext cx="8412480" cy="91440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Two languages, one job. Everything you build in this bootcamp, you'll build twice — and see how each language gets there.</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No programming experience assumed.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INDUSTRY REALITY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Why you'll learn both</a:t>
            </a:r>
            <a:endParaRPr lang="en-US" sz="3000" dirty="0"/>
          </a:p>
        </p:txBody>
      </p:sp>
      <p:sp>
        <p:nvSpPr>
          <p:cNvPr id="4" name="Shape 2"/>
          <p:cNvSpPr/>
          <p:nvPr/>
        </p:nvSpPr>
        <p:spPr>
          <a:xfrm>
            <a:off x="640080" y="1691640"/>
            <a:ext cx="5394960" cy="4114800"/>
          </a:xfrm>
          <a:prstGeom prst="roundRect">
            <a:avLst>
              <a:gd name="adj" fmla="val 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846320" cy="548640"/>
          </a:xfrm>
          <a:prstGeom prst="rect">
            <a:avLst/>
          </a:prstGeom>
          <a:noFill/>
          <a:ln/>
        </p:spPr>
        <p:txBody>
          <a:bodyPr wrap="square" lIns="0" tIns="0" rIns="0" bIns="0" rtlCol="0" anchor="ctr"/>
          <a:lstStyle/>
          <a:p>
            <a:pPr indent="0" marL="0">
              <a:buNone/>
            </a:pPr>
            <a:r>
              <a:rPr lang="en-US" sz="3000" b="1" dirty="0">
                <a:solidFill>
                  <a:srgbClr val="0E7C86"/>
                </a:solidFill>
                <a:latin typeface="Cambria" pitchFamily="34" charset="0"/>
                <a:ea typeface="Cambria" pitchFamily="34" charset="-122"/>
                <a:cs typeface="Cambria" pitchFamily="34" charset="-120"/>
              </a:rPr>
              <a:t>SAS</a:t>
            </a:r>
            <a:endParaRPr lang="en-US" sz="3000" dirty="0"/>
          </a:p>
        </p:txBody>
      </p:sp>
      <p:sp>
        <p:nvSpPr>
          <p:cNvPr id="6" name="Text 4"/>
          <p:cNvSpPr/>
          <p:nvPr/>
        </p:nvSpPr>
        <p:spPr>
          <a:xfrm>
            <a:off x="914400" y="2487168"/>
            <a:ext cx="4846320" cy="320040"/>
          </a:xfrm>
          <a:prstGeom prst="rect">
            <a:avLst/>
          </a:prstGeom>
          <a:noFill/>
          <a:ln/>
        </p:spPr>
        <p:txBody>
          <a:bodyPr wrap="square" lIns="0" tIns="0" rIns="0" bIns="0" rtlCol="0" anchor="ctr"/>
          <a:lstStyle/>
          <a:p>
            <a:pPr indent="0" marL="0">
              <a:buNone/>
            </a:pPr>
            <a:r>
              <a:rPr lang="en-US" sz="1350" b="1" i="1" dirty="0">
                <a:solidFill>
                  <a:srgbClr val="5A7682"/>
                </a:solidFill>
                <a:latin typeface="Calibri" pitchFamily="34" charset="0"/>
                <a:ea typeface="Calibri" pitchFamily="34" charset="-122"/>
                <a:cs typeface="Calibri" pitchFamily="34" charset="-120"/>
              </a:rPr>
              <a:t>The established standard</a:t>
            </a:r>
            <a:endParaRPr lang="en-US" sz="1350" dirty="0"/>
          </a:p>
        </p:txBody>
      </p:sp>
      <p:sp>
        <p:nvSpPr>
          <p:cNvPr id="7" name="Text 5"/>
          <p:cNvSpPr/>
          <p:nvPr/>
        </p:nvSpPr>
        <p:spPr>
          <a:xfrm>
            <a:off x="1051560" y="2926080"/>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Decades of use in regulatory submissions</a:t>
            </a:r>
            <a:endParaRPr lang="en-US" sz="1350" dirty="0"/>
          </a:p>
        </p:txBody>
      </p:sp>
      <p:sp>
        <p:nvSpPr>
          <p:cNvPr id="8" name="Text 6"/>
          <p:cNvSpPr/>
          <p:nvPr/>
        </p:nvSpPr>
        <p:spPr>
          <a:xfrm>
            <a:off x="1051560" y="3584448"/>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Commercial, licensed, formally validated</a:t>
            </a:r>
            <a:endParaRPr lang="en-US" sz="1350" dirty="0"/>
          </a:p>
        </p:txBody>
      </p:sp>
      <p:sp>
        <p:nvSpPr>
          <p:cNvPr id="9" name="Text 7"/>
          <p:cNvSpPr/>
          <p:nvPr/>
        </p:nvSpPr>
        <p:spPr>
          <a:xfrm>
            <a:off x="1051560" y="4242816"/>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Still the default at many sponsors and CROs</a:t>
            </a:r>
            <a:endParaRPr lang="en-US" sz="1350" dirty="0"/>
          </a:p>
        </p:txBody>
      </p:sp>
      <p:sp>
        <p:nvSpPr>
          <p:cNvPr id="10" name="Text 8"/>
          <p:cNvSpPr/>
          <p:nvPr/>
        </p:nvSpPr>
        <p:spPr>
          <a:xfrm>
            <a:off x="1051560" y="4901184"/>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Submission datasets are shipped as SAS transport files</a:t>
            </a:r>
            <a:endParaRPr lang="en-US" sz="1350" dirty="0"/>
          </a:p>
        </p:txBody>
      </p:sp>
      <p:sp>
        <p:nvSpPr>
          <p:cNvPr id="11" name="Shape 9"/>
          <p:cNvSpPr/>
          <p:nvPr/>
        </p:nvSpPr>
        <p:spPr>
          <a:xfrm>
            <a:off x="6217920" y="1691640"/>
            <a:ext cx="5394960" cy="4114800"/>
          </a:xfrm>
          <a:prstGeom prst="roundRect">
            <a:avLst>
              <a:gd name="adj" fmla="val 2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6492240" y="1920240"/>
            <a:ext cx="4846320" cy="548640"/>
          </a:xfrm>
          <a:prstGeom prst="rect">
            <a:avLst/>
          </a:prstGeom>
          <a:noFill/>
          <a:ln/>
        </p:spPr>
        <p:txBody>
          <a:bodyPr wrap="square" lIns="0" tIns="0" rIns="0" bIns="0" rtlCol="0" anchor="ctr"/>
          <a:lstStyle/>
          <a:p>
            <a:pPr indent="0" marL="0">
              <a:buNone/>
            </a:pPr>
            <a:r>
              <a:rPr lang="en-US" sz="3000" b="1" dirty="0">
                <a:solidFill>
                  <a:srgbClr val="E8833A"/>
                </a:solidFill>
                <a:latin typeface="Cambria" pitchFamily="34" charset="0"/>
                <a:ea typeface="Cambria" pitchFamily="34" charset="-122"/>
                <a:cs typeface="Cambria" pitchFamily="34" charset="-120"/>
              </a:rPr>
              <a:t>R</a:t>
            </a:r>
            <a:endParaRPr lang="en-US" sz="3000" dirty="0"/>
          </a:p>
        </p:txBody>
      </p:sp>
      <p:sp>
        <p:nvSpPr>
          <p:cNvPr id="13" name="Text 11"/>
          <p:cNvSpPr/>
          <p:nvPr/>
        </p:nvSpPr>
        <p:spPr>
          <a:xfrm>
            <a:off x="6492240" y="2487168"/>
            <a:ext cx="4846320" cy="320040"/>
          </a:xfrm>
          <a:prstGeom prst="rect">
            <a:avLst/>
          </a:prstGeom>
          <a:noFill/>
          <a:ln/>
        </p:spPr>
        <p:txBody>
          <a:bodyPr wrap="square" lIns="0" tIns="0" rIns="0" bIns="0" rtlCol="0" anchor="ctr"/>
          <a:lstStyle/>
          <a:p>
            <a:pPr indent="0" marL="0">
              <a:buNone/>
            </a:pPr>
            <a:r>
              <a:rPr lang="en-US" sz="1350" b="1" i="1" dirty="0">
                <a:solidFill>
                  <a:srgbClr val="9FC0C6"/>
                </a:solidFill>
                <a:latin typeface="Calibri" pitchFamily="34" charset="0"/>
                <a:ea typeface="Calibri" pitchFamily="34" charset="-122"/>
                <a:cs typeface="Calibri" pitchFamily="34" charset="-120"/>
              </a:rPr>
              <a:t>The fast-growing challenger</a:t>
            </a:r>
            <a:endParaRPr lang="en-US" sz="1350" dirty="0"/>
          </a:p>
        </p:txBody>
      </p:sp>
      <p:sp>
        <p:nvSpPr>
          <p:cNvPr id="14" name="Text 12"/>
          <p:cNvSpPr/>
          <p:nvPr/>
        </p:nvSpPr>
        <p:spPr>
          <a:xfrm>
            <a:off x="6629400" y="2926080"/>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Free and open source</a:t>
            </a:r>
            <a:endParaRPr lang="en-US" sz="1350" dirty="0"/>
          </a:p>
        </p:txBody>
      </p:sp>
      <p:sp>
        <p:nvSpPr>
          <p:cNvPr id="15" name="Text 13"/>
          <p:cNvSpPr/>
          <p:nvPr/>
        </p:nvSpPr>
        <p:spPr>
          <a:xfrm>
            <a:off x="6629400" y="3584448"/>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Huge package ecosystem for analysis and graphics</a:t>
            </a:r>
            <a:endParaRPr lang="en-US" sz="1350" dirty="0"/>
          </a:p>
        </p:txBody>
      </p:sp>
      <p:sp>
        <p:nvSpPr>
          <p:cNvPr id="16" name="Text 14"/>
          <p:cNvSpPr/>
          <p:nvPr/>
        </p:nvSpPr>
        <p:spPr>
          <a:xfrm>
            <a:off x="6629400" y="4242816"/>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Increasingly accepted by regulators</a:t>
            </a:r>
            <a:endParaRPr lang="en-US" sz="1350" dirty="0"/>
          </a:p>
        </p:txBody>
      </p:sp>
      <p:sp>
        <p:nvSpPr>
          <p:cNvPr id="17" name="Text 15"/>
          <p:cNvSpPr/>
          <p:nvPr/>
        </p:nvSpPr>
        <p:spPr>
          <a:xfrm>
            <a:off x="6629400" y="4901184"/>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Growing use for exploration, figures, and Shiny apps</a:t>
            </a:r>
            <a:endParaRPr lang="en-US" sz="1350" dirty="0"/>
          </a:p>
        </p:txBody>
      </p:sp>
      <p:sp>
        <p:nvSpPr>
          <p:cNvPr id="18" name="Text 16"/>
          <p:cNvSpPr/>
          <p:nvPr/>
        </p:nvSpPr>
        <p:spPr>
          <a:xfrm>
            <a:off x="640080" y="5989320"/>
            <a:ext cx="10972800" cy="411480"/>
          </a:xfrm>
          <a:prstGeom prst="rect">
            <a:avLst/>
          </a:prstGeom>
          <a:noFill/>
          <a:ln/>
        </p:spPr>
        <p:txBody>
          <a:bodyPr wrap="square" lIns="0" tIns="0" rIns="0" bIns="0" rtlCol="0" anchor="ctr"/>
          <a:lstStyle/>
          <a:p>
            <a:pPr algn="ctr" indent="0" marL="0">
              <a:buNone/>
            </a:pPr>
            <a:r>
              <a:rPr lang="en-US" sz="1350" i="1" dirty="0">
                <a:solidFill>
                  <a:srgbClr val="0E7C86"/>
                </a:solidFill>
                <a:latin typeface="Calibri" pitchFamily="34" charset="0"/>
                <a:ea typeface="Calibri" pitchFamily="34" charset="-122"/>
                <a:cs typeface="Calibri" pitchFamily="34" charset="-120"/>
              </a:rPr>
              <a:t>Most teams today use both. Being fluent in either makes you far more employable — and helps you check your own work.</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MENTAL MODEL</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data task is the same seven moves</a:t>
            </a:r>
            <a:endParaRPr lang="en-US" sz="3000" dirty="0"/>
          </a:p>
        </p:txBody>
      </p:sp>
      <p:sp>
        <p:nvSpPr>
          <p:cNvPr id="4" name="Shape 2"/>
          <p:cNvSpPr/>
          <p:nvPr/>
        </p:nvSpPr>
        <p:spPr>
          <a:xfrm>
            <a:off x="6400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088136" y="2423160"/>
            <a:ext cx="640080" cy="640080"/>
          </a:xfrm>
          <a:prstGeom prst="ellipse">
            <a:avLst/>
          </a:prstGeom>
          <a:solidFill>
            <a:srgbClr val="0E7C86"/>
          </a:solidFill>
          <a:ln/>
        </p:spPr>
      </p:sp>
      <p:sp>
        <p:nvSpPr>
          <p:cNvPr id="6" name="Text 4"/>
          <p:cNvSpPr/>
          <p:nvPr/>
        </p:nvSpPr>
        <p:spPr>
          <a:xfrm>
            <a:off x="1088136" y="242316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6858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Read</a:t>
            </a:r>
            <a:endParaRPr lang="en-US" sz="1500" dirty="0"/>
          </a:p>
        </p:txBody>
      </p:sp>
      <p:sp>
        <p:nvSpPr>
          <p:cNvPr id="8" name="Text 6"/>
          <p:cNvSpPr/>
          <p:nvPr/>
        </p:nvSpPr>
        <p:spPr>
          <a:xfrm>
            <a:off x="7315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get data in</a:t>
            </a:r>
            <a:endParaRPr lang="en-US" sz="1100" dirty="0"/>
          </a:p>
        </p:txBody>
      </p:sp>
      <p:sp>
        <p:nvSpPr>
          <p:cNvPr id="9" name="Shape 7"/>
          <p:cNvSpPr/>
          <p:nvPr/>
        </p:nvSpPr>
        <p:spPr>
          <a:xfrm>
            <a:off x="22402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2688336" y="2423160"/>
            <a:ext cx="640080" cy="640080"/>
          </a:xfrm>
          <a:prstGeom prst="ellipse">
            <a:avLst/>
          </a:prstGeom>
          <a:solidFill>
            <a:srgbClr val="1FA8A0"/>
          </a:solidFill>
          <a:ln/>
        </p:spPr>
      </p:sp>
      <p:sp>
        <p:nvSpPr>
          <p:cNvPr id="11" name="Text 9"/>
          <p:cNvSpPr/>
          <p:nvPr/>
        </p:nvSpPr>
        <p:spPr>
          <a:xfrm>
            <a:off x="2688336" y="242316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22860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Inspect</a:t>
            </a:r>
            <a:endParaRPr lang="en-US" sz="1500" dirty="0"/>
          </a:p>
        </p:txBody>
      </p:sp>
      <p:sp>
        <p:nvSpPr>
          <p:cNvPr id="13" name="Text 11"/>
          <p:cNvSpPr/>
          <p:nvPr/>
        </p:nvSpPr>
        <p:spPr>
          <a:xfrm>
            <a:off x="23317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see what you have</a:t>
            </a:r>
            <a:endParaRPr lang="en-US" sz="1100" dirty="0"/>
          </a:p>
        </p:txBody>
      </p:sp>
      <p:sp>
        <p:nvSpPr>
          <p:cNvPr id="14" name="Shape 12"/>
          <p:cNvSpPr/>
          <p:nvPr/>
        </p:nvSpPr>
        <p:spPr>
          <a:xfrm>
            <a:off x="38404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4288536" y="2423160"/>
            <a:ext cx="640080" cy="640080"/>
          </a:xfrm>
          <a:prstGeom prst="ellipse">
            <a:avLst/>
          </a:prstGeom>
          <a:solidFill>
            <a:srgbClr val="6FC8B4"/>
          </a:solidFill>
          <a:ln/>
        </p:spPr>
      </p:sp>
      <p:sp>
        <p:nvSpPr>
          <p:cNvPr id="16" name="Text 14"/>
          <p:cNvSpPr/>
          <p:nvPr/>
        </p:nvSpPr>
        <p:spPr>
          <a:xfrm>
            <a:off x="4288536" y="2423160"/>
            <a:ext cx="640080" cy="64008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38862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Filter</a:t>
            </a:r>
            <a:endParaRPr lang="en-US" sz="1500" dirty="0"/>
          </a:p>
        </p:txBody>
      </p:sp>
      <p:sp>
        <p:nvSpPr>
          <p:cNvPr id="18" name="Text 16"/>
          <p:cNvSpPr/>
          <p:nvPr/>
        </p:nvSpPr>
        <p:spPr>
          <a:xfrm>
            <a:off x="39319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keep some rows</a:t>
            </a:r>
            <a:endParaRPr lang="en-US" sz="1100" dirty="0"/>
          </a:p>
        </p:txBody>
      </p:sp>
      <p:sp>
        <p:nvSpPr>
          <p:cNvPr id="19" name="Shape 17"/>
          <p:cNvSpPr/>
          <p:nvPr/>
        </p:nvSpPr>
        <p:spPr>
          <a:xfrm>
            <a:off x="54406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5888736" y="2423160"/>
            <a:ext cx="640080" cy="640080"/>
          </a:xfrm>
          <a:prstGeom prst="ellipse">
            <a:avLst/>
          </a:prstGeom>
          <a:solidFill>
            <a:srgbClr val="E8833A"/>
          </a:solidFill>
          <a:ln/>
        </p:spPr>
      </p:sp>
      <p:sp>
        <p:nvSpPr>
          <p:cNvPr id="21" name="Text 19"/>
          <p:cNvSpPr/>
          <p:nvPr/>
        </p:nvSpPr>
        <p:spPr>
          <a:xfrm>
            <a:off x="5888736" y="2423160"/>
            <a:ext cx="640080" cy="64008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4</a:t>
            </a:r>
            <a:endParaRPr lang="en-US" sz="1700" dirty="0"/>
          </a:p>
        </p:txBody>
      </p:sp>
      <p:sp>
        <p:nvSpPr>
          <p:cNvPr id="22" name="Text 20"/>
          <p:cNvSpPr/>
          <p:nvPr/>
        </p:nvSpPr>
        <p:spPr>
          <a:xfrm>
            <a:off x="54864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Select</a:t>
            </a:r>
            <a:endParaRPr lang="en-US" sz="1500" dirty="0"/>
          </a:p>
        </p:txBody>
      </p:sp>
      <p:sp>
        <p:nvSpPr>
          <p:cNvPr id="23" name="Text 21"/>
          <p:cNvSpPr/>
          <p:nvPr/>
        </p:nvSpPr>
        <p:spPr>
          <a:xfrm>
            <a:off x="55321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keep some columns</a:t>
            </a:r>
            <a:endParaRPr lang="en-US" sz="1100" dirty="0"/>
          </a:p>
        </p:txBody>
      </p:sp>
      <p:sp>
        <p:nvSpPr>
          <p:cNvPr id="24" name="Shape 22"/>
          <p:cNvSpPr/>
          <p:nvPr/>
        </p:nvSpPr>
        <p:spPr>
          <a:xfrm>
            <a:off x="70408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7488936" y="2423160"/>
            <a:ext cx="640080" cy="640080"/>
          </a:xfrm>
          <a:prstGeom prst="ellipse">
            <a:avLst/>
          </a:prstGeom>
          <a:solidFill>
            <a:srgbClr val="0E7C86"/>
          </a:solidFill>
          <a:ln/>
        </p:spPr>
      </p:sp>
      <p:sp>
        <p:nvSpPr>
          <p:cNvPr id="26" name="Text 24"/>
          <p:cNvSpPr/>
          <p:nvPr/>
        </p:nvSpPr>
        <p:spPr>
          <a:xfrm>
            <a:off x="7488936" y="242316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7" name="Text 25"/>
          <p:cNvSpPr/>
          <p:nvPr/>
        </p:nvSpPr>
        <p:spPr>
          <a:xfrm>
            <a:off x="70866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Derive</a:t>
            </a:r>
            <a:endParaRPr lang="en-US" sz="1500" dirty="0"/>
          </a:p>
        </p:txBody>
      </p:sp>
      <p:sp>
        <p:nvSpPr>
          <p:cNvPr id="28" name="Text 26"/>
          <p:cNvSpPr/>
          <p:nvPr/>
        </p:nvSpPr>
        <p:spPr>
          <a:xfrm>
            <a:off x="71323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create new variables</a:t>
            </a:r>
            <a:endParaRPr lang="en-US" sz="1100" dirty="0"/>
          </a:p>
        </p:txBody>
      </p:sp>
      <p:sp>
        <p:nvSpPr>
          <p:cNvPr id="29" name="Shape 27"/>
          <p:cNvSpPr/>
          <p:nvPr/>
        </p:nvSpPr>
        <p:spPr>
          <a:xfrm>
            <a:off x="86410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0" name="Shape 28"/>
          <p:cNvSpPr/>
          <p:nvPr/>
        </p:nvSpPr>
        <p:spPr>
          <a:xfrm>
            <a:off x="9089136" y="2423160"/>
            <a:ext cx="640080" cy="640080"/>
          </a:xfrm>
          <a:prstGeom prst="ellipse">
            <a:avLst/>
          </a:prstGeom>
          <a:solidFill>
            <a:srgbClr val="1FA8A0"/>
          </a:solidFill>
          <a:ln/>
        </p:spPr>
      </p:sp>
      <p:sp>
        <p:nvSpPr>
          <p:cNvPr id="31" name="Text 29"/>
          <p:cNvSpPr/>
          <p:nvPr/>
        </p:nvSpPr>
        <p:spPr>
          <a:xfrm>
            <a:off x="9089136" y="242316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2" name="Text 30"/>
          <p:cNvSpPr/>
          <p:nvPr/>
        </p:nvSpPr>
        <p:spPr>
          <a:xfrm>
            <a:off x="86868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Sort</a:t>
            </a:r>
            <a:endParaRPr lang="en-US" sz="1500" dirty="0"/>
          </a:p>
        </p:txBody>
      </p:sp>
      <p:sp>
        <p:nvSpPr>
          <p:cNvPr id="33" name="Text 31"/>
          <p:cNvSpPr/>
          <p:nvPr/>
        </p:nvSpPr>
        <p:spPr>
          <a:xfrm>
            <a:off x="87325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put rows in order</a:t>
            </a:r>
            <a:endParaRPr lang="en-US" sz="1100" dirty="0"/>
          </a:p>
        </p:txBody>
      </p:sp>
      <p:sp>
        <p:nvSpPr>
          <p:cNvPr id="34" name="Shape 32"/>
          <p:cNvSpPr/>
          <p:nvPr/>
        </p:nvSpPr>
        <p:spPr>
          <a:xfrm>
            <a:off x="10241280" y="2194560"/>
            <a:ext cx="1536192" cy="2286000"/>
          </a:xfrm>
          <a:prstGeom prst="roundRect">
            <a:avLst>
              <a:gd name="adj" fmla="val 535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5" name="Shape 33"/>
          <p:cNvSpPr/>
          <p:nvPr/>
        </p:nvSpPr>
        <p:spPr>
          <a:xfrm>
            <a:off x="10689336" y="2423160"/>
            <a:ext cx="640080" cy="640080"/>
          </a:xfrm>
          <a:prstGeom prst="ellipse">
            <a:avLst/>
          </a:prstGeom>
          <a:solidFill>
            <a:srgbClr val="6FC8B4"/>
          </a:solidFill>
          <a:ln/>
        </p:spPr>
      </p:sp>
      <p:sp>
        <p:nvSpPr>
          <p:cNvPr id="36" name="Text 34"/>
          <p:cNvSpPr/>
          <p:nvPr/>
        </p:nvSpPr>
        <p:spPr>
          <a:xfrm>
            <a:off x="10689336" y="2423160"/>
            <a:ext cx="640080" cy="64008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7</a:t>
            </a:r>
            <a:endParaRPr lang="en-US" sz="1700" dirty="0"/>
          </a:p>
        </p:txBody>
      </p:sp>
      <p:sp>
        <p:nvSpPr>
          <p:cNvPr id="37" name="Text 35"/>
          <p:cNvSpPr/>
          <p:nvPr/>
        </p:nvSpPr>
        <p:spPr>
          <a:xfrm>
            <a:off x="10287000" y="3154680"/>
            <a:ext cx="1444752"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Summarize</a:t>
            </a:r>
            <a:endParaRPr lang="en-US" sz="1500" dirty="0"/>
          </a:p>
        </p:txBody>
      </p:sp>
      <p:sp>
        <p:nvSpPr>
          <p:cNvPr id="38" name="Text 36"/>
          <p:cNvSpPr/>
          <p:nvPr/>
        </p:nvSpPr>
        <p:spPr>
          <a:xfrm>
            <a:off x="10332720" y="3566160"/>
            <a:ext cx="1353312" cy="77724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count and aggregate</a:t>
            </a:r>
            <a:endParaRPr lang="en-US" sz="1100" dirty="0"/>
          </a:p>
        </p:txBody>
      </p:sp>
      <p:sp>
        <p:nvSpPr>
          <p:cNvPr id="39" name="Text 37"/>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800" i="1" dirty="0">
                <a:solidFill>
                  <a:srgbClr val="6FC8B4"/>
                </a:solidFill>
                <a:latin typeface="Cambria" pitchFamily="34" charset="0"/>
                <a:ea typeface="Cambria" pitchFamily="34" charset="-122"/>
                <a:cs typeface="Cambria" pitchFamily="34" charset="-120"/>
              </a:rPr>
              <a:t>Learn these seven once. Then you only have to learn how each language spells them.</a:t>
            </a:r>
            <a:endParaRPr lang="en-US" sz="1800" dirty="0"/>
          </a:p>
        </p:txBody>
      </p:sp>
      <p:sp>
        <p:nvSpPr>
          <p:cNvPr id="40" name="Text 38"/>
          <p:cNvSpPr/>
          <p:nvPr/>
        </p:nvSpPr>
        <p:spPr>
          <a:xfrm>
            <a:off x="640080" y="5577840"/>
            <a:ext cx="10972800" cy="365760"/>
          </a:xfrm>
          <a:prstGeom prst="rect">
            <a:avLst/>
          </a:prstGeom>
          <a:noFill/>
          <a:ln/>
        </p:spPr>
        <p:txBody>
          <a:bodyPr wrap="square" lIns="0" tIns="0" rIns="0" bIns="0" rtlCol="0" anchor="ctr"/>
          <a:lstStyle/>
          <a:p>
            <a:pPr algn="ctr" indent="0" marL="0">
              <a:buNone/>
            </a:pPr>
            <a:r>
              <a:rPr lang="en-US" sz="1400" dirty="0">
                <a:solidFill>
                  <a:srgbClr val="9FC0C6"/>
                </a:solidFill>
                <a:latin typeface="Calibri" pitchFamily="34" charset="0"/>
                <a:ea typeface="Calibri" pitchFamily="34" charset="-122"/>
                <a:cs typeface="Calibri" pitchFamily="34" charset="-120"/>
              </a:rPr>
              <a:t>Building an SDTM domain is these moves, combined and repeated.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ANATOMY · SAS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 SAS program is DATA steps and PROC steps</a:t>
            </a:r>
            <a:endParaRPr lang="en-US" sz="3000" dirty="0"/>
          </a:p>
        </p:txBody>
      </p:sp>
      <p:sp>
        <p:nvSpPr>
          <p:cNvPr id="4" name="Shape 2"/>
          <p:cNvSpPr/>
          <p:nvPr/>
        </p:nvSpPr>
        <p:spPr>
          <a:xfrm>
            <a:off x="640080" y="1645920"/>
            <a:ext cx="534924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28800"/>
            <a:ext cx="4754880" cy="365760"/>
          </a:xfrm>
          <a:prstGeom prst="rect">
            <a:avLst/>
          </a:prstGeom>
          <a:noFill/>
          <a:ln/>
        </p:spPr>
        <p:txBody>
          <a:bodyPr wrap="square" lIns="0" tIns="0" rIns="0" bIns="0" rtlCol="0" anchor="ctr"/>
          <a:lstStyle/>
          <a:p>
            <a:pPr indent="0" marL="0">
              <a:buNone/>
            </a:pPr>
            <a:r>
              <a:rPr lang="en-US" sz="2000" b="1" dirty="0">
                <a:solidFill>
                  <a:srgbClr val="0E7C86"/>
                </a:solidFill>
                <a:latin typeface="Cambria" pitchFamily="34" charset="0"/>
                <a:ea typeface="Cambria" pitchFamily="34" charset="-122"/>
                <a:cs typeface="Cambria" pitchFamily="34" charset="-120"/>
              </a:rPr>
              <a:t>DATA step</a:t>
            </a:r>
            <a:endParaRPr lang="en-US" sz="2000" dirty="0"/>
          </a:p>
        </p:txBody>
      </p:sp>
      <p:sp>
        <p:nvSpPr>
          <p:cNvPr id="6" name="Text 4"/>
          <p:cNvSpPr/>
          <p:nvPr/>
        </p:nvSpPr>
        <p:spPr>
          <a:xfrm>
            <a:off x="914400" y="2286000"/>
            <a:ext cx="4846320" cy="118872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Creates or changes a dataset. Reads one row at a time, applies your logic, writes rows out. This is where variables are built.</a:t>
            </a:r>
            <a:endParaRPr lang="en-US" sz="1350" dirty="0"/>
          </a:p>
        </p:txBody>
      </p:sp>
      <p:sp>
        <p:nvSpPr>
          <p:cNvPr id="7" name="Shape 5"/>
          <p:cNvSpPr/>
          <p:nvPr/>
        </p:nvSpPr>
        <p:spPr>
          <a:xfrm>
            <a:off x="6217920" y="1645920"/>
            <a:ext cx="539496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492240" y="1828800"/>
            <a:ext cx="4754880" cy="365760"/>
          </a:xfrm>
          <a:prstGeom prst="rect">
            <a:avLst/>
          </a:prstGeom>
          <a:noFill/>
          <a:ln/>
        </p:spPr>
        <p:txBody>
          <a:bodyPr wrap="square" lIns="0" tIns="0" rIns="0" bIns="0" rtlCol="0" anchor="ctr"/>
          <a:lstStyle/>
          <a:p>
            <a:pPr indent="0" marL="0">
              <a:buNone/>
            </a:pPr>
            <a:r>
              <a:rPr lang="en-US" sz="2000" b="1" dirty="0">
                <a:solidFill>
                  <a:srgbClr val="1FA8A0"/>
                </a:solidFill>
                <a:latin typeface="Cambria" pitchFamily="34" charset="0"/>
                <a:ea typeface="Cambria" pitchFamily="34" charset="-122"/>
                <a:cs typeface="Cambria" pitchFamily="34" charset="-120"/>
              </a:rPr>
              <a:t>PROC step</a:t>
            </a:r>
            <a:endParaRPr lang="en-US" sz="2000" dirty="0"/>
          </a:p>
        </p:txBody>
      </p:sp>
      <p:sp>
        <p:nvSpPr>
          <p:cNvPr id="9" name="Text 7"/>
          <p:cNvSpPr/>
          <p:nvPr/>
        </p:nvSpPr>
        <p:spPr>
          <a:xfrm>
            <a:off x="6492240" y="2286000"/>
            <a:ext cx="4846320" cy="118872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Calls a ready-made procedure to do something with a dataset: print it, sort it, count it, summarize it.</a:t>
            </a:r>
            <a:endParaRPr lang="en-US" sz="1350" dirty="0"/>
          </a:p>
        </p:txBody>
      </p:sp>
      <p:sp>
        <p:nvSpPr>
          <p:cNvPr id="10" name="Shape 8"/>
          <p:cNvSpPr/>
          <p:nvPr/>
        </p:nvSpPr>
        <p:spPr>
          <a:xfrm>
            <a:off x="640080" y="3794760"/>
            <a:ext cx="10972800" cy="2148840"/>
          </a:xfrm>
          <a:prstGeom prst="roundRect">
            <a:avLst>
              <a:gd name="adj" fmla="val 3404"/>
            </a:avLst>
          </a:prstGeom>
          <a:solidFill>
            <a:srgbClr val="13323F"/>
          </a:solidFill>
          <a:ln w="19050">
            <a:solidFill>
              <a:srgbClr val="0E7C86"/>
            </a:solidFill>
            <a:prstDash val="solid"/>
          </a:ln>
        </p:spPr>
      </p:sp>
      <p:sp>
        <p:nvSpPr>
          <p:cNvPr id="11" name="Text 9"/>
          <p:cNvSpPr/>
          <p:nvPr/>
        </p:nvSpPr>
        <p:spPr>
          <a:xfrm>
            <a:off x="914400" y="3977640"/>
            <a:ext cx="10515600" cy="1828800"/>
          </a:xfrm>
          <a:prstGeom prst="rect">
            <a:avLst/>
          </a:prstGeom>
          <a:noFill/>
          <a:ln/>
        </p:spPr>
        <p:txBody>
          <a:bodyPr wrap="square" lIns="0" tIns="0" rIns="0" bIns="0" rtlCol="0" anchor="t"/>
          <a:lstStyle/>
          <a:p>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data vs_clean;                      </a:t>
            </a:r>
            <a:pPr indent="0" marL="0">
              <a:lnSpc>
                <a:spcPts val="2100"/>
              </a:lnSpc>
              <a:buNone/>
            </a:pPr>
            <a:r>
              <a:rPr lang="en-US" sz="1300" dirty="0">
                <a:solidFill>
                  <a:srgbClr val="7E9AA5"/>
                </a:solidFill>
                <a:latin typeface="Courier New" pitchFamily="34" charset="0"/>
                <a:ea typeface="Courier New" pitchFamily="34" charset="-122"/>
                <a:cs typeface="Courier New" pitchFamily="34" charset="-120"/>
              </a:rPr>
              <a:t>/* DATA step: build a dataset */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set work.vs;                    </a:t>
            </a:r>
            <a:pPr indent="0" marL="0">
              <a:lnSpc>
                <a:spcPts val="2100"/>
              </a:lnSpc>
              <a:buNone/>
            </a:pPr>
            <a:r>
              <a:rPr lang="en-US" sz="1300" dirty="0">
                <a:solidFill>
                  <a:srgbClr val="7E9AA5"/>
                </a:solidFill>
                <a:latin typeface="Courier New" pitchFamily="34" charset="0"/>
                <a:ea typeface="Courier New" pitchFamily="34" charset="-122"/>
                <a:cs typeface="Courier New" pitchFamily="34" charset="-120"/>
              </a:rPr>
              <a:t>/* read every row of WORK.VS  */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if sysbp &gt; 140 then flag = "HIGH";
</a:t>
            </a:r>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run;
</a:t>
            </a:r>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proc freq data = vs_clean;          </a:t>
            </a:r>
            <a:pPr indent="0" marL="0">
              <a:lnSpc>
                <a:spcPts val="2100"/>
              </a:lnSpc>
              <a:buNone/>
            </a:pPr>
            <a:r>
              <a:rPr lang="en-US" sz="1300" dirty="0">
                <a:solidFill>
                  <a:srgbClr val="7E9AA5"/>
                </a:solidFill>
                <a:latin typeface="Courier New" pitchFamily="34" charset="0"/>
                <a:ea typeface="Courier New" pitchFamily="34" charset="-122"/>
                <a:cs typeface="Courier New" pitchFamily="34" charset="-120"/>
              </a:rPr>
              <a:t>/* PROC step: count it       */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tables flag;
</a:t>
            </a:r>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run;</a:t>
            </a:r>
            <a:endParaRPr lang="en-US" sz="1300" dirty="0"/>
          </a:p>
        </p:txBody>
      </p:sp>
      <p:sp>
        <p:nvSpPr>
          <p:cNvPr id="12" name="Text 10"/>
          <p:cNvSpPr/>
          <p:nvPr/>
        </p:nvSpPr>
        <p:spPr>
          <a:xfrm>
            <a:off x="640080" y="6080760"/>
            <a:ext cx="10972800" cy="36576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Every statement ends with a semicolon ;  and every step ends with run;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ANATOMY · R</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An R script is a pipeline of verbs</a:t>
            </a:r>
            <a:endParaRPr lang="en-US" sz="3000" dirty="0"/>
          </a:p>
        </p:txBody>
      </p:sp>
      <p:sp>
        <p:nvSpPr>
          <p:cNvPr id="4" name="Shape 2"/>
          <p:cNvSpPr/>
          <p:nvPr/>
        </p:nvSpPr>
        <p:spPr>
          <a:xfrm>
            <a:off x="640080" y="1645920"/>
            <a:ext cx="534924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28800"/>
            <a:ext cx="4754880" cy="365760"/>
          </a:xfrm>
          <a:prstGeom prst="rect">
            <a:avLst/>
          </a:prstGeom>
          <a:noFill/>
          <a:ln/>
        </p:spPr>
        <p:txBody>
          <a:bodyPr wrap="square" lIns="0" tIns="0" rIns="0" bIns="0" rtlCol="0" anchor="ctr"/>
          <a:lstStyle/>
          <a:p>
            <a:pPr indent="0" marL="0">
              <a:buNone/>
            </a:pPr>
            <a:r>
              <a:rPr lang="en-US" sz="2000" b="1" dirty="0">
                <a:solidFill>
                  <a:srgbClr val="E8833A"/>
                </a:solidFill>
                <a:latin typeface="Cambria" pitchFamily="34" charset="0"/>
                <a:ea typeface="Cambria" pitchFamily="34" charset="-122"/>
                <a:cs typeface="Cambria" pitchFamily="34" charset="-120"/>
              </a:rPr>
              <a:t>Functions &amp; verbs</a:t>
            </a:r>
            <a:endParaRPr lang="en-US" sz="2000" dirty="0"/>
          </a:p>
        </p:txBody>
      </p:sp>
      <p:sp>
        <p:nvSpPr>
          <p:cNvPr id="6" name="Text 4"/>
          <p:cNvSpPr/>
          <p:nvPr/>
        </p:nvSpPr>
        <p:spPr>
          <a:xfrm>
            <a:off x="914400" y="2286000"/>
            <a:ext cx="4846320" cy="118872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Each action is a function: filter(), select(), mutate(). They take a table and return a new table.</a:t>
            </a:r>
            <a:endParaRPr lang="en-US" sz="1350" dirty="0"/>
          </a:p>
        </p:txBody>
      </p:sp>
      <p:sp>
        <p:nvSpPr>
          <p:cNvPr id="7" name="Shape 5"/>
          <p:cNvSpPr/>
          <p:nvPr/>
        </p:nvSpPr>
        <p:spPr>
          <a:xfrm>
            <a:off x="6217920" y="1645920"/>
            <a:ext cx="539496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492240" y="1828800"/>
            <a:ext cx="4754880" cy="365760"/>
          </a:xfrm>
          <a:prstGeom prst="rect">
            <a:avLst/>
          </a:prstGeom>
          <a:noFill/>
          <a:ln/>
        </p:spPr>
        <p:txBody>
          <a:bodyPr wrap="square" lIns="0" tIns="0" rIns="0" bIns="0" rtlCol="0" anchor="ctr"/>
          <a:lstStyle/>
          <a:p>
            <a:pPr indent="0" marL="0">
              <a:buNone/>
            </a:pPr>
            <a:r>
              <a:rPr lang="en-US" sz="2000" b="1" dirty="0">
                <a:solidFill>
                  <a:srgbClr val="1FA8A0"/>
                </a:solidFill>
                <a:latin typeface="Cambria" pitchFamily="34" charset="0"/>
                <a:ea typeface="Cambria" pitchFamily="34" charset="-122"/>
                <a:cs typeface="Cambria" pitchFamily="34" charset="-120"/>
              </a:rPr>
              <a:t>The pipe  |&gt;</a:t>
            </a:r>
            <a:endParaRPr lang="en-US" sz="2000" dirty="0"/>
          </a:p>
        </p:txBody>
      </p:sp>
      <p:sp>
        <p:nvSpPr>
          <p:cNvPr id="9" name="Text 7"/>
          <p:cNvSpPr/>
          <p:nvPr/>
        </p:nvSpPr>
        <p:spPr>
          <a:xfrm>
            <a:off x="6492240" y="2286000"/>
            <a:ext cx="4846320" cy="118872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Sends the result on the left into the function on the right. Read it as the word “then”.</a:t>
            </a:r>
            <a:endParaRPr lang="en-US" sz="1350" dirty="0"/>
          </a:p>
        </p:txBody>
      </p:sp>
      <p:sp>
        <p:nvSpPr>
          <p:cNvPr id="10" name="Shape 8"/>
          <p:cNvSpPr/>
          <p:nvPr/>
        </p:nvSpPr>
        <p:spPr>
          <a:xfrm>
            <a:off x="640080" y="3794760"/>
            <a:ext cx="10972800" cy="2148840"/>
          </a:xfrm>
          <a:prstGeom prst="roundRect">
            <a:avLst>
              <a:gd name="adj" fmla="val 3404"/>
            </a:avLst>
          </a:prstGeom>
          <a:solidFill>
            <a:srgbClr val="13323F"/>
          </a:solidFill>
          <a:ln w="19050">
            <a:solidFill>
              <a:srgbClr val="E8833A"/>
            </a:solidFill>
            <a:prstDash val="solid"/>
          </a:ln>
        </p:spPr>
      </p:sp>
      <p:sp>
        <p:nvSpPr>
          <p:cNvPr id="11" name="Text 9"/>
          <p:cNvSpPr/>
          <p:nvPr/>
        </p:nvSpPr>
        <p:spPr>
          <a:xfrm>
            <a:off x="914400" y="3977640"/>
            <a:ext cx="10515600" cy="1828800"/>
          </a:xfrm>
          <a:prstGeom prst="rect">
            <a:avLst/>
          </a:prstGeom>
          <a:noFill/>
          <a:ln/>
        </p:spPr>
        <p:txBody>
          <a:bodyPr wrap="square" lIns="0" tIns="0" rIns="0" bIns="0" rtlCol="0" anchor="t"/>
          <a:lstStyle/>
          <a:p>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vs_clean &lt;- vs |&gt;                   </a:t>
            </a:r>
            <a:pPr indent="0" marL="0">
              <a:lnSpc>
                <a:spcPts val="2100"/>
              </a:lnSpc>
              <a:buNone/>
            </a:pPr>
            <a:r>
              <a:rPr lang="en-US" sz="1300" dirty="0">
                <a:solidFill>
                  <a:srgbClr val="7E9AA5"/>
                </a:solidFill>
                <a:latin typeface="Courier New" pitchFamily="34" charset="0"/>
                <a:ea typeface="Courier New" pitchFamily="34" charset="-122"/>
                <a:cs typeface="Courier New" pitchFamily="34" charset="-120"/>
              </a:rPr>
              <a:t># take vs, THEN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mutate(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flag = if_else(SYSBP &gt; 140, "HIGH", NA_character_)
</a:t>
            </a:r>
            <a:pPr indent="0" marL="0">
              <a:lnSpc>
                <a:spcPts val="2100"/>
              </a:lnSpc>
              <a:buNone/>
            </a:pPr>
            <a:r>
              <a:rPr lang="en-US" sz="1300" dirty="0">
                <a:solidFill>
                  <a:srgbClr val="DCEBEF"/>
                </a:solidFill>
                <a:latin typeface="Courier New" pitchFamily="34" charset="0"/>
                <a:ea typeface="Courier New" pitchFamily="34" charset="-122"/>
                <a:cs typeface="Courier New" pitchFamily="34" charset="-120"/>
              </a:rPr>
              <a:t>  )
</a:t>
            </a:r>
            <a:pPr indent="0" marL="0">
              <a:lnSpc>
                <a:spcPts val="2100"/>
              </a:lnSpc>
              <a:buNone/>
            </a:pPr>
            <a:r>
              <a:rPr lang="en-US" sz="1300" dirty="0">
                <a:solidFill>
                  <a:srgbClr val="6FC8B4"/>
                </a:solidFill>
                <a:latin typeface="Courier New" pitchFamily="34" charset="0"/>
                <a:ea typeface="Courier New" pitchFamily="34" charset="-122"/>
                <a:cs typeface="Courier New" pitchFamily="34" charset="-120"/>
              </a:rPr>
              <a:t>vs_clean |&gt; count(flag)             </a:t>
            </a:r>
            <a:pPr indent="0" marL="0">
              <a:lnSpc>
                <a:spcPts val="2100"/>
              </a:lnSpc>
              <a:buNone/>
            </a:pPr>
            <a:r>
              <a:rPr lang="en-US" sz="1300" dirty="0">
                <a:solidFill>
                  <a:srgbClr val="7E9AA5"/>
                </a:solidFill>
                <a:latin typeface="Courier New" pitchFamily="34" charset="0"/>
                <a:ea typeface="Courier New" pitchFamily="34" charset="-122"/>
                <a:cs typeface="Courier New" pitchFamily="34" charset="-120"/>
              </a:rPr>
              <a:t># then count it
</a:t>
            </a:r>
            <a:endParaRPr lang="en-US" sz="1300" dirty="0"/>
          </a:p>
        </p:txBody>
      </p:sp>
      <p:sp>
        <p:nvSpPr>
          <p:cNvPr id="12" name="Text 10"/>
          <p:cNvSpPr/>
          <p:nvPr/>
        </p:nvSpPr>
        <p:spPr>
          <a:xfrm>
            <a:off x="640080" y="6080760"/>
            <a:ext cx="10972800" cy="365760"/>
          </a:xfrm>
          <a:prstGeom prst="rect">
            <a:avLst/>
          </a:prstGeom>
          <a:noFill/>
          <a:ln/>
        </p:spPr>
        <p:txBody>
          <a:bodyPr wrap="square" lIns="0" tIns="0" rIns="0" bIns="0" rtlCol="0" anchor="ctr"/>
          <a:lstStyle/>
          <a:p>
            <a:pPr indent="0" marL="0">
              <a:buNone/>
            </a:pPr>
            <a:r>
              <a:rPr lang="en-US" sz="1300" i="1" dirty="0">
                <a:solidFill>
                  <a:srgbClr val="E8833A"/>
                </a:solidFill>
                <a:latin typeface="Calibri" pitchFamily="34" charset="0"/>
                <a:ea typeface="Calibri" pitchFamily="34" charset="-122"/>
                <a:cs typeface="Calibri" pitchFamily="34" charset="-120"/>
              </a:rPr>
              <a:t>&lt;- assigns a result to a name.  # starts a comment.  No semicolons needed.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1</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Read a CSV file</a:t>
            </a:r>
            <a:endParaRPr lang="en-US" sz="3000" dirty="0"/>
          </a:p>
        </p:txBody>
      </p:sp>
      <p:sp>
        <p:nvSpPr>
          <p:cNvPr id="4" name="Shape 2"/>
          <p:cNvSpPr/>
          <p:nvPr/>
        </p:nvSpPr>
        <p:spPr>
          <a:xfrm>
            <a:off x="640080" y="1600200"/>
            <a:ext cx="5394960" cy="1990344"/>
          </a:xfrm>
          <a:prstGeom prst="roundRect">
            <a:avLst>
              <a:gd name="adj" fmla="val 3675"/>
            </a:avLst>
          </a:prstGeom>
          <a:solidFill>
            <a:srgbClr val="13323F"/>
          </a:solidFill>
          <a:ln w="19050">
            <a:solidFill>
              <a:srgbClr val="0E7C86"/>
            </a:solidFill>
            <a:prstDash val="solid"/>
          </a:ln>
        </p:spPr>
      </p:sp>
      <p:sp>
        <p:nvSpPr>
          <p:cNvPr id="5" name="Text 3"/>
          <p:cNvSpPr/>
          <p:nvPr/>
        </p:nvSpPr>
        <p:spPr>
          <a:xfrm>
            <a:off x="868680" y="169164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57400"/>
            <a:ext cx="498348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import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datafile = "dm_raw.csv"</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out  = work.dm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dbms = csv replace;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getnames = yes;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600200"/>
            <a:ext cx="5394960" cy="1990344"/>
          </a:xfrm>
          <a:prstGeom prst="roundRect">
            <a:avLst>
              <a:gd name="adj" fmla="val 3675"/>
            </a:avLst>
          </a:prstGeom>
          <a:solidFill>
            <a:srgbClr val="13323F"/>
          </a:solidFill>
          <a:ln w="19050">
            <a:solidFill>
              <a:srgbClr val="E8833A"/>
            </a:solidFill>
            <a:prstDash val="solid"/>
          </a:ln>
        </p:spPr>
      </p:sp>
      <p:sp>
        <p:nvSpPr>
          <p:cNvPr id="8" name="Text 6"/>
          <p:cNvSpPr/>
          <p:nvPr/>
        </p:nvSpPr>
        <p:spPr>
          <a:xfrm>
            <a:off x="6446520" y="169164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57400"/>
            <a:ext cx="498348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dm &lt;- read_csv(</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"dm_raw.csv",</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col_types = cols(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SITEID = col_character()</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a:t>
            </a:r>
            <a:endParaRPr lang="en-US" sz="1200" dirty="0"/>
          </a:p>
        </p:txBody>
      </p:sp>
      <p:sp>
        <p:nvSpPr>
          <p:cNvPr id="10" name="Text 8"/>
          <p:cNvSpPr/>
          <p:nvPr/>
        </p:nvSpPr>
        <p:spPr>
          <a:xfrm>
            <a:off x="640080" y="3700272"/>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Both read the same file. R lets you declare column types inline; in SAS you often fix types afterwards.</a:t>
            </a:r>
            <a:endParaRPr lang="en-US" sz="1300" dirty="0"/>
          </a:p>
        </p:txBody>
      </p:sp>
      <p:sp>
        <p:nvSpPr>
          <p:cNvPr id="11" name="Shape 9"/>
          <p:cNvSpPr/>
          <p:nvPr/>
        </p:nvSpPr>
        <p:spPr>
          <a:xfrm>
            <a:off x="640080" y="440436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914400" y="4541520"/>
            <a:ext cx="10424160" cy="1097280"/>
          </a:xfrm>
          <a:prstGeom prst="rect">
            <a:avLst/>
          </a:prstGeom>
          <a:noFill/>
          <a:ln/>
        </p:spPr>
        <p:txBody>
          <a:bodyPr wrap="square" lIns="0" tIns="0" rIns="0" bIns="0" rtlCol="0" anchor="ctr"/>
          <a:lstStyle/>
          <a:p>
            <a:pPr indent="0" marL="0">
              <a:lnSpc>
                <a:spcPts val="2100"/>
              </a:lnSpc>
              <a:buNone/>
            </a:pPr>
            <a:r>
              <a:rPr lang="en-US" sz="1400" b="1" dirty="0">
                <a:solidFill>
                  <a:srgbClr val="E8833A"/>
                </a:solidFill>
                <a:latin typeface="Calibri" pitchFamily="34" charset="0"/>
                <a:ea typeface="Calibri" pitchFamily="34" charset="-122"/>
                <a:cs typeface="Calibri" pitchFamily="34" charset="-120"/>
              </a:rPr>
              <a:t>Watch out:  </a:t>
            </a:r>
            <a:pPr indent="0" marL="0">
              <a:lnSpc>
                <a:spcPts val="2100"/>
              </a:lnSpc>
              <a:buNone/>
            </a:pPr>
            <a:r>
              <a:rPr lang="en-US" sz="1350" dirty="0">
                <a:solidFill>
                  <a:srgbClr val="0F2E3D"/>
                </a:solidFill>
                <a:latin typeface="Calibri" pitchFamily="34" charset="0"/>
                <a:ea typeface="Calibri" pitchFamily="34" charset="-122"/>
                <a:cs typeface="Calibri" pitchFamily="34" charset="-120"/>
              </a:rPr>
              <a:t>an ID like </a:t>
            </a:r>
            <a:pPr indent="0" marL="0">
              <a:lnSpc>
                <a:spcPts val="2100"/>
              </a:lnSpc>
              <a:buNone/>
            </a:pPr>
            <a:r>
              <a:rPr lang="en-US" sz="1350" dirty="0">
                <a:solidFill>
                  <a:srgbClr val="0F2E3D"/>
                </a:solidFill>
                <a:latin typeface="Courier New" pitchFamily="34" charset="0"/>
                <a:ea typeface="Courier New" pitchFamily="34" charset="-122"/>
                <a:cs typeface="Courier New" pitchFamily="34" charset="-120"/>
              </a:rPr>
              <a:t>001</a:t>
            </a:r>
            <a:pPr indent="0" marL="0">
              <a:lnSpc>
                <a:spcPts val="2100"/>
              </a:lnSpc>
              <a:buNone/>
            </a:pPr>
            <a:r>
              <a:rPr lang="en-US" sz="1350" dirty="0">
                <a:solidFill>
                  <a:srgbClr val="0F2E3D"/>
                </a:solidFill>
                <a:latin typeface="Calibri" pitchFamily="34" charset="0"/>
                <a:ea typeface="Calibri" pitchFamily="34" charset="-122"/>
                <a:cs typeface="Calibri" pitchFamily="34" charset="-120"/>
              </a:rPr>
              <a:t> looks numeric. If either tool guesses “number”, you lose the leading zeros and get </a:t>
            </a:r>
            <a:pPr indent="0" marL="0">
              <a:lnSpc>
                <a:spcPts val="2100"/>
              </a:lnSpc>
              <a:buNone/>
            </a:pPr>
            <a:r>
              <a:rPr lang="en-US" sz="1350" dirty="0">
                <a:solidFill>
                  <a:srgbClr val="0F2E3D"/>
                </a:solidFill>
                <a:latin typeface="Courier New" pitchFamily="34" charset="0"/>
                <a:ea typeface="Courier New" pitchFamily="34" charset="-122"/>
                <a:cs typeface="Courier New" pitchFamily="34" charset="-120"/>
              </a:rPr>
              <a:t>1</a:t>
            </a:r>
            <a:pPr indent="0" marL="0">
              <a:lnSpc>
                <a:spcPts val="2100"/>
              </a:lnSpc>
              <a:buNone/>
            </a:pPr>
            <a:r>
              <a:rPr lang="en-US" sz="1350" dirty="0">
                <a:solidFill>
                  <a:srgbClr val="0F2E3D"/>
                </a:solidFill>
                <a:latin typeface="Calibri" pitchFamily="34" charset="0"/>
                <a:ea typeface="Calibri" pitchFamily="34" charset="-122"/>
                <a:cs typeface="Calibri" pitchFamily="34" charset="-120"/>
              </a:rPr>
              <a:t>. Always check your types after reading — PROC CONTENTS in SAS, glimpse() in 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2</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Look at what you have</a:t>
            </a:r>
            <a:endParaRPr lang="en-US" sz="3000" dirty="0"/>
          </a:p>
        </p:txBody>
      </p:sp>
      <p:sp>
        <p:nvSpPr>
          <p:cNvPr id="4" name="Shape 2"/>
          <p:cNvSpPr/>
          <p:nvPr/>
        </p:nvSpPr>
        <p:spPr>
          <a:xfrm>
            <a:off x="640080" y="1600200"/>
            <a:ext cx="5394960" cy="2206244"/>
          </a:xfrm>
          <a:prstGeom prst="roundRect">
            <a:avLst>
              <a:gd name="adj" fmla="val 3316"/>
            </a:avLst>
          </a:prstGeom>
          <a:solidFill>
            <a:srgbClr val="13323F"/>
          </a:solidFill>
          <a:ln w="19050">
            <a:solidFill>
              <a:srgbClr val="0E7C86"/>
            </a:solidFill>
            <a:prstDash val="solid"/>
          </a:ln>
        </p:spPr>
      </p:sp>
      <p:sp>
        <p:nvSpPr>
          <p:cNvPr id="5" name="Text 3"/>
          <p:cNvSpPr/>
          <p:nvPr/>
        </p:nvSpPr>
        <p:spPr>
          <a:xfrm>
            <a:off x="868680" y="169164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57400"/>
            <a:ext cx="4983480" cy="16393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structure: types &amp; lengths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contents data = work.dm;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the rows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print data = work.dm (obs=5);</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600200"/>
            <a:ext cx="5394960" cy="2206244"/>
          </a:xfrm>
          <a:prstGeom prst="roundRect">
            <a:avLst>
              <a:gd name="adj" fmla="val 3316"/>
            </a:avLst>
          </a:prstGeom>
          <a:solidFill>
            <a:srgbClr val="13323F"/>
          </a:solidFill>
          <a:ln w="19050">
            <a:solidFill>
              <a:srgbClr val="E8833A"/>
            </a:solidFill>
            <a:prstDash val="solid"/>
          </a:ln>
        </p:spPr>
      </p:sp>
      <p:sp>
        <p:nvSpPr>
          <p:cNvPr id="8" name="Text 6"/>
          <p:cNvSpPr/>
          <p:nvPr/>
        </p:nvSpPr>
        <p:spPr>
          <a:xfrm>
            <a:off x="6446520" y="169164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57400"/>
            <a:ext cx="4983480" cy="16393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structure: types &amp; sample values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glimpse(dm)</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the rows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head(dm, 5)</a:t>
            </a:r>
            <a:endParaRPr lang="en-US" sz="1200" dirty="0"/>
          </a:p>
        </p:txBody>
      </p:sp>
      <p:sp>
        <p:nvSpPr>
          <p:cNvPr id="10" name="Text 8"/>
          <p:cNvSpPr/>
          <p:nvPr/>
        </p:nvSpPr>
        <p:spPr>
          <a:xfrm>
            <a:off x="640080" y="3916172"/>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Always look before you map. Half of all mapping bugs are visible in the first five rows.</a:t>
            </a:r>
            <a:endParaRPr lang="en-US" sz="1300" dirty="0"/>
          </a:p>
        </p:txBody>
      </p:sp>
      <p:sp>
        <p:nvSpPr>
          <p:cNvPr id="11" name="Shape 9"/>
          <p:cNvSpPr/>
          <p:nvPr/>
        </p:nvSpPr>
        <p:spPr>
          <a:xfrm>
            <a:off x="640080" y="4620260"/>
            <a:ext cx="5394960" cy="822960"/>
          </a:xfrm>
          <a:prstGeom prst="roundRect">
            <a:avLst>
              <a:gd name="adj" fmla="val 10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868680" y="4793996"/>
            <a:ext cx="475488" cy="475488"/>
          </a:xfrm>
          <a:prstGeom prst="ellipse">
            <a:avLst/>
          </a:prstGeom>
          <a:solidFill>
            <a:srgbClr val="0E7C86"/>
          </a:solidFill>
          <a:ln/>
        </p:spPr>
      </p:sp>
      <p:sp>
        <p:nvSpPr>
          <p:cNvPr id="13" name="Text 11"/>
          <p:cNvSpPr/>
          <p:nvPr/>
        </p:nvSpPr>
        <p:spPr>
          <a:xfrm>
            <a:off x="868680" y="479399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4" name="Text 12"/>
          <p:cNvSpPr/>
          <p:nvPr/>
        </p:nvSpPr>
        <p:spPr>
          <a:xfrm>
            <a:off x="1508760" y="4711700"/>
            <a:ext cx="4389120" cy="6400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How many rows and columns?</a:t>
            </a:r>
            <a:endParaRPr lang="en-US" sz="1350" dirty="0"/>
          </a:p>
        </p:txBody>
      </p:sp>
      <p:sp>
        <p:nvSpPr>
          <p:cNvPr id="15" name="Shape 13"/>
          <p:cNvSpPr/>
          <p:nvPr/>
        </p:nvSpPr>
        <p:spPr>
          <a:xfrm>
            <a:off x="6217920" y="4620260"/>
            <a:ext cx="5394960" cy="822960"/>
          </a:xfrm>
          <a:prstGeom prst="roundRect">
            <a:avLst>
              <a:gd name="adj" fmla="val 10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Shape 14"/>
          <p:cNvSpPr/>
          <p:nvPr/>
        </p:nvSpPr>
        <p:spPr>
          <a:xfrm>
            <a:off x="6446520" y="4793996"/>
            <a:ext cx="475488" cy="475488"/>
          </a:xfrm>
          <a:prstGeom prst="ellipse">
            <a:avLst/>
          </a:prstGeom>
          <a:solidFill>
            <a:srgbClr val="1FA8A0"/>
          </a:solidFill>
          <a:ln/>
        </p:spPr>
      </p:sp>
      <p:sp>
        <p:nvSpPr>
          <p:cNvPr id="17" name="Text 15"/>
          <p:cNvSpPr/>
          <p:nvPr/>
        </p:nvSpPr>
        <p:spPr>
          <a:xfrm>
            <a:off x="6446520" y="479399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7086600" y="4711700"/>
            <a:ext cx="4389120" cy="6400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Which columns are text vs numbers vs dates?</a:t>
            </a:r>
            <a:endParaRPr lang="en-US" sz="1350" dirty="0"/>
          </a:p>
        </p:txBody>
      </p:sp>
      <p:sp>
        <p:nvSpPr>
          <p:cNvPr id="19" name="Shape 17"/>
          <p:cNvSpPr/>
          <p:nvPr/>
        </p:nvSpPr>
        <p:spPr>
          <a:xfrm>
            <a:off x="640080" y="5580380"/>
            <a:ext cx="5394960" cy="822960"/>
          </a:xfrm>
          <a:prstGeom prst="roundRect">
            <a:avLst>
              <a:gd name="adj" fmla="val 10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868680" y="5754116"/>
            <a:ext cx="475488" cy="475488"/>
          </a:xfrm>
          <a:prstGeom prst="ellipse">
            <a:avLst/>
          </a:prstGeom>
          <a:solidFill>
            <a:srgbClr val="E8833A"/>
          </a:solidFill>
          <a:ln/>
        </p:spPr>
      </p:sp>
      <p:sp>
        <p:nvSpPr>
          <p:cNvPr id="21" name="Text 19"/>
          <p:cNvSpPr/>
          <p:nvPr/>
        </p:nvSpPr>
        <p:spPr>
          <a:xfrm>
            <a:off x="868680" y="5754116"/>
            <a:ext cx="475488" cy="475488"/>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1508760" y="5671820"/>
            <a:ext cx="4389120" cy="6400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Are there missing values?</a:t>
            </a:r>
            <a:endParaRPr lang="en-US" sz="1350" dirty="0"/>
          </a:p>
        </p:txBody>
      </p:sp>
      <p:sp>
        <p:nvSpPr>
          <p:cNvPr id="23" name="Shape 21"/>
          <p:cNvSpPr/>
          <p:nvPr/>
        </p:nvSpPr>
        <p:spPr>
          <a:xfrm>
            <a:off x="6217920" y="5580380"/>
            <a:ext cx="5394960" cy="822960"/>
          </a:xfrm>
          <a:prstGeom prst="roundRect">
            <a:avLst>
              <a:gd name="adj" fmla="val 10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4" name="Shape 22"/>
          <p:cNvSpPr/>
          <p:nvPr/>
        </p:nvSpPr>
        <p:spPr>
          <a:xfrm>
            <a:off x="6446520" y="5754116"/>
            <a:ext cx="475488" cy="475488"/>
          </a:xfrm>
          <a:prstGeom prst="ellipse">
            <a:avLst/>
          </a:prstGeom>
          <a:solidFill>
            <a:srgbClr val="0F2E3D"/>
          </a:solidFill>
          <a:ln/>
        </p:spPr>
      </p:sp>
      <p:sp>
        <p:nvSpPr>
          <p:cNvPr id="25" name="Text 23"/>
          <p:cNvSpPr/>
          <p:nvPr/>
        </p:nvSpPr>
        <p:spPr>
          <a:xfrm>
            <a:off x="6446520" y="575411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7086600" y="5671820"/>
            <a:ext cx="4389120" cy="6400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Do the values look like what the CRF asked for?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3</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Keep the rows and columns you want</a:t>
            </a:r>
            <a:endParaRPr lang="en-US" sz="3000" dirty="0"/>
          </a:p>
        </p:txBody>
      </p:sp>
      <p:sp>
        <p:nvSpPr>
          <p:cNvPr id="4" name="Shape 2"/>
          <p:cNvSpPr/>
          <p:nvPr/>
        </p:nvSpPr>
        <p:spPr>
          <a:xfrm>
            <a:off x="640080" y="1554480"/>
            <a:ext cx="5394960" cy="1774444"/>
          </a:xfrm>
          <a:prstGeom prst="roundRect">
            <a:avLst>
              <a:gd name="adj" fmla="val 4123"/>
            </a:avLst>
          </a:prstGeom>
          <a:solidFill>
            <a:srgbClr val="13323F"/>
          </a:solidFill>
          <a:ln w="19050">
            <a:solidFill>
              <a:srgbClr val="0E7C86"/>
            </a:solidFill>
            <a:prstDash val="solid"/>
          </a:ln>
        </p:spPr>
      </p:sp>
      <p:sp>
        <p:nvSpPr>
          <p:cNvPr id="5" name="Text 3"/>
          <p:cNvSpPr/>
          <p:nvPr/>
        </p:nvSpPr>
        <p:spPr>
          <a:xfrm>
            <a:off x="868680" y="164592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11680"/>
            <a:ext cx="498348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rows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drugA;</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set 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where arm = "Drug A";</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554480"/>
            <a:ext cx="5394960" cy="1774444"/>
          </a:xfrm>
          <a:prstGeom prst="roundRect">
            <a:avLst>
              <a:gd name="adj" fmla="val 4123"/>
            </a:avLst>
          </a:prstGeom>
          <a:solidFill>
            <a:srgbClr val="13323F"/>
          </a:solidFill>
          <a:ln w="19050">
            <a:solidFill>
              <a:srgbClr val="E8833A"/>
            </a:solidFill>
            <a:prstDash val="solid"/>
          </a:ln>
        </p:spPr>
      </p:sp>
      <p:sp>
        <p:nvSpPr>
          <p:cNvPr id="8" name="Text 6"/>
          <p:cNvSpPr/>
          <p:nvPr/>
        </p:nvSpPr>
        <p:spPr>
          <a:xfrm>
            <a:off x="6446520" y="164592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11680"/>
            <a:ext cx="498348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rows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drugA &lt;- dm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filter(ARM == "Drug A")</a:t>
            </a:r>
            <a:endParaRPr lang="en-US" sz="1200" dirty="0"/>
          </a:p>
        </p:txBody>
      </p:sp>
      <p:sp>
        <p:nvSpPr>
          <p:cNvPr id="10" name="Shape 8"/>
          <p:cNvSpPr/>
          <p:nvPr/>
        </p:nvSpPr>
        <p:spPr>
          <a:xfrm>
            <a:off x="640080" y="3694684"/>
            <a:ext cx="5394960" cy="1774444"/>
          </a:xfrm>
          <a:prstGeom prst="roundRect">
            <a:avLst>
              <a:gd name="adj" fmla="val 4123"/>
            </a:avLst>
          </a:prstGeom>
          <a:solidFill>
            <a:srgbClr val="13323F"/>
          </a:solidFill>
          <a:ln w="19050">
            <a:solidFill>
              <a:srgbClr val="0E7C86"/>
            </a:solidFill>
            <a:prstDash val="solid"/>
          </a:ln>
        </p:spPr>
      </p:sp>
      <p:sp>
        <p:nvSpPr>
          <p:cNvPr id="11" name="Text 9"/>
          <p:cNvSpPr/>
          <p:nvPr/>
        </p:nvSpPr>
        <p:spPr>
          <a:xfrm>
            <a:off x="868680" y="3786124"/>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12" name="Text 10"/>
          <p:cNvSpPr/>
          <p:nvPr/>
        </p:nvSpPr>
        <p:spPr>
          <a:xfrm>
            <a:off x="868680" y="4151884"/>
            <a:ext cx="498348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columns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small;</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set 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keep usubjid age sex;</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13" name="Shape 11"/>
          <p:cNvSpPr/>
          <p:nvPr/>
        </p:nvSpPr>
        <p:spPr>
          <a:xfrm>
            <a:off x="6217920" y="3694684"/>
            <a:ext cx="5394960" cy="1774444"/>
          </a:xfrm>
          <a:prstGeom prst="roundRect">
            <a:avLst>
              <a:gd name="adj" fmla="val 4123"/>
            </a:avLst>
          </a:prstGeom>
          <a:solidFill>
            <a:srgbClr val="13323F"/>
          </a:solidFill>
          <a:ln w="19050">
            <a:solidFill>
              <a:srgbClr val="E8833A"/>
            </a:solidFill>
            <a:prstDash val="solid"/>
          </a:ln>
        </p:spPr>
      </p:sp>
      <p:sp>
        <p:nvSpPr>
          <p:cNvPr id="14" name="Text 12"/>
          <p:cNvSpPr/>
          <p:nvPr/>
        </p:nvSpPr>
        <p:spPr>
          <a:xfrm>
            <a:off x="6446520" y="3786124"/>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15" name="Text 13"/>
          <p:cNvSpPr/>
          <p:nvPr/>
        </p:nvSpPr>
        <p:spPr>
          <a:xfrm>
            <a:off x="6446520" y="4151884"/>
            <a:ext cx="498348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columns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small &lt;- dm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select(USUBJID, AGE, SEX)</a:t>
            </a:r>
            <a:endParaRPr lang="en-US" sz="1200" dirty="0"/>
          </a:p>
        </p:txBody>
      </p:sp>
      <p:sp>
        <p:nvSpPr>
          <p:cNvPr id="16" name="Text 14"/>
          <p:cNvSpPr/>
          <p:nvPr/>
        </p:nvSpPr>
        <p:spPr>
          <a:xfrm>
            <a:off x="640080" y="5578856"/>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Rows: WHERE ↔ filter().   Columns: KEEP ↔ select().   Note R uses == to test equality, = to name arguments.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4</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Create new variables (the heart of mapping)</a:t>
            </a:r>
            <a:endParaRPr lang="en-US" sz="3000" dirty="0"/>
          </a:p>
        </p:txBody>
      </p:sp>
      <p:sp>
        <p:nvSpPr>
          <p:cNvPr id="4" name="Shape 2"/>
          <p:cNvSpPr/>
          <p:nvPr/>
        </p:nvSpPr>
        <p:spPr>
          <a:xfrm>
            <a:off x="640080" y="1554480"/>
            <a:ext cx="5394960" cy="2853944"/>
          </a:xfrm>
          <a:prstGeom prst="roundRect">
            <a:avLst>
              <a:gd name="adj" fmla="val 2563"/>
            </a:avLst>
          </a:prstGeom>
          <a:solidFill>
            <a:srgbClr val="13323F"/>
          </a:solidFill>
          <a:ln w="19050">
            <a:solidFill>
              <a:srgbClr val="0E7C86"/>
            </a:solidFill>
            <a:prstDash val="solid"/>
          </a:ln>
        </p:spPr>
      </p:sp>
      <p:sp>
        <p:nvSpPr>
          <p:cNvPr id="5" name="Text 3"/>
          <p:cNvSpPr/>
          <p:nvPr/>
        </p:nvSpPr>
        <p:spPr>
          <a:xfrm>
            <a:off x="868680" y="164592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11680"/>
            <a:ext cx="498348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dm2;</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set 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length usubjid $20 sex_c $1;</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usubjid = catx("-", studyid,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put(siteid, z2.),</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put(subjid, z3.));</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if sex = 1 then sex_c = "M";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else if sex = 2 then sex_c = "F";</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554480"/>
            <a:ext cx="5394960" cy="2853944"/>
          </a:xfrm>
          <a:prstGeom prst="roundRect">
            <a:avLst>
              <a:gd name="adj" fmla="val 2563"/>
            </a:avLst>
          </a:prstGeom>
          <a:solidFill>
            <a:srgbClr val="13323F"/>
          </a:solidFill>
          <a:ln w="19050">
            <a:solidFill>
              <a:srgbClr val="E8833A"/>
            </a:solidFill>
            <a:prstDash val="solid"/>
          </a:ln>
        </p:spPr>
      </p:sp>
      <p:sp>
        <p:nvSpPr>
          <p:cNvPr id="8" name="Text 6"/>
          <p:cNvSpPr/>
          <p:nvPr/>
        </p:nvSpPr>
        <p:spPr>
          <a:xfrm>
            <a:off x="6446520" y="164592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11680"/>
            <a:ext cx="498348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dm2 &lt;- dm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mutate(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USUBJID = paste(STUDYID, SITEID,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SUBJID, sep =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SEX_C = case_when(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SEX == 1 ~ "M",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SEX == 2 ~ "F",</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TRUE ~ NA_character_</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p:txBody>
      </p:sp>
      <p:sp>
        <p:nvSpPr>
          <p:cNvPr id="10" name="Text 8"/>
          <p:cNvSpPr/>
          <p:nvPr/>
        </p:nvSpPr>
        <p:spPr>
          <a:xfrm>
            <a:off x="640080" y="4518152"/>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This is exactly what SDTM mapping is — read raw columns, write standardized ones.   IF/THEN/ELSE ↔ case_when()   ·   catx() ↔ paste()</a:t>
            </a:r>
            <a:endParaRPr lang="en-US" sz="1300" dirty="0"/>
          </a:p>
        </p:txBody>
      </p:sp>
      <p:sp>
        <p:nvSpPr>
          <p:cNvPr id="11" name="Shape 9"/>
          <p:cNvSpPr/>
          <p:nvPr/>
        </p:nvSpPr>
        <p:spPr>
          <a:xfrm>
            <a:off x="640080" y="5158232"/>
            <a:ext cx="1097280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914400" y="5286248"/>
            <a:ext cx="10424160" cy="960120"/>
          </a:xfrm>
          <a:prstGeom prst="rect">
            <a:avLst/>
          </a:prstGeom>
          <a:noFill/>
          <a:ln/>
        </p:spPr>
        <p:txBody>
          <a:bodyPr wrap="square" lIns="0" tIns="0" rIns="0" bIns="0" rtlCol="0" anchor="ctr"/>
          <a:lstStyle/>
          <a:p>
            <a:pPr indent="0" marL="0">
              <a:lnSpc>
                <a:spcPts val="2100"/>
              </a:lnSpc>
              <a:buNone/>
            </a:pPr>
            <a:r>
              <a:rPr lang="en-US" sz="1400" b="1" dirty="0">
                <a:solidFill>
                  <a:srgbClr val="0E7C86"/>
                </a:solidFill>
                <a:latin typeface="Calibri" pitchFamily="34" charset="0"/>
                <a:ea typeface="Calibri" pitchFamily="34" charset="-122"/>
                <a:cs typeface="Calibri" pitchFamily="34" charset="-120"/>
              </a:rPr>
              <a:t>Why declare length in SAS?  </a:t>
            </a:r>
            <a:pPr indent="0" marL="0">
              <a:lnSpc>
                <a:spcPts val="2100"/>
              </a:lnSpc>
              <a:buNone/>
            </a:pPr>
            <a:r>
              <a:rPr lang="en-US" sz="1350" dirty="0">
                <a:solidFill>
                  <a:srgbClr val="0F2E3D"/>
                </a:solidFill>
                <a:latin typeface="Calibri" pitchFamily="34" charset="0"/>
                <a:ea typeface="Calibri" pitchFamily="34" charset="-122"/>
                <a:cs typeface="Calibri" pitchFamily="34" charset="-120"/>
              </a:rPr>
              <a:t>If you assign text without a LENGTH statement, SAS fixes the width from the first value it sees and silently truncates longer ones. R has no such trap — character vectors size themselves.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5</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Sort, count, and summarize</a:t>
            </a:r>
            <a:endParaRPr lang="en-US" sz="3000" dirty="0"/>
          </a:p>
        </p:txBody>
      </p:sp>
      <p:sp>
        <p:nvSpPr>
          <p:cNvPr id="4" name="Shape 2"/>
          <p:cNvSpPr/>
          <p:nvPr/>
        </p:nvSpPr>
        <p:spPr>
          <a:xfrm>
            <a:off x="640080" y="1554480"/>
            <a:ext cx="5394960" cy="1342644"/>
          </a:xfrm>
          <a:prstGeom prst="roundRect">
            <a:avLst>
              <a:gd name="adj" fmla="val 5448"/>
            </a:avLst>
          </a:prstGeom>
          <a:solidFill>
            <a:srgbClr val="13323F"/>
          </a:solidFill>
          <a:ln w="19050">
            <a:solidFill>
              <a:srgbClr val="0E7C86"/>
            </a:solidFill>
            <a:prstDash val="solid"/>
          </a:ln>
        </p:spPr>
      </p:sp>
      <p:sp>
        <p:nvSpPr>
          <p:cNvPr id="5" name="Text 3"/>
          <p:cNvSpPr/>
          <p:nvPr/>
        </p:nvSpPr>
        <p:spPr>
          <a:xfrm>
            <a:off x="868680" y="164592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11680"/>
            <a:ext cx="4983480" cy="7757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sort data = dm out = dm_s;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by siteid subjid;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554480"/>
            <a:ext cx="5394960" cy="1342644"/>
          </a:xfrm>
          <a:prstGeom prst="roundRect">
            <a:avLst>
              <a:gd name="adj" fmla="val 5448"/>
            </a:avLst>
          </a:prstGeom>
          <a:solidFill>
            <a:srgbClr val="13323F"/>
          </a:solidFill>
          <a:ln w="19050">
            <a:solidFill>
              <a:srgbClr val="E8833A"/>
            </a:solidFill>
            <a:prstDash val="solid"/>
          </a:ln>
        </p:spPr>
      </p:sp>
      <p:sp>
        <p:nvSpPr>
          <p:cNvPr id="8" name="Text 6"/>
          <p:cNvSpPr/>
          <p:nvPr/>
        </p:nvSpPr>
        <p:spPr>
          <a:xfrm>
            <a:off x="6446520" y="164592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11680"/>
            <a:ext cx="4983480" cy="7757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dm_s &lt;- dm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arrange(SITEID, SUBJID)</a:t>
            </a:r>
            <a:endParaRPr lang="en-US" sz="1200" dirty="0"/>
          </a:p>
        </p:txBody>
      </p:sp>
      <p:sp>
        <p:nvSpPr>
          <p:cNvPr id="10" name="Shape 8"/>
          <p:cNvSpPr/>
          <p:nvPr/>
        </p:nvSpPr>
        <p:spPr>
          <a:xfrm>
            <a:off x="640080" y="3217164"/>
            <a:ext cx="5394960" cy="2853944"/>
          </a:xfrm>
          <a:prstGeom prst="roundRect">
            <a:avLst>
              <a:gd name="adj" fmla="val 2563"/>
            </a:avLst>
          </a:prstGeom>
          <a:solidFill>
            <a:srgbClr val="13323F"/>
          </a:solidFill>
          <a:ln w="19050">
            <a:solidFill>
              <a:srgbClr val="0E7C86"/>
            </a:solidFill>
            <a:prstDash val="solid"/>
          </a:ln>
        </p:spPr>
      </p:sp>
      <p:sp>
        <p:nvSpPr>
          <p:cNvPr id="11" name="Text 9"/>
          <p:cNvSpPr/>
          <p:nvPr/>
        </p:nvSpPr>
        <p:spPr>
          <a:xfrm>
            <a:off x="868680" y="3308604"/>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12" name="Text 10"/>
          <p:cNvSpPr/>
          <p:nvPr/>
        </p:nvSpPr>
        <p:spPr>
          <a:xfrm>
            <a:off x="868680" y="3674364"/>
            <a:ext cx="498348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counts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freq data = 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tables arm;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numbers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means data = vs mean;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class visit;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var weight;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13" name="Shape 11"/>
          <p:cNvSpPr/>
          <p:nvPr/>
        </p:nvSpPr>
        <p:spPr>
          <a:xfrm>
            <a:off x="6217920" y="3217164"/>
            <a:ext cx="5394960" cy="2853944"/>
          </a:xfrm>
          <a:prstGeom prst="roundRect">
            <a:avLst>
              <a:gd name="adj" fmla="val 2563"/>
            </a:avLst>
          </a:prstGeom>
          <a:solidFill>
            <a:srgbClr val="13323F"/>
          </a:solidFill>
          <a:ln w="19050">
            <a:solidFill>
              <a:srgbClr val="E8833A"/>
            </a:solidFill>
            <a:prstDash val="solid"/>
          </a:ln>
        </p:spPr>
      </p:sp>
      <p:sp>
        <p:nvSpPr>
          <p:cNvPr id="14" name="Text 12"/>
          <p:cNvSpPr/>
          <p:nvPr/>
        </p:nvSpPr>
        <p:spPr>
          <a:xfrm>
            <a:off x="6446520" y="3308604"/>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15" name="Text 13"/>
          <p:cNvSpPr/>
          <p:nvPr/>
        </p:nvSpPr>
        <p:spPr>
          <a:xfrm>
            <a:off x="6446520" y="3674364"/>
            <a:ext cx="498348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counts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dm |&gt; count(ARM)</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numbers</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vs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group_by(VISIT)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summarise(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mean_wt = mean(WEIGHT)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p:txBody>
      </p:sp>
      <p:sp>
        <p:nvSpPr>
          <p:cNvPr id="16" name="Text 14"/>
          <p:cNvSpPr/>
          <p:nvPr/>
        </p:nvSpPr>
        <p:spPr>
          <a:xfrm>
            <a:off x="640080" y="6180836"/>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PROC FREQ is for categories; PROC MEANS is for numbers. In R, count() and group_by() + summarise() do the same jobs.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SIDE BY SIDE · 6</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Combining datasets</a:t>
            </a:r>
            <a:endParaRPr lang="en-US" sz="3000" dirty="0"/>
          </a:p>
        </p:txBody>
      </p:sp>
      <p:sp>
        <p:nvSpPr>
          <p:cNvPr id="4" name="Shape 2"/>
          <p:cNvSpPr/>
          <p:nvPr/>
        </p:nvSpPr>
        <p:spPr>
          <a:xfrm>
            <a:off x="640080" y="1554480"/>
            <a:ext cx="5394960" cy="2638044"/>
          </a:xfrm>
          <a:prstGeom prst="roundRect">
            <a:avLst>
              <a:gd name="adj" fmla="val 2773"/>
            </a:avLst>
          </a:prstGeom>
          <a:solidFill>
            <a:srgbClr val="13323F"/>
          </a:solidFill>
          <a:ln w="19050">
            <a:solidFill>
              <a:srgbClr val="0E7C86"/>
            </a:solidFill>
            <a:prstDash val="solid"/>
          </a:ln>
        </p:spPr>
      </p:sp>
      <p:sp>
        <p:nvSpPr>
          <p:cNvPr id="5" name="Text 3"/>
          <p:cNvSpPr/>
          <p:nvPr/>
        </p:nvSpPr>
        <p:spPr>
          <a:xfrm>
            <a:off x="868680" y="1645920"/>
            <a:ext cx="10972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SAS</a:t>
            </a:r>
            <a:endParaRPr lang="en-US" sz="1600" dirty="0"/>
          </a:p>
        </p:txBody>
      </p:sp>
      <p:sp>
        <p:nvSpPr>
          <p:cNvPr id="6" name="Text 4"/>
          <p:cNvSpPr/>
          <p:nvPr/>
        </p:nvSpPr>
        <p:spPr>
          <a:xfrm>
            <a:off x="868680" y="2011680"/>
            <a:ext cx="4983480" cy="20711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must be sorted first!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sort data = dm;  by usubjid; run;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sort data = ex;  by usubjid; run;</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dm_ex;</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merge dm (in = a) ex;</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by usubjid;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if a;              /* keep DM rows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7" name="Shape 5"/>
          <p:cNvSpPr/>
          <p:nvPr/>
        </p:nvSpPr>
        <p:spPr>
          <a:xfrm>
            <a:off x="6217920" y="1554480"/>
            <a:ext cx="5394960" cy="2638044"/>
          </a:xfrm>
          <a:prstGeom prst="roundRect">
            <a:avLst>
              <a:gd name="adj" fmla="val 2773"/>
            </a:avLst>
          </a:prstGeom>
          <a:solidFill>
            <a:srgbClr val="13323F"/>
          </a:solidFill>
          <a:ln w="19050">
            <a:solidFill>
              <a:srgbClr val="E8833A"/>
            </a:solidFill>
            <a:prstDash val="solid"/>
          </a:ln>
        </p:spPr>
      </p:sp>
      <p:sp>
        <p:nvSpPr>
          <p:cNvPr id="8" name="Text 6"/>
          <p:cNvSpPr/>
          <p:nvPr/>
        </p:nvSpPr>
        <p:spPr>
          <a:xfrm>
            <a:off x="6446520" y="1645920"/>
            <a:ext cx="1097280" cy="32004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R</a:t>
            </a:r>
            <a:endParaRPr lang="en-US" sz="1600" dirty="0"/>
          </a:p>
        </p:txBody>
      </p:sp>
      <p:sp>
        <p:nvSpPr>
          <p:cNvPr id="9" name="Text 7"/>
          <p:cNvSpPr/>
          <p:nvPr/>
        </p:nvSpPr>
        <p:spPr>
          <a:xfrm>
            <a:off x="6446520" y="2011680"/>
            <a:ext cx="4983480" cy="20711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no sorting required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dm_ex &lt;- dm |&gt;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left_join(ex, by = "USUBJID")</a:t>
            </a:r>
            <a:endParaRPr lang="en-US" sz="1200" dirty="0"/>
          </a:p>
        </p:txBody>
      </p:sp>
      <p:sp>
        <p:nvSpPr>
          <p:cNvPr id="10" name="Text 8"/>
          <p:cNvSpPr/>
          <p:nvPr/>
        </p:nvSpPr>
        <p:spPr>
          <a:xfrm>
            <a:off x="640080" y="4302252"/>
            <a:ext cx="10972800" cy="384048"/>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Same result, very different ceremony. SAS MERGE needs sorted inputs; R joins do not.</a:t>
            </a:r>
            <a:endParaRPr lang="en-US" sz="1300" dirty="0"/>
          </a:p>
        </p:txBody>
      </p:sp>
      <p:sp>
        <p:nvSpPr>
          <p:cNvPr id="11" name="Shape 9"/>
          <p:cNvSpPr/>
          <p:nvPr/>
        </p:nvSpPr>
        <p:spPr>
          <a:xfrm>
            <a:off x="640080" y="4960620"/>
            <a:ext cx="10972800" cy="1508760"/>
          </a:xfrm>
          <a:prstGeom prst="roundRect">
            <a:avLst>
              <a:gd name="adj" fmla="val 5455"/>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914400" y="5097780"/>
            <a:ext cx="10424160" cy="365760"/>
          </a:xfrm>
          <a:prstGeom prst="rect">
            <a:avLst/>
          </a:prstGeom>
          <a:noFill/>
          <a:ln/>
        </p:spPr>
        <p:txBody>
          <a:bodyPr wrap="square" lIns="0" tIns="0" rIns="0" bIns="0" rtlCol="0" anchor="ctr"/>
          <a:lstStyle/>
          <a:p>
            <a:pPr indent="0" marL="0">
              <a:buNone/>
            </a:pPr>
            <a:r>
              <a:rPr lang="en-US" sz="1500" b="1" dirty="0">
                <a:solidFill>
                  <a:srgbClr val="6FC8B4"/>
                </a:solidFill>
                <a:latin typeface="Calibri" pitchFamily="34" charset="0"/>
                <a:ea typeface="Calibri" pitchFamily="34" charset="-122"/>
                <a:cs typeface="Calibri" pitchFamily="34" charset="-120"/>
              </a:rPr>
              <a:t>Joining is how a subject's data gets assembled</a:t>
            </a:r>
            <a:endParaRPr lang="en-US" sz="1500" dirty="0"/>
          </a:p>
        </p:txBody>
      </p:sp>
      <p:sp>
        <p:nvSpPr>
          <p:cNvPr id="13" name="Text 11"/>
          <p:cNvSpPr/>
          <p:nvPr/>
        </p:nvSpPr>
        <p:spPr>
          <a:xfrm>
            <a:off x="914400" y="5463540"/>
            <a:ext cx="10424160" cy="9144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You'll join constantly: attaching the reference start date from EX onto VS to compute study day, or pulling treatment arm from DM onto every other domain. USUBJID is almost always the key.</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CHEAT SHEET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Rosetta Stone</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72800" cy="914400"/>
        </p:xfrm>
        <a:graphic>
          <a:graphicData uri="http://schemas.openxmlformats.org/drawingml/2006/table">
            <a:tbl>
              <a:tblPr/>
              <a:tblGrid>
                <a:gridCol w="3657600"/>
                <a:gridCol w="36576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 want to…</a:t>
                      </a:r>
                      <a:endParaRPr lang="en-US" sz="130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SAS</a:t>
                      </a:r>
                      <a:endParaRPr lang="en-US" sz="130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 (tidyverse)</a:t>
                      </a:r>
                      <a:endParaRPr lang="en-US" sz="130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E8833A"/>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Read a CSV</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IMPORT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read_csv()</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See structure</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CONTENTS</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glimpse()</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See rows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PRINT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head() / print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Keep rows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WHERE / IF</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filter()</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Keep columns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KEEP / DROP</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select()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New variable</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DATA step assignment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mutate()</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Multi-way logic</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IF / THEN / ELSE</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case_when()</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Sort</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SORT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arrange()</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Count categories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FREQ</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count()</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Summarize numbers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PROC MEANS</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group_by() + summarise()</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Join datasets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MERGE ... BY</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left_join()</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Stack datasets</a:t>
                      </a:r>
                      <a:endParaRPr lang="en-US" sz="1250" dirty="0">
                        <a:latin typeface="Calibri" charset="0"/>
                        <a:ea typeface="Calibri" charset="0"/>
                        <a:cs typeface="Calibri"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0E7C86"/>
                          </a:solidFill>
                          <a:latin typeface="Courier New" pitchFamily="34" charset="0"/>
                          <a:ea typeface="Courier New" pitchFamily="34" charset="-122"/>
                          <a:cs typeface="Courier New" pitchFamily="34" charset="-120"/>
                        </a:rPr>
                        <a:t>SET a b;</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B5651A"/>
                          </a:solidFill>
                          <a:latin typeface="Courier New" pitchFamily="34" charset="0"/>
                          <a:ea typeface="Courier New" pitchFamily="34" charset="-122"/>
                          <a:cs typeface="Courier New" pitchFamily="34" charset="-120"/>
                        </a:rPr>
                        <a:t>bind_rows()</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SAME IDEA, DIFFERENT NAMES</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Where your data lives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72800" cy="914400"/>
        </p:xfrm>
        <a:graphic>
          <a:graphicData uri="http://schemas.openxmlformats.org/drawingml/2006/table">
            <a:tbl>
              <a:tblPr/>
              <a:tblGrid>
                <a:gridCol w="3657600"/>
                <a:gridCol w="3657600"/>
                <a:gridCol w="3657600"/>
              </a:tblGrid>
              <a:tr h="566928">
                <a:tc>
                  <a:txBody>
                    <a:bodyPr/>
                    <a:lstStyle/>
                    <a:p>
                      <a:pPr indent="0" marL="0">
                        <a:buNone/>
                      </a:pPr>
                      <a:r>
                        <a:rPr lang="en-US" sz="1300" b="1" dirty="0">
                          <a:solidFill>
                            <a:srgbClr val="0F2E3D"/>
                          </a:solidFill>
                          <a:latin typeface="Calibri" pitchFamily="34" charset="0"/>
                          <a:ea typeface="Calibri" pitchFamily="34" charset="-122"/>
                          <a:cs typeface="Calibri" pitchFamily="34" charset="-120"/>
                        </a:rPr>
                        <a:t>Concept</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6FC8B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SAS</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0E7C8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E8833A"/>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 table of data</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dataset</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data frame / tibble</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 place to store tables</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library (LIBNAME)</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your R environment / files</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Temporary scratch space</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WORK library</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objects in the session</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Add-on functionality</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SAS procedures (built in)</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packages (install.packages)</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 missing number</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  (a single dot)</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NA</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 missing text value</a:t>
                      </a:r>
                      <a:endParaRPr lang="en-US" sz="13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6FC8B4"/>
                          </a:solidFill>
                          <a:latin typeface="Courier New" pitchFamily="34" charset="0"/>
                          <a:ea typeface="Courier New" pitchFamily="34" charset="-122"/>
                          <a:cs typeface="Courier New" pitchFamily="34" charset="-120"/>
                        </a:rPr>
                        <a:t>"" (empty string)</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50" dirty="0">
                          <a:solidFill>
                            <a:srgbClr val="F0B27A"/>
                          </a:solidFill>
                          <a:latin typeface="Courier New" pitchFamily="34" charset="0"/>
                          <a:ea typeface="Courier New" pitchFamily="34" charset="-122"/>
                          <a:cs typeface="Courier New" pitchFamily="34" charset="-120"/>
                        </a:rPr>
                        <a:t>NA_character_</a:t>
                      </a:r>
                      <a:endParaRPr lang="en-US" sz="12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bl>
          </a:graphicData>
        </a:graphic>
      </p:graphicFrame>
      <p:sp>
        <p:nvSpPr>
          <p:cNvPr id="5" name="Text 2"/>
          <p:cNvSpPr/>
          <p:nvPr/>
        </p:nvSpPr>
        <p:spPr>
          <a:xfrm>
            <a:off x="640080" y="5943600"/>
            <a:ext cx="10972800" cy="41148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Missing values are the #1 cross-language gotcha — never treat a missing value as zero or as blank text.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SAVE YOURSELF HOURS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Cross-language gotchas</a:t>
            </a:r>
            <a:endParaRPr lang="en-US" sz="3000" dirty="0"/>
          </a:p>
        </p:txBody>
      </p:sp>
      <p:sp>
        <p:nvSpPr>
          <p:cNvPr id="4" name="Shape 2"/>
          <p:cNvSpPr/>
          <p:nvPr/>
        </p:nvSpPr>
        <p:spPr>
          <a:xfrm>
            <a:off x="640080" y="169164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075688"/>
            <a:ext cx="548640" cy="548640"/>
          </a:xfrm>
          <a:prstGeom prst="ellipse">
            <a:avLst/>
          </a:prstGeom>
          <a:solidFill>
            <a:srgbClr val="E8833A"/>
          </a:solidFill>
          <a:ln/>
        </p:spPr>
      </p:sp>
      <p:sp>
        <p:nvSpPr>
          <p:cNvPr id="6" name="Text 4"/>
          <p:cNvSpPr/>
          <p:nvPr/>
        </p:nvSpPr>
        <p:spPr>
          <a:xfrm>
            <a:off x="868680" y="207568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7" name="Text 5"/>
          <p:cNvSpPr/>
          <p:nvPr/>
        </p:nvSpPr>
        <p:spPr>
          <a:xfrm>
            <a:off x="1600200" y="185623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Case sensitivity
</a:t>
            </a:r>
            <a:pPr indent="0" marL="0">
              <a:buNone/>
            </a:pPr>
            <a:r>
              <a:rPr lang="en-US" sz="1200" dirty="0">
                <a:solidFill>
                  <a:srgbClr val="5A7682"/>
                </a:solidFill>
                <a:latin typeface="Calibri" pitchFamily="34" charset="0"/>
                <a:ea typeface="Calibri" pitchFamily="34" charset="-122"/>
                <a:cs typeface="Calibri" pitchFamily="34" charset="-120"/>
              </a:rPr>
              <a:t>R is case-sensitive: AGE and age are different. SAS variable names are not.</a:t>
            </a:r>
            <a:endParaRPr lang="en-US" sz="1450" dirty="0"/>
          </a:p>
        </p:txBody>
      </p:sp>
      <p:sp>
        <p:nvSpPr>
          <p:cNvPr id="8" name="Shape 6"/>
          <p:cNvSpPr/>
          <p:nvPr/>
        </p:nvSpPr>
        <p:spPr>
          <a:xfrm>
            <a:off x="6217920" y="169164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46520" y="2075688"/>
            <a:ext cx="548640" cy="548640"/>
          </a:xfrm>
          <a:prstGeom prst="ellipse">
            <a:avLst/>
          </a:prstGeom>
          <a:solidFill>
            <a:srgbClr val="E8833A"/>
          </a:solidFill>
          <a:ln/>
        </p:spPr>
      </p:sp>
      <p:sp>
        <p:nvSpPr>
          <p:cNvPr id="10" name="Text 8"/>
          <p:cNvSpPr/>
          <p:nvPr/>
        </p:nvSpPr>
        <p:spPr>
          <a:xfrm>
            <a:off x="6446520" y="207568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7178040" y="185623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Equality test
</a:t>
            </a:r>
            <a:pPr indent="0" marL="0">
              <a:buNone/>
            </a:pPr>
            <a:r>
              <a:rPr lang="en-US" sz="1200" dirty="0">
                <a:solidFill>
                  <a:srgbClr val="5A7682"/>
                </a:solidFill>
                <a:latin typeface="Calibri" pitchFamily="34" charset="0"/>
                <a:ea typeface="Calibri" pitchFamily="34" charset="-122"/>
                <a:cs typeface="Calibri" pitchFamily="34" charset="-120"/>
              </a:rPr>
              <a:t>R uses == to compare, = to name arguments. SAS uses = for both.</a:t>
            </a:r>
            <a:endParaRPr lang="en-US" sz="1450" dirty="0"/>
          </a:p>
        </p:txBody>
      </p:sp>
      <p:sp>
        <p:nvSpPr>
          <p:cNvPr id="12" name="Shape 10"/>
          <p:cNvSpPr/>
          <p:nvPr/>
        </p:nvSpPr>
        <p:spPr>
          <a:xfrm>
            <a:off x="640080" y="315468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538728"/>
            <a:ext cx="548640" cy="548640"/>
          </a:xfrm>
          <a:prstGeom prst="ellipse">
            <a:avLst/>
          </a:prstGeom>
          <a:solidFill>
            <a:srgbClr val="E8833A"/>
          </a:solidFill>
          <a:ln/>
        </p:spPr>
      </p:sp>
      <p:sp>
        <p:nvSpPr>
          <p:cNvPr id="14" name="Text 12"/>
          <p:cNvSpPr/>
          <p:nvPr/>
        </p:nvSpPr>
        <p:spPr>
          <a:xfrm>
            <a:off x="868680" y="353872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600200" y="331927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Missing in maths
</a:t>
            </a:r>
            <a:pPr indent="0" marL="0">
              <a:buNone/>
            </a:pPr>
            <a:r>
              <a:rPr lang="en-US" sz="1200" dirty="0">
                <a:solidFill>
                  <a:srgbClr val="5A7682"/>
                </a:solidFill>
                <a:latin typeface="Calibri" pitchFamily="34" charset="0"/>
                <a:ea typeface="Calibri" pitchFamily="34" charset="-122"/>
                <a:cs typeface="Calibri" pitchFamily="34" charset="-120"/>
              </a:rPr>
              <a:t>In R, mean(x) is NA if any value is missing — use na.rm = TRUE.</a:t>
            </a:r>
            <a:endParaRPr lang="en-US" sz="1450" dirty="0"/>
          </a:p>
        </p:txBody>
      </p:sp>
      <p:sp>
        <p:nvSpPr>
          <p:cNvPr id="16" name="Shape 14"/>
          <p:cNvSpPr/>
          <p:nvPr/>
        </p:nvSpPr>
        <p:spPr>
          <a:xfrm>
            <a:off x="6217920" y="315468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46520" y="3538728"/>
            <a:ext cx="548640" cy="548640"/>
          </a:xfrm>
          <a:prstGeom prst="ellipse">
            <a:avLst/>
          </a:prstGeom>
          <a:solidFill>
            <a:srgbClr val="E8833A"/>
          </a:solidFill>
          <a:ln/>
        </p:spPr>
      </p:sp>
      <p:sp>
        <p:nvSpPr>
          <p:cNvPr id="18" name="Text 16"/>
          <p:cNvSpPr/>
          <p:nvPr/>
        </p:nvSpPr>
        <p:spPr>
          <a:xfrm>
            <a:off x="6446520" y="353872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19" name="Text 17"/>
          <p:cNvSpPr/>
          <p:nvPr/>
        </p:nvSpPr>
        <p:spPr>
          <a:xfrm>
            <a:off x="7178040" y="331927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Sorting before merge
</a:t>
            </a:r>
            <a:pPr indent="0" marL="0">
              <a:buNone/>
            </a:pPr>
            <a:r>
              <a:rPr lang="en-US" sz="1200" dirty="0">
                <a:solidFill>
                  <a:srgbClr val="5A7682"/>
                </a:solidFill>
                <a:latin typeface="Calibri" pitchFamily="34" charset="0"/>
                <a:ea typeface="Calibri" pitchFamily="34" charset="-122"/>
                <a:cs typeface="Calibri" pitchFamily="34" charset="-120"/>
              </a:rPr>
              <a:t>SAS MERGE requires sorted inputs. R joins do not.</a:t>
            </a:r>
            <a:endParaRPr lang="en-US" sz="1450" dirty="0"/>
          </a:p>
        </p:txBody>
      </p:sp>
      <p:sp>
        <p:nvSpPr>
          <p:cNvPr id="20" name="Shape 18"/>
          <p:cNvSpPr/>
          <p:nvPr/>
        </p:nvSpPr>
        <p:spPr>
          <a:xfrm>
            <a:off x="640080" y="461772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001768"/>
            <a:ext cx="548640" cy="548640"/>
          </a:xfrm>
          <a:prstGeom prst="ellipse">
            <a:avLst/>
          </a:prstGeom>
          <a:solidFill>
            <a:srgbClr val="E8833A"/>
          </a:solidFill>
          <a:ln/>
        </p:spPr>
      </p:sp>
      <p:sp>
        <p:nvSpPr>
          <p:cNvPr id="22" name="Text 20"/>
          <p:cNvSpPr/>
          <p:nvPr/>
        </p:nvSpPr>
        <p:spPr>
          <a:xfrm>
            <a:off x="868680" y="500176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23" name="Text 21"/>
          <p:cNvSpPr/>
          <p:nvPr/>
        </p:nvSpPr>
        <p:spPr>
          <a:xfrm>
            <a:off x="1600200" y="478231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Text length
</a:t>
            </a:r>
            <a:pPr indent="0" marL="0">
              <a:buNone/>
            </a:pPr>
            <a:r>
              <a:rPr lang="en-US" sz="1200" dirty="0">
                <a:solidFill>
                  <a:srgbClr val="5A7682"/>
                </a:solidFill>
                <a:latin typeface="Calibri" pitchFamily="34" charset="0"/>
                <a:ea typeface="Calibri" pitchFamily="34" charset="-122"/>
                <a:cs typeface="Calibri" pitchFamily="34" charset="-120"/>
              </a:rPr>
              <a:t>SAS truncates text silently if LENGTH is too short. Declare it first.</a:t>
            </a:r>
            <a:endParaRPr lang="en-US" sz="1450" dirty="0"/>
          </a:p>
        </p:txBody>
      </p:sp>
      <p:sp>
        <p:nvSpPr>
          <p:cNvPr id="24" name="Shape 22"/>
          <p:cNvSpPr/>
          <p:nvPr/>
        </p:nvSpPr>
        <p:spPr>
          <a:xfrm>
            <a:off x="6217920" y="461772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46520" y="5001768"/>
            <a:ext cx="548640" cy="548640"/>
          </a:xfrm>
          <a:prstGeom prst="ellipse">
            <a:avLst/>
          </a:prstGeom>
          <a:solidFill>
            <a:srgbClr val="E8833A"/>
          </a:solidFill>
          <a:ln/>
        </p:spPr>
      </p:sp>
      <p:sp>
        <p:nvSpPr>
          <p:cNvPr id="26" name="Text 24"/>
          <p:cNvSpPr/>
          <p:nvPr/>
        </p:nvSpPr>
        <p:spPr>
          <a:xfrm>
            <a:off x="6446520" y="5001768"/>
            <a:ext cx="548640" cy="54864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7178040" y="4782312"/>
            <a:ext cx="4297680" cy="1005840"/>
          </a:xfrm>
          <a:prstGeom prst="rect">
            <a:avLst/>
          </a:prstGeom>
          <a:noFill/>
          <a:ln/>
        </p:spPr>
        <p:txBody>
          <a:bodyPr wrap="square" lIns="0" tIns="0" rIns="0" bIns="0" rtlCol="0" anchor="ctr"/>
          <a:lstStyle/>
          <a:p>
            <a:pPr indent="0" marL="0">
              <a:buNone/>
            </a:pPr>
            <a:r>
              <a:rPr lang="en-US" sz="1450" b="1" dirty="0">
                <a:solidFill>
                  <a:srgbClr val="0F2E3D"/>
                </a:solidFill>
                <a:latin typeface="Calibri" pitchFamily="34" charset="0"/>
                <a:ea typeface="Calibri" pitchFamily="34" charset="-122"/>
                <a:cs typeface="Calibri" pitchFamily="34" charset="-120"/>
              </a:rPr>
              <a:t>Dates
</a:t>
            </a:r>
            <a:pPr indent="0" marL="0">
              <a:buNone/>
            </a:pPr>
            <a:r>
              <a:rPr lang="en-US" sz="1200" dirty="0">
                <a:solidFill>
                  <a:srgbClr val="5A7682"/>
                </a:solidFill>
                <a:latin typeface="Calibri" pitchFamily="34" charset="0"/>
                <a:ea typeface="Calibri" pitchFamily="34" charset="-122"/>
                <a:cs typeface="Calibri" pitchFamily="34" charset="-120"/>
              </a:rPr>
              <a:t>Both store dates as numbers under the hood, but SDTM wants ISO 8601 text.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SETUP</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How you'll run each language</a:t>
            </a:r>
            <a:endParaRPr lang="en-US" sz="3000" dirty="0"/>
          </a:p>
        </p:txBody>
      </p:sp>
      <p:sp>
        <p:nvSpPr>
          <p:cNvPr id="4" name="Shape 2"/>
          <p:cNvSpPr/>
          <p:nvPr/>
        </p:nvSpPr>
        <p:spPr>
          <a:xfrm>
            <a:off x="640080" y="1737360"/>
            <a:ext cx="5394960" cy="3931920"/>
          </a:xfrm>
          <a:prstGeom prst="roundRect">
            <a:avLst>
              <a:gd name="adj" fmla="val 209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65960"/>
            <a:ext cx="4846320" cy="50292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SAS</a:t>
            </a:r>
            <a:endParaRPr lang="en-US" sz="2600" dirty="0"/>
          </a:p>
        </p:txBody>
      </p:sp>
      <p:sp>
        <p:nvSpPr>
          <p:cNvPr id="6" name="Text 4"/>
          <p:cNvSpPr/>
          <p:nvPr/>
        </p:nvSpPr>
        <p:spPr>
          <a:xfrm>
            <a:off x="914400" y="260604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0E7C86"/>
                </a:solidFill>
                <a:latin typeface="Calibri" pitchFamily="34" charset="0"/>
                <a:ea typeface="Calibri" pitchFamily="34" charset="-122"/>
                <a:cs typeface="Calibri" pitchFamily="34" charset="-120"/>
              </a:rPr>
              <a:t>Where  </a:t>
            </a:r>
            <a:pPr indent="0" marL="0">
              <a:lnSpc>
                <a:spcPts val="2000"/>
              </a:lnSpc>
              <a:buNone/>
            </a:pPr>
            <a:r>
              <a:rPr lang="en-US" sz="1300" dirty="0">
                <a:solidFill>
                  <a:srgbClr val="0F2E3D"/>
                </a:solidFill>
                <a:latin typeface="Calibri" pitchFamily="34" charset="0"/>
                <a:ea typeface="Calibri" pitchFamily="34" charset="-122"/>
                <a:cs typeface="Calibri" pitchFamily="34" charset="-120"/>
              </a:rPr>
              <a:t>SAS Studio / SAS OnDemand for Academics, or an installed SAS session at your company.</a:t>
            </a:r>
            <a:endParaRPr lang="en-US" sz="1350" dirty="0"/>
          </a:p>
        </p:txBody>
      </p:sp>
      <p:sp>
        <p:nvSpPr>
          <p:cNvPr id="7" name="Text 5"/>
          <p:cNvSpPr/>
          <p:nvPr/>
        </p:nvSpPr>
        <p:spPr>
          <a:xfrm>
            <a:off x="914400" y="356616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0E7C86"/>
                </a:solidFill>
                <a:latin typeface="Calibri" pitchFamily="34" charset="0"/>
                <a:ea typeface="Calibri" pitchFamily="34" charset="-122"/>
                <a:cs typeface="Calibri" pitchFamily="34" charset="-120"/>
              </a:rPr>
              <a:t>You write  </a:t>
            </a:r>
            <a:pPr indent="0" marL="0">
              <a:lnSpc>
                <a:spcPts val="2000"/>
              </a:lnSpc>
              <a:buNone/>
            </a:pPr>
            <a:r>
              <a:rPr lang="en-US" sz="1300" dirty="0">
                <a:solidFill>
                  <a:srgbClr val="0F2E3D"/>
                </a:solidFill>
                <a:latin typeface="Calibri" pitchFamily="34" charset="0"/>
                <a:ea typeface="Calibri" pitchFamily="34" charset="-122"/>
                <a:cs typeface="Calibri" pitchFamily="34" charset="-120"/>
              </a:rPr>
              <a:t>a .sas program file</a:t>
            </a:r>
            <a:endParaRPr lang="en-US" sz="1350" dirty="0"/>
          </a:p>
        </p:txBody>
      </p:sp>
      <p:sp>
        <p:nvSpPr>
          <p:cNvPr id="8" name="Text 6"/>
          <p:cNvSpPr/>
          <p:nvPr/>
        </p:nvSpPr>
        <p:spPr>
          <a:xfrm>
            <a:off x="914400" y="452628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0E7C86"/>
                </a:solidFill>
                <a:latin typeface="Calibri" pitchFamily="34" charset="0"/>
                <a:ea typeface="Calibri" pitchFamily="34" charset="-122"/>
                <a:cs typeface="Calibri" pitchFamily="34" charset="-120"/>
              </a:rPr>
              <a:t>You get  </a:t>
            </a:r>
            <a:pPr indent="0" marL="0">
              <a:lnSpc>
                <a:spcPts val="2000"/>
              </a:lnSpc>
              <a:buNone/>
            </a:pPr>
            <a:r>
              <a:rPr lang="en-US" sz="1300" dirty="0">
                <a:solidFill>
                  <a:srgbClr val="0F2E3D"/>
                </a:solidFill>
                <a:latin typeface="Calibri" pitchFamily="34" charset="0"/>
                <a:ea typeface="Calibri" pitchFamily="34" charset="-122"/>
                <a:cs typeface="Calibri" pitchFamily="34" charset="-120"/>
              </a:rPr>
              <a:t>a LOG (messages and errors) and OUTPUT (results). Read the log first — always.</a:t>
            </a:r>
            <a:endParaRPr lang="en-US" sz="1350" dirty="0"/>
          </a:p>
        </p:txBody>
      </p:sp>
      <p:sp>
        <p:nvSpPr>
          <p:cNvPr id="9" name="Shape 7"/>
          <p:cNvSpPr/>
          <p:nvPr/>
        </p:nvSpPr>
        <p:spPr>
          <a:xfrm>
            <a:off x="6217920" y="1737360"/>
            <a:ext cx="5394960" cy="3931920"/>
          </a:xfrm>
          <a:prstGeom prst="roundRect">
            <a:avLst>
              <a:gd name="adj" fmla="val 2093"/>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6492240" y="1965960"/>
            <a:ext cx="4846320" cy="502920"/>
          </a:xfrm>
          <a:prstGeom prst="rect">
            <a:avLst/>
          </a:prstGeom>
          <a:noFill/>
          <a:ln/>
        </p:spPr>
        <p:txBody>
          <a:bodyPr wrap="square" lIns="0" tIns="0" rIns="0" bIns="0" rtlCol="0" anchor="ctr"/>
          <a:lstStyle/>
          <a:p>
            <a:pPr indent="0" marL="0">
              <a:buNone/>
            </a:pPr>
            <a:r>
              <a:rPr lang="en-US" sz="2600" b="1" dirty="0">
                <a:solidFill>
                  <a:srgbClr val="E8833A"/>
                </a:solidFill>
                <a:latin typeface="Cambria" pitchFamily="34" charset="0"/>
                <a:ea typeface="Cambria" pitchFamily="34" charset="-122"/>
                <a:cs typeface="Cambria" pitchFamily="34" charset="-120"/>
              </a:rPr>
              <a:t>R</a:t>
            </a:r>
            <a:endParaRPr lang="en-US" sz="2600" dirty="0"/>
          </a:p>
        </p:txBody>
      </p:sp>
      <p:sp>
        <p:nvSpPr>
          <p:cNvPr id="11" name="Text 9"/>
          <p:cNvSpPr/>
          <p:nvPr/>
        </p:nvSpPr>
        <p:spPr>
          <a:xfrm>
            <a:off x="6492240" y="260604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E8833A"/>
                </a:solidFill>
                <a:latin typeface="Calibri" pitchFamily="34" charset="0"/>
                <a:ea typeface="Calibri" pitchFamily="34" charset="-122"/>
                <a:cs typeface="Calibri" pitchFamily="34" charset="-120"/>
              </a:rPr>
              <a:t>Where  </a:t>
            </a:r>
            <a:pPr indent="0" marL="0">
              <a:lnSpc>
                <a:spcPts val="2000"/>
              </a:lnSpc>
              <a:buNone/>
            </a:pPr>
            <a:r>
              <a:rPr lang="en-US" sz="1300" dirty="0">
                <a:solidFill>
                  <a:srgbClr val="E7F0F1"/>
                </a:solidFill>
                <a:latin typeface="Calibri" pitchFamily="34" charset="0"/>
                <a:ea typeface="Calibri" pitchFamily="34" charset="-122"/>
                <a:cs typeface="Calibri" pitchFamily="34" charset="-120"/>
              </a:rPr>
              <a:t>RStudio or a Jupyter notebook with the R kernel.</a:t>
            </a:r>
            <a:endParaRPr lang="en-US" sz="1350" dirty="0"/>
          </a:p>
        </p:txBody>
      </p:sp>
      <p:sp>
        <p:nvSpPr>
          <p:cNvPr id="12" name="Text 10"/>
          <p:cNvSpPr/>
          <p:nvPr/>
        </p:nvSpPr>
        <p:spPr>
          <a:xfrm>
            <a:off x="6492240" y="356616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E8833A"/>
                </a:solidFill>
                <a:latin typeface="Calibri" pitchFamily="34" charset="0"/>
                <a:ea typeface="Calibri" pitchFamily="34" charset="-122"/>
                <a:cs typeface="Calibri" pitchFamily="34" charset="-120"/>
              </a:rPr>
              <a:t>You write  </a:t>
            </a:r>
            <a:pPr indent="0" marL="0">
              <a:lnSpc>
                <a:spcPts val="2000"/>
              </a:lnSpc>
              <a:buNone/>
            </a:pPr>
            <a:r>
              <a:rPr lang="en-US" sz="1300" dirty="0">
                <a:solidFill>
                  <a:srgbClr val="E7F0F1"/>
                </a:solidFill>
                <a:latin typeface="Calibri" pitchFamily="34" charset="0"/>
                <a:ea typeface="Calibri" pitchFamily="34" charset="-122"/>
                <a:cs typeface="Calibri" pitchFamily="34" charset="-120"/>
              </a:rPr>
              <a:t>an .R script or an .ipynb notebook</a:t>
            </a:r>
            <a:endParaRPr lang="en-US" sz="1350" dirty="0"/>
          </a:p>
        </p:txBody>
      </p:sp>
      <p:sp>
        <p:nvSpPr>
          <p:cNvPr id="13" name="Text 11"/>
          <p:cNvSpPr/>
          <p:nvPr/>
        </p:nvSpPr>
        <p:spPr>
          <a:xfrm>
            <a:off x="6492240" y="4526280"/>
            <a:ext cx="4846320" cy="868680"/>
          </a:xfrm>
          <a:prstGeom prst="rect">
            <a:avLst/>
          </a:prstGeom>
          <a:noFill/>
          <a:ln/>
        </p:spPr>
        <p:txBody>
          <a:bodyPr wrap="square" lIns="0" tIns="0" rIns="0" bIns="0" rtlCol="0" anchor="t"/>
          <a:lstStyle/>
          <a:p>
            <a:pPr indent="0" marL="0">
              <a:lnSpc>
                <a:spcPts val="2000"/>
              </a:lnSpc>
              <a:buNone/>
            </a:pPr>
            <a:r>
              <a:rPr lang="en-US" sz="1350" b="1" dirty="0">
                <a:solidFill>
                  <a:srgbClr val="E8833A"/>
                </a:solidFill>
                <a:latin typeface="Calibri" pitchFamily="34" charset="0"/>
                <a:ea typeface="Calibri" pitchFamily="34" charset="-122"/>
                <a:cs typeface="Calibri" pitchFamily="34" charset="-120"/>
              </a:rPr>
              <a:t>You get  </a:t>
            </a:r>
            <a:pPr indent="0" marL="0">
              <a:lnSpc>
                <a:spcPts val="2000"/>
              </a:lnSpc>
              <a:buNone/>
            </a:pPr>
            <a:r>
              <a:rPr lang="en-US" sz="1300" dirty="0">
                <a:solidFill>
                  <a:srgbClr val="E7F0F1"/>
                </a:solidFill>
                <a:latin typeface="Calibri" pitchFamily="34" charset="0"/>
                <a:ea typeface="Calibri" pitchFamily="34" charset="-122"/>
                <a:cs typeface="Calibri" pitchFamily="34" charset="-120"/>
              </a:rPr>
              <a:t>results printed in the console or under each cell. Errors appear in red.</a:t>
            </a:r>
            <a:endParaRPr lang="en-US" sz="1350" dirty="0"/>
          </a:p>
        </p:txBody>
      </p:sp>
      <p:sp>
        <p:nvSpPr>
          <p:cNvPr id="14" name="Text 12"/>
          <p:cNvSpPr/>
          <p:nvPr/>
        </p:nvSpPr>
        <p:spPr>
          <a:xfrm>
            <a:off x="640080" y="5852160"/>
            <a:ext cx="10972800" cy="411480"/>
          </a:xfrm>
          <a:prstGeom prst="rect">
            <a:avLst/>
          </a:prstGeom>
          <a:noFill/>
          <a:ln/>
        </p:spPr>
        <p:txBody>
          <a:bodyPr wrap="square" lIns="0" tIns="0" rIns="0" bIns="0" rtlCol="0" anchor="ctr"/>
          <a:lstStyle/>
          <a:p>
            <a:pPr algn="ctr" indent="0" marL="0">
              <a:buNone/>
            </a:pPr>
            <a:r>
              <a:rPr lang="en-US" sz="1350" i="1" dirty="0">
                <a:solidFill>
                  <a:srgbClr val="0E7C86"/>
                </a:solidFill>
                <a:latin typeface="Calibri" pitchFamily="34" charset="0"/>
                <a:ea typeface="Calibri" pitchFamily="34" charset="-122"/>
                <a:cs typeface="Calibri" pitchFamily="34" charset="-120"/>
              </a:rPr>
              <a:t>In this bootcamp: SAS exercises are .sas scripts with a written walkthrough; R exercises are Jupyter notebooks.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37160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73736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Time to write some code</a:t>
            </a:r>
            <a:endParaRPr lang="en-US" sz="3400" dirty="0"/>
          </a:p>
        </p:txBody>
      </p:sp>
      <p:sp>
        <p:nvSpPr>
          <p:cNvPr id="6" name="Shape 4"/>
          <p:cNvSpPr/>
          <p:nvPr/>
        </p:nvSpPr>
        <p:spPr>
          <a:xfrm>
            <a:off x="640080" y="2834640"/>
            <a:ext cx="566928" cy="566928"/>
          </a:xfrm>
          <a:prstGeom prst="ellipse">
            <a:avLst/>
          </a:prstGeom>
          <a:solidFill>
            <a:srgbClr val="0E7C86"/>
          </a:solidFill>
          <a:ln/>
        </p:spPr>
      </p:sp>
      <p:sp>
        <p:nvSpPr>
          <p:cNvPr id="7" name="Text 5"/>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816352"/>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Notebook 01 · SAS   </a:t>
            </a:r>
            <a:pPr indent="0" marL="0">
              <a:buNone/>
            </a:pPr>
            <a:r>
              <a:rPr lang="en-US" sz="1350" dirty="0">
                <a:solidFill>
                  <a:srgbClr val="C7DCE0"/>
                </a:solidFill>
                <a:latin typeface="Calibri" pitchFamily="34" charset="0"/>
                <a:ea typeface="Calibri" pitchFamily="34" charset="-122"/>
                <a:cs typeface="Calibri" pitchFamily="34" charset="-120"/>
              </a:rPr>
              <a:t>SAS basics — libraries, DATA step, PROC PRINT/SORT/FREQ/MEANS</a:t>
            </a:r>
            <a:endParaRPr lang="en-US" sz="1600" dirty="0"/>
          </a:p>
        </p:txBody>
      </p:sp>
      <p:sp>
        <p:nvSpPr>
          <p:cNvPr id="9" name="Shape 7"/>
          <p:cNvSpPr/>
          <p:nvPr/>
        </p:nvSpPr>
        <p:spPr>
          <a:xfrm>
            <a:off x="640080" y="3657600"/>
            <a:ext cx="566928" cy="566928"/>
          </a:xfrm>
          <a:prstGeom prst="ellipse">
            <a:avLst/>
          </a:prstGeom>
          <a:solidFill>
            <a:srgbClr val="E8833A"/>
          </a:solidFill>
          <a:ln/>
        </p:spPr>
      </p:sp>
      <p:sp>
        <p:nvSpPr>
          <p:cNvPr id="10" name="Text 8"/>
          <p:cNvSpPr/>
          <p:nvPr/>
        </p:nvSpPr>
        <p:spPr>
          <a:xfrm>
            <a:off x="640080" y="365760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639312"/>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Notebook 01 · R   </a:t>
            </a:r>
            <a:pPr indent="0" marL="0">
              <a:buNone/>
            </a:pPr>
            <a:r>
              <a:rPr lang="en-US" sz="1350" dirty="0">
                <a:solidFill>
                  <a:srgbClr val="C7DCE0"/>
                </a:solidFill>
                <a:latin typeface="Calibri" pitchFamily="34" charset="0"/>
                <a:ea typeface="Calibri" pitchFamily="34" charset="-122"/>
                <a:cs typeface="Calibri" pitchFamily="34" charset="-120"/>
              </a:rPr>
              <a:t>R &amp; tidyverse basics — the same seven moves</a:t>
            </a:r>
            <a:endParaRPr lang="en-US" sz="1600" dirty="0"/>
          </a:p>
        </p:txBody>
      </p:sp>
      <p:sp>
        <p:nvSpPr>
          <p:cNvPr id="12" name="Shape 10"/>
          <p:cNvSpPr/>
          <p:nvPr/>
        </p:nvSpPr>
        <p:spPr>
          <a:xfrm>
            <a:off x="640080" y="4480560"/>
            <a:ext cx="566928" cy="566928"/>
          </a:xfrm>
          <a:prstGeom prst="ellipse">
            <a:avLst/>
          </a:prstGeom>
          <a:solidFill>
            <a:srgbClr val="6FC8B4"/>
          </a:solidFill>
          <a:ln/>
        </p:spPr>
      </p:sp>
      <p:sp>
        <p:nvSpPr>
          <p:cNvPr id="13" name="Text 11"/>
          <p:cNvSpPr/>
          <p:nvPr/>
        </p:nvSpPr>
        <p:spPr>
          <a:xfrm>
            <a:off x="640080" y="448056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462272"/>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Both use   </a:t>
            </a:r>
            <a:pPr indent="0" marL="0">
              <a:buNone/>
            </a:pPr>
            <a:r>
              <a:rPr lang="en-US" sz="1350" dirty="0">
                <a:solidFill>
                  <a:srgbClr val="C7DCE0"/>
                </a:solidFill>
                <a:latin typeface="Calibri" pitchFamily="34" charset="0"/>
                <a:ea typeface="Calibri" pitchFamily="34" charset="-122"/>
                <a:cs typeface="Calibri" pitchFamily="34" charset="-120"/>
              </a:rPr>
              <a:t>the ABC-01 mock data you already have in /data</a:t>
            </a:r>
            <a:endParaRPr lang="en-US" sz="1600" dirty="0"/>
          </a:p>
        </p:txBody>
      </p:sp>
      <p:sp>
        <p:nvSpPr>
          <p:cNvPr id="15" name="Shape 13"/>
          <p:cNvSpPr/>
          <p:nvPr/>
        </p:nvSpPr>
        <p:spPr>
          <a:xfrm>
            <a:off x="640080" y="5303520"/>
            <a:ext cx="566928" cy="566928"/>
          </a:xfrm>
          <a:prstGeom prst="ellipse">
            <a:avLst/>
          </a:prstGeom>
          <a:solidFill>
            <a:srgbClr val="1FA8A0"/>
          </a:solidFill>
          <a:ln/>
        </p:spPr>
      </p:sp>
      <p:sp>
        <p:nvSpPr>
          <p:cNvPr id="16" name="Text 14"/>
          <p:cNvSpPr/>
          <p:nvPr/>
        </p:nvSpPr>
        <p:spPr>
          <a:xfrm>
            <a:off x="640080" y="530352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7" name="Text 15"/>
          <p:cNvSpPr/>
          <p:nvPr/>
        </p:nvSpPr>
        <p:spPr>
          <a:xfrm>
            <a:off x="1417320" y="5285232"/>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Then Module 04   </a:t>
            </a:r>
            <a:pPr indent="0" marL="0">
              <a:buNone/>
            </a:pPr>
            <a:r>
              <a:rPr lang="en-US" sz="1350" dirty="0">
                <a:solidFill>
                  <a:srgbClr val="C7DCE0"/>
                </a:solidFill>
                <a:latin typeface="Calibri" pitchFamily="34" charset="0"/>
                <a:ea typeface="Calibri" pitchFamily="34" charset="-122"/>
                <a:cs typeface="Calibri" pitchFamily="34" charset="-120"/>
              </a:rPr>
              <a:t>Reading raw clinical data properly — and your first domain</a:t>
            </a:r>
            <a:endParaRPr lang="en-US" sz="1600" dirty="0"/>
          </a:p>
        </p:txBody>
      </p:sp>
      <p:sp>
        <p:nvSpPr>
          <p:cNvPr id="18" name="Text 16"/>
          <p:cNvSpPr/>
          <p:nvPr/>
        </p:nvSpPr>
        <p:spPr>
          <a:xfrm>
            <a:off x="640080" y="6126480"/>
            <a:ext cx="10515600" cy="45720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Do both. Even if you already know one language, writing the other version is the fastest way to really learn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Toolkit: SAS &amp; R for Clinical Programming</dc:title>
  <dc:subject>PptxGenJS Presentation</dc:subject>
  <dc:creator>Clinical Programming Bootcamp</dc:creator>
  <cp:lastModifiedBy>Clinical Programming Bootcamp</cp:lastModifiedBy>
  <cp:revision>1</cp:revision>
  <dcterms:created xsi:type="dcterms:W3CDTF">2026-07-26T04:23:21Z</dcterms:created>
  <dcterms:modified xsi:type="dcterms:W3CDTF">2026-07-26T04:23:21Z</dcterms:modified>
</cp:coreProperties>
</file>