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03. This is the orientation before the hands-on notebooks. Key message: SAS and R are treated as equal partners here. Some trainees will already know one; nobody is expected to know both. By the end they should be able to read a simple program in either language and recognise the same seven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balanced and honest. SAS dominates historically because of validation and regulatory familiarity, and because submission datasets go as SAS transport (.xpt) files. R has grown rapidly, is free, and is increasingly used and accepted; industry groups have worked to demonstrate R-based submissions. Do not tell trainees one is 'better' — the honest answer is that teams use both, and knowing both is a career advantage. Double-programming (independent checks in the other language) is a real QC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module. Freshers panic about syntax; reframe it as seven concepts with two spellings. Every notebook in the bootcamp is these moves in some order. Ask trainees to name which move they'd use to answer a simple question (e.g. 'how many subjects per arm?' → summarize).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building blocks. The DATA step is procedural — it loops row by row, which is unfamiliar to people from other languages but powerful. PROC steps are pre-written procedures you configure. The missing semicolon is the single most common beginner error in SAS; the log will usually point at it. Note comments are /*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reads left to right, top to bottom through the pipe. Say 'then' aloud when reading a pipe: take vs, THEN mutate, THEN count. Note the assignment arrow &lt;- (= also works but &lt;- is conventional). NA_character_ is R's typed missing value for text — introduce it lightly here; the missing-values slide covers it. Mention |&gt; is base R's pipe (R 4.1+); older code uses %&gt;% from magrittr — they behave the same for our purposes.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of the seven moves. The key teaching point is type guessing. In SAS, PROC IMPORT scans rows and guesses; guessingrows=max makes it scan everything. In R, read_csv guesses too but col_types lets you be explicit up front. Leading-zero IDs are the classic clinical-data trap and appear immediately in our ABC-01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Inspection is a habit, not a step to skip. The four questions are what to ask every time you open an unfamiliar dataset. PROC CONTENTS and glimpse() are the direct equivalents. Encourage trainees to run these before writing any mapping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the seven moves at once. Emphasise the == vs = distinction in R, a very common beginner error. In SAS, WHERE and IF can both subset in a DATA step; WHERE is usually preferable and also works on PROCs. In R, filter() and select() are separate verbs that chain with the pipe.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comparison in the deck — every domain build is this pattern. Walk through both sides slowly. SAS: LENGTH first, then assignment, then IF/THEN/ELSE. R: one mutate() with several new columns, case_when() for multi-way logic with a TRUE catch-all. The silent truncation warning is a real bug source: a USUBJID declared too short gets cut off with no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Sorting matters more in SAS than R: SAS MERGE requires sorted inputs, and --SEQ derivation depends on order. In R, joins do not require sorting. PROC FREQ vs PROC MEANS is a common early confusion — categories vs continuous numbers. group_by() + summarise() is the general R pattern for 'per group' calculations.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Joins deserve their own slide because they behave so differently. SAS MERGE with BY requires both datasets sorted by the key — forgetting this is a classic error (SAS will complain). The IN= dataset option flags which source contributed a row, used here to keep only DM rows, equivalent to a left join. R's left_join is declarative and needs no sorting. Preview the real use case: deriving study day needs the reference date joined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keep-it-open reference. Do not read it aloud line by line; point out that it is the seven moves plus joins and stacking. Tell trainees this table is reproduced in both Notebook 01 walkthroughs so they always have it beside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mapping. Emphasise missing values: SAS uses a dot for missing numerics and an empty string for missing character values; R uses NA, with typed variants like NA_character_. In R, most calculations return NA if any input is NA unless you pass na.rm = TRUE — a frequent surprise. In SAS, a missing numeric sorts as smaller than any number, which can silently affect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account for a large share of early frustration. The dates point is a preview: both languages have internal date types, but SDTM requires ISO 8601 character values (YYYY-MM-DD), so there is always a conversion step. We handle that properly in the domain-building notebooks.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setup. Stress reading the SAS log: SAS often produces output even when something went wrong, so the log is the source of truth — look for ERROR, WARNING, and NOTE lines, especially notes about uninitialized variables or truncation. In R, errors stop execution and print in red. Tell trainees which environment your organisation provides so they can follow along.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and hand off to the notebooks. Encourage trainees who already know SAS to do the R notebook properly, and vice versa — the parallel structure is designed so the familiar language teaches them the unfamiliar one. End of Module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E3D"/>
        </a:solidFill>
      </p:bgPr>
    </p:bg>
    <p:spTree>
      <p:nvGrpSpPr>
        <p:cNvPr id="1" name=""/>
        <p:cNvGrpSpPr/>
        <p:nvPr/>
      </p:nvGrpSpPr>
      <p:grpSpPr>
        <a:xfrm>
          <a:off x="0" y="0"/>
          <a:ext cx="0" cy="0"/>
          <a:chOff x="0" y="0"/>
          <a:chExt cx="0" cy="0"/>
        </a:xfrm>
      </p:grpSpPr>
      <p:sp>
        <p:nvSpPr>
          <p:cNvPr id="2" name="Shape 0"/>
          <p:cNvSpPr/>
          <p:nvPr/>
        </p:nvSpPr>
        <p:spPr>
          <a:xfrm>
            <a:off x="8869680" y="-1463040"/>
            <a:ext cx="4754880" cy="4754880"/>
          </a:xfrm>
          <a:prstGeom prst="ellipse">
            <a:avLst/>
          </a:prstGeom>
          <a:solidFill>
            <a:srgbClr val="133B4C"/>
          </a:solidFill>
          <a:ln/>
        </p:spPr>
      </p:sp>
      <p:sp>
        <p:nvSpPr>
          <p:cNvPr id="3" name="Shape 1"/>
          <p:cNvSpPr/>
          <p:nvPr/>
        </p:nvSpPr>
        <p:spPr>
          <a:xfrm>
            <a:off x="9784080" y="-548640"/>
            <a:ext cx="2926080" cy="2926080"/>
          </a:xfrm>
          <a:prstGeom prst="ellipse">
            <a:avLst/>
          </a:prstGeom>
          <a:solidFill>
            <a:srgbClr val="0E7C86"/>
          </a:solidFill>
          <a:ln/>
        </p:spPr>
      </p:sp>
      <p:sp>
        <p:nvSpPr>
          <p:cNvPr id="4" name="Shape 2"/>
          <p:cNvSpPr/>
          <p:nvPr/>
        </p:nvSpPr>
        <p:spPr>
          <a:xfrm>
            <a:off x="10469880" y="137160"/>
            <a:ext cx="1554480" cy="1554480"/>
          </a:xfrm>
          <a:prstGeom prst="ellipse">
            <a:avLst/>
          </a:prstGeom>
          <a:solidFill>
            <a:srgbClr val="E8833A"/>
          </a:solidFill>
          <a:ln/>
        </p:spPr>
      </p:sp>
      <p:sp>
        <p:nvSpPr>
          <p:cNvPr id="5" name="Text 3"/>
          <p:cNvSpPr/>
          <p:nvPr/>
        </p:nvSpPr>
        <p:spPr>
          <a:xfrm>
            <a:off x="640080" y="1828800"/>
            <a:ext cx="8229600" cy="365760"/>
          </a:xfrm>
          <a:prstGeom prst="rect">
            <a:avLst/>
          </a:prstGeom>
          <a:noFill/>
          <a:ln/>
        </p:spPr>
        <p:txBody>
          <a:bodyPr wrap="square" lIns="0" tIns="0" rIns="0" bIns="0" rtlCol="0" anchor="ctr"/>
          <a:lstStyle/>
          <a:p>
            <a:pPr indent="0" marL="0">
              <a:buNone/>
            </a:pPr>
            <a:r>
              <a:rPr lang="en-US" sz="1400" b="1" spc="200" kern="0" dirty="0">
                <a:solidFill>
                  <a:srgbClr val="6FC8B4"/>
                </a:solidFill>
                <a:latin typeface="Calibri" pitchFamily="34" charset="0"/>
                <a:ea typeface="Calibri" pitchFamily="34" charset="-122"/>
                <a:cs typeface="Calibri" pitchFamily="34" charset="-120"/>
              </a:rPr>
              <a:t>CLINICAL PROGRAMMING BOOTCAMP  ·  MODULE 03</a:t>
            </a:r>
            <a:endParaRPr lang="en-US" sz="1400" dirty="0"/>
          </a:p>
        </p:txBody>
      </p:sp>
      <p:sp>
        <p:nvSpPr>
          <p:cNvPr id="6" name="Text 4"/>
          <p:cNvSpPr/>
          <p:nvPr/>
        </p:nvSpPr>
        <p:spPr>
          <a:xfrm>
            <a:off x="603504" y="2286000"/>
            <a:ext cx="877824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Your Toolkit</a:t>
            </a:r>
            <a:endParaRPr lang="en-US" sz="4600" dirty="0"/>
          </a:p>
        </p:txBody>
      </p:sp>
      <p:sp>
        <p:nvSpPr>
          <p:cNvPr id="7" name="Text 5"/>
          <p:cNvSpPr/>
          <p:nvPr/>
        </p:nvSpPr>
        <p:spPr>
          <a:xfrm>
            <a:off x="640080" y="3200400"/>
            <a:ext cx="8778240" cy="640080"/>
          </a:xfrm>
          <a:prstGeom prst="rect">
            <a:avLst/>
          </a:prstGeom>
          <a:noFill/>
          <a:ln/>
        </p:spPr>
        <p:txBody>
          <a:bodyPr wrap="square" lIns="0" tIns="0" rIns="0" bIns="0" rtlCol="0" anchor="ctr"/>
          <a:lstStyle/>
          <a:p>
            <a:pPr indent="0" marL="0">
              <a:buNone/>
            </a:pPr>
            <a:r>
              <a:rPr lang="en-US" sz="2800" dirty="0">
                <a:solidFill>
                  <a:srgbClr val="6FC8B4"/>
                </a:solidFill>
                <a:latin typeface="Cambria" pitchFamily="34" charset="0"/>
                <a:ea typeface="Cambria" pitchFamily="34" charset="-122"/>
                <a:cs typeface="Cambria" pitchFamily="34" charset="-120"/>
              </a:rPr>
              <a:t>SAS &amp; R for clinical programming</a:t>
            </a:r>
            <a:endParaRPr lang="en-US" sz="2800" dirty="0"/>
          </a:p>
        </p:txBody>
      </p:sp>
      <p:sp>
        <p:nvSpPr>
          <p:cNvPr id="8" name="Text 6"/>
          <p:cNvSpPr/>
          <p:nvPr/>
        </p:nvSpPr>
        <p:spPr>
          <a:xfrm>
            <a:off x="640080" y="4114800"/>
            <a:ext cx="8412480" cy="914400"/>
          </a:xfrm>
          <a:prstGeom prst="rect">
            <a:avLst/>
          </a:prstGeom>
          <a:noFill/>
          <a:ln/>
        </p:spPr>
        <p:txBody>
          <a:bodyPr wrap="square" lIns="0" tIns="0" rIns="0" bIns="0" rtlCol="0" anchor="ctr"/>
          <a:lstStyle/>
          <a:p>
            <a:pPr indent="0" marL="0">
              <a:buNone/>
            </a:pPr>
            <a:r>
              <a:rPr lang="en-US" sz="1600" dirty="0">
                <a:solidFill>
                  <a:srgbClr val="C7DCE0"/>
                </a:solidFill>
                <a:latin typeface="Calibri" pitchFamily="34" charset="0"/>
                <a:ea typeface="Calibri" pitchFamily="34" charset="-122"/>
                <a:cs typeface="Calibri" pitchFamily="34" charset="-120"/>
              </a:rPr>
              <a:t>Two languages, one job. Everything you build in this bootcamp, you'll build twice — and see how each language gets there.</a:t>
            </a:r>
            <a:endParaRPr lang="en-US" sz="1600" dirty="0"/>
          </a:p>
        </p:txBody>
      </p:sp>
      <p:sp>
        <p:nvSpPr>
          <p:cNvPr id="9" name="Text 7"/>
          <p:cNvSpPr/>
          <p:nvPr/>
        </p:nvSpPr>
        <p:spPr>
          <a:xfrm>
            <a:off x="640080" y="5943600"/>
            <a:ext cx="10972800" cy="365760"/>
          </a:xfrm>
          <a:prstGeom prst="rect">
            <a:avLst/>
          </a:prstGeom>
          <a:noFill/>
          <a:ln/>
        </p:spPr>
        <p:txBody>
          <a:bodyPr wrap="square" lIns="0" tIns="0" rIns="0" bIns="0" rtlCol="0" anchor="ctr"/>
          <a:lstStyle/>
          <a:p>
            <a:pPr indent="0" marL="0">
              <a:buNone/>
            </a:pPr>
            <a:r>
              <a:rPr lang="en-US" sz="1200" i="1" dirty="0">
                <a:solidFill>
                  <a:srgbClr val="5A7682"/>
                </a:solidFill>
                <a:latin typeface="Calibri" pitchFamily="34" charset="0"/>
                <a:ea typeface="Calibri" pitchFamily="34" charset="-122"/>
                <a:cs typeface="Calibri" pitchFamily="34" charset="-120"/>
              </a:rPr>
              <a:t>No programming experience assumed.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INDUSTRY REALITY</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Why you'll learn both</a:t>
            </a:r>
            <a:endParaRPr lang="en-US" sz="3000" dirty="0"/>
          </a:p>
        </p:txBody>
      </p:sp>
      <p:sp>
        <p:nvSpPr>
          <p:cNvPr id="4" name="Shape 2"/>
          <p:cNvSpPr/>
          <p:nvPr/>
        </p:nvSpPr>
        <p:spPr>
          <a:xfrm>
            <a:off x="640080" y="1691640"/>
            <a:ext cx="5394960" cy="4114800"/>
          </a:xfrm>
          <a:prstGeom prst="roundRect">
            <a:avLst>
              <a:gd name="adj" fmla="val 200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914400" y="1920240"/>
            <a:ext cx="4846320" cy="548640"/>
          </a:xfrm>
          <a:prstGeom prst="rect">
            <a:avLst/>
          </a:prstGeom>
          <a:noFill/>
          <a:ln/>
        </p:spPr>
        <p:txBody>
          <a:bodyPr wrap="square" lIns="0" tIns="0" rIns="0" bIns="0" rtlCol="0" anchor="ctr"/>
          <a:lstStyle/>
          <a:p>
            <a:pPr indent="0" marL="0">
              <a:buNone/>
            </a:pPr>
            <a:r>
              <a:rPr lang="en-US" sz="3000" b="1" dirty="0">
                <a:solidFill>
                  <a:srgbClr val="0E7C86"/>
                </a:solidFill>
                <a:latin typeface="Cambria" pitchFamily="34" charset="0"/>
                <a:ea typeface="Cambria" pitchFamily="34" charset="-122"/>
                <a:cs typeface="Cambria" pitchFamily="34" charset="-120"/>
              </a:rPr>
              <a:t>SAS</a:t>
            </a:r>
            <a:endParaRPr lang="en-US" sz="3000" dirty="0"/>
          </a:p>
        </p:txBody>
      </p:sp>
      <p:sp>
        <p:nvSpPr>
          <p:cNvPr id="6" name="Text 4"/>
          <p:cNvSpPr/>
          <p:nvPr/>
        </p:nvSpPr>
        <p:spPr>
          <a:xfrm>
            <a:off x="914400" y="2487168"/>
            <a:ext cx="4846320" cy="320040"/>
          </a:xfrm>
          <a:prstGeom prst="rect">
            <a:avLst/>
          </a:prstGeom>
          <a:noFill/>
          <a:ln/>
        </p:spPr>
        <p:txBody>
          <a:bodyPr wrap="square" lIns="0" tIns="0" rIns="0" bIns="0" rtlCol="0" anchor="ctr"/>
          <a:lstStyle/>
          <a:p>
            <a:pPr indent="0" marL="0">
              <a:buNone/>
            </a:pPr>
            <a:r>
              <a:rPr lang="en-US" sz="1350" b="1" i="1" dirty="0">
                <a:solidFill>
                  <a:srgbClr val="5A7682"/>
                </a:solidFill>
                <a:latin typeface="Calibri" pitchFamily="34" charset="0"/>
                <a:ea typeface="Calibri" pitchFamily="34" charset="-122"/>
                <a:cs typeface="Calibri" pitchFamily="34" charset="-120"/>
              </a:rPr>
              <a:t>The established standard</a:t>
            </a:r>
            <a:endParaRPr lang="en-US" sz="1350" dirty="0"/>
          </a:p>
        </p:txBody>
      </p:sp>
      <p:sp>
        <p:nvSpPr>
          <p:cNvPr id="7" name="Text 5"/>
          <p:cNvSpPr/>
          <p:nvPr/>
        </p:nvSpPr>
        <p:spPr>
          <a:xfrm>
            <a:off x="1051560" y="2926080"/>
            <a:ext cx="4663440" cy="594360"/>
          </a:xfrm>
          <a:prstGeom prst="rect">
            <a:avLst/>
          </a:prstGeom>
          <a:noFill/>
          <a:ln/>
        </p:spPr>
        <p:txBody>
          <a:bodyPr wrap="square" lIns="0" tIns="0" rIns="0" bIns="0" rtlCol="0" anchor="ctr"/>
          <a:lstStyle/>
          <a:p>
            <a:pPr marL="177800" indent="-177800">
              <a:buSzPct val="100000"/>
              <a:buChar char="•"/>
            </a:pPr>
            <a:r>
              <a:rPr lang="en-US" sz="1350" dirty="0">
                <a:solidFill>
                  <a:srgbClr val="0F2E3D"/>
                </a:solidFill>
                <a:latin typeface="Calibri" pitchFamily="34" charset="0"/>
                <a:ea typeface="Calibri" pitchFamily="34" charset="-122"/>
                <a:cs typeface="Calibri" pitchFamily="34" charset="-120"/>
              </a:rPr>
              <a:t>Decades of use in regulatory submissions</a:t>
            </a:r>
            <a:endParaRPr lang="en-US" sz="1350" dirty="0"/>
          </a:p>
        </p:txBody>
      </p:sp>
      <p:sp>
        <p:nvSpPr>
          <p:cNvPr id="8" name="Text 6"/>
          <p:cNvSpPr/>
          <p:nvPr/>
        </p:nvSpPr>
        <p:spPr>
          <a:xfrm>
            <a:off x="1051560" y="3584448"/>
            <a:ext cx="4663440" cy="594360"/>
          </a:xfrm>
          <a:prstGeom prst="rect">
            <a:avLst/>
          </a:prstGeom>
          <a:noFill/>
          <a:ln/>
        </p:spPr>
        <p:txBody>
          <a:bodyPr wrap="square" lIns="0" tIns="0" rIns="0" bIns="0" rtlCol="0" anchor="ctr"/>
          <a:lstStyle/>
          <a:p>
            <a:pPr marL="177800" indent="-177800">
              <a:buSzPct val="100000"/>
              <a:buChar char="•"/>
            </a:pPr>
            <a:r>
              <a:rPr lang="en-US" sz="1350" dirty="0">
                <a:solidFill>
                  <a:srgbClr val="0F2E3D"/>
                </a:solidFill>
                <a:latin typeface="Calibri" pitchFamily="34" charset="0"/>
                <a:ea typeface="Calibri" pitchFamily="34" charset="-122"/>
                <a:cs typeface="Calibri" pitchFamily="34" charset="-120"/>
              </a:rPr>
              <a:t>Commercial, licensed, formally validated</a:t>
            </a:r>
            <a:endParaRPr lang="en-US" sz="1350" dirty="0"/>
          </a:p>
        </p:txBody>
      </p:sp>
      <p:sp>
        <p:nvSpPr>
          <p:cNvPr id="9" name="Text 7"/>
          <p:cNvSpPr/>
          <p:nvPr/>
        </p:nvSpPr>
        <p:spPr>
          <a:xfrm>
            <a:off x="1051560" y="4242816"/>
            <a:ext cx="4663440" cy="594360"/>
          </a:xfrm>
          <a:prstGeom prst="rect">
            <a:avLst/>
          </a:prstGeom>
          <a:noFill/>
          <a:ln/>
        </p:spPr>
        <p:txBody>
          <a:bodyPr wrap="square" lIns="0" tIns="0" rIns="0" bIns="0" rtlCol="0" anchor="ctr"/>
          <a:lstStyle/>
          <a:p>
            <a:pPr marL="177800" indent="-177800">
              <a:buSzPct val="100000"/>
              <a:buChar char="•"/>
            </a:pPr>
            <a:r>
              <a:rPr lang="en-US" sz="1350" dirty="0">
                <a:solidFill>
                  <a:srgbClr val="0F2E3D"/>
                </a:solidFill>
                <a:latin typeface="Calibri" pitchFamily="34" charset="0"/>
                <a:ea typeface="Calibri" pitchFamily="34" charset="-122"/>
                <a:cs typeface="Calibri" pitchFamily="34" charset="-120"/>
              </a:rPr>
              <a:t>Still the default at many sponsors and CROs</a:t>
            </a:r>
            <a:endParaRPr lang="en-US" sz="1350" dirty="0"/>
          </a:p>
        </p:txBody>
      </p:sp>
      <p:sp>
        <p:nvSpPr>
          <p:cNvPr id="10" name="Text 8"/>
          <p:cNvSpPr/>
          <p:nvPr/>
        </p:nvSpPr>
        <p:spPr>
          <a:xfrm>
            <a:off x="1051560" y="4901184"/>
            <a:ext cx="4663440" cy="594360"/>
          </a:xfrm>
          <a:prstGeom prst="rect">
            <a:avLst/>
          </a:prstGeom>
          <a:noFill/>
          <a:ln/>
        </p:spPr>
        <p:txBody>
          <a:bodyPr wrap="square" lIns="0" tIns="0" rIns="0" bIns="0" rtlCol="0" anchor="ctr"/>
          <a:lstStyle/>
          <a:p>
            <a:pPr marL="177800" indent="-177800">
              <a:buSzPct val="100000"/>
              <a:buChar char="•"/>
            </a:pPr>
            <a:r>
              <a:rPr lang="en-US" sz="1350" dirty="0">
                <a:solidFill>
                  <a:srgbClr val="0F2E3D"/>
                </a:solidFill>
                <a:latin typeface="Calibri" pitchFamily="34" charset="0"/>
                <a:ea typeface="Calibri" pitchFamily="34" charset="-122"/>
                <a:cs typeface="Calibri" pitchFamily="34" charset="-120"/>
              </a:rPr>
              <a:t>Submission datasets are shipped as SAS transport files</a:t>
            </a:r>
            <a:endParaRPr lang="en-US" sz="1350" dirty="0"/>
          </a:p>
        </p:txBody>
      </p:sp>
      <p:sp>
        <p:nvSpPr>
          <p:cNvPr id="11" name="Shape 9"/>
          <p:cNvSpPr/>
          <p:nvPr/>
        </p:nvSpPr>
        <p:spPr>
          <a:xfrm>
            <a:off x="6217920" y="1691640"/>
            <a:ext cx="5394960" cy="4114800"/>
          </a:xfrm>
          <a:prstGeom prst="roundRect">
            <a:avLst>
              <a:gd name="adj" fmla="val 2000"/>
            </a:avLst>
          </a:prstGeom>
          <a:solidFill>
            <a:srgbClr val="0F2E3D"/>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2" name="Text 10"/>
          <p:cNvSpPr/>
          <p:nvPr/>
        </p:nvSpPr>
        <p:spPr>
          <a:xfrm>
            <a:off x="6492240" y="1920240"/>
            <a:ext cx="4846320" cy="548640"/>
          </a:xfrm>
          <a:prstGeom prst="rect">
            <a:avLst/>
          </a:prstGeom>
          <a:noFill/>
          <a:ln/>
        </p:spPr>
        <p:txBody>
          <a:bodyPr wrap="square" lIns="0" tIns="0" rIns="0" bIns="0" rtlCol="0" anchor="ctr"/>
          <a:lstStyle/>
          <a:p>
            <a:pPr indent="0" marL="0">
              <a:buNone/>
            </a:pPr>
            <a:r>
              <a:rPr lang="en-US" sz="3000" b="1" dirty="0">
                <a:solidFill>
                  <a:srgbClr val="E8833A"/>
                </a:solidFill>
                <a:latin typeface="Cambria" pitchFamily="34" charset="0"/>
                <a:ea typeface="Cambria" pitchFamily="34" charset="-122"/>
                <a:cs typeface="Cambria" pitchFamily="34" charset="-120"/>
              </a:rPr>
              <a:t>R</a:t>
            </a:r>
            <a:endParaRPr lang="en-US" sz="3000" dirty="0"/>
          </a:p>
        </p:txBody>
      </p:sp>
      <p:sp>
        <p:nvSpPr>
          <p:cNvPr id="13" name="Text 11"/>
          <p:cNvSpPr/>
          <p:nvPr/>
        </p:nvSpPr>
        <p:spPr>
          <a:xfrm>
            <a:off x="6492240" y="2487168"/>
            <a:ext cx="4846320" cy="320040"/>
          </a:xfrm>
          <a:prstGeom prst="rect">
            <a:avLst/>
          </a:prstGeom>
          <a:noFill/>
          <a:ln/>
        </p:spPr>
        <p:txBody>
          <a:bodyPr wrap="square" lIns="0" tIns="0" rIns="0" bIns="0" rtlCol="0" anchor="ctr"/>
          <a:lstStyle/>
          <a:p>
            <a:pPr indent="0" marL="0">
              <a:buNone/>
            </a:pPr>
            <a:r>
              <a:rPr lang="en-US" sz="1350" b="1" i="1" dirty="0">
                <a:solidFill>
                  <a:srgbClr val="9FC0C6"/>
                </a:solidFill>
                <a:latin typeface="Calibri" pitchFamily="34" charset="0"/>
                <a:ea typeface="Calibri" pitchFamily="34" charset="-122"/>
                <a:cs typeface="Calibri" pitchFamily="34" charset="-120"/>
              </a:rPr>
              <a:t>The fast-growing challenger</a:t>
            </a:r>
            <a:endParaRPr lang="en-US" sz="1350" dirty="0"/>
          </a:p>
        </p:txBody>
      </p:sp>
      <p:sp>
        <p:nvSpPr>
          <p:cNvPr id="14" name="Text 12"/>
          <p:cNvSpPr/>
          <p:nvPr/>
        </p:nvSpPr>
        <p:spPr>
          <a:xfrm>
            <a:off x="6629400" y="2926080"/>
            <a:ext cx="4663440" cy="594360"/>
          </a:xfrm>
          <a:prstGeom prst="rect">
            <a:avLst/>
          </a:prstGeom>
          <a:noFill/>
          <a:ln/>
        </p:spPr>
        <p:txBody>
          <a:bodyPr wrap="square" lIns="0" tIns="0" rIns="0" bIns="0" rtlCol="0" anchor="ctr"/>
          <a:lstStyle/>
          <a:p>
            <a:pPr marL="177800" indent="-177800">
              <a:buSzPct val="100000"/>
              <a:buChar char="•"/>
            </a:pPr>
            <a:r>
              <a:rPr lang="en-US" sz="1350" dirty="0">
                <a:solidFill>
                  <a:srgbClr val="E7F0F1"/>
                </a:solidFill>
                <a:latin typeface="Calibri" pitchFamily="34" charset="0"/>
                <a:ea typeface="Calibri" pitchFamily="34" charset="-122"/>
                <a:cs typeface="Calibri" pitchFamily="34" charset="-120"/>
              </a:rPr>
              <a:t>Free and open source</a:t>
            </a:r>
            <a:endParaRPr lang="en-US" sz="1350" dirty="0"/>
          </a:p>
        </p:txBody>
      </p:sp>
      <p:sp>
        <p:nvSpPr>
          <p:cNvPr id="15" name="Text 13"/>
          <p:cNvSpPr/>
          <p:nvPr/>
        </p:nvSpPr>
        <p:spPr>
          <a:xfrm>
            <a:off x="6629400" y="3584448"/>
            <a:ext cx="4663440" cy="594360"/>
          </a:xfrm>
          <a:prstGeom prst="rect">
            <a:avLst/>
          </a:prstGeom>
          <a:noFill/>
          <a:ln/>
        </p:spPr>
        <p:txBody>
          <a:bodyPr wrap="square" lIns="0" tIns="0" rIns="0" bIns="0" rtlCol="0" anchor="ctr"/>
          <a:lstStyle/>
          <a:p>
            <a:pPr marL="177800" indent="-177800">
              <a:buSzPct val="100000"/>
              <a:buChar char="•"/>
            </a:pPr>
            <a:r>
              <a:rPr lang="en-US" sz="1350" dirty="0">
                <a:solidFill>
                  <a:srgbClr val="E7F0F1"/>
                </a:solidFill>
                <a:latin typeface="Calibri" pitchFamily="34" charset="0"/>
                <a:ea typeface="Calibri" pitchFamily="34" charset="-122"/>
                <a:cs typeface="Calibri" pitchFamily="34" charset="-120"/>
              </a:rPr>
              <a:t>Huge package ecosystem for analysis and graphics</a:t>
            </a:r>
            <a:endParaRPr lang="en-US" sz="1350" dirty="0"/>
          </a:p>
        </p:txBody>
      </p:sp>
      <p:sp>
        <p:nvSpPr>
          <p:cNvPr id="16" name="Text 14"/>
          <p:cNvSpPr/>
          <p:nvPr/>
        </p:nvSpPr>
        <p:spPr>
          <a:xfrm>
            <a:off x="6629400" y="4242816"/>
            <a:ext cx="4663440" cy="594360"/>
          </a:xfrm>
          <a:prstGeom prst="rect">
            <a:avLst/>
          </a:prstGeom>
          <a:noFill/>
          <a:ln/>
        </p:spPr>
        <p:txBody>
          <a:bodyPr wrap="square" lIns="0" tIns="0" rIns="0" bIns="0" rtlCol="0" anchor="ctr"/>
          <a:lstStyle/>
          <a:p>
            <a:pPr marL="177800" indent="-177800">
              <a:buSzPct val="100000"/>
              <a:buChar char="•"/>
            </a:pPr>
            <a:r>
              <a:rPr lang="en-US" sz="1350" dirty="0">
                <a:solidFill>
                  <a:srgbClr val="E7F0F1"/>
                </a:solidFill>
                <a:latin typeface="Calibri" pitchFamily="34" charset="0"/>
                <a:ea typeface="Calibri" pitchFamily="34" charset="-122"/>
                <a:cs typeface="Calibri" pitchFamily="34" charset="-120"/>
              </a:rPr>
              <a:t>Increasingly accepted by regulators</a:t>
            </a:r>
            <a:endParaRPr lang="en-US" sz="1350" dirty="0"/>
          </a:p>
        </p:txBody>
      </p:sp>
      <p:sp>
        <p:nvSpPr>
          <p:cNvPr id="17" name="Text 15"/>
          <p:cNvSpPr/>
          <p:nvPr/>
        </p:nvSpPr>
        <p:spPr>
          <a:xfrm>
            <a:off x="6629400" y="4901184"/>
            <a:ext cx="4663440" cy="594360"/>
          </a:xfrm>
          <a:prstGeom prst="rect">
            <a:avLst/>
          </a:prstGeom>
          <a:noFill/>
          <a:ln/>
        </p:spPr>
        <p:txBody>
          <a:bodyPr wrap="square" lIns="0" tIns="0" rIns="0" bIns="0" rtlCol="0" anchor="ctr"/>
          <a:lstStyle/>
          <a:p>
            <a:pPr marL="177800" indent="-177800">
              <a:buSzPct val="100000"/>
              <a:buChar char="•"/>
            </a:pPr>
            <a:r>
              <a:rPr lang="en-US" sz="1350" dirty="0">
                <a:solidFill>
                  <a:srgbClr val="E7F0F1"/>
                </a:solidFill>
                <a:latin typeface="Calibri" pitchFamily="34" charset="0"/>
                <a:ea typeface="Calibri" pitchFamily="34" charset="-122"/>
                <a:cs typeface="Calibri" pitchFamily="34" charset="-120"/>
              </a:rPr>
              <a:t>Growing use for exploration, figures, and Shiny apps</a:t>
            </a:r>
            <a:endParaRPr lang="en-US" sz="1350" dirty="0"/>
          </a:p>
        </p:txBody>
      </p:sp>
      <p:sp>
        <p:nvSpPr>
          <p:cNvPr id="18" name="Text 16"/>
          <p:cNvSpPr/>
          <p:nvPr/>
        </p:nvSpPr>
        <p:spPr>
          <a:xfrm>
            <a:off x="640080" y="5989320"/>
            <a:ext cx="10972800" cy="411480"/>
          </a:xfrm>
          <a:prstGeom prst="rect">
            <a:avLst/>
          </a:prstGeom>
          <a:noFill/>
          <a:ln/>
        </p:spPr>
        <p:txBody>
          <a:bodyPr wrap="square" lIns="0" tIns="0" rIns="0" bIns="0" rtlCol="0" anchor="ctr"/>
          <a:lstStyle/>
          <a:p>
            <a:pPr algn="ctr" indent="0" marL="0">
              <a:buNone/>
            </a:pPr>
            <a:r>
              <a:rPr lang="en-US" sz="1350" i="1" dirty="0">
                <a:solidFill>
                  <a:srgbClr val="0E7C86"/>
                </a:solidFill>
                <a:latin typeface="Calibri" pitchFamily="34" charset="0"/>
                <a:ea typeface="Calibri" pitchFamily="34" charset="-122"/>
                <a:cs typeface="Calibri" pitchFamily="34" charset="-120"/>
              </a:rPr>
              <a:t>Most teams today use both. Being fluent in either makes you far more employable — and helps you check your own work.</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200" b="1" spc="200" kern="0" dirty="0">
                <a:solidFill>
                  <a:srgbClr val="6FC8B4"/>
                </a:solidFill>
                <a:latin typeface="Calibri" pitchFamily="34" charset="0"/>
                <a:ea typeface="Calibri" pitchFamily="34" charset="-122"/>
                <a:cs typeface="Calibri" pitchFamily="34" charset="-120"/>
              </a:rPr>
              <a:t>THE MENTAL MODEL</a:t>
            </a:r>
            <a:endParaRPr lang="en-US" sz="1200" dirty="0"/>
          </a:p>
        </p:txBody>
      </p:sp>
      <p:sp>
        <p:nvSpPr>
          <p:cNvPr id="3" name="Text 1"/>
          <p:cNvSpPr/>
          <p:nvPr/>
        </p:nvSpPr>
        <p:spPr>
          <a:xfrm>
            <a:off x="603504" y="822960"/>
            <a:ext cx="109728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Every data task is the same seven moves</a:t>
            </a:r>
            <a:endParaRPr lang="en-US" sz="3000" dirty="0"/>
          </a:p>
        </p:txBody>
      </p:sp>
      <p:sp>
        <p:nvSpPr>
          <p:cNvPr id="4" name="Shape 2"/>
          <p:cNvSpPr/>
          <p:nvPr/>
        </p:nvSpPr>
        <p:spPr>
          <a:xfrm>
            <a:off x="640080" y="2194560"/>
            <a:ext cx="1536192" cy="2286000"/>
          </a:xfrm>
          <a:prstGeom prst="roundRect">
            <a:avLst>
              <a:gd name="adj" fmla="val 5357"/>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1088136" y="2423160"/>
            <a:ext cx="640080" cy="640080"/>
          </a:xfrm>
          <a:prstGeom prst="ellipse">
            <a:avLst/>
          </a:prstGeom>
          <a:solidFill>
            <a:srgbClr val="0E7C86"/>
          </a:solidFill>
          <a:ln/>
        </p:spPr>
      </p:sp>
      <p:sp>
        <p:nvSpPr>
          <p:cNvPr id="6" name="Text 4"/>
          <p:cNvSpPr/>
          <p:nvPr/>
        </p:nvSpPr>
        <p:spPr>
          <a:xfrm>
            <a:off x="1088136" y="2423160"/>
            <a:ext cx="64008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685800" y="3154680"/>
            <a:ext cx="1444752"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Read</a:t>
            </a:r>
            <a:endParaRPr lang="en-US" sz="1500" dirty="0"/>
          </a:p>
        </p:txBody>
      </p:sp>
      <p:sp>
        <p:nvSpPr>
          <p:cNvPr id="8" name="Text 6"/>
          <p:cNvSpPr/>
          <p:nvPr/>
        </p:nvSpPr>
        <p:spPr>
          <a:xfrm>
            <a:off x="731520" y="3566160"/>
            <a:ext cx="1353312" cy="777240"/>
          </a:xfrm>
          <a:prstGeom prst="rect">
            <a:avLst/>
          </a:prstGeom>
          <a:noFill/>
          <a:ln/>
        </p:spPr>
        <p:txBody>
          <a:bodyPr wrap="square" lIns="0" tIns="0" rIns="0" bIns="0" rtlCol="0" anchor="ctr"/>
          <a:lstStyle/>
          <a:p>
            <a:pPr algn="ctr" indent="0" marL="0">
              <a:buNone/>
            </a:pPr>
            <a:r>
              <a:rPr lang="en-US" sz="1100" dirty="0">
                <a:solidFill>
                  <a:srgbClr val="C7DCE0"/>
                </a:solidFill>
                <a:latin typeface="Calibri" pitchFamily="34" charset="0"/>
                <a:ea typeface="Calibri" pitchFamily="34" charset="-122"/>
                <a:cs typeface="Calibri" pitchFamily="34" charset="-120"/>
              </a:rPr>
              <a:t>get data in</a:t>
            </a:r>
            <a:endParaRPr lang="en-US" sz="1100" dirty="0"/>
          </a:p>
        </p:txBody>
      </p:sp>
      <p:sp>
        <p:nvSpPr>
          <p:cNvPr id="9" name="Shape 7"/>
          <p:cNvSpPr/>
          <p:nvPr/>
        </p:nvSpPr>
        <p:spPr>
          <a:xfrm>
            <a:off x="2240280" y="2194560"/>
            <a:ext cx="1536192" cy="2286000"/>
          </a:xfrm>
          <a:prstGeom prst="roundRect">
            <a:avLst>
              <a:gd name="adj" fmla="val 5357"/>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0" name="Shape 8"/>
          <p:cNvSpPr/>
          <p:nvPr/>
        </p:nvSpPr>
        <p:spPr>
          <a:xfrm>
            <a:off x="2688336" y="2423160"/>
            <a:ext cx="640080" cy="640080"/>
          </a:xfrm>
          <a:prstGeom prst="ellipse">
            <a:avLst/>
          </a:prstGeom>
          <a:solidFill>
            <a:srgbClr val="1FA8A0"/>
          </a:solidFill>
          <a:ln/>
        </p:spPr>
      </p:sp>
      <p:sp>
        <p:nvSpPr>
          <p:cNvPr id="11" name="Text 9"/>
          <p:cNvSpPr/>
          <p:nvPr/>
        </p:nvSpPr>
        <p:spPr>
          <a:xfrm>
            <a:off x="2688336" y="2423160"/>
            <a:ext cx="64008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2" name="Text 10"/>
          <p:cNvSpPr/>
          <p:nvPr/>
        </p:nvSpPr>
        <p:spPr>
          <a:xfrm>
            <a:off x="2286000" y="3154680"/>
            <a:ext cx="1444752"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Inspect</a:t>
            </a:r>
            <a:endParaRPr lang="en-US" sz="1500" dirty="0"/>
          </a:p>
        </p:txBody>
      </p:sp>
      <p:sp>
        <p:nvSpPr>
          <p:cNvPr id="13" name="Text 11"/>
          <p:cNvSpPr/>
          <p:nvPr/>
        </p:nvSpPr>
        <p:spPr>
          <a:xfrm>
            <a:off x="2331720" y="3566160"/>
            <a:ext cx="1353312" cy="777240"/>
          </a:xfrm>
          <a:prstGeom prst="rect">
            <a:avLst/>
          </a:prstGeom>
          <a:noFill/>
          <a:ln/>
        </p:spPr>
        <p:txBody>
          <a:bodyPr wrap="square" lIns="0" tIns="0" rIns="0" bIns="0" rtlCol="0" anchor="ctr"/>
          <a:lstStyle/>
          <a:p>
            <a:pPr algn="ctr" indent="0" marL="0">
              <a:buNone/>
            </a:pPr>
            <a:r>
              <a:rPr lang="en-US" sz="1100" dirty="0">
                <a:solidFill>
                  <a:srgbClr val="C7DCE0"/>
                </a:solidFill>
                <a:latin typeface="Calibri" pitchFamily="34" charset="0"/>
                <a:ea typeface="Calibri" pitchFamily="34" charset="-122"/>
                <a:cs typeface="Calibri" pitchFamily="34" charset="-120"/>
              </a:rPr>
              <a:t>see what you have</a:t>
            </a:r>
            <a:endParaRPr lang="en-US" sz="1100" dirty="0"/>
          </a:p>
        </p:txBody>
      </p:sp>
      <p:sp>
        <p:nvSpPr>
          <p:cNvPr id="14" name="Shape 12"/>
          <p:cNvSpPr/>
          <p:nvPr/>
        </p:nvSpPr>
        <p:spPr>
          <a:xfrm>
            <a:off x="3840480" y="2194560"/>
            <a:ext cx="1536192" cy="2286000"/>
          </a:xfrm>
          <a:prstGeom prst="roundRect">
            <a:avLst>
              <a:gd name="adj" fmla="val 5357"/>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5" name="Shape 13"/>
          <p:cNvSpPr/>
          <p:nvPr/>
        </p:nvSpPr>
        <p:spPr>
          <a:xfrm>
            <a:off x="4288536" y="2423160"/>
            <a:ext cx="640080" cy="640080"/>
          </a:xfrm>
          <a:prstGeom prst="ellipse">
            <a:avLst/>
          </a:prstGeom>
          <a:solidFill>
            <a:srgbClr val="6FC8B4"/>
          </a:solidFill>
          <a:ln/>
        </p:spPr>
      </p:sp>
      <p:sp>
        <p:nvSpPr>
          <p:cNvPr id="16" name="Text 14"/>
          <p:cNvSpPr/>
          <p:nvPr/>
        </p:nvSpPr>
        <p:spPr>
          <a:xfrm>
            <a:off x="4288536" y="2423160"/>
            <a:ext cx="640080" cy="640080"/>
          </a:xfrm>
          <a:prstGeom prst="rect">
            <a:avLst/>
          </a:prstGeom>
          <a:noFill/>
          <a:ln/>
        </p:spPr>
        <p:txBody>
          <a:bodyPr wrap="square" lIns="0" tIns="0" rIns="0" bIns="0" rtlCol="0" anchor="ctr"/>
          <a:lstStyle/>
          <a:p>
            <a:pPr algn="ctr" indent="0" marL="0">
              <a:buNone/>
            </a:pPr>
            <a:r>
              <a:rPr lang="en-US" sz="1700" b="1" dirty="0">
                <a:solidFill>
                  <a:srgbClr val="0F2E3D"/>
                </a:solidFill>
                <a:latin typeface="Calibri" pitchFamily="34" charset="0"/>
                <a:ea typeface="Calibri" pitchFamily="34" charset="-122"/>
                <a:cs typeface="Calibri" pitchFamily="34" charset="-120"/>
              </a:rPr>
              <a:t>3</a:t>
            </a:r>
            <a:endParaRPr lang="en-US" sz="1700" dirty="0"/>
          </a:p>
        </p:txBody>
      </p:sp>
      <p:sp>
        <p:nvSpPr>
          <p:cNvPr id="17" name="Text 15"/>
          <p:cNvSpPr/>
          <p:nvPr/>
        </p:nvSpPr>
        <p:spPr>
          <a:xfrm>
            <a:off x="3886200" y="3154680"/>
            <a:ext cx="1444752"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Filter</a:t>
            </a:r>
            <a:endParaRPr lang="en-US" sz="1500" dirty="0"/>
          </a:p>
        </p:txBody>
      </p:sp>
      <p:sp>
        <p:nvSpPr>
          <p:cNvPr id="18" name="Text 16"/>
          <p:cNvSpPr/>
          <p:nvPr/>
        </p:nvSpPr>
        <p:spPr>
          <a:xfrm>
            <a:off x="3931920" y="3566160"/>
            <a:ext cx="1353312" cy="777240"/>
          </a:xfrm>
          <a:prstGeom prst="rect">
            <a:avLst/>
          </a:prstGeom>
          <a:noFill/>
          <a:ln/>
        </p:spPr>
        <p:txBody>
          <a:bodyPr wrap="square" lIns="0" tIns="0" rIns="0" bIns="0" rtlCol="0" anchor="ctr"/>
          <a:lstStyle/>
          <a:p>
            <a:pPr algn="ctr" indent="0" marL="0">
              <a:buNone/>
            </a:pPr>
            <a:r>
              <a:rPr lang="en-US" sz="1100" dirty="0">
                <a:solidFill>
                  <a:srgbClr val="C7DCE0"/>
                </a:solidFill>
                <a:latin typeface="Calibri" pitchFamily="34" charset="0"/>
                <a:ea typeface="Calibri" pitchFamily="34" charset="-122"/>
                <a:cs typeface="Calibri" pitchFamily="34" charset="-120"/>
              </a:rPr>
              <a:t>keep some rows</a:t>
            </a:r>
            <a:endParaRPr lang="en-US" sz="1100" dirty="0"/>
          </a:p>
        </p:txBody>
      </p:sp>
      <p:sp>
        <p:nvSpPr>
          <p:cNvPr id="19" name="Shape 17"/>
          <p:cNvSpPr/>
          <p:nvPr/>
        </p:nvSpPr>
        <p:spPr>
          <a:xfrm>
            <a:off x="5440680" y="2194560"/>
            <a:ext cx="1536192" cy="2286000"/>
          </a:xfrm>
          <a:prstGeom prst="roundRect">
            <a:avLst>
              <a:gd name="adj" fmla="val 5357"/>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0" name="Shape 18"/>
          <p:cNvSpPr/>
          <p:nvPr/>
        </p:nvSpPr>
        <p:spPr>
          <a:xfrm>
            <a:off x="5888736" y="2423160"/>
            <a:ext cx="640080" cy="640080"/>
          </a:xfrm>
          <a:prstGeom prst="ellipse">
            <a:avLst/>
          </a:prstGeom>
          <a:solidFill>
            <a:srgbClr val="E8833A"/>
          </a:solidFill>
          <a:ln/>
        </p:spPr>
      </p:sp>
      <p:sp>
        <p:nvSpPr>
          <p:cNvPr id="21" name="Text 19"/>
          <p:cNvSpPr/>
          <p:nvPr/>
        </p:nvSpPr>
        <p:spPr>
          <a:xfrm>
            <a:off x="5888736" y="2423160"/>
            <a:ext cx="640080" cy="640080"/>
          </a:xfrm>
          <a:prstGeom prst="rect">
            <a:avLst/>
          </a:prstGeom>
          <a:noFill/>
          <a:ln/>
        </p:spPr>
        <p:txBody>
          <a:bodyPr wrap="square" lIns="0" tIns="0" rIns="0" bIns="0" rtlCol="0" anchor="ctr"/>
          <a:lstStyle/>
          <a:p>
            <a:pPr algn="ctr" indent="0" marL="0">
              <a:buNone/>
            </a:pPr>
            <a:r>
              <a:rPr lang="en-US" sz="1700" b="1" dirty="0">
                <a:solidFill>
                  <a:srgbClr val="0F2E3D"/>
                </a:solidFill>
                <a:latin typeface="Calibri" pitchFamily="34" charset="0"/>
                <a:ea typeface="Calibri" pitchFamily="34" charset="-122"/>
                <a:cs typeface="Calibri" pitchFamily="34" charset="-120"/>
              </a:rPr>
              <a:t>4</a:t>
            </a:r>
            <a:endParaRPr lang="en-US" sz="1700" dirty="0"/>
          </a:p>
        </p:txBody>
      </p:sp>
      <p:sp>
        <p:nvSpPr>
          <p:cNvPr id="22" name="Text 20"/>
          <p:cNvSpPr/>
          <p:nvPr/>
        </p:nvSpPr>
        <p:spPr>
          <a:xfrm>
            <a:off x="5486400" y="3154680"/>
            <a:ext cx="1444752"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Select</a:t>
            </a:r>
            <a:endParaRPr lang="en-US" sz="1500" dirty="0"/>
          </a:p>
        </p:txBody>
      </p:sp>
      <p:sp>
        <p:nvSpPr>
          <p:cNvPr id="23" name="Text 21"/>
          <p:cNvSpPr/>
          <p:nvPr/>
        </p:nvSpPr>
        <p:spPr>
          <a:xfrm>
            <a:off x="5532120" y="3566160"/>
            <a:ext cx="1353312" cy="777240"/>
          </a:xfrm>
          <a:prstGeom prst="rect">
            <a:avLst/>
          </a:prstGeom>
          <a:noFill/>
          <a:ln/>
        </p:spPr>
        <p:txBody>
          <a:bodyPr wrap="square" lIns="0" tIns="0" rIns="0" bIns="0" rtlCol="0" anchor="ctr"/>
          <a:lstStyle/>
          <a:p>
            <a:pPr algn="ctr" indent="0" marL="0">
              <a:buNone/>
            </a:pPr>
            <a:r>
              <a:rPr lang="en-US" sz="1100" dirty="0">
                <a:solidFill>
                  <a:srgbClr val="C7DCE0"/>
                </a:solidFill>
                <a:latin typeface="Calibri" pitchFamily="34" charset="0"/>
                <a:ea typeface="Calibri" pitchFamily="34" charset="-122"/>
                <a:cs typeface="Calibri" pitchFamily="34" charset="-120"/>
              </a:rPr>
              <a:t>keep some columns</a:t>
            </a:r>
            <a:endParaRPr lang="en-US" sz="1100" dirty="0"/>
          </a:p>
        </p:txBody>
      </p:sp>
      <p:sp>
        <p:nvSpPr>
          <p:cNvPr id="24" name="Shape 22"/>
          <p:cNvSpPr/>
          <p:nvPr/>
        </p:nvSpPr>
        <p:spPr>
          <a:xfrm>
            <a:off x="7040880" y="2194560"/>
            <a:ext cx="1536192" cy="2286000"/>
          </a:xfrm>
          <a:prstGeom prst="roundRect">
            <a:avLst>
              <a:gd name="adj" fmla="val 5357"/>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5" name="Shape 23"/>
          <p:cNvSpPr/>
          <p:nvPr/>
        </p:nvSpPr>
        <p:spPr>
          <a:xfrm>
            <a:off x="7488936" y="2423160"/>
            <a:ext cx="640080" cy="640080"/>
          </a:xfrm>
          <a:prstGeom prst="ellipse">
            <a:avLst/>
          </a:prstGeom>
          <a:solidFill>
            <a:srgbClr val="0E7C86"/>
          </a:solidFill>
          <a:ln/>
        </p:spPr>
      </p:sp>
      <p:sp>
        <p:nvSpPr>
          <p:cNvPr id="26" name="Text 24"/>
          <p:cNvSpPr/>
          <p:nvPr/>
        </p:nvSpPr>
        <p:spPr>
          <a:xfrm>
            <a:off x="7488936" y="2423160"/>
            <a:ext cx="64008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27" name="Text 25"/>
          <p:cNvSpPr/>
          <p:nvPr/>
        </p:nvSpPr>
        <p:spPr>
          <a:xfrm>
            <a:off x="7086600" y="3154680"/>
            <a:ext cx="1444752"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Derive</a:t>
            </a:r>
            <a:endParaRPr lang="en-US" sz="1500" dirty="0"/>
          </a:p>
        </p:txBody>
      </p:sp>
      <p:sp>
        <p:nvSpPr>
          <p:cNvPr id="28" name="Text 26"/>
          <p:cNvSpPr/>
          <p:nvPr/>
        </p:nvSpPr>
        <p:spPr>
          <a:xfrm>
            <a:off x="7132320" y="3566160"/>
            <a:ext cx="1353312" cy="777240"/>
          </a:xfrm>
          <a:prstGeom prst="rect">
            <a:avLst/>
          </a:prstGeom>
          <a:noFill/>
          <a:ln/>
        </p:spPr>
        <p:txBody>
          <a:bodyPr wrap="square" lIns="0" tIns="0" rIns="0" bIns="0" rtlCol="0" anchor="ctr"/>
          <a:lstStyle/>
          <a:p>
            <a:pPr algn="ctr" indent="0" marL="0">
              <a:buNone/>
            </a:pPr>
            <a:r>
              <a:rPr lang="en-US" sz="1100" dirty="0">
                <a:solidFill>
                  <a:srgbClr val="C7DCE0"/>
                </a:solidFill>
                <a:latin typeface="Calibri" pitchFamily="34" charset="0"/>
                <a:ea typeface="Calibri" pitchFamily="34" charset="-122"/>
                <a:cs typeface="Calibri" pitchFamily="34" charset="-120"/>
              </a:rPr>
              <a:t>create new variables</a:t>
            </a:r>
            <a:endParaRPr lang="en-US" sz="1100" dirty="0"/>
          </a:p>
        </p:txBody>
      </p:sp>
      <p:sp>
        <p:nvSpPr>
          <p:cNvPr id="29" name="Shape 27"/>
          <p:cNvSpPr/>
          <p:nvPr/>
        </p:nvSpPr>
        <p:spPr>
          <a:xfrm>
            <a:off x="8641080" y="2194560"/>
            <a:ext cx="1536192" cy="2286000"/>
          </a:xfrm>
          <a:prstGeom prst="roundRect">
            <a:avLst>
              <a:gd name="adj" fmla="val 5357"/>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30" name="Shape 28"/>
          <p:cNvSpPr/>
          <p:nvPr/>
        </p:nvSpPr>
        <p:spPr>
          <a:xfrm>
            <a:off x="9089136" y="2423160"/>
            <a:ext cx="640080" cy="640080"/>
          </a:xfrm>
          <a:prstGeom prst="ellipse">
            <a:avLst/>
          </a:prstGeom>
          <a:solidFill>
            <a:srgbClr val="1FA8A0"/>
          </a:solidFill>
          <a:ln/>
        </p:spPr>
      </p:sp>
      <p:sp>
        <p:nvSpPr>
          <p:cNvPr id="31" name="Text 29"/>
          <p:cNvSpPr/>
          <p:nvPr/>
        </p:nvSpPr>
        <p:spPr>
          <a:xfrm>
            <a:off x="9089136" y="2423160"/>
            <a:ext cx="64008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6</a:t>
            </a:r>
            <a:endParaRPr lang="en-US" sz="1700" dirty="0"/>
          </a:p>
        </p:txBody>
      </p:sp>
      <p:sp>
        <p:nvSpPr>
          <p:cNvPr id="32" name="Text 30"/>
          <p:cNvSpPr/>
          <p:nvPr/>
        </p:nvSpPr>
        <p:spPr>
          <a:xfrm>
            <a:off x="8686800" y="3154680"/>
            <a:ext cx="1444752"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Sort</a:t>
            </a:r>
            <a:endParaRPr lang="en-US" sz="1500" dirty="0"/>
          </a:p>
        </p:txBody>
      </p:sp>
      <p:sp>
        <p:nvSpPr>
          <p:cNvPr id="33" name="Text 31"/>
          <p:cNvSpPr/>
          <p:nvPr/>
        </p:nvSpPr>
        <p:spPr>
          <a:xfrm>
            <a:off x="8732520" y="3566160"/>
            <a:ext cx="1353312" cy="777240"/>
          </a:xfrm>
          <a:prstGeom prst="rect">
            <a:avLst/>
          </a:prstGeom>
          <a:noFill/>
          <a:ln/>
        </p:spPr>
        <p:txBody>
          <a:bodyPr wrap="square" lIns="0" tIns="0" rIns="0" bIns="0" rtlCol="0" anchor="ctr"/>
          <a:lstStyle/>
          <a:p>
            <a:pPr algn="ctr" indent="0" marL="0">
              <a:buNone/>
            </a:pPr>
            <a:r>
              <a:rPr lang="en-US" sz="1100" dirty="0">
                <a:solidFill>
                  <a:srgbClr val="C7DCE0"/>
                </a:solidFill>
                <a:latin typeface="Calibri" pitchFamily="34" charset="0"/>
                <a:ea typeface="Calibri" pitchFamily="34" charset="-122"/>
                <a:cs typeface="Calibri" pitchFamily="34" charset="-120"/>
              </a:rPr>
              <a:t>put rows in order</a:t>
            </a:r>
            <a:endParaRPr lang="en-US" sz="1100" dirty="0"/>
          </a:p>
        </p:txBody>
      </p:sp>
      <p:sp>
        <p:nvSpPr>
          <p:cNvPr id="34" name="Shape 32"/>
          <p:cNvSpPr/>
          <p:nvPr/>
        </p:nvSpPr>
        <p:spPr>
          <a:xfrm>
            <a:off x="10241280" y="2194560"/>
            <a:ext cx="1536192" cy="2286000"/>
          </a:xfrm>
          <a:prstGeom prst="roundRect">
            <a:avLst>
              <a:gd name="adj" fmla="val 5357"/>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35" name="Shape 33"/>
          <p:cNvSpPr/>
          <p:nvPr/>
        </p:nvSpPr>
        <p:spPr>
          <a:xfrm>
            <a:off x="10689336" y="2423160"/>
            <a:ext cx="640080" cy="640080"/>
          </a:xfrm>
          <a:prstGeom prst="ellipse">
            <a:avLst/>
          </a:prstGeom>
          <a:solidFill>
            <a:srgbClr val="6FC8B4"/>
          </a:solidFill>
          <a:ln/>
        </p:spPr>
      </p:sp>
      <p:sp>
        <p:nvSpPr>
          <p:cNvPr id="36" name="Text 34"/>
          <p:cNvSpPr/>
          <p:nvPr/>
        </p:nvSpPr>
        <p:spPr>
          <a:xfrm>
            <a:off x="10689336" y="2423160"/>
            <a:ext cx="640080" cy="640080"/>
          </a:xfrm>
          <a:prstGeom prst="rect">
            <a:avLst/>
          </a:prstGeom>
          <a:noFill/>
          <a:ln/>
        </p:spPr>
        <p:txBody>
          <a:bodyPr wrap="square" lIns="0" tIns="0" rIns="0" bIns="0" rtlCol="0" anchor="ctr"/>
          <a:lstStyle/>
          <a:p>
            <a:pPr algn="ctr" indent="0" marL="0">
              <a:buNone/>
            </a:pPr>
            <a:r>
              <a:rPr lang="en-US" sz="1700" b="1" dirty="0">
                <a:solidFill>
                  <a:srgbClr val="0F2E3D"/>
                </a:solidFill>
                <a:latin typeface="Calibri" pitchFamily="34" charset="0"/>
                <a:ea typeface="Calibri" pitchFamily="34" charset="-122"/>
                <a:cs typeface="Calibri" pitchFamily="34" charset="-120"/>
              </a:rPr>
              <a:t>7</a:t>
            </a:r>
            <a:endParaRPr lang="en-US" sz="1700" dirty="0"/>
          </a:p>
        </p:txBody>
      </p:sp>
      <p:sp>
        <p:nvSpPr>
          <p:cNvPr id="37" name="Text 35"/>
          <p:cNvSpPr/>
          <p:nvPr/>
        </p:nvSpPr>
        <p:spPr>
          <a:xfrm>
            <a:off x="10287000" y="3154680"/>
            <a:ext cx="1444752"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Summarize</a:t>
            </a:r>
            <a:endParaRPr lang="en-US" sz="1500" dirty="0"/>
          </a:p>
        </p:txBody>
      </p:sp>
      <p:sp>
        <p:nvSpPr>
          <p:cNvPr id="38" name="Text 36"/>
          <p:cNvSpPr/>
          <p:nvPr/>
        </p:nvSpPr>
        <p:spPr>
          <a:xfrm>
            <a:off x="10332720" y="3566160"/>
            <a:ext cx="1353312" cy="777240"/>
          </a:xfrm>
          <a:prstGeom prst="rect">
            <a:avLst/>
          </a:prstGeom>
          <a:noFill/>
          <a:ln/>
        </p:spPr>
        <p:txBody>
          <a:bodyPr wrap="square" lIns="0" tIns="0" rIns="0" bIns="0" rtlCol="0" anchor="ctr"/>
          <a:lstStyle/>
          <a:p>
            <a:pPr algn="ctr" indent="0" marL="0">
              <a:buNone/>
            </a:pPr>
            <a:r>
              <a:rPr lang="en-US" sz="1100" dirty="0">
                <a:solidFill>
                  <a:srgbClr val="C7DCE0"/>
                </a:solidFill>
                <a:latin typeface="Calibri" pitchFamily="34" charset="0"/>
                <a:ea typeface="Calibri" pitchFamily="34" charset="-122"/>
                <a:cs typeface="Calibri" pitchFamily="34" charset="-120"/>
              </a:rPr>
              <a:t>count and aggregate</a:t>
            </a:r>
            <a:endParaRPr lang="en-US" sz="1100" dirty="0"/>
          </a:p>
        </p:txBody>
      </p:sp>
      <p:sp>
        <p:nvSpPr>
          <p:cNvPr id="39" name="Text 37"/>
          <p:cNvSpPr/>
          <p:nvPr/>
        </p:nvSpPr>
        <p:spPr>
          <a:xfrm>
            <a:off x="640080" y="4937760"/>
            <a:ext cx="10972800" cy="457200"/>
          </a:xfrm>
          <a:prstGeom prst="rect">
            <a:avLst/>
          </a:prstGeom>
          <a:noFill/>
          <a:ln/>
        </p:spPr>
        <p:txBody>
          <a:bodyPr wrap="square" lIns="0" tIns="0" rIns="0" bIns="0" rtlCol="0" anchor="ctr"/>
          <a:lstStyle/>
          <a:p>
            <a:pPr algn="ctr" indent="0" marL="0">
              <a:buNone/>
            </a:pPr>
            <a:r>
              <a:rPr lang="en-US" sz="1800" i="1" dirty="0">
                <a:solidFill>
                  <a:srgbClr val="6FC8B4"/>
                </a:solidFill>
                <a:latin typeface="Cambria" pitchFamily="34" charset="0"/>
                <a:ea typeface="Cambria" pitchFamily="34" charset="-122"/>
                <a:cs typeface="Cambria" pitchFamily="34" charset="-120"/>
              </a:rPr>
              <a:t>Learn these seven once. Then you only have to learn how each language spells them.</a:t>
            </a:r>
            <a:endParaRPr lang="en-US" sz="1800" dirty="0"/>
          </a:p>
        </p:txBody>
      </p:sp>
      <p:sp>
        <p:nvSpPr>
          <p:cNvPr id="40" name="Text 38"/>
          <p:cNvSpPr/>
          <p:nvPr/>
        </p:nvSpPr>
        <p:spPr>
          <a:xfrm>
            <a:off x="640080" y="5577840"/>
            <a:ext cx="10972800" cy="365760"/>
          </a:xfrm>
          <a:prstGeom prst="rect">
            <a:avLst/>
          </a:prstGeom>
          <a:noFill/>
          <a:ln/>
        </p:spPr>
        <p:txBody>
          <a:bodyPr wrap="square" lIns="0" tIns="0" rIns="0" bIns="0" rtlCol="0" anchor="ctr"/>
          <a:lstStyle/>
          <a:p>
            <a:pPr algn="ctr" indent="0" marL="0">
              <a:buNone/>
            </a:pPr>
            <a:r>
              <a:rPr lang="en-US" sz="1400" dirty="0">
                <a:solidFill>
                  <a:srgbClr val="9FC0C6"/>
                </a:solidFill>
                <a:latin typeface="Calibri" pitchFamily="34" charset="0"/>
                <a:ea typeface="Calibri" pitchFamily="34" charset="-122"/>
                <a:cs typeface="Calibri" pitchFamily="34" charset="-120"/>
              </a:rPr>
              <a:t>Building an SDTM domain is these moves, combined and repeated.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ANATOMY · SAS</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A SAS program is DATA steps and PROC steps</a:t>
            </a:r>
            <a:endParaRPr lang="en-US" sz="3000" dirty="0"/>
          </a:p>
        </p:txBody>
      </p:sp>
      <p:sp>
        <p:nvSpPr>
          <p:cNvPr id="4" name="Shape 2"/>
          <p:cNvSpPr/>
          <p:nvPr/>
        </p:nvSpPr>
        <p:spPr>
          <a:xfrm>
            <a:off x="640080" y="1645920"/>
            <a:ext cx="5349240" cy="1965960"/>
          </a:xfrm>
          <a:prstGeom prst="roundRect">
            <a:avLst>
              <a:gd name="adj" fmla="val 4186"/>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914400" y="1828800"/>
            <a:ext cx="4754880" cy="365760"/>
          </a:xfrm>
          <a:prstGeom prst="rect">
            <a:avLst/>
          </a:prstGeom>
          <a:noFill/>
          <a:ln/>
        </p:spPr>
        <p:txBody>
          <a:bodyPr wrap="square" lIns="0" tIns="0" rIns="0" bIns="0" rtlCol="0" anchor="ctr"/>
          <a:lstStyle/>
          <a:p>
            <a:pPr indent="0" marL="0">
              <a:buNone/>
            </a:pPr>
            <a:r>
              <a:rPr lang="en-US" sz="2000" b="1" dirty="0">
                <a:solidFill>
                  <a:srgbClr val="0E7C86"/>
                </a:solidFill>
                <a:latin typeface="Cambria" pitchFamily="34" charset="0"/>
                <a:ea typeface="Cambria" pitchFamily="34" charset="-122"/>
                <a:cs typeface="Cambria" pitchFamily="34" charset="-120"/>
              </a:rPr>
              <a:t>DATA step</a:t>
            </a:r>
            <a:endParaRPr lang="en-US" sz="2000" dirty="0"/>
          </a:p>
        </p:txBody>
      </p:sp>
      <p:sp>
        <p:nvSpPr>
          <p:cNvPr id="6" name="Text 4"/>
          <p:cNvSpPr/>
          <p:nvPr/>
        </p:nvSpPr>
        <p:spPr>
          <a:xfrm>
            <a:off x="914400" y="2286000"/>
            <a:ext cx="4846320" cy="1188720"/>
          </a:xfrm>
          <a:prstGeom prst="rect">
            <a:avLst/>
          </a:prstGeom>
          <a:noFill/>
          <a:ln/>
        </p:spPr>
        <p:txBody>
          <a:bodyPr wrap="square" lIns="0" tIns="0" rIns="0" bIns="0" rtlCol="0" anchor="ctr"/>
          <a:lstStyle/>
          <a:p>
            <a:pPr indent="0" marL="0">
              <a:buNone/>
            </a:pPr>
            <a:r>
              <a:rPr lang="en-US" sz="1350" dirty="0">
                <a:solidFill>
                  <a:srgbClr val="0F2E3D"/>
                </a:solidFill>
                <a:latin typeface="Calibri" pitchFamily="34" charset="0"/>
                <a:ea typeface="Calibri" pitchFamily="34" charset="-122"/>
                <a:cs typeface="Calibri" pitchFamily="34" charset="-120"/>
              </a:rPr>
              <a:t>Creates or changes a dataset. Reads one row at a time, applies your logic, writes rows out. This is where variables are built.</a:t>
            </a:r>
            <a:endParaRPr lang="en-US" sz="1350" dirty="0"/>
          </a:p>
        </p:txBody>
      </p:sp>
      <p:sp>
        <p:nvSpPr>
          <p:cNvPr id="7" name="Shape 5"/>
          <p:cNvSpPr/>
          <p:nvPr/>
        </p:nvSpPr>
        <p:spPr>
          <a:xfrm>
            <a:off x="6217920" y="1645920"/>
            <a:ext cx="5394960" cy="1965960"/>
          </a:xfrm>
          <a:prstGeom prst="roundRect">
            <a:avLst>
              <a:gd name="adj" fmla="val 4186"/>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8" name="Text 6"/>
          <p:cNvSpPr/>
          <p:nvPr/>
        </p:nvSpPr>
        <p:spPr>
          <a:xfrm>
            <a:off x="6492240" y="1828800"/>
            <a:ext cx="4754880" cy="365760"/>
          </a:xfrm>
          <a:prstGeom prst="rect">
            <a:avLst/>
          </a:prstGeom>
          <a:noFill/>
          <a:ln/>
        </p:spPr>
        <p:txBody>
          <a:bodyPr wrap="square" lIns="0" tIns="0" rIns="0" bIns="0" rtlCol="0" anchor="ctr"/>
          <a:lstStyle/>
          <a:p>
            <a:pPr indent="0" marL="0">
              <a:buNone/>
            </a:pPr>
            <a:r>
              <a:rPr lang="en-US" sz="2000" b="1" dirty="0">
                <a:solidFill>
                  <a:srgbClr val="1FA8A0"/>
                </a:solidFill>
                <a:latin typeface="Cambria" pitchFamily="34" charset="0"/>
                <a:ea typeface="Cambria" pitchFamily="34" charset="-122"/>
                <a:cs typeface="Cambria" pitchFamily="34" charset="-120"/>
              </a:rPr>
              <a:t>PROC step</a:t>
            </a:r>
            <a:endParaRPr lang="en-US" sz="2000" dirty="0"/>
          </a:p>
        </p:txBody>
      </p:sp>
      <p:sp>
        <p:nvSpPr>
          <p:cNvPr id="9" name="Text 7"/>
          <p:cNvSpPr/>
          <p:nvPr/>
        </p:nvSpPr>
        <p:spPr>
          <a:xfrm>
            <a:off x="6492240" y="2286000"/>
            <a:ext cx="4846320" cy="1188720"/>
          </a:xfrm>
          <a:prstGeom prst="rect">
            <a:avLst/>
          </a:prstGeom>
          <a:noFill/>
          <a:ln/>
        </p:spPr>
        <p:txBody>
          <a:bodyPr wrap="square" lIns="0" tIns="0" rIns="0" bIns="0" rtlCol="0" anchor="ctr"/>
          <a:lstStyle/>
          <a:p>
            <a:pPr indent="0" marL="0">
              <a:buNone/>
            </a:pPr>
            <a:r>
              <a:rPr lang="en-US" sz="1350" dirty="0">
                <a:solidFill>
                  <a:srgbClr val="0F2E3D"/>
                </a:solidFill>
                <a:latin typeface="Calibri" pitchFamily="34" charset="0"/>
                <a:ea typeface="Calibri" pitchFamily="34" charset="-122"/>
                <a:cs typeface="Calibri" pitchFamily="34" charset="-120"/>
              </a:rPr>
              <a:t>Calls a ready-made procedure to do something with a dataset: print it, sort it, count it, summarize it.</a:t>
            </a:r>
            <a:endParaRPr lang="en-US" sz="1350" dirty="0"/>
          </a:p>
        </p:txBody>
      </p:sp>
      <p:sp>
        <p:nvSpPr>
          <p:cNvPr id="10" name="Shape 8"/>
          <p:cNvSpPr/>
          <p:nvPr/>
        </p:nvSpPr>
        <p:spPr>
          <a:xfrm>
            <a:off x="640080" y="3794760"/>
            <a:ext cx="10972800" cy="2148840"/>
          </a:xfrm>
          <a:prstGeom prst="roundRect">
            <a:avLst>
              <a:gd name="adj" fmla="val 3404"/>
            </a:avLst>
          </a:prstGeom>
          <a:solidFill>
            <a:srgbClr val="13323F"/>
          </a:solidFill>
          <a:ln w="19050">
            <a:solidFill>
              <a:srgbClr val="0E7C86"/>
            </a:solidFill>
            <a:prstDash val="solid"/>
          </a:ln>
        </p:spPr>
      </p:sp>
      <p:sp>
        <p:nvSpPr>
          <p:cNvPr id="11" name="Text 9"/>
          <p:cNvSpPr/>
          <p:nvPr/>
        </p:nvSpPr>
        <p:spPr>
          <a:xfrm>
            <a:off x="914400" y="3977640"/>
            <a:ext cx="10515600" cy="1828800"/>
          </a:xfrm>
          <a:prstGeom prst="rect">
            <a:avLst/>
          </a:prstGeom>
          <a:noFill/>
          <a:ln/>
        </p:spPr>
        <p:txBody>
          <a:bodyPr wrap="square" lIns="0" tIns="0" rIns="0" bIns="0" rtlCol="0" anchor="t"/>
          <a:lstStyle/>
          <a:p>
            <a:pPr indent="0" marL="0">
              <a:lnSpc>
                <a:spcPts val="2100"/>
              </a:lnSpc>
              <a:buNone/>
            </a:pPr>
            <a:r>
              <a:rPr lang="en-US" sz="1300" dirty="0">
                <a:solidFill>
                  <a:srgbClr val="6FC8B4"/>
                </a:solidFill>
                <a:latin typeface="Courier New" pitchFamily="34" charset="0"/>
                <a:ea typeface="Courier New" pitchFamily="34" charset="-122"/>
                <a:cs typeface="Courier New" pitchFamily="34" charset="-120"/>
              </a:rPr>
              <a:t>data vs_clean;                      </a:t>
            </a:r>
            <a:pPr indent="0" marL="0">
              <a:lnSpc>
                <a:spcPts val="2100"/>
              </a:lnSpc>
              <a:buNone/>
            </a:pPr>
            <a:r>
              <a:rPr lang="en-US" sz="1300" dirty="0">
                <a:solidFill>
                  <a:srgbClr val="7E9AA5"/>
                </a:solidFill>
                <a:latin typeface="Courier New" pitchFamily="34" charset="0"/>
                <a:ea typeface="Courier New" pitchFamily="34" charset="-122"/>
                <a:cs typeface="Courier New" pitchFamily="34" charset="-120"/>
              </a:rPr>
              <a:t>/* DATA step: build a dataset */
</a:t>
            </a:r>
            <a:pPr indent="0" marL="0">
              <a:lnSpc>
                <a:spcPts val="2100"/>
              </a:lnSpc>
              <a:buNone/>
            </a:pPr>
            <a:r>
              <a:rPr lang="en-US" sz="1300" dirty="0">
                <a:solidFill>
                  <a:srgbClr val="DCEBEF"/>
                </a:solidFill>
                <a:latin typeface="Courier New" pitchFamily="34" charset="0"/>
                <a:ea typeface="Courier New" pitchFamily="34" charset="-122"/>
                <a:cs typeface="Courier New" pitchFamily="34" charset="-120"/>
              </a:rPr>
              <a:t>    set work.vs;                    </a:t>
            </a:r>
            <a:pPr indent="0" marL="0">
              <a:lnSpc>
                <a:spcPts val="2100"/>
              </a:lnSpc>
              <a:buNone/>
            </a:pPr>
            <a:r>
              <a:rPr lang="en-US" sz="1300" dirty="0">
                <a:solidFill>
                  <a:srgbClr val="7E9AA5"/>
                </a:solidFill>
                <a:latin typeface="Courier New" pitchFamily="34" charset="0"/>
                <a:ea typeface="Courier New" pitchFamily="34" charset="-122"/>
                <a:cs typeface="Courier New" pitchFamily="34" charset="-120"/>
              </a:rPr>
              <a:t>/* read every row of WORK.VS  */
</a:t>
            </a:r>
            <a:pPr indent="0" marL="0">
              <a:lnSpc>
                <a:spcPts val="2100"/>
              </a:lnSpc>
              <a:buNone/>
            </a:pPr>
            <a:r>
              <a:rPr lang="en-US" sz="1300" dirty="0">
                <a:solidFill>
                  <a:srgbClr val="DCEBEF"/>
                </a:solidFill>
                <a:latin typeface="Courier New" pitchFamily="34" charset="0"/>
                <a:ea typeface="Courier New" pitchFamily="34" charset="-122"/>
                <a:cs typeface="Courier New" pitchFamily="34" charset="-120"/>
              </a:rPr>
              <a:t>    if sysbp &gt; 140 then flag = "HIGH";
</a:t>
            </a:r>
            <a:pPr indent="0" marL="0">
              <a:lnSpc>
                <a:spcPts val="2100"/>
              </a:lnSpc>
              <a:buNone/>
            </a:pPr>
            <a:r>
              <a:rPr lang="en-US" sz="1300" dirty="0">
                <a:solidFill>
                  <a:srgbClr val="6FC8B4"/>
                </a:solidFill>
                <a:latin typeface="Courier New" pitchFamily="34" charset="0"/>
                <a:ea typeface="Courier New" pitchFamily="34" charset="-122"/>
                <a:cs typeface="Courier New" pitchFamily="34" charset="-120"/>
              </a:rPr>
              <a:t>run;
</a:t>
            </a:r>
            <a:pPr indent="0" marL="0">
              <a:lnSpc>
                <a:spcPts val="2100"/>
              </a:lnSpc>
              <a:buNone/>
            </a:pPr>
            <a:r>
              <a:rPr lang="en-US" sz="1300" dirty="0">
                <a:solidFill>
                  <a:srgbClr val="6FC8B4"/>
                </a:solidFill>
                <a:latin typeface="Courier New" pitchFamily="34" charset="0"/>
                <a:ea typeface="Courier New" pitchFamily="34" charset="-122"/>
                <a:cs typeface="Courier New" pitchFamily="34" charset="-120"/>
              </a:rPr>
              <a:t>proc freq data = vs_clean;          </a:t>
            </a:r>
            <a:pPr indent="0" marL="0">
              <a:lnSpc>
                <a:spcPts val="2100"/>
              </a:lnSpc>
              <a:buNone/>
            </a:pPr>
            <a:r>
              <a:rPr lang="en-US" sz="1300" dirty="0">
                <a:solidFill>
                  <a:srgbClr val="7E9AA5"/>
                </a:solidFill>
                <a:latin typeface="Courier New" pitchFamily="34" charset="0"/>
                <a:ea typeface="Courier New" pitchFamily="34" charset="-122"/>
                <a:cs typeface="Courier New" pitchFamily="34" charset="-120"/>
              </a:rPr>
              <a:t>/* PROC step: count it       */
</a:t>
            </a:r>
            <a:pPr indent="0" marL="0">
              <a:lnSpc>
                <a:spcPts val="2100"/>
              </a:lnSpc>
              <a:buNone/>
            </a:pPr>
            <a:r>
              <a:rPr lang="en-US" sz="1300" dirty="0">
                <a:solidFill>
                  <a:srgbClr val="DCEBEF"/>
                </a:solidFill>
                <a:latin typeface="Courier New" pitchFamily="34" charset="0"/>
                <a:ea typeface="Courier New" pitchFamily="34" charset="-122"/>
                <a:cs typeface="Courier New" pitchFamily="34" charset="-120"/>
              </a:rPr>
              <a:t>    tables flag;
</a:t>
            </a:r>
            <a:pPr indent="0" marL="0">
              <a:lnSpc>
                <a:spcPts val="2100"/>
              </a:lnSpc>
              <a:buNone/>
            </a:pPr>
            <a:r>
              <a:rPr lang="en-US" sz="1300" dirty="0">
                <a:solidFill>
                  <a:srgbClr val="6FC8B4"/>
                </a:solidFill>
                <a:latin typeface="Courier New" pitchFamily="34" charset="0"/>
                <a:ea typeface="Courier New" pitchFamily="34" charset="-122"/>
                <a:cs typeface="Courier New" pitchFamily="34" charset="-120"/>
              </a:rPr>
              <a:t>run;</a:t>
            </a:r>
            <a:endParaRPr lang="en-US" sz="1300" dirty="0"/>
          </a:p>
        </p:txBody>
      </p:sp>
      <p:sp>
        <p:nvSpPr>
          <p:cNvPr id="12" name="Text 10"/>
          <p:cNvSpPr/>
          <p:nvPr/>
        </p:nvSpPr>
        <p:spPr>
          <a:xfrm>
            <a:off x="640080" y="6080760"/>
            <a:ext cx="10972800" cy="365760"/>
          </a:xfrm>
          <a:prstGeom prst="rect">
            <a:avLst/>
          </a:prstGeom>
          <a:noFill/>
          <a:ln/>
        </p:spPr>
        <p:txBody>
          <a:bodyPr wrap="square" lIns="0" tIns="0" rIns="0" bIns="0" rtlCol="0" anchor="ctr"/>
          <a:lstStyle/>
          <a:p>
            <a:pPr indent="0" marL="0">
              <a:buNone/>
            </a:pPr>
            <a:r>
              <a:rPr lang="en-US" sz="1300" i="1" dirty="0">
                <a:solidFill>
                  <a:srgbClr val="0E7C86"/>
                </a:solidFill>
                <a:latin typeface="Calibri" pitchFamily="34" charset="0"/>
                <a:ea typeface="Calibri" pitchFamily="34" charset="-122"/>
                <a:cs typeface="Calibri" pitchFamily="34" charset="-120"/>
              </a:rPr>
              <a:t>Every statement ends with a semicolon ;  and every step ends with run;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ANATOMY · R</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An R script is a pipeline of verbs</a:t>
            </a:r>
            <a:endParaRPr lang="en-US" sz="3000" dirty="0"/>
          </a:p>
        </p:txBody>
      </p:sp>
      <p:sp>
        <p:nvSpPr>
          <p:cNvPr id="4" name="Shape 2"/>
          <p:cNvSpPr/>
          <p:nvPr/>
        </p:nvSpPr>
        <p:spPr>
          <a:xfrm>
            <a:off x="640080" y="1645920"/>
            <a:ext cx="5349240" cy="1965960"/>
          </a:xfrm>
          <a:prstGeom prst="roundRect">
            <a:avLst>
              <a:gd name="adj" fmla="val 4186"/>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914400" y="1828800"/>
            <a:ext cx="4754880" cy="365760"/>
          </a:xfrm>
          <a:prstGeom prst="rect">
            <a:avLst/>
          </a:prstGeom>
          <a:noFill/>
          <a:ln/>
        </p:spPr>
        <p:txBody>
          <a:bodyPr wrap="square" lIns="0" tIns="0" rIns="0" bIns="0" rtlCol="0" anchor="ctr"/>
          <a:lstStyle/>
          <a:p>
            <a:pPr indent="0" marL="0">
              <a:buNone/>
            </a:pPr>
            <a:r>
              <a:rPr lang="en-US" sz="2000" b="1" dirty="0">
                <a:solidFill>
                  <a:srgbClr val="E8833A"/>
                </a:solidFill>
                <a:latin typeface="Cambria" pitchFamily="34" charset="0"/>
                <a:ea typeface="Cambria" pitchFamily="34" charset="-122"/>
                <a:cs typeface="Cambria" pitchFamily="34" charset="-120"/>
              </a:rPr>
              <a:t>Functions &amp; verbs</a:t>
            </a:r>
            <a:endParaRPr lang="en-US" sz="2000" dirty="0"/>
          </a:p>
        </p:txBody>
      </p:sp>
      <p:sp>
        <p:nvSpPr>
          <p:cNvPr id="6" name="Text 4"/>
          <p:cNvSpPr/>
          <p:nvPr/>
        </p:nvSpPr>
        <p:spPr>
          <a:xfrm>
            <a:off x="914400" y="2286000"/>
            <a:ext cx="4846320" cy="1188720"/>
          </a:xfrm>
          <a:prstGeom prst="rect">
            <a:avLst/>
          </a:prstGeom>
          <a:noFill/>
          <a:ln/>
        </p:spPr>
        <p:txBody>
          <a:bodyPr wrap="square" lIns="0" tIns="0" rIns="0" bIns="0" rtlCol="0" anchor="ctr"/>
          <a:lstStyle/>
          <a:p>
            <a:pPr indent="0" marL="0">
              <a:buNone/>
            </a:pPr>
            <a:r>
              <a:rPr lang="en-US" sz="1350" dirty="0">
                <a:solidFill>
                  <a:srgbClr val="0F2E3D"/>
                </a:solidFill>
                <a:latin typeface="Calibri" pitchFamily="34" charset="0"/>
                <a:ea typeface="Calibri" pitchFamily="34" charset="-122"/>
                <a:cs typeface="Calibri" pitchFamily="34" charset="-120"/>
              </a:rPr>
              <a:t>Each action is a function: filter(), select(), mutate(). They take a table and return a new table.</a:t>
            </a:r>
            <a:endParaRPr lang="en-US" sz="1350" dirty="0"/>
          </a:p>
        </p:txBody>
      </p:sp>
      <p:sp>
        <p:nvSpPr>
          <p:cNvPr id="7" name="Shape 5"/>
          <p:cNvSpPr/>
          <p:nvPr/>
        </p:nvSpPr>
        <p:spPr>
          <a:xfrm>
            <a:off x="6217920" y="1645920"/>
            <a:ext cx="5394960" cy="1965960"/>
          </a:xfrm>
          <a:prstGeom prst="roundRect">
            <a:avLst>
              <a:gd name="adj" fmla="val 4186"/>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8" name="Text 6"/>
          <p:cNvSpPr/>
          <p:nvPr/>
        </p:nvSpPr>
        <p:spPr>
          <a:xfrm>
            <a:off x="6492240" y="1828800"/>
            <a:ext cx="4754880" cy="365760"/>
          </a:xfrm>
          <a:prstGeom prst="rect">
            <a:avLst/>
          </a:prstGeom>
          <a:noFill/>
          <a:ln/>
        </p:spPr>
        <p:txBody>
          <a:bodyPr wrap="square" lIns="0" tIns="0" rIns="0" bIns="0" rtlCol="0" anchor="ctr"/>
          <a:lstStyle/>
          <a:p>
            <a:pPr indent="0" marL="0">
              <a:buNone/>
            </a:pPr>
            <a:r>
              <a:rPr lang="en-US" sz="2000" b="1" dirty="0">
                <a:solidFill>
                  <a:srgbClr val="1FA8A0"/>
                </a:solidFill>
                <a:latin typeface="Cambria" pitchFamily="34" charset="0"/>
                <a:ea typeface="Cambria" pitchFamily="34" charset="-122"/>
                <a:cs typeface="Cambria" pitchFamily="34" charset="-120"/>
              </a:rPr>
              <a:t>The pipe  |&gt;</a:t>
            </a:r>
            <a:endParaRPr lang="en-US" sz="2000" dirty="0"/>
          </a:p>
        </p:txBody>
      </p:sp>
      <p:sp>
        <p:nvSpPr>
          <p:cNvPr id="9" name="Text 7"/>
          <p:cNvSpPr/>
          <p:nvPr/>
        </p:nvSpPr>
        <p:spPr>
          <a:xfrm>
            <a:off x="6492240" y="2286000"/>
            <a:ext cx="4846320" cy="1188720"/>
          </a:xfrm>
          <a:prstGeom prst="rect">
            <a:avLst/>
          </a:prstGeom>
          <a:noFill/>
          <a:ln/>
        </p:spPr>
        <p:txBody>
          <a:bodyPr wrap="square" lIns="0" tIns="0" rIns="0" bIns="0" rtlCol="0" anchor="ctr"/>
          <a:lstStyle/>
          <a:p>
            <a:pPr indent="0" marL="0">
              <a:buNone/>
            </a:pPr>
            <a:r>
              <a:rPr lang="en-US" sz="1350" dirty="0">
                <a:solidFill>
                  <a:srgbClr val="0F2E3D"/>
                </a:solidFill>
                <a:latin typeface="Calibri" pitchFamily="34" charset="0"/>
                <a:ea typeface="Calibri" pitchFamily="34" charset="-122"/>
                <a:cs typeface="Calibri" pitchFamily="34" charset="-120"/>
              </a:rPr>
              <a:t>Sends the result on the left into the function on the right. Read it as the word “then”.</a:t>
            </a:r>
            <a:endParaRPr lang="en-US" sz="1350" dirty="0"/>
          </a:p>
        </p:txBody>
      </p:sp>
      <p:sp>
        <p:nvSpPr>
          <p:cNvPr id="10" name="Shape 8"/>
          <p:cNvSpPr/>
          <p:nvPr/>
        </p:nvSpPr>
        <p:spPr>
          <a:xfrm>
            <a:off x="640080" y="3794760"/>
            <a:ext cx="10972800" cy="2148840"/>
          </a:xfrm>
          <a:prstGeom prst="roundRect">
            <a:avLst>
              <a:gd name="adj" fmla="val 3404"/>
            </a:avLst>
          </a:prstGeom>
          <a:solidFill>
            <a:srgbClr val="13323F"/>
          </a:solidFill>
          <a:ln w="19050">
            <a:solidFill>
              <a:srgbClr val="E8833A"/>
            </a:solidFill>
            <a:prstDash val="solid"/>
          </a:ln>
        </p:spPr>
      </p:sp>
      <p:sp>
        <p:nvSpPr>
          <p:cNvPr id="11" name="Text 9"/>
          <p:cNvSpPr/>
          <p:nvPr/>
        </p:nvSpPr>
        <p:spPr>
          <a:xfrm>
            <a:off x="914400" y="3977640"/>
            <a:ext cx="10515600" cy="1828800"/>
          </a:xfrm>
          <a:prstGeom prst="rect">
            <a:avLst/>
          </a:prstGeom>
          <a:noFill/>
          <a:ln/>
        </p:spPr>
        <p:txBody>
          <a:bodyPr wrap="square" lIns="0" tIns="0" rIns="0" bIns="0" rtlCol="0" anchor="t"/>
          <a:lstStyle/>
          <a:p>
            <a:pPr indent="0" marL="0">
              <a:lnSpc>
                <a:spcPts val="2100"/>
              </a:lnSpc>
              <a:buNone/>
            </a:pPr>
            <a:r>
              <a:rPr lang="en-US" sz="1300" dirty="0">
                <a:solidFill>
                  <a:srgbClr val="6FC8B4"/>
                </a:solidFill>
                <a:latin typeface="Courier New" pitchFamily="34" charset="0"/>
                <a:ea typeface="Courier New" pitchFamily="34" charset="-122"/>
                <a:cs typeface="Courier New" pitchFamily="34" charset="-120"/>
              </a:rPr>
              <a:t>vs_clean &lt;- vs |&gt;                   </a:t>
            </a:r>
            <a:pPr indent="0" marL="0">
              <a:lnSpc>
                <a:spcPts val="2100"/>
              </a:lnSpc>
              <a:buNone/>
            </a:pPr>
            <a:r>
              <a:rPr lang="en-US" sz="1300" dirty="0">
                <a:solidFill>
                  <a:srgbClr val="7E9AA5"/>
                </a:solidFill>
                <a:latin typeface="Courier New" pitchFamily="34" charset="0"/>
                <a:ea typeface="Courier New" pitchFamily="34" charset="-122"/>
                <a:cs typeface="Courier New" pitchFamily="34" charset="-120"/>
              </a:rPr>
              <a:t># take vs, THEN
</a:t>
            </a:r>
            <a:pPr indent="0" marL="0">
              <a:lnSpc>
                <a:spcPts val="2100"/>
              </a:lnSpc>
              <a:buNone/>
            </a:pPr>
            <a:r>
              <a:rPr lang="en-US" sz="1300" dirty="0">
                <a:solidFill>
                  <a:srgbClr val="DCEBEF"/>
                </a:solidFill>
                <a:latin typeface="Courier New" pitchFamily="34" charset="0"/>
                <a:ea typeface="Courier New" pitchFamily="34" charset="-122"/>
                <a:cs typeface="Courier New" pitchFamily="34" charset="-120"/>
              </a:rPr>
              <a:t>  mutate(
</a:t>
            </a:r>
            <a:pPr indent="0" marL="0">
              <a:lnSpc>
                <a:spcPts val="2100"/>
              </a:lnSpc>
              <a:buNone/>
            </a:pPr>
            <a:r>
              <a:rPr lang="en-US" sz="1300" dirty="0">
                <a:solidFill>
                  <a:srgbClr val="DCEBEF"/>
                </a:solidFill>
                <a:latin typeface="Courier New" pitchFamily="34" charset="0"/>
                <a:ea typeface="Courier New" pitchFamily="34" charset="-122"/>
                <a:cs typeface="Courier New" pitchFamily="34" charset="-120"/>
              </a:rPr>
              <a:t>    flag = if_else(SYSBP &gt; 140, "HIGH", NA_character_)
</a:t>
            </a:r>
            <a:pPr indent="0" marL="0">
              <a:lnSpc>
                <a:spcPts val="2100"/>
              </a:lnSpc>
              <a:buNone/>
            </a:pPr>
            <a:r>
              <a:rPr lang="en-US" sz="1300" dirty="0">
                <a:solidFill>
                  <a:srgbClr val="DCEBEF"/>
                </a:solidFill>
                <a:latin typeface="Courier New" pitchFamily="34" charset="0"/>
                <a:ea typeface="Courier New" pitchFamily="34" charset="-122"/>
                <a:cs typeface="Courier New" pitchFamily="34" charset="-120"/>
              </a:rPr>
              <a:t>  )
</a:t>
            </a:r>
            <a:pPr indent="0" marL="0">
              <a:lnSpc>
                <a:spcPts val="2100"/>
              </a:lnSpc>
              <a:buNone/>
            </a:pPr>
            <a:r>
              <a:rPr lang="en-US" sz="1300" dirty="0">
                <a:solidFill>
                  <a:srgbClr val="6FC8B4"/>
                </a:solidFill>
                <a:latin typeface="Courier New" pitchFamily="34" charset="0"/>
                <a:ea typeface="Courier New" pitchFamily="34" charset="-122"/>
                <a:cs typeface="Courier New" pitchFamily="34" charset="-120"/>
              </a:rPr>
              <a:t>vs_clean |&gt; count(flag)             </a:t>
            </a:r>
            <a:pPr indent="0" marL="0">
              <a:lnSpc>
                <a:spcPts val="2100"/>
              </a:lnSpc>
              <a:buNone/>
            </a:pPr>
            <a:r>
              <a:rPr lang="en-US" sz="1300" dirty="0">
                <a:solidFill>
                  <a:srgbClr val="7E9AA5"/>
                </a:solidFill>
                <a:latin typeface="Courier New" pitchFamily="34" charset="0"/>
                <a:ea typeface="Courier New" pitchFamily="34" charset="-122"/>
                <a:cs typeface="Courier New" pitchFamily="34" charset="-120"/>
              </a:rPr>
              <a:t># then count it
</a:t>
            </a:r>
            <a:endParaRPr lang="en-US" sz="1300" dirty="0"/>
          </a:p>
        </p:txBody>
      </p:sp>
      <p:sp>
        <p:nvSpPr>
          <p:cNvPr id="12" name="Text 10"/>
          <p:cNvSpPr/>
          <p:nvPr/>
        </p:nvSpPr>
        <p:spPr>
          <a:xfrm>
            <a:off x="640080" y="6080760"/>
            <a:ext cx="10972800" cy="365760"/>
          </a:xfrm>
          <a:prstGeom prst="rect">
            <a:avLst/>
          </a:prstGeom>
          <a:noFill/>
          <a:ln/>
        </p:spPr>
        <p:txBody>
          <a:bodyPr wrap="square" lIns="0" tIns="0" rIns="0" bIns="0" rtlCol="0" anchor="ctr"/>
          <a:lstStyle/>
          <a:p>
            <a:pPr indent="0" marL="0">
              <a:buNone/>
            </a:pPr>
            <a:r>
              <a:rPr lang="en-US" sz="1300" i="1" dirty="0">
                <a:solidFill>
                  <a:srgbClr val="E8833A"/>
                </a:solidFill>
                <a:latin typeface="Calibri" pitchFamily="34" charset="0"/>
                <a:ea typeface="Calibri" pitchFamily="34" charset="-122"/>
                <a:cs typeface="Calibri" pitchFamily="34" charset="-120"/>
              </a:rPr>
              <a:t>&lt;- assigns a result to a name.  # starts a comment.  No semicolons needed.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SIDE BY SIDE · 1</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Read a CSV file</a:t>
            </a:r>
            <a:endParaRPr lang="en-US" sz="3000" dirty="0"/>
          </a:p>
        </p:txBody>
      </p:sp>
      <p:sp>
        <p:nvSpPr>
          <p:cNvPr id="4" name="Shape 2"/>
          <p:cNvSpPr/>
          <p:nvPr/>
        </p:nvSpPr>
        <p:spPr>
          <a:xfrm>
            <a:off x="640080" y="1600200"/>
            <a:ext cx="5394960" cy="1990344"/>
          </a:xfrm>
          <a:prstGeom prst="roundRect">
            <a:avLst>
              <a:gd name="adj" fmla="val 3675"/>
            </a:avLst>
          </a:prstGeom>
          <a:solidFill>
            <a:srgbClr val="13323F"/>
          </a:solidFill>
          <a:ln w="19050">
            <a:solidFill>
              <a:srgbClr val="0E7C86"/>
            </a:solidFill>
            <a:prstDash val="solid"/>
          </a:ln>
        </p:spPr>
      </p:sp>
      <p:sp>
        <p:nvSpPr>
          <p:cNvPr id="5" name="Text 3"/>
          <p:cNvSpPr/>
          <p:nvPr/>
        </p:nvSpPr>
        <p:spPr>
          <a:xfrm>
            <a:off x="868680" y="1691640"/>
            <a:ext cx="1097280" cy="320040"/>
          </a:xfrm>
          <a:prstGeom prst="rect">
            <a:avLst/>
          </a:prstGeom>
          <a:noFill/>
          <a:ln/>
        </p:spPr>
        <p:txBody>
          <a:bodyPr wrap="square" lIns="0" tIns="0" rIns="0" bIns="0" rtlCol="0" anchor="ctr"/>
          <a:lstStyle/>
          <a:p>
            <a:pPr indent="0" marL="0">
              <a:buNone/>
            </a:pPr>
            <a:r>
              <a:rPr lang="en-US" sz="1600" b="1" dirty="0">
                <a:solidFill>
                  <a:srgbClr val="0E7C86"/>
                </a:solidFill>
                <a:latin typeface="Cambria" pitchFamily="34" charset="0"/>
                <a:ea typeface="Cambria" pitchFamily="34" charset="-122"/>
                <a:cs typeface="Cambria" pitchFamily="34" charset="-120"/>
              </a:rPr>
              <a:t>SAS</a:t>
            </a:r>
            <a:endParaRPr lang="en-US" sz="1600" dirty="0"/>
          </a:p>
        </p:txBody>
      </p:sp>
      <p:sp>
        <p:nvSpPr>
          <p:cNvPr id="6" name="Text 4"/>
          <p:cNvSpPr/>
          <p:nvPr/>
        </p:nvSpPr>
        <p:spPr>
          <a:xfrm>
            <a:off x="868680" y="2057400"/>
            <a:ext cx="4983480" cy="14234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proc import</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datafile = "dm_raw.csv"</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out  = work.dm</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dbms = csv replace;</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getnames = yes;</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run;</a:t>
            </a:r>
            <a:endParaRPr lang="en-US" sz="1200" dirty="0"/>
          </a:p>
        </p:txBody>
      </p:sp>
      <p:sp>
        <p:nvSpPr>
          <p:cNvPr id="7" name="Shape 5"/>
          <p:cNvSpPr/>
          <p:nvPr/>
        </p:nvSpPr>
        <p:spPr>
          <a:xfrm>
            <a:off x="6217920" y="1600200"/>
            <a:ext cx="5394960" cy="1990344"/>
          </a:xfrm>
          <a:prstGeom prst="roundRect">
            <a:avLst>
              <a:gd name="adj" fmla="val 3675"/>
            </a:avLst>
          </a:prstGeom>
          <a:solidFill>
            <a:srgbClr val="13323F"/>
          </a:solidFill>
          <a:ln w="19050">
            <a:solidFill>
              <a:srgbClr val="E8833A"/>
            </a:solidFill>
            <a:prstDash val="solid"/>
          </a:ln>
        </p:spPr>
      </p:sp>
      <p:sp>
        <p:nvSpPr>
          <p:cNvPr id="8" name="Text 6"/>
          <p:cNvSpPr/>
          <p:nvPr/>
        </p:nvSpPr>
        <p:spPr>
          <a:xfrm>
            <a:off x="6446520" y="1691640"/>
            <a:ext cx="1097280" cy="320040"/>
          </a:xfrm>
          <a:prstGeom prst="rect">
            <a:avLst/>
          </a:prstGeom>
          <a:noFill/>
          <a:ln/>
        </p:spPr>
        <p:txBody>
          <a:bodyPr wrap="square" lIns="0" tIns="0" rIns="0" bIns="0" rtlCol="0" anchor="ctr"/>
          <a:lstStyle/>
          <a:p>
            <a:pPr indent="0" marL="0">
              <a:buNone/>
            </a:pPr>
            <a:r>
              <a:rPr lang="en-US" sz="1600" b="1" dirty="0">
                <a:solidFill>
                  <a:srgbClr val="E8833A"/>
                </a:solidFill>
                <a:latin typeface="Cambria" pitchFamily="34" charset="0"/>
                <a:ea typeface="Cambria" pitchFamily="34" charset="-122"/>
                <a:cs typeface="Cambria" pitchFamily="34" charset="-120"/>
              </a:rPr>
              <a:t>R</a:t>
            </a:r>
            <a:endParaRPr lang="en-US" sz="1600" dirty="0"/>
          </a:p>
        </p:txBody>
      </p:sp>
      <p:sp>
        <p:nvSpPr>
          <p:cNvPr id="9" name="Text 7"/>
          <p:cNvSpPr/>
          <p:nvPr/>
        </p:nvSpPr>
        <p:spPr>
          <a:xfrm>
            <a:off x="6446520" y="2057400"/>
            <a:ext cx="4983480" cy="14234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dm &lt;- read_csv(</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"dm_raw.csv",</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col_types = cols(</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SITEID = col_character()</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a:t>
            </a:r>
            <a:endParaRPr lang="en-US" sz="1200" dirty="0"/>
          </a:p>
        </p:txBody>
      </p:sp>
      <p:sp>
        <p:nvSpPr>
          <p:cNvPr id="10" name="Text 8"/>
          <p:cNvSpPr/>
          <p:nvPr/>
        </p:nvSpPr>
        <p:spPr>
          <a:xfrm>
            <a:off x="640080" y="3700272"/>
            <a:ext cx="10972800" cy="384048"/>
          </a:xfrm>
          <a:prstGeom prst="rect">
            <a:avLst/>
          </a:prstGeom>
          <a:noFill/>
          <a:ln/>
        </p:spPr>
        <p:txBody>
          <a:bodyPr wrap="square" lIns="0" tIns="0" rIns="0" bIns="0" rtlCol="0" anchor="ctr"/>
          <a:lstStyle/>
          <a:p>
            <a:pPr indent="0" marL="0">
              <a:buNone/>
            </a:pPr>
            <a:r>
              <a:rPr lang="en-US" sz="1300" i="1" dirty="0">
                <a:solidFill>
                  <a:srgbClr val="0E7C86"/>
                </a:solidFill>
                <a:latin typeface="Calibri" pitchFamily="34" charset="0"/>
                <a:ea typeface="Calibri" pitchFamily="34" charset="-122"/>
                <a:cs typeface="Calibri" pitchFamily="34" charset="-120"/>
              </a:rPr>
              <a:t>Both read the same file. R lets you declare column types inline; in SAS you often fix types afterwards.</a:t>
            </a:r>
            <a:endParaRPr lang="en-US" sz="1300" dirty="0"/>
          </a:p>
        </p:txBody>
      </p:sp>
      <p:sp>
        <p:nvSpPr>
          <p:cNvPr id="11" name="Shape 9"/>
          <p:cNvSpPr/>
          <p:nvPr/>
        </p:nvSpPr>
        <p:spPr>
          <a:xfrm>
            <a:off x="640080" y="4404360"/>
            <a:ext cx="10972800" cy="1371600"/>
          </a:xfrm>
          <a:prstGeom prst="roundRect">
            <a:avLst>
              <a:gd name="adj" fmla="val 600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2" name="Text 10"/>
          <p:cNvSpPr/>
          <p:nvPr/>
        </p:nvSpPr>
        <p:spPr>
          <a:xfrm>
            <a:off x="914400" y="4541520"/>
            <a:ext cx="10424160" cy="1097280"/>
          </a:xfrm>
          <a:prstGeom prst="rect">
            <a:avLst/>
          </a:prstGeom>
          <a:noFill/>
          <a:ln/>
        </p:spPr>
        <p:txBody>
          <a:bodyPr wrap="square" lIns="0" tIns="0" rIns="0" bIns="0" rtlCol="0" anchor="ctr"/>
          <a:lstStyle/>
          <a:p>
            <a:pPr indent="0" marL="0">
              <a:lnSpc>
                <a:spcPts val="2100"/>
              </a:lnSpc>
              <a:buNone/>
            </a:pPr>
            <a:r>
              <a:rPr lang="en-US" sz="1400" b="1" dirty="0">
                <a:solidFill>
                  <a:srgbClr val="E8833A"/>
                </a:solidFill>
                <a:latin typeface="Calibri" pitchFamily="34" charset="0"/>
                <a:ea typeface="Calibri" pitchFamily="34" charset="-122"/>
                <a:cs typeface="Calibri" pitchFamily="34" charset="-120"/>
              </a:rPr>
              <a:t>Watch out:  </a:t>
            </a:r>
            <a:pPr indent="0" marL="0">
              <a:lnSpc>
                <a:spcPts val="2100"/>
              </a:lnSpc>
              <a:buNone/>
            </a:pPr>
            <a:r>
              <a:rPr lang="en-US" sz="1350" dirty="0">
                <a:solidFill>
                  <a:srgbClr val="0F2E3D"/>
                </a:solidFill>
                <a:latin typeface="Calibri" pitchFamily="34" charset="0"/>
                <a:ea typeface="Calibri" pitchFamily="34" charset="-122"/>
                <a:cs typeface="Calibri" pitchFamily="34" charset="-120"/>
              </a:rPr>
              <a:t>an ID like </a:t>
            </a:r>
            <a:pPr indent="0" marL="0">
              <a:lnSpc>
                <a:spcPts val="2100"/>
              </a:lnSpc>
              <a:buNone/>
            </a:pPr>
            <a:r>
              <a:rPr lang="en-US" sz="1350" dirty="0">
                <a:solidFill>
                  <a:srgbClr val="0F2E3D"/>
                </a:solidFill>
                <a:latin typeface="Courier New" pitchFamily="34" charset="0"/>
                <a:ea typeface="Courier New" pitchFamily="34" charset="-122"/>
                <a:cs typeface="Courier New" pitchFamily="34" charset="-120"/>
              </a:rPr>
              <a:t>001</a:t>
            </a:r>
            <a:pPr indent="0" marL="0">
              <a:lnSpc>
                <a:spcPts val="2100"/>
              </a:lnSpc>
              <a:buNone/>
            </a:pPr>
            <a:r>
              <a:rPr lang="en-US" sz="1350" dirty="0">
                <a:solidFill>
                  <a:srgbClr val="0F2E3D"/>
                </a:solidFill>
                <a:latin typeface="Calibri" pitchFamily="34" charset="0"/>
                <a:ea typeface="Calibri" pitchFamily="34" charset="-122"/>
                <a:cs typeface="Calibri" pitchFamily="34" charset="-120"/>
              </a:rPr>
              <a:t> looks numeric. If either tool guesses “number”, you lose the leading zeros and get </a:t>
            </a:r>
            <a:pPr indent="0" marL="0">
              <a:lnSpc>
                <a:spcPts val="2100"/>
              </a:lnSpc>
              <a:buNone/>
            </a:pPr>
            <a:r>
              <a:rPr lang="en-US" sz="1350" dirty="0">
                <a:solidFill>
                  <a:srgbClr val="0F2E3D"/>
                </a:solidFill>
                <a:latin typeface="Courier New" pitchFamily="34" charset="0"/>
                <a:ea typeface="Courier New" pitchFamily="34" charset="-122"/>
                <a:cs typeface="Courier New" pitchFamily="34" charset="-120"/>
              </a:rPr>
              <a:t>1</a:t>
            </a:r>
            <a:pPr indent="0" marL="0">
              <a:lnSpc>
                <a:spcPts val="2100"/>
              </a:lnSpc>
              <a:buNone/>
            </a:pPr>
            <a:r>
              <a:rPr lang="en-US" sz="1350" dirty="0">
                <a:solidFill>
                  <a:srgbClr val="0F2E3D"/>
                </a:solidFill>
                <a:latin typeface="Calibri" pitchFamily="34" charset="0"/>
                <a:ea typeface="Calibri" pitchFamily="34" charset="-122"/>
                <a:cs typeface="Calibri" pitchFamily="34" charset="-120"/>
              </a:rPr>
              <a:t>. Always check your types after reading — PROC CONTENTS in SAS, glimpse() in R.</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SIDE BY SIDE · 2</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Look at what you have</a:t>
            </a:r>
            <a:endParaRPr lang="en-US" sz="3000" dirty="0"/>
          </a:p>
        </p:txBody>
      </p:sp>
      <p:sp>
        <p:nvSpPr>
          <p:cNvPr id="4" name="Shape 2"/>
          <p:cNvSpPr/>
          <p:nvPr/>
        </p:nvSpPr>
        <p:spPr>
          <a:xfrm>
            <a:off x="640080" y="1600200"/>
            <a:ext cx="5394960" cy="2206244"/>
          </a:xfrm>
          <a:prstGeom prst="roundRect">
            <a:avLst>
              <a:gd name="adj" fmla="val 3316"/>
            </a:avLst>
          </a:prstGeom>
          <a:solidFill>
            <a:srgbClr val="13323F"/>
          </a:solidFill>
          <a:ln w="19050">
            <a:solidFill>
              <a:srgbClr val="0E7C86"/>
            </a:solidFill>
            <a:prstDash val="solid"/>
          </a:ln>
        </p:spPr>
      </p:sp>
      <p:sp>
        <p:nvSpPr>
          <p:cNvPr id="5" name="Text 3"/>
          <p:cNvSpPr/>
          <p:nvPr/>
        </p:nvSpPr>
        <p:spPr>
          <a:xfrm>
            <a:off x="868680" y="1691640"/>
            <a:ext cx="1097280" cy="320040"/>
          </a:xfrm>
          <a:prstGeom prst="rect">
            <a:avLst/>
          </a:prstGeom>
          <a:noFill/>
          <a:ln/>
        </p:spPr>
        <p:txBody>
          <a:bodyPr wrap="square" lIns="0" tIns="0" rIns="0" bIns="0" rtlCol="0" anchor="ctr"/>
          <a:lstStyle/>
          <a:p>
            <a:pPr indent="0" marL="0">
              <a:buNone/>
            </a:pPr>
            <a:r>
              <a:rPr lang="en-US" sz="1600" b="1" dirty="0">
                <a:solidFill>
                  <a:srgbClr val="0E7C86"/>
                </a:solidFill>
                <a:latin typeface="Cambria" pitchFamily="34" charset="0"/>
                <a:ea typeface="Cambria" pitchFamily="34" charset="-122"/>
                <a:cs typeface="Cambria" pitchFamily="34" charset="-120"/>
              </a:rPr>
              <a:t>SAS</a:t>
            </a:r>
            <a:endParaRPr lang="en-US" sz="1600" dirty="0"/>
          </a:p>
        </p:txBody>
      </p:sp>
      <p:sp>
        <p:nvSpPr>
          <p:cNvPr id="6" name="Text 4"/>
          <p:cNvSpPr/>
          <p:nvPr/>
        </p:nvSpPr>
        <p:spPr>
          <a:xfrm>
            <a:off x="868680" y="2057400"/>
            <a:ext cx="4983480" cy="16393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structure: types &amp; lengths */</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proc contents data = work.dm;</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run;</a:t>
            </a:r>
            <a:endParaRPr lang="en-US" sz="1200" dirty="0"/>
          </a:p>
          <a:p>
            <a:pPr indent="0" marL="0">
              <a:lnSpc>
                <a:spcPts val="1700"/>
              </a:lnSpc>
              <a:buNone/>
            </a:pP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the rows */</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proc print data = work.dm (obs=5);</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run;</a:t>
            </a:r>
            <a:endParaRPr lang="en-US" sz="1200" dirty="0"/>
          </a:p>
        </p:txBody>
      </p:sp>
      <p:sp>
        <p:nvSpPr>
          <p:cNvPr id="7" name="Shape 5"/>
          <p:cNvSpPr/>
          <p:nvPr/>
        </p:nvSpPr>
        <p:spPr>
          <a:xfrm>
            <a:off x="6217920" y="1600200"/>
            <a:ext cx="5394960" cy="2206244"/>
          </a:xfrm>
          <a:prstGeom prst="roundRect">
            <a:avLst>
              <a:gd name="adj" fmla="val 3316"/>
            </a:avLst>
          </a:prstGeom>
          <a:solidFill>
            <a:srgbClr val="13323F"/>
          </a:solidFill>
          <a:ln w="19050">
            <a:solidFill>
              <a:srgbClr val="E8833A"/>
            </a:solidFill>
            <a:prstDash val="solid"/>
          </a:ln>
        </p:spPr>
      </p:sp>
      <p:sp>
        <p:nvSpPr>
          <p:cNvPr id="8" name="Text 6"/>
          <p:cNvSpPr/>
          <p:nvPr/>
        </p:nvSpPr>
        <p:spPr>
          <a:xfrm>
            <a:off x="6446520" y="1691640"/>
            <a:ext cx="1097280" cy="320040"/>
          </a:xfrm>
          <a:prstGeom prst="rect">
            <a:avLst/>
          </a:prstGeom>
          <a:noFill/>
          <a:ln/>
        </p:spPr>
        <p:txBody>
          <a:bodyPr wrap="square" lIns="0" tIns="0" rIns="0" bIns="0" rtlCol="0" anchor="ctr"/>
          <a:lstStyle/>
          <a:p>
            <a:pPr indent="0" marL="0">
              <a:buNone/>
            </a:pPr>
            <a:r>
              <a:rPr lang="en-US" sz="1600" b="1" dirty="0">
                <a:solidFill>
                  <a:srgbClr val="E8833A"/>
                </a:solidFill>
                <a:latin typeface="Cambria" pitchFamily="34" charset="0"/>
                <a:ea typeface="Cambria" pitchFamily="34" charset="-122"/>
                <a:cs typeface="Cambria" pitchFamily="34" charset="-120"/>
              </a:rPr>
              <a:t>R</a:t>
            </a:r>
            <a:endParaRPr lang="en-US" sz="1600" dirty="0"/>
          </a:p>
        </p:txBody>
      </p:sp>
      <p:sp>
        <p:nvSpPr>
          <p:cNvPr id="9" name="Text 7"/>
          <p:cNvSpPr/>
          <p:nvPr/>
        </p:nvSpPr>
        <p:spPr>
          <a:xfrm>
            <a:off x="6446520" y="2057400"/>
            <a:ext cx="4983480" cy="16393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structure: types &amp; sample values</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glimpse(dm)</a:t>
            </a:r>
            <a:endParaRPr lang="en-US" sz="1200" dirty="0"/>
          </a:p>
          <a:p>
            <a:pPr indent="0" marL="0">
              <a:lnSpc>
                <a:spcPts val="1700"/>
              </a:lnSpc>
              <a:buNone/>
            </a:pP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the rows</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head(dm, 5)</a:t>
            </a:r>
            <a:endParaRPr lang="en-US" sz="1200" dirty="0"/>
          </a:p>
        </p:txBody>
      </p:sp>
      <p:sp>
        <p:nvSpPr>
          <p:cNvPr id="10" name="Text 8"/>
          <p:cNvSpPr/>
          <p:nvPr/>
        </p:nvSpPr>
        <p:spPr>
          <a:xfrm>
            <a:off x="640080" y="3916172"/>
            <a:ext cx="10972800" cy="384048"/>
          </a:xfrm>
          <a:prstGeom prst="rect">
            <a:avLst/>
          </a:prstGeom>
          <a:noFill/>
          <a:ln/>
        </p:spPr>
        <p:txBody>
          <a:bodyPr wrap="square" lIns="0" tIns="0" rIns="0" bIns="0" rtlCol="0" anchor="ctr"/>
          <a:lstStyle/>
          <a:p>
            <a:pPr indent="0" marL="0">
              <a:buNone/>
            </a:pPr>
            <a:r>
              <a:rPr lang="en-US" sz="1300" i="1" dirty="0">
                <a:solidFill>
                  <a:srgbClr val="0E7C86"/>
                </a:solidFill>
                <a:latin typeface="Calibri" pitchFamily="34" charset="0"/>
                <a:ea typeface="Calibri" pitchFamily="34" charset="-122"/>
                <a:cs typeface="Calibri" pitchFamily="34" charset="-120"/>
              </a:rPr>
              <a:t>Always look before you map. Half of all mapping bugs are visible in the first five rows.</a:t>
            </a:r>
            <a:endParaRPr lang="en-US" sz="1300" dirty="0"/>
          </a:p>
        </p:txBody>
      </p:sp>
      <p:sp>
        <p:nvSpPr>
          <p:cNvPr id="11" name="Shape 9"/>
          <p:cNvSpPr/>
          <p:nvPr/>
        </p:nvSpPr>
        <p:spPr>
          <a:xfrm>
            <a:off x="640080" y="4620260"/>
            <a:ext cx="5394960" cy="822960"/>
          </a:xfrm>
          <a:prstGeom prst="roundRect">
            <a:avLst>
              <a:gd name="adj" fmla="val 1000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2" name="Shape 10"/>
          <p:cNvSpPr/>
          <p:nvPr/>
        </p:nvSpPr>
        <p:spPr>
          <a:xfrm>
            <a:off x="868680" y="4793996"/>
            <a:ext cx="475488" cy="475488"/>
          </a:xfrm>
          <a:prstGeom prst="ellipse">
            <a:avLst/>
          </a:prstGeom>
          <a:solidFill>
            <a:srgbClr val="0E7C86"/>
          </a:solidFill>
          <a:ln/>
        </p:spPr>
      </p:sp>
      <p:sp>
        <p:nvSpPr>
          <p:cNvPr id="13" name="Text 11"/>
          <p:cNvSpPr/>
          <p:nvPr/>
        </p:nvSpPr>
        <p:spPr>
          <a:xfrm>
            <a:off x="868680" y="479399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4" name="Text 12"/>
          <p:cNvSpPr/>
          <p:nvPr/>
        </p:nvSpPr>
        <p:spPr>
          <a:xfrm>
            <a:off x="1508760" y="4711700"/>
            <a:ext cx="4389120" cy="640080"/>
          </a:xfrm>
          <a:prstGeom prst="rect">
            <a:avLst/>
          </a:prstGeom>
          <a:noFill/>
          <a:ln/>
        </p:spPr>
        <p:txBody>
          <a:bodyPr wrap="square" lIns="0" tIns="0" rIns="0" bIns="0" rtlCol="0" anchor="ctr"/>
          <a:lstStyle/>
          <a:p>
            <a:pPr indent="0" marL="0">
              <a:buNone/>
            </a:pPr>
            <a:r>
              <a:rPr lang="en-US" sz="1350" dirty="0">
                <a:solidFill>
                  <a:srgbClr val="0F2E3D"/>
                </a:solidFill>
                <a:latin typeface="Calibri" pitchFamily="34" charset="0"/>
                <a:ea typeface="Calibri" pitchFamily="34" charset="-122"/>
                <a:cs typeface="Calibri" pitchFamily="34" charset="-120"/>
              </a:rPr>
              <a:t>How many rows and columns?</a:t>
            </a:r>
            <a:endParaRPr lang="en-US" sz="1350" dirty="0"/>
          </a:p>
        </p:txBody>
      </p:sp>
      <p:sp>
        <p:nvSpPr>
          <p:cNvPr id="15" name="Shape 13"/>
          <p:cNvSpPr/>
          <p:nvPr/>
        </p:nvSpPr>
        <p:spPr>
          <a:xfrm>
            <a:off x="6217920" y="4620260"/>
            <a:ext cx="5394960" cy="822960"/>
          </a:xfrm>
          <a:prstGeom prst="roundRect">
            <a:avLst>
              <a:gd name="adj" fmla="val 10000"/>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6" name="Shape 14"/>
          <p:cNvSpPr/>
          <p:nvPr/>
        </p:nvSpPr>
        <p:spPr>
          <a:xfrm>
            <a:off x="6446520" y="4793996"/>
            <a:ext cx="475488" cy="475488"/>
          </a:xfrm>
          <a:prstGeom prst="ellipse">
            <a:avLst/>
          </a:prstGeom>
          <a:solidFill>
            <a:srgbClr val="1FA8A0"/>
          </a:solidFill>
          <a:ln/>
        </p:spPr>
      </p:sp>
      <p:sp>
        <p:nvSpPr>
          <p:cNvPr id="17" name="Text 15"/>
          <p:cNvSpPr/>
          <p:nvPr/>
        </p:nvSpPr>
        <p:spPr>
          <a:xfrm>
            <a:off x="6446520" y="479399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7086600" y="4711700"/>
            <a:ext cx="4389120" cy="640080"/>
          </a:xfrm>
          <a:prstGeom prst="rect">
            <a:avLst/>
          </a:prstGeom>
          <a:noFill/>
          <a:ln/>
        </p:spPr>
        <p:txBody>
          <a:bodyPr wrap="square" lIns="0" tIns="0" rIns="0" bIns="0" rtlCol="0" anchor="ctr"/>
          <a:lstStyle/>
          <a:p>
            <a:pPr indent="0" marL="0">
              <a:buNone/>
            </a:pPr>
            <a:r>
              <a:rPr lang="en-US" sz="1350" dirty="0">
                <a:solidFill>
                  <a:srgbClr val="0F2E3D"/>
                </a:solidFill>
                <a:latin typeface="Calibri" pitchFamily="34" charset="0"/>
                <a:ea typeface="Calibri" pitchFamily="34" charset="-122"/>
                <a:cs typeface="Calibri" pitchFamily="34" charset="-120"/>
              </a:rPr>
              <a:t>Which columns are text vs numbers vs dates?</a:t>
            </a:r>
            <a:endParaRPr lang="en-US" sz="1350" dirty="0"/>
          </a:p>
        </p:txBody>
      </p:sp>
      <p:sp>
        <p:nvSpPr>
          <p:cNvPr id="19" name="Shape 17"/>
          <p:cNvSpPr/>
          <p:nvPr/>
        </p:nvSpPr>
        <p:spPr>
          <a:xfrm>
            <a:off x="640080" y="5580380"/>
            <a:ext cx="5394960" cy="822960"/>
          </a:xfrm>
          <a:prstGeom prst="roundRect">
            <a:avLst>
              <a:gd name="adj" fmla="val 1000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0" name="Shape 18"/>
          <p:cNvSpPr/>
          <p:nvPr/>
        </p:nvSpPr>
        <p:spPr>
          <a:xfrm>
            <a:off x="868680" y="5754116"/>
            <a:ext cx="475488" cy="475488"/>
          </a:xfrm>
          <a:prstGeom prst="ellipse">
            <a:avLst/>
          </a:prstGeom>
          <a:solidFill>
            <a:srgbClr val="E8833A"/>
          </a:solidFill>
          <a:ln/>
        </p:spPr>
      </p:sp>
      <p:sp>
        <p:nvSpPr>
          <p:cNvPr id="21" name="Text 19"/>
          <p:cNvSpPr/>
          <p:nvPr/>
        </p:nvSpPr>
        <p:spPr>
          <a:xfrm>
            <a:off x="868680" y="5754116"/>
            <a:ext cx="475488" cy="475488"/>
          </a:xfrm>
          <a:prstGeom prst="rect">
            <a:avLst/>
          </a:prstGeom>
          <a:noFill/>
          <a:ln/>
        </p:spPr>
        <p:txBody>
          <a:bodyPr wrap="square" lIns="0" tIns="0" rIns="0" bIns="0" rtlCol="0" anchor="ctr"/>
          <a:lstStyle/>
          <a:p>
            <a:pPr algn="ctr" indent="0" marL="0">
              <a:buNone/>
            </a:pPr>
            <a:r>
              <a:rPr lang="en-US" sz="1500" b="1" dirty="0">
                <a:solidFill>
                  <a:srgbClr val="0F2E3D"/>
                </a:solidFill>
                <a:latin typeface="Calibri" pitchFamily="34" charset="0"/>
                <a:ea typeface="Calibri" pitchFamily="34" charset="-122"/>
                <a:cs typeface="Calibri" pitchFamily="34" charset="-120"/>
              </a:rPr>
              <a:t>?</a:t>
            </a:r>
            <a:endParaRPr lang="en-US" sz="1500" dirty="0"/>
          </a:p>
        </p:txBody>
      </p:sp>
      <p:sp>
        <p:nvSpPr>
          <p:cNvPr id="22" name="Text 20"/>
          <p:cNvSpPr/>
          <p:nvPr/>
        </p:nvSpPr>
        <p:spPr>
          <a:xfrm>
            <a:off x="1508760" y="5671820"/>
            <a:ext cx="4389120" cy="640080"/>
          </a:xfrm>
          <a:prstGeom prst="rect">
            <a:avLst/>
          </a:prstGeom>
          <a:noFill/>
          <a:ln/>
        </p:spPr>
        <p:txBody>
          <a:bodyPr wrap="square" lIns="0" tIns="0" rIns="0" bIns="0" rtlCol="0" anchor="ctr"/>
          <a:lstStyle/>
          <a:p>
            <a:pPr indent="0" marL="0">
              <a:buNone/>
            </a:pPr>
            <a:r>
              <a:rPr lang="en-US" sz="1350" dirty="0">
                <a:solidFill>
                  <a:srgbClr val="0F2E3D"/>
                </a:solidFill>
                <a:latin typeface="Calibri" pitchFamily="34" charset="0"/>
                <a:ea typeface="Calibri" pitchFamily="34" charset="-122"/>
                <a:cs typeface="Calibri" pitchFamily="34" charset="-120"/>
              </a:rPr>
              <a:t>Are there missing values?</a:t>
            </a:r>
            <a:endParaRPr lang="en-US" sz="1350" dirty="0"/>
          </a:p>
        </p:txBody>
      </p:sp>
      <p:sp>
        <p:nvSpPr>
          <p:cNvPr id="23" name="Shape 21"/>
          <p:cNvSpPr/>
          <p:nvPr/>
        </p:nvSpPr>
        <p:spPr>
          <a:xfrm>
            <a:off x="6217920" y="5580380"/>
            <a:ext cx="5394960" cy="822960"/>
          </a:xfrm>
          <a:prstGeom prst="roundRect">
            <a:avLst>
              <a:gd name="adj" fmla="val 10000"/>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4" name="Shape 22"/>
          <p:cNvSpPr/>
          <p:nvPr/>
        </p:nvSpPr>
        <p:spPr>
          <a:xfrm>
            <a:off x="6446520" y="5754116"/>
            <a:ext cx="475488" cy="475488"/>
          </a:xfrm>
          <a:prstGeom prst="ellipse">
            <a:avLst/>
          </a:prstGeom>
          <a:solidFill>
            <a:srgbClr val="0F2E3D"/>
          </a:solidFill>
          <a:ln/>
        </p:spPr>
      </p:sp>
      <p:sp>
        <p:nvSpPr>
          <p:cNvPr id="25" name="Text 23"/>
          <p:cNvSpPr/>
          <p:nvPr/>
        </p:nvSpPr>
        <p:spPr>
          <a:xfrm>
            <a:off x="6446520" y="575411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6" name="Text 24"/>
          <p:cNvSpPr/>
          <p:nvPr/>
        </p:nvSpPr>
        <p:spPr>
          <a:xfrm>
            <a:off x="7086600" y="5671820"/>
            <a:ext cx="4389120" cy="640080"/>
          </a:xfrm>
          <a:prstGeom prst="rect">
            <a:avLst/>
          </a:prstGeom>
          <a:noFill/>
          <a:ln/>
        </p:spPr>
        <p:txBody>
          <a:bodyPr wrap="square" lIns="0" tIns="0" rIns="0" bIns="0" rtlCol="0" anchor="ctr"/>
          <a:lstStyle/>
          <a:p>
            <a:pPr indent="0" marL="0">
              <a:buNone/>
            </a:pPr>
            <a:r>
              <a:rPr lang="en-US" sz="1350" dirty="0">
                <a:solidFill>
                  <a:srgbClr val="0F2E3D"/>
                </a:solidFill>
                <a:latin typeface="Calibri" pitchFamily="34" charset="0"/>
                <a:ea typeface="Calibri" pitchFamily="34" charset="-122"/>
                <a:cs typeface="Calibri" pitchFamily="34" charset="-120"/>
              </a:rPr>
              <a:t>Do the values look like what the CRF asked for?</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SIDE BY SIDE · 3</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Keep the rows and columns you want</a:t>
            </a:r>
            <a:endParaRPr lang="en-US" sz="3000" dirty="0"/>
          </a:p>
        </p:txBody>
      </p:sp>
      <p:sp>
        <p:nvSpPr>
          <p:cNvPr id="4" name="Shape 2"/>
          <p:cNvSpPr/>
          <p:nvPr/>
        </p:nvSpPr>
        <p:spPr>
          <a:xfrm>
            <a:off x="640080" y="1554480"/>
            <a:ext cx="5394960" cy="1774444"/>
          </a:xfrm>
          <a:prstGeom prst="roundRect">
            <a:avLst>
              <a:gd name="adj" fmla="val 4123"/>
            </a:avLst>
          </a:prstGeom>
          <a:solidFill>
            <a:srgbClr val="13323F"/>
          </a:solidFill>
          <a:ln w="19050">
            <a:solidFill>
              <a:srgbClr val="0E7C86"/>
            </a:solidFill>
            <a:prstDash val="solid"/>
          </a:ln>
        </p:spPr>
      </p:sp>
      <p:sp>
        <p:nvSpPr>
          <p:cNvPr id="5" name="Text 3"/>
          <p:cNvSpPr/>
          <p:nvPr/>
        </p:nvSpPr>
        <p:spPr>
          <a:xfrm>
            <a:off x="868680" y="1645920"/>
            <a:ext cx="1097280" cy="320040"/>
          </a:xfrm>
          <a:prstGeom prst="rect">
            <a:avLst/>
          </a:prstGeom>
          <a:noFill/>
          <a:ln/>
        </p:spPr>
        <p:txBody>
          <a:bodyPr wrap="square" lIns="0" tIns="0" rIns="0" bIns="0" rtlCol="0" anchor="ctr"/>
          <a:lstStyle/>
          <a:p>
            <a:pPr indent="0" marL="0">
              <a:buNone/>
            </a:pPr>
            <a:r>
              <a:rPr lang="en-US" sz="1600" b="1" dirty="0">
                <a:solidFill>
                  <a:srgbClr val="0E7C86"/>
                </a:solidFill>
                <a:latin typeface="Cambria" pitchFamily="34" charset="0"/>
                <a:ea typeface="Cambria" pitchFamily="34" charset="-122"/>
                <a:cs typeface="Cambria" pitchFamily="34" charset="-120"/>
              </a:rPr>
              <a:t>SAS</a:t>
            </a:r>
            <a:endParaRPr lang="en-US" sz="1600" dirty="0"/>
          </a:p>
        </p:txBody>
      </p:sp>
      <p:sp>
        <p:nvSpPr>
          <p:cNvPr id="6" name="Text 4"/>
          <p:cNvSpPr/>
          <p:nvPr/>
        </p:nvSpPr>
        <p:spPr>
          <a:xfrm>
            <a:off x="868680" y="2011680"/>
            <a:ext cx="4983480" cy="12075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rows */</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data drugA;</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set dm;</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where arm = "Drug A";</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run;</a:t>
            </a:r>
            <a:endParaRPr lang="en-US" sz="1200" dirty="0"/>
          </a:p>
        </p:txBody>
      </p:sp>
      <p:sp>
        <p:nvSpPr>
          <p:cNvPr id="7" name="Shape 5"/>
          <p:cNvSpPr/>
          <p:nvPr/>
        </p:nvSpPr>
        <p:spPr>
          <a:xfrm>
            <a:off x="6217920" y="1554480"/>
            <a:ext cx="5394960" cy="1774444"/>
          </a:xfrm>
          <a:prstGeom prst="roundRect">
            <a:avLst>
              <a:gd name="adj" fmla="val 4123"/>
            </a:avLst>
          </a:prstGeom>
          <a:solidFill>
            <a:srgbClr val="13323F"/>
          </a:solidFill>
          <a:ln w="19050">
            <a:solidFill>
              <a:srgbClr val="E8833A"/>
            </a:solidFill>
            <a:prstDash val="solid"/>
          </a:ln>
        </p:spPr>
      </p:sp>
      <p:sp>
        <p:nvSpPr>
          <p:cNvPr id="8" name="Text 6"/>
          <p:cNvSpPr/>
          <p:nvPr/>
        </p:nvSpPr>
        <p:spPr>
          <a:xfrm>
            <a:off x="6446520" y="1645920"/>
            <a:ext cx="1097280" cy="320040"/>
          </a:xfrm>
          <a:prstGeom prst="rect">
            <a:avLst/>
          </a:prstGeom>
          <a:noFill/>
          <a:ln/>
        </p:spPr>
        <p:txBody>
          <a:bodyPr wrap="square" lIns="0" tIns="0" rIns="0" bIns="0" rtlCol="0" anchor="ctr"/>
          <a:lstStyle/>
          <a:p>
            <a:pPr indent="0" marL="0">
              <a:buNone/>
            </a:pPr>
            <a:r>
              <a:rPr lang="en-US" sz="1600" b="1" dirty="0">
                <a:solidFill>
                  <a:srgbClr val="E8833A"/>
                </a:solidFill>
                <a:latin typeface="Cambria" pitchFamily="34" charset="0"/>
                <a:ea typeface="Cambria" pitchFamily="34" charset="-122"/>
                <a:cs typeface="Cambria" pitchFamily="34" charset="-120"/>
              </a:rPr>
              <a:t>R</a:t>
            </a:r>
            <a:endParaRPr lang="en-US" sz="1600" dirty="0"/>
          </a:p>
        </p:txBody>
      </p:sp>
      <p:sp>
        <p:nvSpPr>
          <p:cNvPr id="9" name="Text 7"/>
          <p:cNvSpPr/>
          <p:nvPr/>
        </p:nvSpPr>
        <p:spPr>
          <a:xfrm>
            <a:off x="6446520" y="2011680"/>
            <a:ext cx="4983480" cy="12075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rows</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drugA &lt;- dm |&gt;</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filter(ARM == "Drug A")</a:t>
            </a:r>
            <a:endParaRPr lang="en-US" sz="1200" dirty="0"/>
          </a:p>
        </p:txBody>
      </p:sp>
      <p:sp>
        <p:nvSpPr>
          <p:cNvPr id="10" name="Shape 8"/>
          <p:cNvSpPr/>
          <p:nvPr/>
        </p:nvSpPr>
        <p:spPr>
          <a:xfrm>
            <a:off x="640080" y="3694684"/>
            <a:ext cx="5394960" cy="1774444"/>
          </a:xfrm>
          <a:prstGeom prst="roundRect">
            <a:avLst>
              <a:gd name="adj" fmla="val 4123"/>
            </a:avLst>
          </a:prstGeom>
          <a:solidFill>
            <a:srgbClr val="13323F"/>
          </a:solidFill>
          <a:ln w="19050">
            <a:solidFill>
              <a:srgbClr val="0E7C86"/>
            </a:solidFill>
            <a:prstDash val="solid"/>
          </a:ln>
        </p:spPr>
      </p:sp>
      <p:sp>
        <p:nvSpPr>
          <p:cNvPr id="11" name="Text 9"/>
          <p:cNvSpPr/>
          <p:nvPr/>
        </p:nvSpPr>
        <p:spPr>
          <a:xfrm>
            <a:off x="868680" y="3786124"/>
            <a:ext cx="1097280" cy="320040"/>
          </a:xfrm>
          <a:prstGeom prst="rect">
            <a:avLst/>
          </a:prstGeom>
          <a:noFill/>
          <a:ln/>
        </p:spPr>
        <p:txBody>
          <a:bodyPr wrap="square" lIns="0" tIns="0" rIns="0" bIns="0" rtlCol="0" anchor="ctr"/>
          <a:lstStyle/>
          <a:p>
            <a:pPr indent="0" marL="0">
              <a:buNone/>
            </a:pPr>
            <a:r>
              <a:rPr lang="en-US" sz="1600" b="1" dirty="0">
                <a:solidFill>
                  <a:srgbClr val="0E7C86"/>
                </a:solidFill>
                <a:latin typeface="Cambria" pitchFamily="34" charset="0"/>
                <a:ea typeface="Cambria" pitchFamily="34" charset="-122"/>
                <a:cs typeface="Cambria" pitchFamily="34" charset="-120"/>
              </a:rPr>
              <a:t>SAS</a:t>
            </a:r>
            <a:endParaRPr lang="en-US" sz="1600" dirty="0"/>
          </a:p>
        </p:txBody>
      </p:sp>
      <p:sp>
        <p:nvSpPr>
          <p:cNvPr id="12" name="Text 10"/>
          <p:cNvSpPr/>
          <p:nvPr/>
        </p:nvSpPr>
        <p:spPr>
          <a:xfrm>
            <a:off x="868680" y="4151884"/>
            <a:ext cx="4983480" cy="12075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columns */</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data small;</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set dm;</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keep usubjid age sex;</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run;</a:t>
            </a:r>
            <a:endParaRPr lang="en-US" sz="1200" dirty="0"/>
          </a:p>
        </p:txBody>
      </p:sp>
      <p:sp>
        <p:nvSpPr>
          <p:cNvPr id="13" name="Shape 11"/>
          <p:cNvSpPr/>
          <p:nvPr/>
        </p:nvSpPr>
        <p:spPr>
          <a:xfrm>
            <a:off x="6217920" y="3694684"/>
            <a:ext cx="5394960" cy="1774444"/>
          </a:xfrm>
          <a:prstGeom prst="roundRect">
            <a:avLst>
              <a:gd name="adj" fmla="val 4123"/>
            </a:avLst>
          </a:prstGeom>
          <a:solidFill>
            <a:srgbClr val="13323F"/>
          </a:solidFill>
          <a:ln w="19050">
            <a:solidFill>
              <a:srgbClr val="E8833A"/>
            </a:solidFill>
            <a:prstDash val="solid"/>
          </a:ln>
        </p:spPr>
      </p:sp>
      <p:sp>
        <p:nvSpPr>
          <p:cNvPr id="14" name="Text 12"/>
          <p:cNvSpPr/>
          <p:nvPr/>
        </p:nvSpPr>
        <p:spPr>
          <a:xfrm>
            <a:off x="6446520" y="3786124"/>
            <a:ext cx="1097280" cy="320040"/>
          </a:xfrm>
          <a:prstGeom prst="rect">
            <a:avLst/>
          </a:prstGeom>
          <a:noFill/>
          <a:ln/>
        </p:spPr>
        <p:txBody>
          <a:bodyPr wrap="square" lIns="0" tIns="0" rIns="0" bIns="0" rtlCol="0" anchor="ctr"/>
          <a:lstStyle/>
          <a:p>
            <a:pPr indent="0" marL="0">
              <a:buNone/>
            </a:pPr>
            <a:r>
              <a:rPr lang="en-US" sz="1600" b="1" dirty="0">
                <a:solidFill>
                  <a:srgbClr val="E8833A"/>
                </a:solidFill>
                <a:latin typeface="Cambria" pitchFamily="34" charset="0"/>
                <a:ea typeface="Cambria" pitchFamily="34" charset="-122"/>
                <a:cs typeface="Cambria" pitchFamily="34" charset="-120"/>
              </a:rPr>
              <a:t>R</a:t>
            </a:r>
            <a:endParaRPr lang="en-US" sz="1600" dirty="0"/>
          </a:p>
        </p:txBody>
      </p:sp>
      <p:sp>
        <p:nvSpPr>
          <p:cNvPr id="15" name="Text 13"/>
          <p:cNvSpPr/>
          <p:nvPr/>
        </p:nvSpPr>
        <p:spPr>
          <a:xfrm>
            <a:off x="6446520" y="4151884"/>
            <a:ext cx="4983480" cy="12075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columns</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small &lt;- dm |&gt;</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select(USUBJID, AGE, SEX)</a:t>
            </a:r>
            <a:endParaRPr lang="en-US" sz="1200" dirty="0"/>
          </a:p>
        </p:txBody>
      </p:sp>
      <p:sp>
        <p:nvSpPr>
          <p:cNvPr id="16" name="Text 14"/>
          <p:cNvSpPr/>
          <p:nvPr/>
        </p:nvSpPr>
        <p:spPr>
          <a:xfrm>
            <a:off x="640080" y="5578856"/>
            <a:ext cx="10972800" cy="384048"/>
          </a:xfrm>
          <a:prstGeom prst="rect">
            <a:avLst/>
          </a:prstGeom>
          <a:noFill/>
          <a:ln/>
        </p:spPr>
        <p:txBody>
          <a:bodyPr wrap="square" lIns="0" tIns="0" rIns="0" bIns="0" rtlCol="0" anchor="ctr"/>
          <a:lstStyle/>
          <a:p>
            <a:pPr indent="0" marL="0">
              <a:buNone/>
            </a:pPr>
            <a:r>
              <a:rPr lang="en-US" sz="1300" i="1" dirty="0">
                <a:solidFill>
                  <a:srgbClr val="0E7C86"/>
                </a:solidFill>
                <a:latin typeface="Calibri" pitchFamily="34" charset="0"/>
                <a:ea typeface="Calibri" pitchFamily="34" charset="-122"/>
                <a:cs typeface="Calibri" pitchFamily="34" charset="-120"/>
              </a:rPr>
              <a:t>Rows: WHERE ↔ filter().   Columns: KEEP ↔ select().   Note R uses == to test equality, = to name arguments.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SIDE BY SIDE · 4</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Create new variables (the heart of mapping)</a:t>
            </a:r>
            <a:endParaRPr lang="en-US" sz="3000" dirty="0"/>
          </a:p>
        </p:txBody>
      </p:sp>
      <p:sp>
        <p:nvSpPr>
          <p:cNvPr id="4" name="Shape 2"/>
          <p:cNvSpPr/>
          <p:nvPr/>
        </p:nvSpPr>
        <p:spPr>
          <a:xfrm>
            <a:off x="640080" y="1554480"/>
            <a:ext cx="5394960" cy="2853944"/>
          </a:xfrm>
          <a:prstGeom prst="roundRect">
            <a:avLst>
              <a:gd name="adj" fmla="val 2563"/>
            </a:avLst>
          </a:prstGeom>
          <a:solidFill>
            <a:srgbClr val="13323F"/>
          </a:solidFill>
          <a:ln w="19050">
            <a:solidFill>
              <a:srgbClr val="0E7C86"/>
            </a:solidFill>
            <a:prstDash val="solid"/>
          </a:ln>
        </p:spPr>
      </p:sp>
      <p:sp>
        <p:nvSpPr>
          <p:cNvPr id="5" name="Text 3"/>
          <p:cNvSpPr/>
          <p:nvPr/>
        </p:nvSpPr>
        <p:spPr>
          <a:xfrm>
            <a:off x="868680" y="1645920"/>
            <a:ext cx="1097280" cy="320040"/>
          </a:xfrm>
          <a:prstGeom prst="rect">
            <a:avLst/>
          </a:prstGeom>
          <a:noFill/>
          <a:ln/>
        </p:spPr>
        <p:txBody>
          <a:bodyPr wrap="square" lIns="0" tIns="0" rIns="0" bIns="0" rtlCol="0" anchor="ctr"/>
          <a:lstStyle/>
          <a:p>
            <a:pPr indent="0" marL="0">
              <a:buNone/>
            </a:pPr>
            <a:r>
              <a:rPr lang="en-US" sz="1600" b="1" dirty="0">
                <a:solidFill>
                  <a:srgbClr val="0E7C86"/>
                </a:solidFill>
                <a:latin typeface="Cambria" pitchFamily="34" charset="0"/>
                <a:ea typeface="Cambria" pitchFamily="34" charset="-122"/>
                <a:cs typeface="Cambria" pitchFamily="34" charset="-120"/>
              </a:rPr>
              <a:t>SAS</a:t>
            </a:r>
            <a:endParaRPr lang="en-US" sz="1600" dirty="0"/>
          </a:p>
        </p:txBody>
      </p:sp>
      <p:sp>
        <p:nvSpPr>
          <p:cNvPr id="6" name="Text 4"/>
          <p:cNvSpPr/>
          <p:nvPr/>
        </p:nvSpPr>
        <p:spPr>
          <a:xfrm>
            <a:off x="868680" y="2011680"/>
            <a:ext cx="4983480" cy="22870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data dm2;</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set dm;</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length usubjid $20 sex_c $1;</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usubjid = catx("-", studyid,</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put(siteid, z2.),</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put(subjid, z3.));</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if sex = 1 then sex_c = "M";</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else if sex = 2 then sex_c = "F";</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run;</a:t>
            </a:r>
            <a:endParaRPr lang="en-US" sz="1200" dirty="0"/>
          </a:p>
        </p:txBody>
      </p:sp>
      <p:sp>
        <p:nvSpPr>
          <p:cNvPr id="7" name="Shape 5"/>
          <p:cNvSpPr/>
          <p:nvPr/>
        </p:nvSpPr>
        <p:spPr>
          <a:xfrm>
            <a:off x="6217920" y="1554480"/>
            <a:ext cx="5394960" cy="2853944"/>
          </a:xfrm>
          <a:prstGeom prst="roundRect">
            <a:avLst>
              <a:gd name="adj" fmla="val 2563"/>
            </a:avLst>
          </a:prstGeom>
          <a:solidFill>
            <a:srgbClr val="13323F"/>
          </a:solidFill>
          <a:ln w="19050">
            <a:solidFill>
              <a:srgbClr val="E8833A"/>
            </a:solidFill>
            <a:prstDash val="solid"/>
          </a:ln>
        </p:spPr>
      </p:sp>
      <p:sp>
        <p:nvSpPr>
          <p:cNvPr id="8" name="Text 6"/>
          <p:cNvSpPr/>
          <p:nvPr/>
        </p:nvSpPr>
        <p:spPr>
          <a:xfrm>
            <a:off x="6446520" y="1645920"/>
            <a:ext cx="1097280" cy="320040"/>
          </a:xfrm>
          <a:prstGeom prst="rect">
            <a:avLst/>
          </a:prstGeom>
          <a:noFill/>
          <a:ln/>
        </p:spPr>
        <p:txBody>
          <a:bodyPr wrap="square" lIns="0" tIns="0" rIns="0" bIns="0" rtlCol="0" anchor="ctr"/>
          <a:lstStyle/>
          <a:p>
            <a:pPr indent="0" marL="0">
              <a:buNone/>
            </a:pPr>
            <a:r>
              <a:rPr lang="en-US" sz="1600" b="1" dirty="0">
                <a:solidFill>
                  <a:srgbClr val="E8833A"/>
                </a:solidFill>
                <a:latin typeface="Cambria" pitchFamily="34" charset="0"/>
                <a:ea typeface="Cambria" pitchFamily="34" charset="-122"/>
                <a:cs typeface="Cambria" pitchFamily="34" charset="-120"/>
              </a:rPr>
              <a:t>R</a:t>
            </a:r>
            <a:endParaRPr lang="en-US" sz="1600" dirty="0"/>
          </a:p>
        </p:txBody>
      </p:sp>
      <p:sp>
        <p:nvSpPr>
          <p:cNvPr id="9" name="Text 7"/>
          <p:cNvSpPr/>
          <p:nvPr/>
        </p:nvSpPr>
        <p:spPr>
          <a:xfrm>
            <a:off x="6446520" y="2011680"/>
            <a:ext cx="4983480" cy="22870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dm2 &lt;- dm |&gt;</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mutate(</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USUBJID = paste(STUDYID, SITEID,</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SUBJID, sep = "-"),</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SEX_C = case_when(</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SEX == 1 ~ "M",</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SEX == 2 ~ "F",</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TRUE ~ NA_character_</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a:t>
            </a:r>
            <a:endParaRPr lang="en-US" sz="1200" dirty="0"/>
          </a:p>
        </p:txBody>
      </p:sp>
      <p:sp>
        <p:nvSpPr>
          <p:cNvPr id="10" name="Text 8"/>
          <p:cNvSpPr/>
          <p:nvPr/>
        </p:nvSpPr>
        <p:spPr>
          <a:xfrm>
            <a:off x="640080" y="4518152"/>
            <a:ext cx="10972800" cy="384048"/>
          </a:xfrm>
          <a:prstGeom prst="rect">
            <a:avLst/>
          </a:prstGeom>
          <a:noFill/>
          <a:ln/>
        </p:spPr>
        <p:txBody>
          <a:bodyPr wrap="square" lIns="0" tIns="0" rIns="0" bIns="0" rtlCol="0" anchor="ctr"/>
          <a:lstStyle/>
          <a:p>
            <a:pPr indent="0" marL="0">
              <a:buNone/>
            </a:pPr>
            <a:r>
              <a:rPr lang="en-US" sz="1300" i="1" dirty="0">
                <a:solidFill>
                  <a:srgbClr val="0E7C86"/>
                </a:solidFill>
                <a:latin typeface="Calibri" pitchFamily="34" charset="0"/>
                <a:ea typeface="Calibri" pitchFamily="34" charset="-122"/>
                <a:cs typeface="Calibri" pitchFamily="34" charset="-120"/>
              </a:rPr>
              <a:t>This is exactly what SDTM mapping is — read raw columns, write standardized ones.   IF/THEN/ELSE ↔ case_when()   ·   catx() ↔ paste()</a:t>
            </a:r>
            <a:endParaRPr lang="en-US" sz="1300" dirty="0"/>
          </a:p>
        </p:txBody>
      </p:sp>
      <p:sp>
        <p:nvSpPr>
          <p:cNvPr id="11" name="Shape 9"/>
          <p:cNvSpPr/>
          <p:nvPr/>
        </p:nvSpPr>
        <p:spPr>
          <a:xfrm>
            <a:off x="640080" y="5158232"/>
            <a:ext cx="10972800" cy="1234440"/>
          </a:xfrm>
          <a:prstGeom prst="roundRect">
            <a:avLst>
              <a:gd name="adj" fmla="val 666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2" name="Text 10"/>
          <p:cNvSpPr/>
          <p:nvPr/>
        </p:nvSpPr>
        <p:spPr>
          <a:xfrm>
            <a:off x="914400" y="5286248"/>
            <a:ext cx="10424160" cy="960120"/>
          </a:xfrm>
          <a:prstGeom prst="rect">
            <a:avLst/>
          </a:prstGeom>
          <a:noFill/>
          <a:ln/>
        </p:spPr>
        <p:txBody>
          <a:bodyPr wrap="square" lIns="0" tIns="0" rIns="0" bIns="0" rtlCol="0" anchor="ctr"/>
          <a:lstStyle/>
          <a:p>
            <a:pPr indent="0" marL="0">
              <a:lnSpc>
                <a:spcPts val="2100"/>
              </a:lnSpc>
              <a:buNone/>
            </a:pPr>
            <a:r>
              <a:rPr lang="en-US" sz="1400" b="1" dirty="0">
                <a:solidFill>
                  <a:srgbClr val="0E7C86"/>
                </a:solidFill>
                <a:latin typeface="Calibri" pitchFamily="34" charset="0"/>
                <a:ea typeface="Calibri" pitchFamily="34" charset="-122"/>
                <a:cs typeface="Calibri" pitchFamily="34" charset="-120"/>
              </a:rPr>
              <a:t>Why declare length in SAS?  </a:t>
            </a:r>
            <a:pPr indent="0" marL="0">
              <a:lnSpc>
                <a:spcPts val="2100"/>
              </a:lnSpc>
              <a:buNone/>
            </a:pPr>
            <a:r>
              <a:rPr lang="en-US" sz="1350" dirty="0">
                <a:solidFill>
                  <a:srgbClr val="0F2E3D"/>
                </a:solidFill>
                <a:latin typeface="Calibri" pitchFamily="34" charset="0"/>
                <a:ea typeface="Calibri" pitchFamily="34" charset="-122"/>
                <a:cs typeface="Calibri" pitchFamily="34" charset="-120"/>
              </a:rPr>
              <a:t>If you assign text without a LENGTH statement, SAS fixes the width from the first value it sees and silently truncates longer ones. R has no such trap — character vectors size themselves.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SIDE BY SIDE · 5</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Sort, count, and summarize</a:t>
            </a:r>
            <a:endParaRPr lang="en-US" sz="3000" dirty="0"/>
          </a:p>
        </p:txBody>
      </p:sp>
      <p:sp>
        <p:nvSpPr>
          <p:cNvPr id="4" name="Shape 2"/>
          <p:cNvSpPr/>
          <p:nvPr/>
        </p:nvSpPr>
        <p:spPr>
          <a:xfrm>
            <a:off x="640080" y="1554480"/>
            <a:ext cx="5394960" cy="1342644"/>
          </a:xfrm>
          <a:prstGeom prst="roundRect">
            <a:avLst>
              <a:gd name="adj" fmla="val 5448"/>
            </a:avLst>
          </a:prstGeom>
          <a:solidFill>
            <a:srgbClr val="13323F"/>
          </a:solidFill>
          <a:ln w="19050">
            <a:solidFill>
              <a:srgbClr val="0E7C86"/>
            </a:solidFill>
            <a:prstDash val="solid"/>
          </a:ln>
        </p:spPr>
      </p:sp>
      <p:sp>
        <p:nvSpPr>
          <p:cNvPr id="5" name="Text 3"/>
          <p:cNvSpPr/>
          <p:nvPr/>
        </p:nvSpPr>
        <p:spPr>
          <a:xfrm>
            <a:off x="868680" y="1645920"/>
            <a:ext cx="1097280" cy="320040"/>
          </a:xfrm>
          <a:prstGeom prst="rect">
            <a:avLst/>
          </a:prstGeom>
          <a:noFill/>
          <a:ln/>
        </p:spPr>
        <p:txBody>
          <a:bodyPr wrap="square" lIns="0" tIns="0" rIns="0" bIns="0" rtlCol="0" anchor="ctr"/>
          <a:lstStyle/>
          <a:p>
            <a:pPr indent="0" marL="0">
              <a:buNone/>
            </a:pPr>
            <a:r>
              <a:rPr lang="en-US" sz="1600" b="1" dirty="0">
                <a:solidFill>
                  <a:srgbClr val="0E7C86"/>
                </a:solidFill>
                <a:latin typeface="Cambria" pitchFamily="34" charset="0"/>
                <a:ea typeface="Cambria" pitchFamily="34" charset="-122"/>
                <a:cs typeface="Cambria" pitchFamily="34" charset="-120"/>
              </a:rPr>
              <a:t>SAS</a:t>
            </a:r>
            <a:endParaRPr lang="en-US" sz="1600" dirty="0"/>
          </a:p>
        </p:txBody>
      </p:sp>
      <p:sp>
        <p:nvSpPr>
          <p:cNvPr id="6" name="Text 4"/>
          <p:cNvSpPr/>
          <p:nvPr/>
        </p:nvSpPr>
        <p:spPr>
          <a:xfrm>
            <a:off x="868680" y="2011680"/>
            <a:ext cx="4983480" cy="7757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proc sort data = dm out = dm_s;</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by siteid subjid;</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run;</a:t>
            </a:r>
            <a:endParaRPr lang="en-US" sz="1200" dirty="0"/>
          </a:p>
        </p:txBody>
      </p:sp>
      <p:sp>
        <p:nvSpPr>
          <p:cNvPr id="7" name="Shape 5"/>
          <p:cNvSpPr/>
          <p:nvPr/>
        </p:nvSpPr>
        <p:spPr>
          <a:xfrm>
            <a:off x="6217920" y="1554480"/>
            <a:ext cx="5394960" cy="1342644"/>
          </a:xfrm>
          <a:prstGeom prst="roundRect">
            <a:avLst>
              <a:gd name="adj" fmla="val 5448"/>
            </a:avLst>
          </a:prstGeom>
          <a:solidFill>
            <a:srgbClr val="13323F"/>
          </a:solidFill>
          <a:ln w="19050">
            <a:solidFill>
              <a:srgbClr val="E8833A"/>
            </a:solidFill>
            <a:prstDash val="solid"/>
          </a:ln>
        </p:spPr>
      </p:sp>
      <p:sp>
        <p:nvSpPr>
          <p:cNvPr id="8" name="Text 6"/>
          <p:cNvSpPr/>
          <p:nvPr/>
        </p:nvSpPr>
        <p:spPr>
          <a:xfrm>
            <a:off x="6446520" y="1645920"/>
            <a:ext cx="1097280" cy="320040"/>
          </a:xfrm>
          <a:prstGeom prst="rect">
            <a:avLst/>
          </a:prstGeom>
          <a:noFill/>
          <a:ln/>
        </p:spPr>
        <p:txBody>
          <a:bodyPr wrap="square" lIns="0" tIns="0" rIns="0" bIns="0" rtlCol="0" anchor="ctr"/>
          <a:lstStyle/>
          <a:p>
            <a:pPr indent="0" marL="0">
              <a:buNone/>
            </a:pPr>
            <a:r>
              <a:rPr lang="en-US" sz="1600" b="1" dirty="0">
                <a:solidFill>
                  <a:srgbClr val="E8833A"/>
                </a:solidFill>
                <a:latin typeface="Cambria" pitchFamily="34" charset="0"/>
                <a:ea typeface="Cambria" pitchFamily="34" charset="-122"/>
                <a:cs typeface="Cambria" pitchFamily="34" charset="-120"/>
              </a:rPr>
              <a:t>R</a:t>
            </a:r>
            <a:endParaRPr lang="en-US" sz="1600" dirty="0"/>
          </a:p>
        </p:txBody>
      </p:sp>
      <p:sp>
        <p:nvSpPr>
          <p:cNvPr id="9" name="Text 7"/>
          <p:cNvSpPr/>
          <p:nvPr/>
        </p:nvSpPr>
        <p:spPr>
          <a:xfrm>
            <a:off x="6446520" y="2011680"/>
            <a:ext cx="4983480" cy="7757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dm_s &lt;- dm |&gt;</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arrange(SITEID, SUBJID)</a:t>
            </a:r>
            <a:endParaRPr lang="en-US" sz="1200" dirty="0"/>
          </a:p>
        </p:txBody>
      </p:sp>
      <p:sp>
        <p:nvSpPr>
          <p:cNvPr id="10" name="Shape 8"/>
          <p:cNvSpPr/>
          <p:nvPr/>
        </p:nvSpPr>
        <p:spPr>
          <a:xfrm>
            <a:off x="640080" y="3217164"/>
            <a:ext cx="5394960" cy="2853944"/>
          </a:xfrm>
          <a:prstGeom prst="roundRect">
            <a:avLst>
              <a:gd name="adj" fmla="val 2563"/>
            </a:avLst>
          </a:prstGeom>
          <a:solidFill>
            <a:srgbClr val="13323F"/>
          </a:solidFill>
          <a:ln w="19050">
            <a:solidFill>
              <a:srgbClr val="0E7C86"/>
            </a:solidFill>
            <a:prstDash val="solid"/>
          </a:ln>
        </p:spPr>
      </p:sp>
      <p:sp>
        <p:nvSpPr>
          <p:cNvPr id="11" name="Text 9"/>
          <p:cNvSpPr/>
          <p:nvPr/>
        </p:nvSpPr>
        <p:spPr>
          <a:xfrm>
            <a:off x="868680" y="3308604"/>
            <a:ext cx="1097280" cy="320040"/>
          </a:xfrm>
          <a:prstGeom prst="rect">
            <a:avLst/>
          </a:prstGeom>
          <a:noFill/>
          <a:ln/>
        </p:spPr>
        <p:txBody>
          <a:bodyPr wrap="square" lIns="0" tIns="0" rIns="0" bIns="0" rtlCol="0" anchor="ctr"/>
          <a:lstStyle/>
          <a:p>
            <a:pPr indent="0" marL="0">
              <a:buNone/>
            </a:pPr>
            <a:r>
              <a:rPr lang="en-US" sz="1600" b="1" dirty="0">
                <a:solidFill>
                  <a:srgbClr val="0E7C86"/>
                </a:solidFill>
                <a:latin typeface="Cambria" pitchFamily="34" charset="0"/>
                <a:ea typeface="Cambria" pitchFamily="34" charset="-122"/>
                <a:cs typeface="Cambria" pitchFamily="34" charset="-120"/>
              </a:rPr>
              <a:t>SAS</a:t>
            </a:r>
            <a:endParaRPr lang="en-US" sz="1600" dirty="0"/>
          </a:p>
        </p:txBody>
      </p:sp>
      <p:sp>
        <p:nvSpPr>
          <p:cNvPr id="12" name="Text 10"/>
          <p:cNvSpPr/>
          <p:nvPr/>
        </p:nvSpPr>
        <p:spPr>
          <a:xfrm>
            <a:off x="868680" y="3674364"/>
            <a:ext cx="4983480" cy="22870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counts */</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proc freq data = dm;</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tables arm;</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run;</a:t>
            </a:r>
            <a:endParaRPr lang="en-US" sz="1200" dirty="0"/>
          </a:p>
          <a:p>
            <a:pPr indent="0" marL="0">
              <a:lnSpc>
                <a:spcPts val="1700"/>
              </a:lnSpc>
              <a:buNone/>
            </a:pP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numbers */</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proc means data = vs mean;</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class visit;</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var weight;</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run;</a:t>
            </a:r>
            <a:endParaRPr lang="en-US" sz="1200" dirty="0"/>
          </a:p>
        </p:txBody>
      </p:sp>
      <p:sp>
        <p:nvSpPr>
          <p:cNvPr id="13" name="Shape 11"/>
          <p:cNvSpPr/>
          <p:nvPr/>
        </p:nvSpPr>
        <p:spPr>
          <a:xfrm>
            <a:off x="6217920" y="3217164"/>
            <a:ext cx="5394960" cy="2853944"/>
          </a:xfrm>
          <a:prstGeom prst="roundRect">
            <a:avLst>
              <a:gd name="adj" fmla="val 2563"/>
            </a:avLst>
          </a:prstGeom>
          <a:solidFill>
            <a:srgbClr val="13323F"/>
          </a:solidFill>
          <a:ln w="19050">
            <a:solidFill>
              <a:srgbClr val="E8833A"/>
            </a:solidFill>
            <a:prstDash val="solid"/>
          </a:ln>
        </p:spPr>
      </p:sp>
      <p:sp>
        <p:nvSpPr>
          <p:cNvPr id="14" name="Text 12"/>
          <p:cNvSpPr/>
          <p:nvPr/>
        </p:nvSpPr>
        <p:spPr>
          <a:xfrm>
            <a:off x="6446520" y="3308604"/>
            <a:ext cx="1097280" cy="320040"/>
          </a:xfrm>
          <a:prstGeom prst="rect">
            <a:avLst/>
          </a:prstGeom>
          <a:noFill/>
          <a:ln/>
        </p:spPr>
        <p:txBody>
          <a:bodyPr wrap="square" lIns="0" tIns="0" rIns="0" bIns="0" rtlCol="0" anchor="ctr"/>
          <a:lstStyle/>
          <a:p>
            <a:pPr indent="0" marL="0">
              <a:buNone/>
            </a:pPr>
            <a:r>
              <a:rPr lang="en-US" sz="1600" b="1" dirty="0">
                <a:solidFill>
                  <a:srgbClr val="E8833A"/>
                </a:solidFill>
                <a:latin typeface="Cambria" pitchFamily="34" charset="0"/>
                <a:ea typeface="Cambria" pitchFamily="34" charset="-122"/>
                <a:cs typeface="Cambria" pitchFamily="34" charset="-120"/>
              </a:rPr>
              <a:t>R</a:t>
            </a:r>
            <a:endParaRPr lang="en-US" sz="1600" dirty="0"/>
          </a:p>
        </p:txBody>
      </p:sp>
      <p:sp>
        <p:nvSpPr>
          <p:cNvPr id="15" name="Text 13"/>
          <p:cNvSpPr/>
          <p:nvPr/>
        </p:nvSpPr>
        <p:spPr>
          <a:xfrm>
            <a:off x="6446520" y="3674364"/>
            <a:ext cx="4983480" cy="22870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counts</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dm |&gt; count(ARM)</a:t>
            </a:r>
            <a:endParaRPr lang="en-US" sz="1200" dirty="0"/>
          </a:p>
          <a:p>
            <a:pPr indent="0" marL="0">
              <a:lnSpc>
                <a:spcPts val="1700"/>
              </a:lnSpc>
              <a:buNone/>
            </a:pP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numbers</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vs |&gt;</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group_by(VISIT) |&gt;</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summarise(</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mean_wt = mean(WEIGHT)</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a:t>
            </a:r>
            <a:endParaRPr lang="en-US" sz="1200" dirty="0"/>
          </a:p>
        </p:txBody>
      </p:sp>
      <p:sp>
        <p:nvSpPr>
          <p:cNvPr id="16" name="Text 14"/>
          <p:cNvSpPr/>
          <p:nvPr/>
        </p:nvSpPr>
        <p:spPr>
          <a:xfrm>
            <a:off x="640080" y="6180836"/>
            <a:ext cx="10972800" cy="384048"/>
          </a:xfrm>
          <a:prstGeom prst="rect">
            <a:avLst/>
          </a:prstGeom>
          <a:noFill/>
          <a:ln/>
        </p:spPr>
        <p:txBody>
          <a:bodyPr wrap="square" lIns="0" tIns="0" rIns="0" bIns="0" rtlCol="0" anchor="ctr"/>
          <a:lstStyle/>
          <a:p>
            <a:pPr indent="0" marL="0">
              <a:buNone/>
            </a:pPr>
            <a:r>
              <a:rPr lang="en-US" sz="1300" i="1" dirty="0">
                <a:solidFill>
                  <a:srgbClr val="0E7C86"/>
                </a:solidFill>
                <a:latin typeface="Calibri" pitchFamily="34" charset="0"/>
                <a:ea typeface="Calibri" pitchFamily="34" charset="-122"/>
                <a:cs typeface="Calibri" pitchFamily="34" charset="-120"/>
              </a:rPr>
              <a:t>PROC FREQ is for categories; PROC MEANS is for numbers. In R, count() and group_by() + summarise() do the same jobs.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SIDE BY SIDE · 6</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Combining datasets</a:t>
            </a:r>
            <a:endParaRPr lang="en-US" sz="3000" dirty="0"/>
          </a:p>
        </p:txBody>
      </p:sp>
      <p:sp>
        <p:nvSpPr>
          <p:cNvPr id="4" name="Shape 2"/>
          <p:cNvSpPr/>
          <p:nvPr/>
        </p:nvSpPr>
        <p:spPr>
          <a:xfrm>
            <a:off x="640080" y="1554480"/>
            <a:ext cx="5394960" cy="2638044"/>
          </a:xfrm>
          <a:prstGeom prst="roundRect">
            <a:avLst>
              <a:gd name="adj" fmla="val 2773"/>
            </a:avLst>
          </a:prstGeom>
          <a:solidFill>
            <a:srgbClr val="13323F"/>
          </a:solidFill>
          <a:ln w="19050">
            <a:solidFill>
              <a:srgbClr val="0E7C86"/>
            </a:solidFill>
            <a:prstDash val="solid"/>
          </a:ln>
        </p:spPr>
      </p:sp>
      <p:sp>
        <p:nvSpPr>
          <p:cNvPr id="5" name="Text 3"/>
          <p:cNvSpPr/>
          <p:nvPr/>
        </p:nvSpPr>
        <p:spPr>
          <a:xfrm>
            <a:off x="868680" y="1645920"/>
            <a:ext cx="1097280" cy="320040"/>
          </a:xfrm>
          <a:prstGeom prst="rect">
            <a:avLst/>
          </a:prstGeom>
          <a:noFill/>
          <a:ln/>
        </p:spPr>
        <p:txBody>
          <a:bodyPr wrap="square" lIns="0" tIns="0" rIns="0" bIns="0" rtlCol="0" anchor="ctr"/>
          <a:lstStyle/>
          <a:p>
            <a:pPr indent="0" marL="0">
              <a:buNone/>
            </a:pPr>
            <a:r>
              <a:rPr lang="en-US" sz="1600" b="1" dirty="0">
                <a:solidFill>
                  <a:srgbClr val="0E7C86"/>
                </a:solidFill>
                <a:latin typeface="Cambria" pitchFamily="34" charset="0"/>
                <a:ea typeface="Cambria" pitchFamily="34" charset="-122"/>
                <a:cs typeface="Cambria" pitchFamily="34" charset="-120"/>
              </a:rPr>
              <a:t>SAS</a:t>
            </a:r>
            <a:endParaRPr lang="en-US" sz="1600" dirty="0"/>
          </a:p>
        </p:txBody>
      </p:sp>
      <p:sp>
        <p:nvSpPr>
          <p:cNvPr id="6" name="Text 4"/>
          <p:cNvSpPr/>
          <p:nvPr/>
        </p:nvSpPr>
        <p:spPr>
          <a:xfrm>
            <a:off x="868680" y="2011680"/>
            <a:ext cx="4983480" cy="20711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must be sorted first! */</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proc sort data = dm;  by usubjid; run;</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proc sort data = ex;  by usubjid; run;</a:t>
            </a:r>
            <a:endParaRPr lang="en-US" sz="1200" dirty="0"/>
          </a:p>
          <a:p>
            <a:pPr indent="0" marL="0">
              <a:lnSpc>
                <a:spcPts val="1700"/>
              </a:lnSpc>
              <a:buNone/>
            </a:pP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data dm_ex;</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merge dm (in = a) ex;</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by usubjid;</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if a;              /* keep DM rows */</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run;</a:t>
            </a:r>
            <a:endParaRPr lang="en-US" sz="1200" dirty="0"/>
          </a:p>
        </p:txBody>
      </p:sp>
      <p:sp>
        <p:nvSpPr>
          <p:cNvPr id="7" name="Shape 5"/>
          <p:cNvSpPr/>
          <p:nvPr/>
        </p:nvSpPr>
        <p:spPr>
          <a:xfrm>
            <a:off x="6217920" y="1554480"/>
            <a:ext cx="5394960" cy="2638044"/>
          </a:xfrm>
          <a:prstGeom prst="roundRect">
            <a:avLst>
              <a:gd name="adj" fmla="val 2773"/>
            </a:avLst>
          </a:prstGeom>
          <a:solidFill>
            <a:srgbClr val="13323F"/>
          </a:solidFill>
          <a:ln w="19050">
            <a:solidFill>
              <a:srgbClr val="E8833A"/>
            </a:solidFill>
            <a:prstDash val="solid"/>
          </a:ln>
        </p:spPr>
      </p:sp>
      <p:sp>
        <p:nvSpPr>
          <p:cNvPr id="8" name="Text 6"/>
          <p:cNvSpPr/>
          <p:nvPr/>
        </p:nvSpPr>
        <p:spPr>
          <a:xfrm>
            <a:off x="6446520" y="1645920"/>
            <a:ext cx="1097280" cy="320040"/>
          </a:xfrm>
          <a:prstGeom prst="rect">
            <a:avLst/>
          </a:prstGeom>
          <a:noFill/>
          <a:ln/>
        </p:spPr>
        <p:txBody>
          <a:bodyPr wrap="square" lIns="0" tIns="0" rIns="0" bIns="0" rtlCol="0" anchor="ctr"/>
          <a:lstStyle/>
          <a:p>
            <a:pPr indent="0" marL="0">
              <a:buNone/>
            </a:pPr>
            <a:r>
              <a:rPr lang="en-US" sz="1600" b="1" dirty="0">
                <a:solidFill>
                  <a:srgbClr val="E8833A"/>
                </a:solidFill>
                <a:latin typeface="Cambria" pitchFamily="34" charset="0"/>
                <a:ea typeface="Cambria" pitchFamily="34" charset="-122"/>
                <a:cs typeface="Cambria" pitchFamily="34" charset="-120"/>
              </a:rPr>
              <a:t>R</a:t>
            </a:r>
            <a:endParaRPr lang="en-US" sz="1600" dirty="0"/>
          </a:p>
        </p:txBody>
      </p:sp>
      <p:sp>
        <p:nvSpPr>
          <p:cNvPr id="9" name="Text 7"/>
          <p:cNvSpPr/>
          <p:nvPr/>
        </p:nvSpPr>
        <p:spPr>
          <a:xfrm>
            <a:off x="6446520" y="2011680"/>
            <a:ext cx="4983480" cy="20711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no sorting required</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dm_ex &lt;- dm |&gt;</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left_join(ex, by = "USUBJID")</a:t>
            </a:r>
            <a:endParaRPr lang="en-US" sz="1200" dirty="0"/>
          </a:p>
        </p:txBody>
      </p:sp>
      <p:sp>
        <p:nvSpPr>
          <p:cNvPr id="10" name="Text 8"/>
          <p:cNvSpPr/>
          <p:nvPr/>
        </p:nvSpPr>
        <p:spPr>
          <a:xfrm>
            <a:off x="640080" y="4302252"/>
            <a:ext cx="10972800" cy="384048"/>
          </a:xfrm>
          <a:prstGeom prst="rect">
            <a:avLst/>
          </a:prstGeom>
          <a:noFill/>
          <a:ln/>
        </p:spPr>
        <p:txBody>
          <a:bodyPr wrap="square" lIns="0" tIns="0" rIns="0" bIns="0" rtlCol="0" anchor="ctr"/>
          <a:lstStyle/>
          <a:p>
            <a:pPr indent="0" marL="0">
              <a:buNone/>
            </a:pPr>
            <a:r>
              <a:rPr lang="en-US" sz="1300" i="1" dirty="0">
                <a:solidFill>
                  <a:srgbClr val="0E7C86"/>
                </a:solidFill>
                <a:latin typeface="Calibri" pitchFamily="34" charset="0"/>
                <a:ea typeface="Calibri" pitchFamily="34" charset="-122"/>
                <a:cs typeface="Calibri" pitchFamily="34" charset="-120"/>
              </a:rPr>
              <a:t>Same result, very different ceremony. SAS MERGE needs sorted inputs; R joins do not.</a:t>
            </a:r>
            <a:endParaRPr lang="en-US" sz="1300" dirty="0"/>
          </a:p>
        </p:txBody>
      </p:sp>
      <p:sp>
        <p:nvSpPr>
          <p:cNvPr id="11" name="Shape 9"/>
          <p:cNvSpPr/>
          <p:nvPr/>
        </p:nvSpPr>
        <p:spPr>
          <a:xfrm>
            <a:off x="640080" y="4960620"/>
            <a:ext cx="10972800" cy="1508760"/>
          </a:xfrm>
          <a:prstGeom prst="roundRect">
            <a:avLst>
              <a:gd name="adj" fmla="val 5455"/>
            </a:avLst>
          </a:prstGeom>
          <a:solidFill>
            <a:srgbClr val="0F2E3D"/>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2" name="Text 10"/>
          <p:cNvSpPr/>
          <p:nvPr/>
        </p:nvSpPr>
        <p:spPr>
          <a:xfrm>
            <a:off x="914400" y="5097780"/>
            <a:ext cx="10424160" cy="365760"/>
          </a:xfrm>
          <a:prstGeom prst="rect">
            <a:avLst/>
          </a:prstGeom>
          <a:noFill/>
          <a:ln/>
        </p:spPr>
        <p:txBody>
          <a:bodyPr wrap="square" lIns="0" tIns="0" rIns="0" bIns="0" rtlCol="0" anchor="ctr"/>
          <a:lstStyle/>
          <a:p>
            <a:pPr indent="0" marL="0">
              <a:buNone/>
            </a:pPr>
            <a:r>
              <a:rPr lang="en-US" sz="1500" b="1" dirty="0">
                <a:solidFill>
                  <a:srgbClr val="6FC8B4"/>
                </a:solidFill>
                <a:latin typeface="Calibri" pitchFamily="34" charset="0"/>
                <a:ea typeface="Calibri" pitchFamily="34" charset="-122"/>
                <a:cs typeface="Calibri" pitchFamily="34" charset="-120"/>
              </a:rPr>
              <a:t>Joining is how a subject's data gets assembled</a:t>
            </a:r>
            <a:endParaRPr lang="en-US" sz="1500" dirty="0"/>
          </a:p>
        </p:txBody>
      </p:sp>
      <p:sp>
        <p:nvSpPr>
          <p:cNvPr id="13" name="Text 11"/>
          <p:cNvSpPr/>
          <p:nvPr/>
        </p:nvSpPr>
        <p:spPr>
          <a:xfrm>
            <a:off x="914400" y="5463540"/>
            <a:ext cx="10424160" cy="914400"/>
          </a:xfrm>
          <a:prstGeom prst="rect">
            <a:avLst/>
          </a:prstGeom>
          <a:noFill/>
          <a:ln/>
        </p:spPr>
        <p:txBody>
          <a:bodyPr wrap="square" lIns="0" tIns="0" rIns="0" bIns="0" rtlCol="0" anchor="ctr"/>
          <a:lstStyle/>
          <a:p>
            <a:pPr indent="0" marL="0">
              <a:buNone/>
            </a:pPr>
            <a:r>
              <a:rPr lang="en-US" sz="1350" dirty="0">
                <a:solidFill>
                  <a:srgbClr val="C7DCE0"/>
                </a:solidFill>
                <a:latin typeface="Calibri" pitchFamily="34" charset="0"/>
                <a:ea typeface="Calibri" pitchFamily="34" charset="-122"/>
                <a:cs typeface="Calibri" pitchFamily="34" charset="-120"/>
              </a:rPr>
              <a:t>You'll join constantly: attaching the reference start date from EX onto VS to compute study day, or pulling treatment arm from DM onto every other domain. USUBJID is almost always the key.</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CHEAT SHEET</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The Rosetta Stone</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10972800" cy="914400"/>
        </p:xfrm>
        <a:graphic>
          <a:graphicData uri="http://schemas.openxmlformats.org/drawingml/2006/table">
            <a:tbl>
              <a:tblPr/>
              <a:tblGrid>
                <a:gridCol w="3657600"/>
                <a:gridCol w="3657600"/>
                <a:gridCol w="365760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You want to…</a:t>
                      </a:r>
                      <a:endParaRPr lang="en-US" sz="1300" dirty="0">
                        <a:latin typeface="Calibri" charset="0"/>
                        <a:ea typeface="Calibri" charset="0"/>
                        <a:cs typeface="Calibri"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SAS</a:t>
                      </a:r>
                      <a:endParaRPr lang="en-US" sz="1300" dirty="0">
                        <a:latin typeface="Calibri" charset="0"/>
                        <a:ea typeface="Calibri" charset="0"/>
                        <a:cs typeface="Calibri"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E7C8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 (tidyverse)</a:t>
                      </a:r>
                      <a:endParaRPr lang="en-US" sz="1300" dirty="0">
                        <a:latin typeface="Calibri" charset="0"/>
                        <a:ea typeface="Calibri" charset="0"/>
                        <a:cs typeface="Calibri"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E8833A"/>
                    </a:solidFill>
                  </a:tcPr>
                </a:tc>
              </a:tr>
              <a:tr h="365760">
                <a:tc>
                  <a:txBody>
                    <a:bodyPr/>
                    <a:lstStyle/>
                    <a:p>
                      <a:pPr indent="0" marL="0">
                        <a:buNone/>
                      </a:pPr>
                      <a:r>
                        <a:rPr lang="en-US" sz="1250" b="1" dirty="0">
                          <a:solidFill>
                            <a:srgbClr val="0F2E3D"/>
                          </a:solidFill>
                          <a:latin typeface="Calibri" pitchFamily="34" charset="0"/>
                          <a:ea typeface="Calibri" pitchFamily="34" charset="-122"/>
                          <a:cs typeface="Calibri" pitchFamily="34" charset="-120"/>
                        </a:rPr>
                        <a:t>Read a CSV</a:t>
                      </a:r>
                      <a:endParaRPr lang="en-US" sz="1250" dirty="0">
                        <a:latin typeface="Calibri" charset="0"/>
                        <a:ea typeface="Calibri" charset="0"/>
                        <a:cs typeface="Calibri"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indent="0" marL="0">
                        <a:buNone/>
                      </a:pPr>
                      <a:r>
                        <a:rPr lang="en-US" sz="1200" dirty="0">
                          <a:solidFill>
                            <a:srgbClr val="0E7C86"/>
                          </a:solidFill>
                          <a:latin typeface="Courier New" pitchFamily="34" charset="0"/>
                          <a:ea typeface="Courier New" pitchFamily="34" charset="-122"/>
                          <a:cs typeface="Courier New" pitchFamily="34" charset="-120"/>
                        </a:rPr>
                        <a:t>PROC IMPORT</a:t>
                      </a:r>
                      <a:endParaRPr lang="en-US" sz="1200" dirty="0">
                        <a:latin typeface="Courier New" charset="0"/>
                        <a:ea typeface="Courier New" charset="0"/>
                        <a:cs typeface="Courier New"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indent="0" marL="0">
                        <a:buNone/>
                      </a:pPr>
                      <a:r>
                        <a:rPr lang="en-US" sz="1200" dirty="0">
                          <a:solidFill>
                            <a:srgbClr val="B5651A"/>
                          </a:solidFill>
                          <a:latin typeface="Courier New" pitchFamily="34" charset="0"/>
                          <a:ea typeface="Courier New" pitchFamily="34" charset="-122"/>
                          <a:cs typeface="Courier New" pitchFamily="34" charset="-120"/>
                        </a:rPr>
                        <a:t>read_csv()</a:t>
                      </a:r>
                      <a:endParaRPr lang="en-US" sz="1200" dirty="0">
                        <a:latin typeface="Courier New" charset="0"/>
                        <a:ea typeface="Courier New" charset="0"/>
                        <a:cs typeface="Courier New"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rgbClr val="0F2E3D"/>
                          </a:solidFill>
                          <a:latin typeface="Calibri" pitchFamily="34" charset="0"/>
                          <a:ea typeface="Calibri" pitchFamily="34" charset="-122"/>
                          <a:cs typeface="Calibri" pitchFamily="34" charset="-120"/>
                        </a:rPr>
                        <a:t>See structure</a:t>
                      </a:r>
                      <a:endParaRPr lang="en-US" sz="1250" dirty="0">
                        <a:latin typeface="Calibri" charset="0"/>
                        <a:ea typeface="Calibri" charset="0"/>
                        <a:cs typeface="Calibri"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indent="0" marL="0">
                        <a:buNone/>
                      </a:pPr>
                      <a:r>
                        <a:rPr lang="en-US" sz="1200" dirty="0">
                          <a:solidFill>
                            <a:srgbClr val="0E7C86"/>
                          </a:solidFill>
                          <a:latin typeface="Courier New" pitchFamily="34" charset="0"/>
                          <a:ea typeface="Courier New" pitchFamily="34" charset="-122"/>
                          <a:cs typeface="Courier New" pitchFamily="34" charset="-120"/>
                        </a:rPr>
                        <a:t>PROC CONTENTS</a:t>
                      </a:r>
                      <a:endParaRPr lang="en-US" sz="1200" dirty="0">
                        <a:latin typeface="Courier New" charset="0"/>
                        <a:ea typeface="Courier New" charset="0"/>
                        <a:cs typeface="Courier New"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indent="0" marL="0">
                        <a:buNone/>
                      </a:pPr>
                      <a:r>
                        <a:rPr lang="en-US" sz="1200" dirty="0">
                          <a:solidFill>
                            <a:srgbClr val="B5651A"/>
                          </a:solidFill>
                          <a:latin typeface="Courier New" pitchFamily="34" charset="0"/>
                          <a:ea typeface="Courier New" pitchFamily="34" charset="-122"/>
                          <a:cs typeface="Courier New" pitchFamily="34" charset="-120"/>
                        </a:rPr>
                        <a:t>glimpse()</a:t>
                      </a:r>
                      <a:endParaRPr lang="en-US" sz="1200" dirty="0">
                        <a:latin typeface="Courier New" charset="0"/>
                        <a:ea typeface="Courier New" charset="0"/>
                        <a:cs typeface="Courier New"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r>
              <a:tr h="365760">
                <a:tc>
                  <a:txBody>
                    <a:bodyPr/>
                    <a:lstStyle/>
                    <a:p>
                      <a:pPr indent="0" marL="0">
                        <a:buNone/>
                      </a:pPr>
                      <a:r>
                        <a:rPr lang="en-US" sz="1250" b="1" dirty="0">
                          <a:solidFill>
                            <a:srgbClr val="0F2E3D"/>
                          </a:solidFill>
                          <a:latin typeface="Calibri" pitchFamily="34" charset="0"/>
                          <a:ea typeface="Calibri" pitchFamily="34" charset="-122"/>
                          <a:cs typeface="Calibri" pitchFamily="34" charset="-120"/>
                        </a:rPr>
                        <a:t>See rows</a:t>
                      </a:r>
                      <a:endParaRPr lang="en-US" sz="1250" dirty="0">
                        <a:latin typeface="Calibri" charset="0"/>
                        <a:ea typeface="Calibri" charset="0"/>
                        <a:cs typeface="Calibri"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indent="0" marL="0">
                        <a:buNone/>
                      </a:pPr>
                      <a:r>
                        <a:rPr lang="en-US" sz="1200" dirty="0">
                          <a:solidFill>
                            <a:srgbClr val="0E7C86"/>
                          </a:solidFill>
                          <a:latin typeface="Courier New" pitchFamily="34" charset="0"/>
                          <a:ea typeface="Courier New" pitchFamily="34" charset="-122"/>
                          <a:cs typeface="Courier New" pitchFamily="34" charset="-120"/>
                        </a:rPr>
                        <a:t>PROC PRINT</a:t>
                      </a:r>
                      <a:endParaRPr lang="en-US" sz="1200" dirty="0">
                        <a:latin typeface="Courier New" charset="0"/>
                        <a:ea typeface="Courier New" charset="0"/>
                        <a:cs typeface="Courier New"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indent="0" marL="0">
                        <a:buNone/>
                      </a:pPr>
                      <a:r>
                        <a:rPr lang="en-US" sz="1200" dirty="0">
                          <a:solidFill>
                            <a:srgbClr val="B5651A"/>
                          </a:solidFill>
                          <a:latin typeface="Courier New" pitchFamily="34" charset="0"/>
                          <a:ea typeface="Courier New" pitchFamily="34" charset="-122"/>
                          <a:cs typeface="Courier New" pitchFamily="34" charset="-120"/>
                        </a:rPr>
                        <a:t>head() / print</a:t>
                      </a:r>
                      <a:endParaRPr lang="en-US" sz="1200" dirty="0">
                        <a:latin typeface="Courier New" charset="0"/>
                        <a:ea typeface="Courier New" charset="0"/>
                        <a:cs typeface="Courier New"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rgbClr val="0F2E3D"/>
                          </a:solidFill>
                          <a:latin typeface="Calibri" pitchFamily="34" charset="0"/>
                          <a:ea typeface="Calibri" pitchFamily="34" charset="-122"/>
                          <a:cs typeface="Calibri" pitchFamily="34" charset="-120"/>
                        </a:rPr>
                        <a:t>Keep rows</a:t>
                      </a:r>
                      <a:endParaRPr lang="en-US" sz="1250" dirty="0">
                        <a:latin typeface="Calibri" charset="0"/>
                        <a:ea typeface="Calibri" charset="0"/>
                        <a:cs typeface="Calibri"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indent="0" marL="0">
                        <a:buNone/>
                      </a:pPr>
                      <a:r>
                        <a:rPr lang="en-US" sz="1200" dirty="0">
                          <a:solidFill>
                            <a:srgbClr val="0E7C86"/>
                          </a:solidFill>
                          <a:latin typeface="Courier New" pitchFamily="34" charset="0"/>
                          <a:ea typeface="Courier New" pitchFamily="34" charset="-122"/>
                          <a:cs typeface="Courier New" pitchFamily="34" charset="-120"/>
                        </a:rPr>
                        <a:t>WHERE / IF</a:t>
                      </a:r>
                      <a:endParaRPr lang="en-US" sz="1200" dirty="0">
                        <a:latin typeface="Courier New" charset="0"/>
                        <a:ea typeface="Courier New" charset="0"/>
                        <a:cs typeface="Courier New"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indent="0" marL="0">
                        <a:buNone/>
                      </a:pPr>
                      <a:r>
                        <a:rPr lang="en-US" sz="1200" dirty="0">
                          <a:solidFill>
                            <a:srgbClr val="B5651A"/>
                          </a:solidFill>
                          <a:latin typeface="Courier New" pitchFamily="34" charset="0"/>
                          <a:ea typeface="Courier New" pitchFamily="34" charset="-122"/>
                          <a:cs typeface="Courier New" pitchFamily="34" charset="-120"/>
                        </a:rPr>
                        <a:t>filter()</a:t>
                      </a:r>
                      <a:endParaRPr lang="en-US" sz="1200" dirty="0">
                        <a:latin typeface="Courier New" charset="0"/>
                        <a:ea typeface="Courier New" charset="0"/>
                        <a:cs typeface="Courier New"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r>
              <a:tr h="365760">
                <a:tc>
                  <a:txBody>
                    <a:bodyPr/>
                    <a:lstStyle/>
                    <a:p>
                      <a:pPr indent="0" marL="0">
                        <a:buNone/>
                      </a:pPr>
                      <a:r>
                        <a:rPr lang="en-US" sz="1250" b="1" dirty="0">
                          <a:solidFill>
                            <a:srgbClr val="0F2E3D"/>
                          </a:solidFill>
                          <a:latin typeface="Calibri" pitchFamily="34" charset="0"/>
                          <a:ea typeface="Calibri" pitchFamily="34" charset="-122"/>
                          <a:cs typeface="Calibri" pitchFamily="34" charset="-120"/>
                        </a:rPr>
                        <a:t>Keep columns</a:t>
                      </a:r>
                      <a:endParaRPr lang="en-US" sz="1250" dirty="0">
                        <a:latin typeface="Calibri" charset="0"/>
                        <a:ea typeface="Calibri" charset="0"/>
                        <a:cs typeface="Calibri"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indent="0" marL="0">
                        <a:buNone/>
                      </a:pPr>
                      <a:r>
                        <a:rPr lang="en-US" sz="1200" dirty="0">
                          <a:solidFill>
                            <a:srgbClr val="0E7C86"/>
                          </a:solidFill>
                          <a:latin typeface="Courier New" pitchFamily="34" charset="0"/>
                          <a:ea typeface="Courier New" pitchFamily="34" charset="-122"/>
                          <a:cs typeface="Courier New" pitchFamily="34" charset="-120"/>
                        </a:rPr>
                        <a:t>KEEP / DROP</a:t>
                      </a:r>
                      <a:endParaRPr lang="en-US" sz="1200" dirty="0">
                        <a:latin typeface="Courier New" charset="0"/>
                        <a:ea typeface="Courier New" charset="0"/>
                        <a:cs typeface="Courier New"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indent="0" marL="0">
                        <a:buNone/>
                      </a:pPr>
                      <a:r>
                        <a:rPr lang="en-US" sz="1200" dirty="0">
                          <a:solidFill>
                            <a:srgbClr val="B5651A"/>
                          </a:solidFill>
                          <a:latin typeface="Courier New" pitchFamily="34" charset="0"/>
                          <a:ea typeface="Courier New" pitchFamily="34" charset="-122"/>
                          <a:cs typeface="Courier New" pitchFamily="34" charset="-120"/>
                        </a:rPr>
                        <a:t>select()</a:t>
                      </a:r>
                      <a:endParaRPr lang="en-US" sz="1200" dirty="0">
                        <a:latin typeface="Courier New" charset="0"/>
                        <a:ea typeface="Courier New" charset="0"/>
                        <a:cs typeface="Courier New"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rgbClr val="0F2E3D"/>
                          </a:solidFill>
                          <a:latin typeface="Calibri" pitchFamily="34" charset="0"/>
                          <a:ea typeface="Calibri" pitchFamily="34" charset="-122"/>
                          <a:cs typeface="Calibri" pitchFamily="34" charset="-120"/>
                        </a:rPr>
                        <a:t>New variable</a:t>
                      </a:r>
                      <a:endParaRPr lang="en-US" sz="1250" dirty="0">
                        <a:latin typeface="Calibri" charset="0"/>
                        <a:ea typeface="Calibri" charset="0"/>
                        <a:cs typeface="Calibri"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indent="0" marL="0">
                        <a:buNone/>
                      </a:pPr>
                      <a:r>
                        <a:rPr lang="en-US" sz="1200" dirty="0">
                          <a:solidFill>
                            <a:srgbClr val="0E7C86"/>
                          </a:solidFill>
                          <a:latin typeface="Courier New" pitchFamily="34" charset="0"/>
                          <a:ea typeface="Courier New" pitchFamily="34" charset="-122"/>
                          <a:cs typeface="Courier New" pitchFamily="34" charset="-120"/>
                        </a:rPr>
                        <a:t>DATA step assignment</a:t>
                      </a:r>
                      <a:endParaRPr lang="en-US" sz="1200" dirty="0">
                        <a:latin typeface="Courier New" charset="0"/>
                        <a:ea typeface="Courier New" charset="0"/>
                        <a:cs typeface="Courier New"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indent="0" marL="0">
                        <a:buNone/>
                      </a:pPr>
                      <a:r>
                        <a:rPr lang="en-US" sz="1200" dirty="0">
                          <a:solidFill>
                            <a:srgbClr val="B5651A"/>
                          </a:solidFill>
                          <a:latin typeface="Courier New" pitchFamily="34" charset="0"/>
                          <a:ea typeface="Courier New" pitchFamily="34" charset="-122"/>
                          <a:cs typeface="Courier New" pitchFamily="34" charset="-120"/>
                        </a:rPr>
                        <a:t>mutate()</a:t>
                      </a:r>
                      <a:endParaRPr lang="en-US" sz="1200" dirty="0">
                        <a:latin typeface="Courier New" charset="0"/>
                        <a:ea typeface="Courier New" charset="0"/>
                        <a:cs typeface="Courier New"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r>
              <a:tr h="365760">
                <a:tc>
                  <a:txBody>
                    <a:bodyPr/>
                    <a:lstStyle/>
                    <a:p>
                      <a:pPr indent="0" marL="0">
                        <a:buNone/>
                      </a:pPr>
                      <a:r>
                        <a:rPr lang="en-US" sz="1250" b="1" dirty="0">
                          <a:solidFill>
                            <a:srgbClr val="0F2E3D"/>
                          </a:solidFill>
                          <a:latin typeface="Calibri" pitchFamily="34" charset="0"/>
                          <a:ea typeface="Calibri" pitchFamily="34" charset="-122"/>
                          <a:cs typeface="Calibri" pitchFamily="34" charset="-120"/>
                        </a:rPr>
                        <a:t>Multi-way logic</a:t>
                      </a:r>
                      <a:endParaRPr lang="en-US" sz="1250" dirty="0">
                        <a:latin typeface="Calibri" charset="0"/>
                        <a:ea typeface="Calibri" charset="0"/>
                        <a:cs typeface="Calibri"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indent="0" marL="0">
                        <a:buNone/>
                      </a:pPr>
                      <a:r>
                        <a:rPr lang="en-US" sz="1200" dirty="0">
                          <a:solidFill>
                            <a:srgbClr val="0E7C86"/>
                          </a:solidFill>
                          <a:latin typeface="Courier New" pitchFamily="34" charset="0"/>
                          <a:ea typeface="Courier New" pitchFamily="34" charset="-122"/>
                          <a:cs typeface="Courier New" pitchFamily="34" charset="-120"/>
                        </a:rPr>
                        <a:t>IF / THEN / ELSE</a:t>
                      </a:r>
                      <a:endParaRPr lang="en-US" sz="1200" dirty="0">
                        <a:latin typeface="Courier New" charset="0"/>
                        <a:ea typeface="Courier New" charset="0"/>
                        <a:cs typeface="Courier New"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indent="0" marL="0">
                        <a:buNone/>
                      </a:pPr>
                      <a:r>
                        <a:rPr lang="en-US" sz="1200" dirty="0">
                          <a:solidFill>
                            <a:srgbClr val="B5651A"/>
                          </a:solidFill>
                          <a:latin typeface="Courier New" pitchFamily="34" charset="0"/>
                          <a:ea typeface="Courier New" pitchFamily="34" charset="-122"/>
                          <a:cs typeface="Courier New" pitchFamily="34" charset="-120"/>
                        </a:rPr>
                        <a:t>case_when()</a:t>
                      </a:r>
                      <a:endParaRPr lang="en-US" sz="1200" dirty="0">
                        <a:latin typeface="Courier New" charset="0"/>
                        <a:ea typeface="Courier New" charset="0"/>
                        <a:cs typeface="Courier New"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rgbClr val="0F2E3D"/>
                          </a:solidFill>
                          <a:latin typeface="Calibri" pitchFamily="34" charset="0"/>
                          <a:ea typeface="Calibri" pitchFamily="34" charset="-122"/>
                          <a:cs typeface="Calibri" pitchFamily="34" charset="-120"/>
                        </a:rPr>
                        <a:t>Sort</a:t>
                      </a:r>
                      <a:endParaRPr lang="en-US" sz="1250" dirty="0">
                        <a:latin typeface="Calibri" charset="0"/>
                        <a:ea typeface="Calibri" charset="0"/>
                        <a:cs typeface="Calibri"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indent="0" marL="0">
                        <a:buNone/>
                      </a:pPr>
                      <a:r>
                        <a:rPr lang="en-US" sz="1200" dirty="0">
                          <a:solidFill>
                            <a:srgbClr val="0E7C86"/>
                          </a:solidFill>
                          <a:latin typeface="Courier New" pitchFamily="34" charset="0"/>
                          <a:ea typeface="Courier New" pitchFamily="34" charset="-122"/>
                          <a:cs typeface="Courier New" pitchFamily="34" charset="-120"/>
                        </a:rPr>
                        <a:t>PROC SORT</a:t>
                      </a:r>
                      <a:endParaRPr lang="en-US" sz="1200" dirty="0">
                        <a:latin typeface="Courier New" charset="0"/>
                        <a:ea typeface="Courier New" charset="0"/>
                        <a:cs typeface="Courier New"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indent="0" marL="0">
                        <a:buNone/>
                      </a:pPr>
                      <a:r>
                        <a:rPr lang="en-US" sz="1200" dirty="0">
                          <a:solidFill>
                            <a:srgbClr val="B5651A"/>
                          </a:solidFill>
                          <a:latin typeface="Courier New" pitchFamily="34" charset="0"/>
                          <a:ea typeface="Courier New" pitchFamily="34" charset="-122"/>
                          <a:cs typeface="Courier New" pitchFamily="34" charset="-120"/>
                        </a:rPr>
                        <a:t>arrange()</a:t>
                      </a:r>
                      <a:endParaRPr lang="en-US" sz="1200" dirty="0">
                        <a:latin typeface="Courier New" charset="0"/>
                        <a:ea typeface="Courier New" charset="0"/>
                        <a:cs typeface="Courier New"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r>
              <a:tr h="365760">
                <a:tc>
                  <a:txBody>
                    <a:bodyPr/>
                    <a:lstStyle/>
                    <a:p>
                      <a:pPr indent="0" marL="0">
                        <a:buNone/>
                      </a:pPr>
                      <a:r>
                        <a:rPr lang="en-US" sz="1250" b="1" dirty="0">
                          <a:solidFill>
                            <a:srgbClr val="0F2E3D"/>
                          </a:solidFill>
                          <a:latin typeface="Calibri" pitchFamily="34" charset="0"/>
                          <a:ea typeface="Calibri" pitchFamily="34" charset="-122"/>
                          <a:cs typeface="Calibri" pitchFamily="34" charset="-120"/>
                        </a:rPr>
                        <a:t>Count categories</a:t>
                      </a:r>
                      <a:endParaRPr lang="en-US" sz="1250" dirty="0">
                        <a:latin typeface="Calibri" charset="0"/>
                        <a:ea typeface="Calibri" charset="0"/>
                        <a:cs typeface="Calibri"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indent="0" marL="0">
                        <a:buNone/>
                      </a:pPr>
                      <a:r>
                        <a:rPr lang="en-US" sz="1200" dirty="0">
                          <a:solidFill>
                            <a:srgbClr val="0E7C86"/>
                          </a:solidFill>
                          <a:latin typeface="Courier New" pitchFamily="34" charset="0"/>
                          <a:ea typeface="Courier New" pitchFamily="34" charset="-122"/>
                          <a:cs typeface="Courier New" pitchFamily="34" charset="-120"/>
                        </a:rPr>
                        <a:t>PROC FREQ</a:t>
                      </a:r>
                      <a:endParaRPr lang="en-US" sz="1200" dirty="0">
                        <a:latin typeface="Courier New" charset="0"/>
                        <a:ea typeface="Courier New" charset="0"/>
                        <a:cs typeface="Courier New"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indent="0" marL="0">
                        <a:buNone/>
                      </a:pPr>
                      <a:r>
                        <a:rPr lang="en-US" sz="1200" dirty="0">
                          <a:solidFill>
                            <a:srgbClr val="B5651A"/>
                          </a:solidFill>
                          <a:latin typeface="Courier New" pitchFamily="34" charset="0"/>
                          <a:ea typeface="Courier New" pitchFamily="34" charset="-122"/>
                          <a:cs typeface="Courier New" pitchFamily="34" charset="-120"/>
                        </a:rPr>
                        <a:t>count()</a:t>
                      </a:r>
                      <a:endParaRPr lang="en-US" sz="1200" dirty="0">
                        <a:latin typeface="Courier New" charset="0"/>
                        <a:ea typeface="Courier New" charset="0"/>
                        <a:cs typeface="Courier New"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rgbClr val="0F2E3D"/>
                          </a:solidFill>
                          <a:latin typeface="Calibri" pitchFamily="34" charset="0"/>
                          <a:ea typeface="Calibri" pitchFamily="34" charset="-122"/>
                          <a:cs typeface="Calibri" pitchFamily="34" charset="-120"/>
                        </a:rPr>
                        <a:t>Summarize numbers</a:t>
                      </a:r>
                      <a:endParaRPr lang="en-US" sz="1250" dirty="0">
                        <a:latin typeface="Calibri" charset="0"/>
                        <a:ea typeface="Calibri" charset="0"/>
                        <a:cs typeface="Calibri"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indent="0" marL="0">
                        <a:buNone/>
                      </a:pPr>
                      <a:r>
                        <a:rPr lang="en-US" sz="1200" dirty="0">
                          <a:solidFill>
                            <a:srgbClr val="0E7C86"/>
                          </a:solidFill>
                          <a:latin typeface="Courier New" pitchFamily="34" charset="0"/>
                          <a:ea typeface="Courier New" pitchFamily="34" charset="-122"/>
                          <a:cs typeface="Courier New" pitchFamily="34" charset="-120"/>
                        </a:rPr>
                        <a:t>PROC MEANS</a:t>
                      </a:r>
                      <a:endParaRPr lang="en-US" sz="1200" dirty="0">
                        <a:latin typeface="Courier New" charset="0"/>
                        <a:ea typeface="Courier New" charset="0"/>
                        <a:cs typeface="Courier New"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indent="0" marL="0">
                        <a:buNone/>
                      </a:pPr>
                      <a:r>
                        <a:rPr lang="en-US" sz="1200" dirty="0">
                          <a:solidFill>
                            <a:srgbClr val="B5651A"/>
                          </a:solidFill>
                          <a:latin typeface="Courier New" pitchFamily="34" charset="0"/>
                          <a:ea typeface="Courier New" pitchFamily="34" charset="-122"/>
                          <a:cs typeface="Courier New" pitchFamily="34" charset="-120"/>
                        </a:rPr>
                        <a:t>group_by() + summarise()</a:t>
                      </a:r>
                      <a:endParaRPr lang="en-US" sz="1200" dirty="0">
                        <a:latin typeface="Courier New" charset="0"/>
                        <a:ea typeface="Courier New" charset="0"/>
                        <a:cs typeface="Courier New"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r>
              <a:tr h="365760">
                <a:tc>
                  <a:txBody>
                    <a:bodyPr/>
                    <a:lstStyle/>
                    <a:p>
                      <a:pPr indent="0" marL="0">
                        <a:buNone/>
                      </a:pPr>
                      <a:r>
                        <a:rPr lang="en-US" sz="1250" b="1" dirty="0">
                          <a:solidFill>
                            <a:srgbClr val="0F2E3D"/>
                          </a:solidFill>
                          <a:latin typeface="Calibri" pitchFamily="34" charset="0"/>
                          <a:ea typeface="Calibri" pitchFamily="34" charset="-122"/>
                          <a:cs typeface="Calibri" pitchFamily="34" charset="-120"/>
                        </a:rPr>
                        <a:t>Join datasets</a:t>
                      </a:r>
                      <a:endParaRPr lang="en-US" sz="1250" dirty="0">
                        <a:latin typeface="Calibri" charset="0"/>
                        <a:ea typeface="Calibri" charset="0"/>
                        <a:cs typeface="Calibri"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indent="0" marL="0">
                        <a:buNone/>
                      </a:pPr>
                      <a:r>
                        <a:rPr lang="en-US" sz="1200" dirty="0">
                          <a:solidFill>
                            <a:srgbClr val="0E7C86"/>
                          </a:solidFill>
                          <a:latin typeface="Courier New" pitchFamily="34" charset="0"/>
                          <a:ea typeface="Courier New" pitchFamily="34" charset="-122"/>
                          <a:cs typeface="Courier New" pitchFamily="34" charset="-120"/>
                        </a:rPr>
                        <a:t>MERGE ... BY</a:t>
                      </a:r>
                      <a:endParaRPr lang="en-US" sz="1200" dirty="0">
                        <a:latin typeface="Courier New" charset="0"/>
                        <a:ea typeface="Courier New" charset="0"/>
                        <a:cs typeface="Courier New"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indent="0" marL="0">
                        <a:buNone/>
                      </a:pPr>
                      <a:r>
                        <a:rPr lang="en-US" sz="1200" dirty="0">
                          <a:solidFill>
                            <a:srgbClr val="B5651A"/>
                          </a:solidFill>
                          <a:latin typeface="Courier New" pitchFamily="34" charset="0"/>
                          <a:ea typeface="Courier New" pitchFamily="34" charset="-122"/>
                          <a:cs typeface="Courier New" pitchFamily="34" charset="-120"/>
                        </a:rPr>
                        <a:t>left_join()</a:t>
                      </a:r>
                      <a:endParaRPr lang="en-US" sz="1200" dirty="0">
                        <a:latin typeface="Courier New" charset="0"/>
                        <a:ea typeface="Courier New" charset="0"/>
                        <a:cs typeface="Courier New"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rgbClr val="0F2E3D"/>
                          </a:solidFill>
                          <a:latin typeface="Calibri" pitchFamily="34" charset="0"/>
                          <a:ea typeface="Calibri" pitchFamily="34" charset="-122"/>
                          <a:cs typeface="Calibri" pitchFamily="34" charset="-120"/>
                        </a:rPr>
                        <a:t>Stack datasets</a:t>
                      </a:r>
                      <a:endParaRPr lang="en-US" sz="1250" dirty="0">
                        <a:latin typeface="Calibri" charset="0"/>
                        <a:ea typeface="Calibri" charset="0"/>
                        <a:cs typeface="Calibri"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indent="0" marL="0">
                        <a:buNone/>
                      </a:pPr>
                      <a:r>
                        <a:rPr lang="en-US" sz="1200" dirty="0">
                          <a:solidFill>
                            <a:srgbClr val="0E7C86"/>
                          </a:solidFill>
                          <a:latin typeface="Courier New" pitchFamily="34" charset="0"/>
                          <a:ea typeface="Courier New" pitchFamily="34" charset="-122"/>
                          <a:cs typeface="Courier New" pitchFamily="34" charset="-120"/>
                        </a:rPr>
                        <a:t>SET a b;</a:t>
                      </a:r>
                      <a:endParaRPr lang="en-US" sz="1200" dirty="0">
                        <a:latin typeface="Courier New" charset="0"/>
                        <a:ea typeface="Courier New" charset="0"/>
                        <a:cs typeface="Courier New"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indent="0" marL="0">
                        <a:buNone/>
                      </a:pPr>
                      <a:r>
                        <a:rPr lang="en-US" sz="1200" dirty="0">
                          <a:solidFill>
                            <a:srgbClr val="B5651A"/>
                          </a:solidFill>
                          <a:latin typeface="Courier New" pitchFamily="34" charset="0"/>
                          <a:ea typeface="Courier New" pitchFamily="34" charset="-122"/>
                          <a:cs typeface="Courier New" pitchFamily="34" charset="-120"/>
                        </a:rPr>
                        <a:t>bind_rows()</a:t>
                      </a:r>
                      <a:endParaRPr lang="en-US" sz="1200" dirty="0">
                        <a:latin typeface="Courier New" charset="0"/>
                        <a:ea typeface="Courier New" charset="0"/>
                        <a:cs typeface="Courier New" charset="0"/>
                      </a:endParaRPr>
                    </a:p>
                  </a:txBody>
                  <a:tcPr marL="101600" marR="1016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200" b="1" spc="200" kern="0" dirty="0">
                <a:solidFill>
                  <a:srgbClr val="6FC8B4"/>
                </a:solidFill>
                <a:latin typeface="Calibri" pitchFamily="34" charset="0"/>
                <a:ea typeface="Calibri" pitchFamily="34" charset="-122"/>
                <a:cs typeface="Calibri" pitchFamily="34" charset="-120"/>
              </a:rPr>
              <a:t>SAME IDEA, DIFFERENT NAMES</a:t>
            </a:r>
            <a:endParaRPr lang="en-US" sz="1200" dirty="0"/>
          </a:p>
        </p:txBody>
      </p:sp>
      <p:sp>
        <p:nvSpPr>
          <p:cNvPr id="3" name="Text 1"/>
          <p:cNvSpPr/>
          <p:nvPr/>
        </p:nvSpPr>
        <p:spPr>
          <a:xfrm>
            <a:off x="603504" y="822960"/>
            <a:ext cx="109728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Where your data lives</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972800" cy="914400"/>
        </p:xfrm>
        <a:graphic>
          <a:graphicData uri="http://schemas.openxmlformats.org/drawingml/2006/table">
            <a:tbl>
              <a:tblPr/>
              <a:tblGrid>
                <a:gridCol w="3657600"/>
                <a:gridCol w="3657600"/>
                <a:gridCol w="3657600"/>
              </a:tblGrid>
              <a:tr h="566928">
                <a:tc>
                  <a:txBody>
                    <a:bodyPr/>
                    <a:lstStyle/>
                    <a:p>
                      <a:pPr indent="0" marL="0">
                        <a:buNone/>
                      </a:pPr>
                      <a:r>
                        <a:rPr lang="en-US" sz="1300" b="1" dirty="0">
                          <a:solidFill>
                            <a:srgbClr val="0F2E3D"/>
                          </a:solidFill>
                          <a:latin typeface="Calibri" pitchFamily="34" charset="0"/>
                          <a:ea typeface="Calibri" pitchFamily="34" charset="-122"/>
                          <a:cs typeface="Calibri" pitchFamily="34" charset="-120"/>
                        </a:rPr>
                        <a:t>Concept</a:t>
                      </a:r>
                      <a:endParaRPr lang="en-US" sz="1300" dirty="0">
                        <a:latin typeface="Calibri" charset="0"/>
                        <a:ea typeface="Calibri" charset="0"/>
                        <a:cs typeface="Calibri"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6FC8B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SAS</a:t>
                      </a:r>
                      <a:endParaRPr lang="en-US" sz="1300" dirty="0">
                        <a:latin typeface="Calibri" charset="0"/>
                        <a:ea typeface="Calibri" charset="0"/>
                        <a:cs typeface="Calibri"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0E7C8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E8833A"/>
                    </a:solidFill>
                  </a:tcPr>
                </a:tc>
              </a:tr>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 table of data</a:t>
                      </a:r>
                      <a:endParaRPr lang="en-US" sz="1300" dirty="0">
                        <a:latin typeface="Calibri" charset="0"/>
                        <a:ea typeface="Calibri" charset="0"/>
                        <a:cs typeface="Calibri"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3323F"/>
                    </a:solidFill>
                  </a:tcPr>
                </a:tc>
                <a:tc>
                  <a:txBody>
                    <a:bodyPr/>
                    <a:lstStyle/>
                    <a:p>
                      <a:pPr indent="0" marL="0">
                        <a:buNone/>
                      </a:pPr>
                      <a:r>
                        <a:rPr lang="en-US" sz="1250" dirty="0">
                          <a:solidFill>
                            <a:srgbClr val="6FC8B4"/>
                          </a:solidFill>
                          <a:latin typeface="Courier New" pitchFamily="34" charset="0"/>
                          <a:ea typeface="Courier New" pitchFamily="34" charset="-122"/>
                          <a:cs typeface="Courier New" pitchFamily="34" charset="-120"/>
                        </a:rPr>
                        <a:t>dataset</a:t>
                      </a:r>
                      <a:endParaRPr lang="en-US" sz="1250" dirty="0">
                        <a:latin typeface="Courier New" charset="0"/>
                        <a:ea typeface="Courier New" charset="0"/>
                        <a:cs typeface="Courier New"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3323F"/>
                    </a:solidFill>
                  </a:tcPr>
                </a:tc>
                <a:tc>
                  <a:txBody>
                    <a:bodyPr/>
                    <a:lstStyle/>
                    <a:p>
                      <a:pPr indent="0" marL="0">
                        <a:buNone/>
                      </a:pPr>
                      <a:r>
                        <a:rPr lang="en-US" sz="1250" dirty="0">
                          <a:solidFill>
                            <a:srgbClr val="F0B27A"/>
                          </a:solidFill>
                          <a:latin typeface="Courier New" pitchFamily="34" charset="0"/>
                          <a:ea typeface="Courier New" pitchFamily="34" charset="-122"/>
                          <a:cs typeface="Courier New" pitchFamily="34" charset="-120"/>
                        </a:rPr>
                        <a:t>data frame / tibble</a:t>
                      </a:r>
                      <a:endParaRPr lang="en-US" sz="1250" dirty="0">
                        <a:latin typeface="Courier New" charset="0"/>
                        <a:ea typeface="Courier New" charset="0"/>
                        <a:cs typeface="Courier New"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3323F"/>
                    </a:solidFill>
                  </a:tcPr>
                </a:tc>
              </a:tr>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 place to store tables</a:t>
                      </a:r>
                      <a:endParaRPr lang="en-US" sz="1300" dirty="0">
                        <a:latin typeface="Calibri" charset="0"/>
                        <a:ea typeface="Calibri" charset="0"/>
                        <a:cs typeface="Calibri"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6404F"/>
                    </a:solidFill>
                  </a:tcPr>
                </a:tc>
                <a:tc>
                  <a:txBody>
                    <a:bodyPr/>
                    <a:lstStyle/>
                    <a:p>
                      <a:pPr indent="0" marL="0">
                        <a:buNone/>
                      </a:pPr>
                      <a:r>
                        <a:rPr lang="en-US" sz="1250" dirty="0">
                          <a:solidFill>
                            <a:srgbClr val="6FC8B4"/>
                          </a:solidFill>
                          <a:latin typeface="Courier New" pitchFamily="34" charset="0"/>
                          <a:ea typeface="Courier New" pitchFamily="34" charset="-122"/>
                          <a:cs typeface="Courier New" pitchFamily="34" charset="-120"/>
                        </a:rPr>
                        <a:t>library (LIBNAME)</a:t>
                      </a:r>
                      <a:endParaRPr lang="en-US" sz="1250" dirty="0">
                        <a:latin typeface="Courier New" charset="0"/>
                        <a:ea typeface="Courier New" charset="0"/>
                        <a:cs typeface="Courier New"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6404F"/>
                    </a:solidFill>
                  </a:tcPr>
                </a:tc>
                <a:tc>
                  <a:txBody>
                    <a:bodyPr/>
                    <a:lstStyle/>
                    <a:p>
                      <a:pPr indent="0" marL="0">
                        <a:buNone/>
                      </a:pPr>
                      <a:r>
                        <a:rPr lang="en-US" sz="1250" dirty="0">
                          <a:solidFill>
                            <a:srgbClr val="F0B27A"/>
                          </a:solidFill>
                          <a:latin typeface="Courier New" pitchFamily="34" charset="0"/>
                          <a:ea typeface="Courier New" pitchFamily="34" charset="-122"/>
                          <a:cs typeface="Courier New" pitchFamily="34" charset="-120"/>
                        </a:rPr>
                        <a:t>your R environment / files</a:t>
                      </a:r>
                      <a:endParaRPr lang="en-US" sz="1250" dirty="0">
                        <a:latin typeface="Courier New" charset="0"/>
                        <a:ea typeface="Courier New" charset="0"/>
                        <a:cs typeface="Courier New"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6404F"/>
                    </a:solidFill>
                  </a:tcPr>
                </a:tc>
              </a:tr>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Temporary scratch space</a:t>
                      </a:r>
                      <a:endParaRPr lang="en-US" sz="1300" dirty="0">
                        <a:latin typeface="Calibri" charset="0"/>
                        <a:ea typeface="Calibri" charset="0"/>
                        <a:cs typeface="Calibri"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3323F"/>
                    </a:solidFill>
                  </a:tcPr>
                </a:tc>
                <a:tc>
                  <a:txBody>
                    <a:bodyPr/>
                    <a:lstStyle/>
                    <a:p>
                      <a:pPr indent="0" marL="0">
                        <a:buNone/>
                      </a:pPr>
                      <a:r>
                        <a:rPr lang="en-US" sz="1250" dirty="0">
                          <a:solidFill>
                            <a:srgbClr val="6FC8B4"/>
                          </a:solidFill>
                          <a:latin typeface="Courier New" pitchFamily="34" charset="0"/>
                          <a:ea typeface="Courier New" pitchFamily="34" charset="-122"/>
                          <a:cs typeface="Courier New" pitchFamily="34" charset="-120"/>
                        </a:rPr>
                        <a:t>WORK library</a:t>
                      </a:r>
                      <a:endParaRPr lang="en-US" sz="1250" dirty="0">
                        <a:latin typeface="Courier New" charset="0"/>
                        <a:ea typeface="Courier New" charset="0"/>
                        <a:cs typeface="Courier New"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3323F"/>
                    </a:solidFill>
                  </a:tcPr>
                </a:tc>
                <a:tc>
                  <a:txBody>
                    <a:bodyPr/>
                    <a:lstStyle/>
                    <a:p>
                      <a:pPr indent="0" marL="0">
                        <a:buNone/>
                      </a:pPr>
                      <a:r>
                        <a:rPr lang="en-US" sz="1250" dirty="0">
                          <a:solidFill>
                            <a:srgbClr val="F0B27A"/>
                          </a:solidFill>
                          <a:latin typeface="Courier New" pitchFamily="34" charset="0"/>
                          <a:ea typeface="Courier New" pitchFamily="34" charset="-122"/>
                          <a:cs typeface="Courier New" pitchFamily="34" charset="-120"/>
                        </a:rPr>
                        <a:t>objects in the session</a:t>
                      </a:r>
                      <a:endParaRPr lang="en-US" sz="1250" dirty="0">
                        <a:latin typeface="Courier New" charset="0"/>
                        <a:ea typeface="Courier New" charset="0"/>
                        <a:cs typeface="Courier New"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3323F"/>
                    </a:solidFill>
                  </a:tcPr>
                </a:tc>
              </a:tr>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Add-on functionality</a:t>
                      </a:r>
                      <a:endParaRPr lang="en-US" sz="1300" dirty="0">
                        <a:latin typeface="Calibri" charset="0"/>
                        <a:ea typeface="Calibri" charset="0"/>
                        <a:cs typeface="Calibri"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6404F"/>
                    </a:solidFill>
                  </a:tcPr>
                </a:tc>
                <a:tc>
                  <a:txBody>
                    <a:bodyPr/>
                    <a:lstStyle/>
                    <a:p>
                      <a:pPr indent="0" marL="0">
                        <a:buNone/>
                      </a:pPr>
                      <a:r>
                        <a:rPr lang="en-US" sz="1250" dirty="0">
                          <a:solidFill>
                            <a:srgbClr val="6FC8B4"/>
                          </a:solidFill>
                          <a:latin typeface="Courier New" pitchFamily="34" charset="0"/>
                          <a:ea typeface="Courier New" pitchFamily="34" charset="-122"/>
                          <a:cs typeface="Courier New" pitchFamily="34" charset="-120"/>
                        </a:rPr>
                        <a:t>SAS procedures (built in)</a:t>
                      </a:r>
                      <a:endParaRPr lang="en-US" sz="1250" dirty="0">
                        <a:latin typeface="Courier New" charset="0"/>
                        <a:ea typeface="Courier New" charset="0"/>
                        <a:cs typeface="Courier New"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6404F"/>
                    </a:solidFill>
                  </a:tcPr>
                </a:tc>
                <a:tc>
                  <a:txBody>
                    <a:bodyPr/>
                    <a:lstStyle/>
                    <a:p>
                      <a:pPr indent="0" marL="0">
                        <a:buNone/>
                      </a:pPr>
                      <a:r>
                        <a:rPr lang="en-US" sz="1250" dirty="0">
                          <a:solidFill>
                            <a:srgbClr val="F0B27A"/>
                          </a:solidFill>
                          <a:latin typeface="Courier New" pitchFamily="34" charset="0"/>
                          <a:ea typeface="Courier New" pitchFamily="34" charset="-122"/>
                          <a:cs typeface="Courier New" pitchFamily="34" charset="-120"/>
                        </a:rPr>
                        <a:t>packages (install.packages)</a:t>
                      </a:r>
                      <a:endParaRPr lang="en-US" sz="1250" dirty="0">
                        <a:latin typeface="Courier New" charset="0"/>
                        <a:ea typeface="Courier New" charset="0"/>
                        <a:cs typeface="Courier New"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6404F"/>
                    </a:solidFill>
                  </a:tcPr>
                </a:tc>
              </a:tr>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 missing number</a:t>
                      </a:r>
                      <a:endParaRPr lang="en-US" sz="1300" dirty="0">
                        <a:latin typeface="Calibri" charset="0"/>
                        <a:ea typeface="Calibri" charset="0"/>
                        <a:cs typeface="Calibri"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3323F"/>
                    </a:solidFill>
                  </a:tcPr>
                </a:tc>
                <a:tc>
                  <a:txBody>
                    <a:bodyPr/>
                    <a:lstStyle/>
                    <a:p>
                      <a:pPr indent="0" marL="0">
                        <a:buNone/>
                      </a:pPr>
                      <a:r>
                        <a:rPr lang="en-US" sz="1250" dirty="0">
                          <a:solidFill>
                            <a:srgbClr val="6FC8B4"/>
                          </a:solidFill>
                          <a:latin typeface="Courier New" pitchFamily="34" charset="0"/>
                          <a:ea typeface="Courier New" pitchFamily="34" charset="-122"/>
                          <a:cs typeface="Courier New" pitchFamily="34" charset="-120"/>
                        </a:rPr>
                        <a:t>.  (a single dot)</a:t>
                      </a:r>
                      <a:endParaRPr lang="en-US" sz="1250" dirty="0">
                        <a:latin typeface="Courier New" charset="0"/>
                        <a:ea typeface="Courier New" charset="0"/>
                        <a:cs typeface="Courier New"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3323F"/>
                    </a:solidFill>
                  </a:tcPr>
                </a:tc>
                <a:tc>
                  <a:txBody>
                    <a:bodyPr/>
                    <a:lstStyle/>
                    <a:p>
                      <a:pPr indent="0" marL="0">
                        <a:buNone/>
                      </a:pPr>
                      <a:r>
                        <a:rPr lang="en-US" sz="1250" dirty="0">
                          <a:solidFill>
                            <a:srgbClr val="F0B27A"/>
                          </a:solidFill>
                          <a:latin typeface="Courier New" pitchFamily="34" charset="0"/>
                          <a:ea typeface="Courier New" pitchFamily="34" charset="-122"/>
                          <a:cs typeface="Courier New" pitchFamily="34" charset="-120"/>
                        </a:rPr>
                        <a:t>NA</a:t>
                      </a:r>
                      <a:endParaRPr lang="en-US" sz="1250" dirty="0">
                        <a:latin typeface="Courier New" charset="0"/>
                        <a:ea typeface="Courier New" charset="0"/>
                        <a:cs typeface="Courier New"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3323F"/>
                    </a:solidFill>
                  </a:tcPr>
                </a:tc>
              </a:tr>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 missing text value</a:t>
                      </a:r>
                      <a:endParaRPr lang="en-US" sz="1300" dirty="0">
                        <a:latin typeface="Calibri" charset="0"/>
                        <a:ea typeface="Calibri" charset="0"/>
                        <a:cs typeface="Calibri"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6404F"/>
                    </a:solidFill>
                  </a:tcPr>
                </a:tc>
                <a:tc>
                  <a:txBody>
                    <a:bodyPr/>
                    <a:lstStyle/>
                    <a:p>
                      <a:pPr indent="0" marL="0">
                        <a:buNone/>
                      </a:pPr>
                      <a:r>
                        <a:rPr lang="en-US" sz="1250" dirty="0">
                          <a:solidFill>
                            <a:srgbClr val="6FC8B4"/>
                          </a:solidFill>
                          <a:latin typeface="Courier New" pitchFamily="34" charset="0"/>
                          <a:ea typeface="Courier New" pitchFamily="34" charset="-122"/>
                          <a:cs typeface="Courier New" pitchFamily="34" charset="-120"/>
                        </a:rPr>
                        <a:t>"" (empty string)</a:t>
                      </a:r>
                      <a:endParaRPr lang="en-US" sz="1250" dirty="0">
                        <a:latin typeface="Courier New" charset="0"/>
                        <a:ea typeface="Courier New" charset="0"/>
                        <a:cs typeface="Courier New"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6404F"/>
                    </a:solidFill>
                  </a:tcPr>
                </a:tc>
                <a:tc>
                  <a:txBody>
                    <a:bodyPr/>
                    <a:lstStyle/>
                    <a:p>
                      <a:pPr indent="0" marL="0">
                        <a:buNone/>
                      </a:pPr>
                      <a:r>
                        <a:rPr lang="en-US" sz="1250" dirty="0">
                          <a:solidFill>
                            <a:srgbClr val="F0B27A"/>
                          </a:solidFill>
                          <a:latin typeface="Courier New" pitchFamily="34" charset="0"/>
                          <a:ea typeface="Courier New" pitchFamily="34" charset="-122"/>
                          <a:cs typeface="Courier New" pitchFamily="34" charset="-120"/>
                        </a:rPr>
                        <a:t>NA_character_</a:t>
                      </a:r>
                      <a:endParaRPr lang="en-US" sz="1250" dirty="0">
                        <a:latin typeface="Courier New" charset="0"/>
                        <a:ea typeface="Courier New" charset="0"/>
                        <a:cs typeface="Courier New"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6404F"/>
                    </a:solidFill>
                  </a:tcPr>
                </a:tc>
              </a:tr>
            </a:tbl>
          </a:graphicData>
        </a:graphic>
      </p:graphicFrame>
      <p:sp>
        <p:nvSpPr>
          <p:cNvPr id="5" name="Text 2"/>
          <p:cNvSpPr/>
          <p:nvPr/>
        </p:nvSpPr>
        <p:spPr>
          <a:xfrm>
            <a:off x="640080" y="5943600"/>
            <a:ext cx="10972800" cy="411480"/>
          </a:xfrm>
          <a:prstGeom prst="rect">
            <a:avLst/>
          </a:prstGeom>
          <a:noFill/>
          <a:ln/>
        </p:spPr>
        <p:txBody>
          <a:bodyPr wrap="square" lIns="0" tIns="0" rIns="0" bIns="0" rtlCol="0" anchor="ctr"/>
          <a:lstStyle/>
          <a:p>
            <a:pPr indent="0" marL="0">
              <a:buNone/>
            </a:pPr>
            <a:r>
              <a:rPr lang="en-US" sz="1400" i="1" dirty="0">
                <a:solidFill>
                  <a:srgbClr val="6FC8B4"/>
                </a:solidFill>
                <a:latin typeface="Calibri" pitchFamily="34" charset="0"/>
                <a:ea typeface="Calibri" pitchFamily="34" charset="-122"/>
                <a:cs typeface="Calibri" pitchFamily="34" charset="-120"/>
              </a:rPr>
              <a:t>Missing values are the #1 cross-language gotcha — never treat a missing value as zero or as blank text.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SAVE YOURSELF HOURS</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Cross-language gotchas</a:t>
            </a:r>
            <a:endParaRPr lang="en-US" sz="3000" dirty="0"/>
          </a:p>
        </p:txBody>
      </p:sp>
      <p:sp>
        <p:nvSpPr>
          <p:cNvPr id="4" name="Shape 2"/>
          <p:cNvSpPr/>
          <p:nvPr/>
        </p:nvSpPr>
        <p:spPr>
          <a:xfrm>
            <a:off x="640080" y="1691640"/>
            <a:ext cx="5394960" cy="1325880"/>
          </a:xfrm>
          <a:prstGeom prst="roundRect">
            <a:avLst>
              <a:gd name="adj" fmla="val 620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868680" y="2075688"/>
            <a:ext cx="548640" cy="548640"/>
          </a:xfrm>
          <a:prstGeom prst="ellipse">
            <a:avLst/>
          </a:prstGeom>
          <a:solidFill>
            <a:srgbClr val="E8833A"/>
          </a:solidFill>
          <a:ln/>
        </p:spPr>
      </p:sp>
      <p:sp>
        <p:nvSpPr>
          <p:cNvPr id="6" name="Text 4"/>
          <p:cNvSpPr/>
          <p:nvPr/>
        </p:nvSpPr>
        <p:spPr>
          <a:xfrm>
            <a:off x="868680" y="2075688"/>
            <a:ext cx="548640" cy="548640"/>
          </a:xfrm>
          <a:prstGeom prst="rect">
            <a:avLst/>
          </a:prstGeom>
          <a:noFill/>
          <a:ln/>
        </p:spPr>
        <p:txBody>
          <a:bodyPr wrap="square" lIns="0" tIns="0" rIns="0" bIns="0" rtlCol="0" anchor="ctr"/>
          <a:lstStyle/>
          <a:p>
            <a:pPr algn="ctr" indent="0" marL="0">
              <a:buNone/>
            </a:pPr>
            <a:r>
              <a:rPr lang="en-US" sz="1700" b="1" dirty="0">
                <a:solidFill>
                  <a:srgbClr val="0F2E3D"/>
                </a:solidFill>
                <a:latin typeface="Calibri" pitchFamily="34" charset="0"/>
                <a:ea typeface="Calibri" pitchFamily="34" charset="-122"/>
                <a:cs typeface="Calibri" pitchFamily="34" charset="-120"/>
              </a:rPr>
              <a:t>!</a:t>
            </a:r>
            <a:endParaRPr lang="en-US" sz="1700" dirty="0"/>
          </a:p>
        </p:txBody>
      </p:sp>
      <p:sp>
        <p:nvSpPr>
          <p:cNvPr id="7" name="Text 5"/>
          <p:cNvSpPr/>
          <p:nvPr/>
        </p:nvSpPr>
        <p:spPr>
          <a:xfrm>
            <a:off x="1600200" y="1856232"/>
            <a:ext cx="4297680" cy="1005840"/>
          </a:xfrm>
          <a:prstGeom prst="rect">
            <a:avLst/>
          </a:prstGeom>
          <a:noFill/>
          <a:ln/>
        </p:spPr>
        <p:txBody>
          <a:bodyPr wrap="square" lIns="0" tIns="0" rIns="0" bIns="0" rtlCol="0" anchor="ctr"/>
          <a:lstStyle/>
          <a:p>
            <a:pPr indent="0" marL="0">
              <a:buNone/>
            </a:pPr>
            <a:r>
              <a:rPr lang="en-US" sz="1450" b="1" dirty="0">
                <a:solidFill>
                  <a:srgbClr val="0F2E3D"/>
                </a:solidFill>
                <a:latin typeface="Calibri" pitchFamily="34" charset="0"/>
                <a:ea typeface="Calibri" pitchFamily="34" charset="-122"/>
                <a:cs typeface="Calibri" pitchFamily="34" charset="-120"/>
              </a:rPr>
              <a:t>Case sensitivity
</a:t>
            </a:r>
            <a:pPr indent="0" marL="0">
              <a:buNone/>
            </a:pPr>
            <a:r>
              <a:rPr lang="en-US" sz="1200" dirty="0">
                <a:solidFill>
                  <a:srgbClr val="5A7682"/>
                </a:solidFill>
                <a:latin typeface="Calibri" pitchFamily="34" charset="0"/>
                <a:ea typeface="Calibri" pitchFamily="34" charset="-122"/>
                <a:cs typeface="Calibri" pitchFamily="34" charset="-120"/>
              </a:rPr>
              <a:t>R is case-sensitive: AGE and age are different. SAS variable names are not.</a:t>
            </a:r>
            <a:endParaRPr lang="en-US" sz="1450" dirty="0"/>
          </a:p>
        </p:txBody>
      </p:sp>
      <p:sp>
        <p:nvSpPr>
          <p:cNvPr id="8" name="Shape 6"/>
          <p:cNvSpPr/>
          <p:nvPr/>
        </p:nvSpPr>
        <p:spPr>
          <a:xfrm>
            <a:off x="6217920" y="1691640"/>
            <a:ext cx="5394960" cy="1325880"/>
          </a:xfrm>
          <a:prstGeom prst="roundRect">
            <a:avLst>
              <a:gd name="adj" fmla="val 620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Shape 7"/>
          <p:cNvSpPr/>
          <p:nvPr/>
        </p:nvSpPr>
        <p:spPr>
          <a:xfrm>
            <a:off x="6446520" y="2075688"/>
            <a:ext cx="548640" cy="548640"/>
          </a:xfrm>
          <a:prstGeom prst="ellipse">
            <a:avLst/>
          </a:prstGeom>
          <a:solidFill>
            <a:srgbClr val="E8833A"/>
          </a:solidFill>
          <a:ln/>
        </p:spPr>
      </p:sp>
      <p:sp>
        <p:nvSpPr>
          <p:cNvPr id="10" name="Text 8"/>
          <p:cNvSpPr/>
          <p:nvPr/>
        </p:nvSpPr>
        <p:spPr>
          <a:xfrm>
            <a:off x="6446520" y="2075688"/>
            <a:ext cx="548640" cy="548640"/>
          </a:xfrm>
          <a:prstGeom prst="rect">
            <a:avLst/>
          </a:prstGeom>
          <a:noFill/>
          <a:ln/>
        </p:spPr>
        <p:txBody>
          <a:bodyPr wrap="square" lIns="0" tIns="0" rIns="0" bIns="0" rtlCol="0" anchor="ctr"/>
          <a:lstStyle/>
          <a:p>
            <a:pPr algn="ctr" indent="0" marL="0">
              <a:buNone/>
            </a:pPr>
            <a:r>
              <a:rPr lang="en-US" sz="1700" b="1" dirty="0">
                <a:solidFill>
                  <a:srgbClr val="0F2E3D"/>
                </a:solidFill>
                <a:latin typeface="Calibri" pitchFamily="34" charset="0"/>
                <a:ea typeface="Calibri" pitchFamily="34" charset="-122"/>
                <a:cs typeface="Calibri" pitchFamily="34" charset="-120"/>
              </a:rPr>
              <a:t>!</a:t>
            </a:r>
            <a:endParaRPr lang="en-US" sz="1700" dirty="0"/>
          </a:p>
        </p:txBody>
      </p:sp>
      <p:sp>
        <p:nvSpPr>
          <p:cNvPr id="11" name="Text 9"/>
          <p:cNvSpPr/>
          <p:nvPr/>
        </p:nvSpPr>
        <p:spPr>
          <a:xfrm>
            <a:off x="7178040" y="1856232"/>
            <a:ext cx="4297680" cy="1005840"/>
          </a:xfrm>
          <a:prstGeom prst="rect">
            <a:avLst/>
          </a:prstGeom>
          <a:noFill/>
          <a:ln/>
        </p:spPr>
        <p:txBody>
          <a:bodyPr wrap="square" lIns="0" tIns="0" rIns="0" bIns="0" rtlCol="0" anchor="ctr"/>
          <a:lstStyle/>
          <a:p>
            <a:pPr indent="0" marL="0">
              <a:buNone/>
            </a:pPr>
            <a:r>
              <a:rPr lang="en-US" sz="1450" b="1" dirty="0">
                <a:solidFill>
                  <a:srgbClr val="0F2E3D"/>
                </a:solidFill>
                <a:latin typeface="Calibri" pitchFamily="34" charset="0"/>
                <a:ea typeface="Calibri" pitchFamily="34" charset="-122"/>
                <a:cs typeface="Calibri" pitchFamily="34" charset="-120"/>
              </a:rPr>
              <a:t>Equality test
</a:t>
            </a:r>
            <a:pPr indent="0" marL="0">
              <a:buNone/>
            </a:pPr>
            <a:r>
              <a:rPr lang="en-US" sz="1200" dirty="0">
                <a:solidFill>
                  <a:srgbClr val="5A7682"/>
                </a:solidFill>
                <a:latin typeface="Calibri" pitchFamily="34" charset="0"/>
                <a:ea typeface="Calibri" pitchFamily="34" charset="-122"/>
                <a:cs typeface="Calibri" pitchFamily="34" charset="-120"/>
              </a:rPr>
              <a:t>R uses == to compare, = to name arguments. SAS uses = for both.</a:t>
            </a:r>
            <a:endParaRPr lang="en-US" sz="1450" dirty="0"/>
          </a:p>
        </p:txBody>
      </p:sp>
      <p:sp>
        <p:nvSpPr>
          <p:cNvPr id="12" name="Shape 10"/>
          <p:cNvSpPr/>
          <p:nvPr/>
        </p:nvSpPr>
        <p:spPr>
          <a:xfrm>
            <a:off x="640080" y="3154680"/>
            <a:ext cx="5394960" cy="1325880"/>
          </a:xfrm>
          <a:prstGeom prst="roundRect">
            <a:avLst>
              <a:gd name="adj" fmla="val 620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Shape 11"/>
          <p:cNvSpPr/>
          <p:nvPr/>
        </p:nvSpPr>
        <p:spPr>
          <a:xfrm>
            <a:off x="868680" y="3538728"/>
            <a:ext cx="548640" cy="548640"/>
          </a:xfrm>
          <a:prstGeom prst="ellipse">
            <a:avLst/>
          </a:prstGeom>
          <a:solidFill>
            <a:srgbClr val="E8833A"/>
          </a:solidFill>
          <a:ln/>
        </p:spPr>
      </p:sp>
      <p:sp>
        <p:nvSpPr>
          <p:cNvPr id="14" name="Text 12"/>
          <p:cNvSpPr/>
          <p:nvPr/>
        </p:nvSpPr>
        <p:spPr>
          <a:xfrm>
            <a:off x="868680" y="3538728"/>
            <a:ext cx="548640" cy="548640"/>
          </a:xfrm>
          <a:prstGeom prst="rect">
            <a:avLst/>
          </a:prstGeom>
          <a:noFill/>
          <a:ln/>
        </p:spPr>
        <p:txBody>
          <a:bodyPr wrap="square" lIns="0" tIns="0" rIns="0" bIns="0" rtlCol="0" anchor="ctr"/>
          <a:lstStyle/>
          <a:p>
            <a:pPr algn="ctr" indent="0" marL="0">
              <a:buNone/>
            </a:pPr>
            <a:r>
              <a:rPr lang="en-US" sz="1700" b="1" dirty="0">
                <a:solidFill>
                  <a:srgbClr val="0F2E3D"/>
                </a:solidFill>
                <a:latin typeface="Calibri" pitchFamily="34" charset="0"/>
                <a:ea typeface="Calibri" pitchFamily="34" charset="-122"/>
                <a:cs typeface="Calibri" pitchFamily="34" charset="-120"/>
              </a:rPr>
              <a:t>!</a:t>
            </a:r>
            <a:endParaRPr lang="en-US" sz="1700" dirty="0"/>
          </a:p>
        </p:txBody>
      </p:sp>
      <p:sp>
        <p:nvSpPr>
          <p:cNvPr id="15" name="Text 13"/>
          <p:cNvSpPr/>
          <p:nvPr/>
        </p:nvSpPr>
        <p:spPr>
          <a:xfrm>
            <a:off x="1600200" y="3319272"/>
            <a:ext cx="4297680" cy="1005840"/>
          </a:xfrm>
          <a:prstGeom prst="rect">
            <a:avLst/>
          </a:prstGeom>
          <a:noFill/>
          <a:ln/>
        </p:spPr>
        <p:txBody>
          <a:bodyPr wrap="square" lIns="0" tIns="0" rIns="0" bIns="0" rtlCol="0" anchor="ctr"/>
          <a:lstStyle/>
          <a:p>
            <a:pPr indent="0" marL="0">
              <a:buNone/>
            </a:pPr>
            <a:r>
              <a:rPr lang="en-US" sz="1450" b="1" dirty="0">
                <a:solidFill>
                  <a:srgbClr val="0F2E3D"/>
                </a:solidFill>
                <a:latin typeface="Calibri" pitchFamily="34" charset="0"/>
                <a:ea typeface="Calibri" pitchFamily="34" charset="-122"/>
                <a:cs typeface="Calibri" pitchFamily="34" charset="-120"/>
              </a:rPr>
              <a:t>Missing in maths
</a:t>
            </a:r>
            <a:pPr indent="0" marL="0">
              <a:buNone/>
            </a:pPr>
            <a:r>
              <a:rPr lang="en-US" sz="1200" dirty="0">
                <a:solidFill>
                  <a:srgbClr val="5A7682"/>
                </a:solidFill>
                <a:latin typeface="Calibri" pitchFamily="34" charset="0"/>
                <a:ea typeface="Calibri" pitchFamily="34" charset="-122"/>
                <a:cs typeface="Calibri" pitchFamily="34" charset="-120"/>
              </a:rPr>
              <a:t>In R, mean(x) is NA if any value is missing — use na.rm = TRUE.</a:t>
            </a:r>
            <a:endParaRPr lang="en-US" sz="1450" dirty="0"/>
          </a:p>
        </p:txBody>
      </p:sp>
      <p:sp>
        <p:nvSpPr>
          <p:cNvPr id="16" name="Shape 14"/>
          <p:cNvSpPr/>
          <p:nvPr/>
        </p:nvSpPr>
        <p:spPr>
          <a:xfrm>
            <a:off x="6217920" y="3154680"/>
            <a:ext cx="5394960" cy="1325880"/>
          </a:xfrm>
          <a:prstGeom prst="roundRect">
            <a:avLst>
              <a:gd name="adj" fmla="val 620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Shape 15"/>
          <p:cNvSpPr/>
          <p:nvPr/>
        </p:nvSpPr>
        <p:spPr>
          <a:xfrm>
            <a:off x="6446520" y="3538728"/>
            <a:ext cx="548640" cy="548640"/>
          </a:xfrm>
          <a:prstGeom prst="ellipse">
            <a:avLst/>
          </a:prstGeom>
          <a:solidFill>
            <a:srgbClr val="E8833A"/>
          </a:solidFill>
          <a:ln/>
        </p:spPr>
      </p:sp>
      <p:sp>
        <p:nvSpPr>
          <p:cNvPr id="18" name="Text 16"/>
          <p:cNvSpPr/>
          <p:nvPr/>
        </p:nvSpPr>
        <p:spPr>
          <a:xfrm>
            <a:off x="6446520" y="3538728"/>
            <a:ext cx="548640" cy="548640"/>
          </a:xfrm>
          <a:prstGeom prst="rect">
            <a:avLst/>
          </a:prstGeom>
          <a:noFill/>
          <a:ln/>
        </p:spPr>
        <p:txBody>
          <a:bodyPr wrap="square" lIns="0" tIns="0" rIns="0" bIns="0" rtlCol="0" anchor="ctr"/>
          <a:lstStyle/>
          <a:p>
            <a:pPr algn="ctr" indent="0" marL="0">
              <a:buNone/>
            </a:pPr>
            <a:r>
              <a:rPr lang="en-US" sz="1700" b="1" dirty="0">
                <a:solidFill>
                  <a:srgbClr val="0F2E3D"/>
                </a:solidFill>
                <a:latin typeface="Calibri" pitchFamily="34" charset="0"/>
                <a:ea typeface="Calibri" pitchFamily="34" charset="-122"/>
                <a:cs typeface="Calibri" pitchFamily="34" charset="-120"/>
              </a:rPr>
              <a:t>!</a:t>
            </a:r>
            <a:endParaRPr lang="en-US" sz="1700" dirty="0"/>
          </a:p>
        </p:txBody>
      </p:sp>
      <p:sp>
        <p:nvSpPr>
          <p:cNvPr id="19" name="Text 17"/>
          <p:cNvSpPr/>
          <p:nvPr/>
        </p:nvSpPr>
        <p:spPr>
          <a:xfrm>
            <a:off x="7178040" y="3319272"/>
            <a:ext cx="4297680" cy="1005840"/>
          </a:xfrm>
          <a:prstGeom prst="rect">
            <a:avLst/>
          </a:prstGeom>
          <a:noFill/>
          <a:ln/>
        </p:spPr>
        <p:txBody>
          <a:bodyPr wrap="square" lIns="0" tIns="0" rIns="0" bIns="0" rtlCol="0" anchor="ctr"/>
          <a:lstStyle/>
          <a:p>
            <a:pPr indent="0" marL="0">
              <a:buNone/>
            </a:pPr>
            <a:r>
              <a:rPr lang="en-US" sz="1450" b="1" dirty="0">
                <a:solidFill>
                  <a:srgbClr val="0F2E3D"/>
                </a:solidFill>
                <a:latin typeface="Calibri" pitchFamily="34" charset="0"/>
                <a:ea typeface="Calibri" pitchFamily="34" charset="-122"/>
                <a:cs typeface="Calibri" pitchFamily="34" charset="-120"/>
              </a:rPr>
              <a:t>Sorting before merge
</a:t>
            </a:r>
            <a:pPr indent="0" marL="0">
              <a:buNone/>
            </a:pPr>
            <a:r>
              <a:rPr lang="en-US" sz="1200" dirty="0">
                <a:solidFill>
                  <a:srgbClr val="5A7682"/>
                </a:solidFill>
                <a:latin typeface="Calibri" pitchFamily="34" charset="0"/>
                <a:ea typeface="Calibri" pitchFamily="34" charset="-122"/>
                <a:cs typeface="Calibri" pitchFamily="34" charset="-120"/>
              </a:rPr>
              <a:t>SAS MERGE requires sorted inputs. R joins do not.</a:t>
            </a:r>
            <a:endParaRPr lang="en-US" sz="1450" dirty="0"/>
          </a:p>
        </p:txBody>
      </p:sp>
      <p:sp>
        <p:nvSpPr>
          <p:cNvPr id="20" name="Shape 18"/>
          <p:cNvSpPr/>
          <p:nvPr/>
        </p:nvSpPr>
        <p:spPr>
          <a:xfrm>
            <a:off x="640080" y="4617720"/>
            <a:ext cx="5394960" cy="1325880"/>
          </a:xfrm>
          <a:prstGeom prst="roundRect">
            <a:avLst>
              <a:gd name="adj" fmla="val 620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1" name="Shape 19"/>
          <p:cNvSpPr/>
          <p:nvPr/>
        </p:nvSpPr>
        <p:spPr>
          <a:xfrm>
            <a:off x="868680" y="5001768"/>
            <a:ext cx="548640" cy="548640"/>
          </a:xfrm>
          <a:prstGeom prst="ellipse">
            <a:avLst/>
          </a:prstGeom>
          <a:solidFill>
            <a:srgbClr val="E8833A"/>
          </a:solidFill>
          <a:ln/>
        </p:spPr>
      </p:sp>
      <p:sp>
        <p:nvSpPr>
          <p:cNvPr id="22" name="Text 20"/>
          <p:cNvSpPr/>
          <p:nvPr/>
        </p:nvSpPr>
        <p:spPr>
          <a:xfrm>
            <a:off x="868680" y="5001768"/>
            <a:ext cx="548640" cy="548640"/>
          </a:xfrm>
          <a:prstGeom prst="rect">
            <a:avLst/>
          </a:prstGeom>
          <a:noFill/>
          <a:ln/>
        </p:spPr>
        <p:txBody>
          <a:bodyPr wrap="square" lIns="0" tIns="0" rIns="0" bIns="0" rtlCol="0" anchor="ctr"/>
          <a:lstStyle/>
          <a:p>
            <a:pPr algn="ctr" indent="0" marL="0">
              <a:buNone/>
            </a:pPr>
            <a:r>
              <a:rPr lang="en-US" sz="1700" b="1" dirty="0">
                <a:solidFill>
                  <a:srgbClr val="0F2E3D"/>
                </a:solidFill>
                <a:latin typeface="Calibri" pitchFamily="34" charset="0"/>
                <a:ea typeface="Calibri" pitchFamily="34" charset="-122"/>
                <a:cs typeface="Calibri" pitchFamily="34" charset="-120"/>
              </a:rPr>
              <a:t>!</a:t>
            </a:r>
            <a:endParaRPr lang="en-US" sz="1700" dirty="0"/>
          </a:p>
        </p:txBody>
      </p:sp>
      <p:sp>
        <p:nvSpPr>
          <p:cNvPr id="23" name="Text 21"/>
          <p:cNvSpPr/>
          <p:nvPr/>
        </p:nvSpPr>
        <p:spPr>
          <a:xfrm>
            <a:off x="1600200" y="4782312"/>
            <a:ext cx="4297680" cy="1005840"/>
          </a:xfrm>
          <a:prstGeom prst="rect">
            <a:avLst/>
          </a:prstGeom>
          <a:noFill/>
          <a:ln/>
        </p:spPr>
        <p:txBody>
          <a:bodyPr wrap="square" lIns="0" tIns="0" rIns="0" bIns="0" rtlCol="0" anchor="ctr"/>
          <a:lstStyle/>
          <a:p>
            <a:pPr indent="0" marL="0">
              <a:buNone/>
            </a:pPr>
            <a:r>
              <a:rPr lang="en-US" sz="1450" b="1" dirty="0">
                <a:solidFill>
                  <a:srgbClr val="0F2E3D"/>
                </a:solidFill>
                <a:latin typeface="Calibri" pitchFamily="34" charset="0"/>
                <a:ea typeface="Calibri" pitchFamily="34" charset="-122"/>
                <a:cs typeface="Calibri" pitchFamily="34" charset="-120"/>
              </a:rPr>
              <a:t>Text length
</a:t>
            </a:r>
            <a:pPr indent="0" marL="0">
              <a:buNone/>
            </a:pPr>
            <a:r>
              <a:rPr lang="en-US" sz="1200" dirty="0">
                <a:solidFill>
                  <a:srgbClr val="5A7682"/>
                </a:solidFill>
                <a:latin typeface="Calibri" pitchFamily="34" charset="0"/>
                <a:ea typeface="Calibri" pitchFamily="34" charset="-122"/>
                <a:cs typeface="Calibri" pitchFamily="34" charset="-120"/>
              </a:rPr>
              <a:t>SAS truncates text silently if LENGTH is too short. Declare it first.</a:t>
            </a:r>
            <a:endParaRPr lang="en-US" sz="1450" dirty="0"/>
          </a:p>
        </p:txBody>
      </p:sp>
      <p:sp>
        <p:nvSpPr>
          <p:cNvPr id="24" name="Shape 22"/>
          <p:cNvSpPr/>
          <p:nvPr/>
        </p:nvSpPr>
        <p:spPr>
          <a:xfrm>
            <a:off x="6217920" y="4617720"/>
            <a:ext cx="5394960" cy="1325880"/>
          </a:xfrm>
          <a:prstGeom prst="roundRect">
            <a:avLst>
              <a:gd name="adj" fmla="val 620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5" name="Shape 23"/>
          <p:cNvSpPr/>
          <p:nvPr/>
        </p:nvSpPr>
        <p:spPr>
          <a:xfrm>
            <a:off x="6446520" y="5001768"/>
            <a:ext cx="548640" cy="548640"/>
          </a:xfrm>
          <a:prstGeom prst="ellipse">
            <a:avLst/>
          </a:prstGeom>
          <a:solidFill>
            <a:srgbClr val="E8833A"/>
          </a:solidFill>
          <a:ln/>
        </p:spPr>
      </p:sp>
      <p:sp>
        <p:nvSpPr>
          <p:cNvPr id="26" name="Text 24"/>
          <p:cNvSpPr/>
          <p:nvPr/>
        </p:nvSpPr>
        <p:spPr>
          <a:xfrm>
            <a:off x="6446520" y="5001768"/>
            <a:ext cx="548640" cy="548640"/>
          </a:xfrm>
          <a:prstGeom prst="rect">
            <a:avLst/>
          </a:prstGeom>
          <a:noFill/>
          <a:ln/>
        </p:spPr>
        <p:txBody>
          <a:bodyPr wrap="square" lIns="0" tIns="0" rIns="0" bIns="0" rtlCol="0" anchor="ctr"/>
          <a:lstStyle/>
          <a:p>
            <a:pPr algn="ctr" indent="0" marL="0">
              <a:buNone/>
            </a:pPr>
            <a:r>
              <a:rPr lang="en-US" sz="1700" b="1" dirty="0">
                <a:solidFill>
                  <a:srgbClr val="0F2E3D"/>
                </a:solidFill>
                <a:latin typeface="Calibri" pitchFamily="34" charset="0"/>
                <a:ea typeface="Calibri" pitchFamily="34" charset="-122"/>
                <a:cs typeface="Calibri" pitchFamily="34" charset="-120"/>
              </a:rPr>
              <a:t>!</a:t>
            </a:r>
            <a:endParaRPr lang="en-US" sz="1700" dirty="0"/>
          </a:p>
        </p:txBody>
      </p:sp>
      <p:sp>
        <p:nvSpPr>
          <p:cNvPr id="27" name="Text 25"/>
          <p:cNvSpPr/>
          <p:nvPr/>
        </p:nvSpPr>
        <p:spPr>
          <a:xfrm>
            <a:off x="7178040" y="4782312"/>
            <a:ext cx="4297680" cy="1005840"/>
          </a:xfrm>
          <a:prstGeom prst="rect">
            <a:avLst/>
          </a:prstGeom>
          <a:noFill/>
          <a:ln/>
        </p:spPr>
        <p:txBody>
          <a:bodyPr wrap="square" lIns="0" tIns="0" rIns="0" bIns="0" rtlCol="0" anchor="ctr"/>
          <a:lstStyle/>
          <a:p>
            <a:pPr indent="0" marL="0">
              <a:buNone/>
            </a:pPr>
            <a:r>
              <a:rPr lang="en-US" sz="1450" b="1" dirty="0">
                <a:solidFill>
                  <a:srgbClr val="0F2E3D"/>
                </a:solidFill>
                <a:latin typeface="Calibri" pitchFamily="34" charset="0"/>
                <a:ea typeface="Calibri" pitchFamily="34" charset="-122"/>
                <a:cs typeface="Calibri" pitchFamily="34" charset="-120"/>
              </a:rPr>
              <a:t>Dates
</a:t>
            </a:r>
            <a:pPr indent="0" marL="0">
              <a:buNone/>
            </a:pPr>
            <a:r>
              <a:rPr lang="en-US" sz="1200" dirty="0">
                <a:solidFill>
                  <a:srgbClr val="5A7682"/>
                </a:solidFill>
                <a:latin typeface="Calibri" pitchFamily="34" charset="0"/>
                <a:ea typeface="Calibri" pitchFamily="34" charset="-122"/>
                <a:cs typeface="Calibri" pitchFamily="34" charset="-120"/>
              </a:rPr>
              <a:t>Both store dates as numbers under the hood, but SDTM wants ISO 8601 text.</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SETUP</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How you'll run each language</a:t>
            </a:r>
            <a:endParaRPr lang="en-US" sz="3000" dirty="0"/>
          </a:p>
        </p:txBody>
      </p:sp>
      <p:sp>
        <p:nvSpPr>
          <p:cNvPr id="4" name="Shape 2"/>
          <p:cNvSpPr/>
          <p:nvPr/>
        </p:nvSpPr>
        <p:spPr>
          <a:xfrm>
            <a:off x="640080" y="1737360"/>
            <a:ext cx="5394960" cy="3931920"/>
          </a:xfrm>
          <a:prstGeom prst="roundRect">
            <a:avLst>
              <a:gd name="adj" fmla="val 2093"/>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914400" y="1965960"/>
            <a:ext cx="4846320" cy="502920"/>
          </a:xfrm>
          <a:prstGeom prst="rect">
            <a:avLst/>
          </a:prstGeom>
          <a:noFill/>
          <a:ln/>
        </p:spPr>
        <p:txBody>
          <a:bodyPr wrap="square" lIns="0" tIns="0" rIns="0" bIns="0" rtlCol="0" anchor="ctr"/>
          <a:lstStyle/>
          <a:p>
            <a:pPr indent="0" marL="0">
              <a:buNone/>
            </a:pPr>
            <a:r>
              <a:rPr lang="en-US" sz="2600" b="1" dirty="0">
                <a:solidFill>
                  <a:srgbClr val="0E7C86"/>
                </a:solidFill>
                <a:latin typeface="Cambria" pitchFamily="34" charset="0"/>
                <a:ea typeface="Cambria" pitchFamily="34" charset="-122"/>
                <a:cs typeface="Cambria" pitchFamily="34" charset="-120"/>
              </a:rPr>
              <a:t>SAS</a:t>
            </a:r>
            <a:endParaRPr lang="en-US" sz="2600" dirty="0"/>
          </a:p>
        </p:txBody>
      </p:sp>
      <p:sp>
        <p:nvSpPr>
          <p:cNvPr id="6" name="Text 4"/>
          <p:cNvSpPr/>
          <p:nvPr/>
        </p:nvSpPr>
        <p:spPr>
          <a:xfrm>
            <a:off x="914400" y="2606040"/>
            <a:ext cx="4846320" cy="868680"/>
          </a:xfrm>
          <a:prstGeom prst="rect">
            <a:avLst/>
          </a:prstGeom>
          <a:noFill/>
          <a:ln/>
        </p:spPr>
        <p:txBody>
          <a:bodyPr wrap="square" lIns="0" tIns="0" rIns="0" bIns="0" rtlCol="0" anchor="t"/>
          <a:lstStyle/>
          <a:p>
            <a:pPr indent="0" marL="0">
              <a:lnSpc>
                <a:spcPts val="2000"/>
              </a:lnSpc>
              <a:buNone/>
            </a:pPr>
            <a:r>
              <a:rPr lang="en-US" sz="1350" b="1" dirty="0">
                <a:solidFill>
                  <a:srgbClr val="0E7C86"/>
                </a:solidFill>
                <a:latin typeface="Calibri" pitchFamily="34" charset="0"/>
                <a:ea typeface="Calibri" pitchFamily="34" charset="-122"/>
                <a:cs typeface="Calibri" pitchFamily="34" charset="-120"/>
              </a:rPr>
              <a:t>Where  </a:t>
            </a:r>
            <a:pPr indent="0" marL="0">
              <a:lnSpc>
                <a:spcPts val="2000"/>
              </a:lnSpc>
              <a:buNone/>
            </a:pPr>
            <a:r>
              <a:rPr lang="en-US" sz="1300" dirty="0">
                <a:solidFill>
                  <a:srgbClr val="0F2E3D"/>
                </a:solidFill>
                <a:latin typeface="Calibri" pitchFamily="34" charset="0"/>
                <a:ea typeface="Calibri" pitchFamily="34" charset="-122"/>
                <a:cs typeface="Calibri" pitchFamily="34" charset="-120"/>
              </a:rPr>
              <a:t>SAS Studio / SAS OnDemand for Academics, or an installed SAS session at your company.</a:t>
            </a:r>
            <a:endParaRPr lang="en-US" sz="1350" dirty="0"/>
          </a:p>
        </p:txBody>
      </p:sp>
      <p:sp>
        <p:nvSpPr>
          <p:cNvPr id="7" name="Text 5"/>
          <p:cNvSpPr/>
          <p:nvPr/>
        </p:nvSpPr>
        <p:spPr>
          <a:xfrm>
            <a:off x="914400" y="3566160"/>
            <a:ext cx="4846320" cy="868680"/>
          </a:xfrm>
          <a:prstGeom prst="rect">
            <a:avLst/>
          </a:prstGeom>
          <a:noFill/>
          <a:ln/>
        </p:spPr>
        <p:txBody>
          <a:bodyPr wrap="square" lIns="0" tIns="0" rIns="0" bIns="0" rtlCol="0" anchor="t"/>
          <a:lstStyle/>
          <a:p>
            <a:pPr indent="0" marL="0">
              <a:lnSpc>
                <a:spcPts val="2000"/>
              </a:lnSpc>
              <a:buNone/>
            </a:pPr>
            <a:r>
              <a:rPr lang="en-US" sz="1350" b="1" dirty="0">
                <a:solidFill>
                  <a:srgbClr val="0E7C86"/>
                </a:solidFill>
                <a:latin typeface="Calibri" pitchFamily="34" charset="0"/>
                <a:ea typeface="Calibri" pitchFamily="34" charset="-122"/>
                <a:cs typeface="Calibri" pitchFamily="34" charset="-120"/>
              </a:rPr>
              <a:t>You write  </a:t>
            </a:r>
            <a:pPr indent="0" marL="0">
              <a:lnSpc>
                <a:spcPts val="2000"/>
              </a:lnSpc>
              <a:buNone/>
            </a:pPr>
            <a:r>
              <a:rPr lang="en-US" sz="1300" dirty="0">
                <a:solidFill>
                  <a:srgbClr val="0F2E3D"/>
                </a:solidFill>
                <a:latin typeface="Calibri" pitchFamily="34" charset="0"/>
                <a:ea typeface="Calibri" pitchFamily="34" charset="-122"/>
                <a:cs typeface="Calibri" pitchFamily="34" charset="-120"/>
              </a:rPr>
              <a:t>a .sas program file</a:t>
            </a:r>
            <a:endParaRPr lang="en-US" sz="1350" dirty="0"/>
          </a:p>
        </p:txBody>
      </p:sp>
      <p:sp>
        <p:nvSpPr>
          <p:cNvPr id="8" name="Text 6"/>
          <p:cNvSpPr/>
          <p:nvPr/>
        </p:nvSpPr>
        <p:spPr>
          <a:xfrm>
            <a:off x="914400" y="4526280"/>
            <a:ext cx="4846320" cy="868680"/>
          </a:xfrm>
          <a:prstGeom prst="rect">
            <a:avLst/>
          </a:prstGeom>
          <a:noFill/>
          <a:ln/>
        </p:spPr>
        <p:txBody>
          <a:bodyPr wrap="square" lIns="0" tIns="0" rIns="0" bIns="0" rtlCol="0" anchor="t"/>
          <a:lstStyle/>
          <a:p>
            <a:pPr indent="0" marL="0">
              <a:lnSpc>
                <a:spcPts val="2000"/>
              </a:lnSpc>
              <a:buNone/>
            </a:pPr>
            <a:r>
              <a:rPr lang="en-US" sz="1350" b="1" dirty="0">
                <a:solidFill>
                  <a:srgbClr val="0E7C86"/>
                </a:solidFill>
                <a:latin typeface="Calibri" pitchFamily="34" charset="0"/>
                <a:ea typeface="Calibri" pitchFamily="34" charset="-122"/>
                <a:cs typeface="Calibri" pitchFamily="34" charset="-120"/>
              </a:rPr>
              <a:t>You get  </a:t>
            </a:r>
            <a:pPr indent="0" marL="0">
              <a:lnSpc>
                <a:spcPts val="2000"/>
              </a:lnSpc>
              <a:buNone/>
            </a:pPr>
            <a:r>
              <a:rPr lang="en-US" sz="1300" dirty="0">
                <a:solidFill>
                  <a:srgbClr val="0F2E3D"/>
                </a:solidFill>
                <a:latin typeface="Calibri" pitchFamily="34" charset="0"/>
                <a:ea typeface="Calibri" pitchFamily="34" charset="-122"/>
                <a:cs typeface="Calibri" pitchFamily="34" charset="-120"/>
              </a:rPr>
              <a:t>a LOG (messages and errors) and OUTPUT (results). Read the log first — always.</a:t>
            </a:r>
            <a:endParaRPr lang="en-US" sz="1350" dirty="0"/>
          </a:p>
        </p:txBody>
      </p:sp>
      <p:sp>
        <p:nvSpPr>
          <p:cNvPr id="9" name="Shape 7"/>
          <p:cNvSpPr/>
          <p:nvPr/>
        </p:nvSpPr>
        <p:spPr>
          <a:xfrm>
            <a:off x="6217920" y="1737360"/>
            <a:ext cx="5394960" cy="3931920"/>
          </a:xfrm>
          <a:prstGeom prst="roundRect">
            <a:avLst>
              <a:gd name="adj" fmla="val 2093"/>
            </a:avLst>
          </a:prstGeom>
          <a:solidFill>
            <a:srgbClr val="0F2E3D"/>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0" name="Text 8"/>
          <p:cNvSpPr/>
          <p:nvPr/>
        </p:nvSpPr>
        <p:spPr>
          <a:xfrm>
            <a:off x="6492240" y="1965960"/>
            <a:ext cx="4846320" cy="502920"/>
          </a:xfrm>
          <a:prstGeom prst="rect">
            <a:avLst/>
          </a:prstGeom>
          <a:noFill/>
          <a:ln/>
        </p:spPr>
        <p:txBody>
          <a:bodyPr wrap="square" lIns="0" tIns="0" rIns="0" bIns="0" rtlCol="0" anchor="ctr"/>
          <a:lstStyle/>
          <a:p>
            <a:pPr indent="0" marL="0">
              <a:buNone/>
            </a:pPr>
            <a:r>
              <a:rPr lang="en-US" sz="2600" b="1" dirty="0">
                <a:solidFill>
                  <a:srgbClr val="E8833A"/>
                </a:solidFill>
                <a:latin typeface="Cambria" pitchFamily="34" charset="0"/>
                <a:ea typeface="Cambria" pitchFamily="34" charset="-122"/>
                <a:cs typeface="Cambria" pitchFamily="34" charset="-120"/>
              </a:rPr>
              <a:t>R</a:t>
            </a:r>
            <a:endParaRPr lang="en-US" sz="2600" dirty="0"/>
          </a:p>
        </p:txBody>
      </p:sp>
      <p:sp>
        <p:nvSpPr>
          <p:cNvPr id="11" name="Text 9"/>
          <p:cNvSpPr/>
          <p:nvPr/>
        </p:nvSpPr>
        <p:spPr>
          <a:xfrm>
            <a:off x="6492240" y="2606040"/>
            <a:ext cx="4846320" cy="868680"/>
          </a:xfrm>
          <a:prstGeom prst="rect">
            <a:avLst/>
          </a:prstGeom>
          <a:noFill/>
          <a:ln/>
        </p:spPr>
        <p:txBody>
          <a:bodyPr wrap="square" lIns="0" tIns="0" rIns="0" bIns="0" rtlCol="0" anchor="t"/>
          <a:lstStyle/>
          <a:p>
            <a:pPr indent="0" marL="0">
              <a:lnSpc>
                <a:spcPts val="2000"/>
              </a:lnSpc>
              <a:buNone/>
            </a:pPr>
            <a:r>
              <a:rPr lang="en-US" sz="1350" b="1" dirty="0">
                <a:solidFill>
                  <a:srgbClr val="E8833A"/>
                </a:solidFill>
                <a:latin typeface="Calibri" pitchFamily="34" charset="0"/>
                <a:ea typeface="Calibri" pitchFamily="34" charset="-122"/>
                <a:cs typeface="Calibri" pitchFamily="34" charset="-120"/>
              </a:rPr>
              <a:t>Where  </a:t>
            </a:r>
            <a:pPr indent="0" marL="0">
              <a:lnSpc>
                <a:spcPts val="2000"/>
              </a:lnSpc>
              <a:buNone/>
            </a:pPr>
            <a:r>
              <a:rPr lang="en-US" sz="1300" dirty="0">
                <a:solidFill>
                  <a:srgbClr val="E7F0F1"/>
                </a:solidFill>
                <a:latin typeface="Calibri" pitchFamily="34" charset="0"/>
                <a:ea typeface="Calibri" pitchFamily="34" charset="-122"/>
                <a:cs typeface="Calibri" pitchFamily="34" charset="-120"/>
              </a:rPr>
              <a:t>RStudio or a Jupyter notebook with the R kernel.</a:t>
            </a:r>
            <a:endParaRPr lang="en-US" sz="1350" dirty="0"/>
          </a:p>
        </p:txBody>
      </p:sp>
      <p:sp>
        <p:nvSpPr>
          <p:cNvPr id="12" name="Text 10"/>
          <p:cNvSpPr/>
          <p:nvPr/>
        </p:nvSpPr>
        <p:spPr>
          <a:xfrm>
            <a:off x="6492240" y="3566160"/>
            <a:ext cx="4846320" cy="868680"/>
          </a:xfrm>
          <a:prstGeom prst="rect">
            <a:avLst/>
          </a:prstGeom>
          <a:noFill/>
          <a:ln/>
        </p:spPr>
        <p:txBody>
          <a:bodyPr wrap="square" lIns="0" tIns="0" rIns="0" bIns="0" rtlCol="0" anchor="t"/>
          <a:lstStyle/>
          <a:p>
            <a:pPr indent="0" marL="0">
              <a:lnSpc>
                <a:spcPts val="2000"/>
              </a:lnSpc>
              <a:buNone/>
            </a:pPr>
            <a:r>
              <a:rPr lang="en-US" sz="1350" b="1" dirty="0">
                <a:solidFill>
                  <a:srgbClr val="E8833A"/>
                </a:solidFill>
                <a:latin typeface="Calibri" pitchFamily="34" charset="0"/>
                <a:ea typeface="Calibri" pitchFamily="34" charset="-122"/>
                <a:cs typeface="Calibri" pitchFamily="34" charset="-120"/>
              </a:rPr>
              <a:t>You write  </a:t>
            </a:r>
            <a:pPr indent="0" marL="0">
              <a:lnSpc>
                <a:spcPts val="2000"/>
              </a:lnSpc>
              <a:buNone/>
            </a:pPr>
            <a:r>
              <a:rPr lang="en-US" sz="1300" dirty="0">
                <a:solidFill>
                  <a:srgbClr val="E7F0F1"/>
                </a:solidFill>
                <a:latin typeface="Calibri" pitchFamily="34" charset="0"/>
                <a:ea typeface="Calibri" pitchFamily="34" charset="-122"/>
                <a:cs typeface="Calibri" pitchFamily="34" charset="-120"/>
              </a:rPr>
              <a:t>an .R script or an .ipynb notebook</a:t>
            </a:r>
            <a:endParaRPr lang="en-US" sz="1350" dirty="0"/>
          </a:p>
        </p:txBody>
      </p:sp>
      <p:sp>
        <p:nvSpPr>
          <p:cNvPr id="13" name="Text 11"/>
          <p:cNvSpPr/>
          <p:nvPr/>
        </p:nvSpPr>
        <p:spPr>
          <a:xfrm>
            <a:off x="6492240" y="4526280"/>
            <a:ext cx="4846320" cy="868680"/>
          </a:xfrm>
          <a:prstGeom prst="rect">
            <a:avLst/>
          </a:prstGeom>
          <a:noFill/>
          <a:ln/>
        </p:spPr>
        <p:txBody>
          <a:bodyPr wrap="square" lIns="0" tIns="0" rIns="0" bIns="0" rtlCol="0" anchor="t"/>
          <a:lstStyle/>
          <a:p>
            <a:pPr indent="0" marL="0">
              <a:lnSpc>
                <a:spcPts val="2000"/>
              </a:lnSpc>
              <a:buNone/>
            </a:pPr>
            <a:r>
              <a:rPr lang="en-US" sz="1350" b="1" dirty="0">
                <a:solidFill>
                  <a:srgbClr val="E8833A"/>
                </a:solidFill>
                <a:latin typeface="Calibri" pitchFamily="34" charset="0"/>
                <a:ea typeface="Calibri" pitchFamily="34" charset="-122"/>
                <a:cs typeface="Calibri" pitchFamily="34" charset="-120"/>
              </a:rPr>
              <a:t>You get  </a:t>
            </a:r>
            <a:pPr indent="0" marL="0">
              <a:lnSpc>
                <a:spcPts val="2000"/>
              </a:lnSpc>
              <a:buNone/>
            </a:pPr>
            <a:r>
              <a:rPr lang="en-US" sz="1300" dirty="0">
                <a:solidFill>
                  <a:srgbClr val="E7F0F1"/>
                </a:solidFill>
                <a:latin typeface="Calibri" pitchFamily="34" charset="0"/>
                <a:ea typeface="Calibri" pitchFamily="34" charset="-122"/>
                <a:cs typeface="Calibri" pitchFamily="34" charset="-120"/>
              </a:rPr>
              <a:t>results printed in the console or under each cell. Errors appear in red.</a:t>
            </a:r>
            <a:endParaRPr lang="en-US" sz="1350" dirty="0"/>
          </a:p>
        </p:txBody>
      </p:sp>
      <p:sp>
        <p:nvSpPr>
          <p:cNvPr id="14" name="Text 12"/>
          <p:cNvSpPr/>
          <p:nvPr/>
        </p:nvSpPr>
        <p:spPr>
          <a:xfrm>
            <a:off x="640080" y="5852160"/>
            <a:ext cx="10972800" cy="411480"/>
          </a:xfrm>
          <a:prstGeom prst="rect">
            <a:avLst/>
          </a:prstGeom>
          <a:noFill/>
          <a:ln/>
        </p:spPr>
        <p:txBody>
          <a:bodyPr wrap="square" lIns="0" tIns="0" rIns="0" bIns="0" rtlCol="0" anchor="ctr"/>
          <a:lstStyle/>
          <a:p>
            <a:pPr algn="ctr" indent="0" marL="0">
              <a:buNone/>
            </a:pPr>
            <a:r>
              <a:rPr lang="en-US" sz="1350" i="1" dirty="0">
                <a:solidFill>
                  <a:srgbClr val="0E7C86"/>
                </a:solidFill>
                <a:latin typeface="Calibri" pitchFamily="34" charset="0"/>
                <a:ea typeface="Calibri" pitchFamily="34" charset="-122"/>
                <a:cs typeface="Calibri" pitchFamily="34" charset="-120"/>
              </a:rPr>
              <a:t>In this bootcamp: SAS exercises are .sas scripts with a written walkthrough; R exercises are Jupyter notebooks.</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2E3D"/>
        </a:solidFill>
      </p:bgPr>
    </p:bg>
    <p:spTree>
      <p:nvGrpSpPr>
        <p:cNvPr id="1" name=""/>
        <p:cNvGrpSpPr/>
        <p:nvPr/>
      </p:nvGrpSpPr>
      <p:grpSpPr>
        <a:xfrm>
          <a:off x="0" y="0"/>
          <a:ext cx="0" cy="0"/>
          <a:chOff x="0" y="0"/>
          <a:chExt cx="0" cy="0"/>
        </a:xfrm>
      </p:grpSpPr>
      <p:sp>
        <p:nvSpPr>
          <p:cNvPr id="2" name="Shape 0"/>
          <p:cNvSpPr/>
          <p:nvPr/>
        </p:nvSpPr>
        <p:spPr>
          <a:xfrm>
            <a:off x="9326880" y="4206240"/>
            <a:ext cx="4572000" cy="4572000"/>
          </a:xfrm>
          <a:prstGeom prst="ellipse">
            <a:avLst/>
          </a:prstGeom>
          <a:solidFill>
            <a:srgbClr val="133B4C"/>
          </a:solidFill>
          <a:ln/>
        </p:spPr>
      </p:sp>
      <p:sp>
        <p:nvSpPr>
          <p:cNvPr id="3" name="Shape 1"/>
          <p:cNvSpPr/>
          <p:nvPr/>
        </p:nvSpPr>
        <p:spPr>
          <a:xfrm>
            <a:off x="10241280" y="5120640"/>
            <a:ext cx="2743200" cy="2743200"/>
          </a:xfrm>
          <a:prstGeom prst="ellipse">
            <a:avLst/>
          </a:prstGeom>
          <a:solidFill>
            <a:srgbClr val="0E7C86"/>
          </a:solidFill>
          <a:ln/>
        </p:spPr>
      </p:sp>
      <p:sp>
        <p:nvSpPr>
          <p:cNvPr id="4" name="Text 2"/>
          <p:cNvSpPr/>
          <p:nvPr/>
        </p:nvSpPr>
        <p:spPr>
          <a:xfrm>
            <a:off x="640080" y="1371600"/>
            <a:ext cx="10058400" cy="320040"/>
          </a:xfrm>
          <a:prstGeom prst="rect">
            <a:avLst/>
          </a:prstGeom>
          <a:noFill/>
          <a:ln/>
        </p:spPr>
        <p:txBody>
          <a:bodyPr wrap="square" lIns="0" tIns="0" rIns="0" bIns="0" rtlCol="0" anchor="ctr"/>
          <a:lstStyle/>
          <a:p>
            <a:pPr indent="0" marL="0">
              <a:buNone/>
            </a:pPr>
            <a:r>
              <a:rPr lang="en-US" sz="1300" b="1" spc="200" kern="0" dirty="0">
                <a:solidFill>
                  <a:srgbClr val="6FC8B4"/>
                </a:solidFill>
                <a:latin typeface="Calibri" pitchFamily="34" charset="0"/>
                <a:ea typeface="Calibri" pitchFamily="34" charset="-122"/>
                <a:cs typeface="Calibri" pitchFamily="34" charset="-120"/>
              </a:rPr>
              <a:t>WHAT'S NEXT</a:t>
            </a:r>
            <a:endParaRPr lang="en-US" sz="1300" dirty="0"/>
          </a:p>
        </p:txBody>
      </p:sp>
      <p:sp>
        <p:nvSpPr>
          <p:cNvPr id="5" name="Text 3"/>
          <p:cNvSpPr/>
          <p:nvPr/>
        </p:nvSpPr>
        <p:spPr>
          <a:xfrm>
            <a:off x="603504" y="1737360"/>
            <a:ext cx="105156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Time to write some code</a:t>
            </a:r>
            <a:endParaRPr lang="en-US" sz="3400" dirty="0"/>
          </a:p>
        </p:txBody>
      </p:sp>
      <p:sp>
        <p:nvSpPr>
          <p:cNvPr id="6" name="Shape 4"/>
          <p:cNvSpPr/>
          <p:nvPr/>
        </p:nvSpPr>
        <p:spPr>
          <a:xfrm>
            <a:off x="640080" y="2834640"/>
            <a:ext cx="566928" cy="566928"/>
          </a:xfrm>
          <a:prstGeom prst="ellipse">
            <a:avLst/>
          </a:prstGeom>
          <a:solidFill>
            <a:srgbClr val="0E7C86"/>
          </a:solidFill>
          <a:ln/>
        </p:spPr>
      </p:sp>
      <p:sp>
        <p:nvSpPr>
          <p:cNvPr id="7" name="Text 5"/>
          <p:cNvSpPr/>
          <p:nvPr/>
        </p:nvSpPr>
        <p:spPr>
          <a:xfrm>
            <a:off x="640080" y="2834640"/>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8" name="Text 6"/>
          <p:cNvSpPr/>
          <p:nvPr/>
        </p:nvSpPr>
        <p:spPr>
          <a:xfrm>
            <a:off x="1417320" y="2816352"/>
            <a:ext cx="9875520" cy="60350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Notebook 01 · SAS   </a:t>
            </a:r>
            <a:pPr indent="0" marL="0">
              <a:buNone/>
            </a:pPr>
            <a:r>
              <a:rPr lang="en-US" sz="1350" dirty="0">
                <a:solidFill>
                  <a:srgbClr val="C7DCE0"/>
                </a:solidFill>
                <a:latin typeface="Calibri" pitchFamily="34" charset="0"/>
                <a:ea typeface="Calibri" pitchFamily="34" charset="-122"/>
                <a:cs typeface="Calibri" pitchFamily="34" charset="-120"/>
              </a:rPr>
              <a:t>SAS basics — libraries, DATA step, PROC PRINT/SORT/FREQ/MEANS</a:t>
            </a:r>
            <a:endParaRPr lang="en-US" sz="1600" dirty="0"/>
          </a:p>
        </p:txBody>
      </p:sp>
      <p:sp>
        <p:nvSpPr>
          <p:cNvPr id="9" name="Shape 7"/>
          <p:cNvSpPr/>
          <p:nvPr/>
        </p:nvSpPr>
        <p:spPr>
          <a:xfrm>
            <a:off x="640080" y="3657600"/>
            <a:ext cx="566928" cy="566928"/>
          </a:xfrm>
          <a:prstGeom prst="ellipse">
            <a:avLst/>
          </a:prstGeom>
          <a:solidFill>
            <a:srgbClr val="E8833A"/>
          </a:solidFill>
          <a:ln/>
        </p:spPr>
      </p:sp>
      <p:sp>
        <p:nvSpPr>
          <p:cNvPr id="10" name="Text 8"/>
          <p:cNvSpPr/>
          <p:nvPr/>
        </p:nvSpPr>
        <p:spPr>
          <a:xfrm>
            <a:off x="640080" y="3657600"/>
            <a:ext cx="566928" cy="566928"/>
          </a:xfrm>
          <a:prstGeom prst="rect">
            <a:avLst/>
          </a:prstGeom>
          <a:noFill/>
          <a:ln/>
        </p:spPr>
        <p:txBody>
          <a:bodyPr wrap="square" lIns="0" tIns="0" rIns="0" bIns="0" rtlCol="0" anchor="ctr"/>
          <a:lstStyle/>
          <a:p>
            <a:pPr algn="ctr" indent="0" marL="0">
              <a:buNone/>
            </a:pPr>
            <a:r>
              <a:rPr lang="en-US" sz="1700" b="1" dirty="0">
                <a:solidFill>
                  <a:srgbClr val="0F2E3D"/>
                </a:solidFill>
                <a:latin typeface="Calibri" pitchFamily="34" charset="0"/>
                <a:ea typeface="Calibri" pitchFamily="34" charset="-122"/>
                <a:cs typeface="Calibri" pitchFamily="34" charset="-120"/>
              </a:rPr>
              <a:t>2</a:t>
            </a:r>
            <a:endParaRPr lang="en-US" sz="1700" dirty="0"/>
          </a:p>
        </p:txBody>
      </p:sp>
      <p:sp>
        <p:nvSpPr>
          <p:cNvPr id="11" name="Text 9"/>
          <p:cNvSpPr/>
          <p:nvPr/>
        </p:nvSpPr>
        <p:spPr>
          <a:xfrm>
            <a:off x="1417320" y="3639312"/>
            <a:ext cx="9875520" cy="60350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Notebook 01 · R   </a:t>
            </a:r>
            <a:pPr indent="0" marL="0">
              <a:buNone/>
            </a:pPr>
            <a:r>
              <a:rPr lang="en-US" sz="1350" dirty="0">
                <a:solidFill>
                  <a:srgbClr val="C7DCE0"/>
                </a:solidFill>
                <a:latin typeface="Calibri" pitchFamily="34" charset="0"/>
                <a:ea typeface="Calibri" pitchFamily="34" charset="-122"/>
                <a:cs typeface="Calibri" pitchFamily="34" charset="-120"/>
              </a:rPr>
              <a:t>R &amp; tidyverse basics — the same seven moves</a:t>
            </a:r>
            <a:endParaRPr lang="en-US" sz="1600" dirty="0"/>
          </a:p>
        </p:txBody>
      </p:sp>
      <p:sp>
        <p:nvSpPr>
          <p:cNvPr id="12" name="Shape 10"/>
          <p:cNvSpPr/>
          <p:nvPr/>
        </p:nvSpPr>
        <p:spPr>
          <a:xfrm>
            <a:off x="640080" y="4480560"/>
            <a:ext cx="566928" cy="566928"/>
          </a:xfrm>
          <a:prstGeom prst="ellipse">
            <a:avLst/>
          </a:prstGeom>
          <a:solidFill>
            <a:srgbClr val="6FC8B4"/>
          </a:solidFill>
          <a:ln/>
        </p:spPr>
      </p:sp>
      <p:sp>
        <p:nvSpPr>
          <p:cNvPr id="13" name="Text 11"/>
          <p:cNvSpPr/>
          <p:nvPr/>
        </p:nvSpPr>
        <p:spPr>
          <a:xfrm>
            <a:off x="640080" y="4480560"/>
            <a:ext cx="566928" cy="566928"/>
          </a:xfrm>
          <a:prstGeom prst="rect">
            <a:avLst/>
          </a:prstGeom>
          <a:noFill/>
          <a:ln/>
        </p:spPr>
        <p:txBody>
          <a:bodyPr wrap="square" lIns="0" tIns="0" rIns="0" bIns="0" rtlCol="0" anchor="ctr"/>
          <a:lstStyle/>
          <a:p>
            <a:pPr algn="ctr" indent="0" marL="0">
              <a:buNone/>
            </a:pPr>
            <a:r>
              <a:rPr lang="en-US" sz="1700" b="1" dirty="0">
                <a:solidFill>
                  <a:srgbClr val="0F2E3D"/>
                </a:solidFill>
                <a:latin typeface="Calibri" pitchFamily="34" charset="0"/>
                <a:ea typeface="Calibri" pitchFamily="34" charset="-122"/>
                <a:cs typeface="Calibri" pitchFamily="34" charset="-120"/>
              </a:rPr>
              <a:t>3</a:t>
            </a:r>
            <a:endParaRPr lang="en-US" sz="1700" dirty="0"/>
          </a:p>
        </p:txBody>
      </p:sp>
      <p:sp>
        <p:nvSpPr>
          <p:cNvPr id="14" name="Text 12"/>
          <p:cNvSpPr/>
          <p:nvPr/>
        </p:nvSpPr>
        <p:spPr>
          <a:xfrm>
            <a:off x="1417320" y="4462272"/>
            <a:ext cx="9875520" cy="60350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Both use   </a:t>
            </a:r>
            <a:pPr indent="0" marL="0">
              <a:buNone/>
            </a:pPr>
            <a:r>
              <a:rPr lang="en-US" sz="1350" dirty="0">
                <a:solidFill>
                  <a:srgbClr val="C7DCE0"/>
                </a:solidFill>
                <a:latin typeface="Calibri" pitchFamily="34" charset="0"/>
                <a:ea typeface="Calibri" pitchFamily="34" charset="-122"/>
                <a:cs typeface="Calibri" pitchFamily="34" charset="-120"/>
              </a:rPr>
              <a:t>the ABC-01 mock data you already have in /data</a:t>
            </a:r>
            <a:endParaRPr lang="en-US" sz="1600" dirty="0"/>
          </a:p>
        </p:txBody>
      </p:sp>
      <p:sp>
        <p:nvSpPr>
          <p:cNvPr id="15" name="Shape 13"/>
          <p:cNvSpPr/>
          <p:nvPr/>
        </p:nvSpPr>
        <p:spPr>
          <a:xfrm>
            <a:off x="640080" y="5303520"/>
            <a:ext cx="566928" cy="566928"/>
          </a:xfrm>
          <a:prstGeom prst="ellipse">
            <a:avLst/>
          </a:prstGeom>
          <a:solidFill>
            <a:srgbClr val="1FA8A0"/>
          </a:solidFill>
          <a:ln/>
        </p:spPr>
      </p:sp>
      <p:sp>
        <p:nvSpPr>
          <p:cNvPr id="16" name="Text 14"/>
          <p:cNvSpPr/>
          <p:nvPr/>
        </p:nvSpPr>
        <p:spPr>
          <a:xfrm>
            <a:off x="640080" y="5303520"/>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17" name="Text 15"/>
          <p:cNvSpPr/>
          <p:nvPr/>
        </p:nvSpPr>
        <p:spPr>
          <a:xfrm>
            <a:off x="1417320" y="5285232"/>
            <a:ext cx="9875520" cy="60350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Then Module 04   </a:t>
            </a:r>
            <a:pPr indent="0" marL="0">
              <a:buNone/>
            </a:pPr>
            <a:r>
              <a:rPr lang="en-US" sz="1350" dirty="0">
                <a:solidFill>
                  <a:srgbClr val="C7DCE0"/>
                </a:solidFill>
                <a:latin typeface="Calibri" pitchFamily="34" charset="0"/>
                <a:ea typeface="Calibri" pitchFamily="34" charset="-122"/>
                <a:cs typeface="Calibri" pitchFamily="34" charset="-120"/>
              </a:rPr>
              <a:t>Reading raw clinical data properly — and your first domain</a:t>
            </a:r>
            <a:endParaRPr lang="en-US" sz="1600" dirty="0"/>
          </a:p>
        </p:txBody>
      </p:sp>
      <p:sp>
        <p:nvSpPr>
          <p:cNvPr id="18" name="Text 16"/>
          <p:cNvSpPr/>
          <p:nvPr/>
        </p:nvSpPr>
        <p:spPr>
          <a:xfrm>
            <a:off x="640080" y="6126480"/>
            <a:ext cx="10515600" cy="457200"/>
          </a:xfrm>
          <a:prstGeom prst="rect">
            <a:avLst/>
          </a:prstGeom>
          <a:noFill/>
          <a:ln/>
        </p:spPr>
        <p:txBody>
          <a:bodyPr wrap="square" lIns="0" tIns="0" rIns="0" bIns="0" rtlCol="0" anchor="ctr"/>
          <a:lstStyle/>
          <a:p>
            <a:pPr indent="0" marL="0">
              <a:buNone/>
            </a:pPr>
            <a:r>
              <a:rPr lang="en-US" sz="1400" i="1" dirty="0">
                <a:solidFill>
                  <a:srgbClr val="6FC8B4"/>
                </a:solidFill>
                <a:latin typeface="Calibri" pitchFamily="34" charset="0"/>
                <a:ea typeface="Calibri" pitchFamily="34" charset="-122"/>
                <a:cs typeface="Calibri" pitchFamily="34" charset="-120"/>
              </a:rPr>
              <a:t>Do both. Even if you already know one language, writing the other version is the fastest way to really learn it.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Toolkit: SAS &amp; R for Clinical Programming</dc:title>
  <dc:subject>PptxGenJS Presentation</dc:subject>
  <dc:creator>Clinical Programming Bootcamp</dc:creator>
  <cp:lastModifiedBy>Clinical Programming Bootcamp</cp:lastModifiedBy>
  <cp:revision>1</cp:revision>
  <dcterms:created xsi:type="dcterms:W3CDTF">2026-07-18T16:25:04Z</dcterms:created>
  <dcterms:modified xsi:type="dcterms:W3CDTF">2026-07-18T16:25:04Z</dcterms:modified>
</cp:coreProperties>
</file>