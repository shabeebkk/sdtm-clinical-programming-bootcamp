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05. The first domain trainees build end to end. Two things make DM a good starting point: it is one row per subject (no --SEQ to derive) and it has no timing variables to speak of. But it is not trivial — it pulls from three separate CRF forms and needs a derived AGE and several CT lookups. Pair with the Excel exercise first, then Notebook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concrete capabilities. Goal 5 is the one trainees most often get wrong — they assume every DM variable comes from the demographics form, when in fact the reference dates come from Exposure and Disposition.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from Module 01, now with a purpose. The key consequence of Special Purpose: do not go looking for a topic variable or a --SEQ in DM — they are not there. The IG simply lists the variables DM has. CO = Comments, SE = Subject Elements, SV = Subject Visits; we do not build those in this bootcamp.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rules worth memorising. The row-count check is the fastest sanity test in the whole bootcamp. The 'spine' framing matters: a wrong USUBJID or RFSTDTC in DM silently corrupts study day in every other domain, so DM errors are expensive. That is also why we build it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changes how trainees think about DM. Demographics gives you the person; Exposure gives you the timeline anchor; Disposition gives you the end point. If your DM has a blank RFSTDTC, you did not join EX. Reference the mapping specification section 2, which lists the source for every variable.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time here. USUBJID is the join key for the entire submission. The exact construction is a sponsor convention — some use STUDYID-SITEID-SUBJID, others just SITEID-SUBJID — but it must be consistent and unique study-wide. Remind trainees of Module 04: read the ID columns as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 in SAS's intck means continuous — completed intervals rather than calendar boundaries crossed. Without it you get 55. In R you compare month-day strings. The closing line is important: subject ABC-01-02-003 is 57 at consent but 58 at first dose because her birthday falls in between. The spec must state the reference date; the exercise in Notebook 04 explores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different flavours of CT work in one domain: decode a numeric code (SEX), normalise free text (RACE, ETHNIC), and derive a short code (ARMCD). The production warning is the point trainees should carry into their jobs — the exercise in Notebook 04 has them write the validation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Trainees find the ARM/ACTARM duplication pointless until they see the mis-dosing case. Emphasise that both pairs are Required — you cannot omit ACTARM just because it equals ARM. The analysis-population distinction (safety uses as-treated, efficacy uses as-randomized) is worth mentioning as a preview of ADaM.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trainees should keep beside them while mapping. RFSTDTC is the one that matters most — every --DY in every domain is computed against it. Note RFSTDTC and RFXSTDTC are the same value here because the reference start IS first exposure in this study; that is common but not universal.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five-way classification is the mental model for the Excel exercise: for each target variable, ask which kind it is. Copied, derived, assigned, CT-mapped, or borrowed. Once classified, the code writes itself. This slide is the bridge into the hands-on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are mistakes that show up in real submissions and that Pinnacle 21 would flag. The blank-RFSTDTC one is the most damaging because it fails silently — DM itself looks fine, but every other domain's study day is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setting up the three-step sequence. The rationale for the manual step is worth saying out loud: spreadsheets force you to confront every value individually, which is exactly what builds the intuition. Then the code becomes an automation of something they already understand, rather than magic. End of Module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133B4C"/>
          </a:solidFill>
          <a:ln/>
        </p:spPr>
      </p:sp>
      <p:sp>
        <p:nvSpPr>
          <p:cNvPr id="3" name="Shape 1"/>
          <p:cNvSpPr/>
          <p:nvPr/>
        </p:nvSpPr>
        <p:spPr>
          <a:xfrm>
            <a:off x="9784080" y="-548640"/>
            <a:ext cx="2926080" cy="2926080"/>
          </a:xfrm>
          <a:prstGeom prst="ellipse">
            <a:avLst/>
          </a:prstGeom>
          <a:solidFill>
            <a:srgbClr val="0E7C86"/>
          </a:solidFill>
          <a:ln/>
        </p:spPr>
      </p:sp>
      <p:sp>
        <p:nvSpPr>
          <p:cNvPr id="4" name="Shape 2"/>
          <p:cNvSpPr/>
          <p:nvPr/>
        </p:nvSpPr>
        <p:spPr>
          <a:xfrm>
            <a:off x="10469880" y="137160"/>
            <a:ext cx="1554480" cy="1554480"/>
          </a:xfrm>
          <a:prstGeom prst="ellipse">
            <a:avLst/>
          </a:prstGeom>
          <a:solidFill>
            <a:srgbClr val="E8833A"/>
          </a:solidFill>
          <a:ln/>
        </p:spPr>
      </p:sp>
      <p:sp>
        <p:nvSpPr>
          <p:cNvPr id="5" name="Text 3"/>
          <p:cNvSpPr/>
          <p:nvPr/>
        </p:nvSpPr>
        <p:spPr>
          <a:xfrm>
            <a:off x="640080" y="1828800"/>
            <a:ext cx="8229600" cy="365760"/>
          </a:xfrm>
          <a:prstGeom prst="rect">
            <a:avLst/>
          </a:prstGeom>
          <a:noFill/>
          <a:ln/>
        </p:spPr>
        <p:txBody>
          <a:bodyPr wrap="square" lIns="0" tIns="0" rIns="0" bIns="0" rtlCol="0" anchor="ctr"/>
          <a:lstStyle/>
          <a:p>
            <a:pPr indent="0" marL="0">
              <a:buNone/>
            </a:pPr>
            <a:r>
              <a:rPr lang="en-US" sz="1400" b="1" spc="200" kern="0" dirty="0">
                <a:solidFill>
                  <a:srgbClr val="6FC8B4"/>
                </a:solidFill>
                <a:latin typeface="Calibri" pitchFamily="34" charset="0"/>
                <a:ea typeface="Calibri" pitchFamily="34" charset="-122"/>
                <a:cs typeface="Calibri" pitchFamily="34" charset="-120"/>
              </a:rPr>
              <a:t>CLINICAL PROGRAMMING BOOTCAMP  ·  MODULE 05</a:t>
            </a:r>
            <a:endParaRPr lang="en-US" sz="1400" dirty="0"/>
          </a:p>
        </p:txBody>
      </p:sp>
      <p:sp>
        <p:nvSpPr>
          <p:cNvPr id="6" name="Text 4"/>
          <p:cNvSpPr/>
          <p:nvPr/>
        </p:nvSpPr>
        <p:spPr>
          <a:xfrm>
            <a:off x="603504" y="2286000"/>
            <a:ext cx="8778240" cy="1554480"/>
          </a:xfrm>
          <a:prstGeom prst="rect">
            <a:avLst/>
          </a:prstGeom>
          <a:noFill/>
          <a:ln/>
        </p:spPr>
        <p:txBody>
          <a:bodyPr wrap="square" lIns="0" tIns="0" rIns="0" bIns="0" rtlCol="0" anchor="ctr"/>
          <a:lstStyle/>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Building SDTM</a:t>
            </a:r>
            <a:endParaRPr lang="en-US" sz="4400" dirty="0"/>
          </a:p>
          <a:p>
            <a:pPr indent="0" marL="0">
              <a:lnSpc>
                <a:spcPts val="4800"/>
              </a:lnSpc>
              <a:buNone/>
            </a:pPr>
            <a:r>
              <a:rPr lang="en-US" sz="4400" b="1" dirty="0">
                <a:solidFill>
                  <a:srgbClr val="FFFFFF"/>
                </a:solidFill>
                <a:latin typeface="Cambria" pitchFamily="34" charset="0"/>
                <a:ea typeface="Cambria" pitchFamily="34" charset="-122"/>
                <a:cs typeface="Cambria" pitchFamily="34" charset="-120"/>
              </a:rPr>
              <a:t>Domains I</a:t>
            </a:r>
            <a:endParaRPr lang="en-US" sz="4400" dirty="0"/>
          </a:p>
        </p:txBody>
      </p:sp>
      <p:sp>
        <p:nvSpPr>
          <p:cNvPr id="7" name="Text 5"/>
          <p:cNvSpPr/>
          <p:nvPr/>
        </p:nvSpPr>
        <p:spPr>
          <a:xfrm>
            <a:off x="640080" y="3794760"/>
            <a:ext cx="8778240" cy="548640"/>
          </a:xfrm>
          <a:prstGeom prst="rect">
            <a:avLst/>
          </a:prstGeom>
          <a:noFill/>
          <a:ln/>
        </p:spPr>
        <p:txBody>
          <a:bodyPr wrap="square" lIns="0" tIns="0" rIns="0" bIns="0" rtlCol="0" anchor="ctr"/>
          <a:lstStyle/>
          <a:p>
            <a:pPr indent="0" marL="0">
              <a:buNone/>
            </a:pPr>
            <a:r>
              <a:rPr lang="en-US" sz="2600" dirty="0">
                <a:solidFill>
                  <a:srgbClr val="6FC8B4"/>
                </a:solidFill>
                <a:latin typeface="Cambria" pitchFamily="34" charset="0"/>
                <a:ea typeface="Cambria" pitchFamily="34" charset="-122"/>
                <a:cs typeface="Cambria" pitchFamily="34" charset="-120"/>
              </a:rPr>
              <a:t>Special Purpose domains and DM</a:t>
            </a:r>
            <a:endParaRPr lang="en-US" sz="2600" dirty="0"/>
          </a:p>
        </p:txBody>
      </p:sp>
      <p:sp>
        <p:nvSpPr>
          <p:cNvPr id="8" name="Text 6"/>
          <p:cNvSpPr/>
          <p:nvPr/>
        </p:nvSpPr>
        <p:spPr>
          <a:xfrm>
            <a:off x="640080" y="4572000"/>
            <a:ext cx="8412480" cy="731520"/>
          </a:xfrm>
          <a:prstGeom prst="rect">
            <a:avLst/>
          </a:prstGeom>
          <a:noFill/>
          <a:ln/>
        </p:spPr>
        <p:txBody>
          <a:bodyPr wrap="square" lIns="0" tIns="0" rIns="0" bIns="0" rtlCol="0" anchor="ctr"/>
          <a:lstStyle/>
          <a:p>
            <a:pPr indent="0" marL="0">
              <a:buNone/>
            </a:pPr>
            <a:r>
              <a:rPr lang="en-US" sz="1600" dirty="0">
                <a:solidFill>
                  <a:srgbClr val="C7DCE0"/>
                </a:solidFill>
                <a:latin typeface="Calibri" pitchFamily="34" charset="0"/>
                <a:ea typeface="Calibri" pitchFamily="34" charset="-122"/>
                <a:cs typeface="Calibri" pitchFamily="34" charset="-120"/>
              </a:rPr>
              <a:t>Your first real domain. One row per subject — and three different CRF forms feeding it.</a:t>
            </a:r>
            <a:endParaRPr lang="en-US" sz="1600" dirty="0"/>
          </a:p>
        </p:txBody>
      </p:sp>
      <p:sp>
        <p:nvSpPr>
          <p:cNvPr id="9" name="Text 7"/>
          <p:cNvSpPr/>
          <p:nvPr/>
        </p:nvSpPr>
        <p:spPr>
          <a:xfrm>
            <a:off x="640080" y="5943600"/>
            <a:ext cx="10972800" cy="365760"/>
          </a:xfrm>
          <a:prstGeom prst="rect">
            <a:avLst/>
          </a:prstGeom>
          <a:noFill/>
          <a:ln/>
        </p:spPr>
        <p:txBody>
          <a:bodyPr wrap="square" lIns="0" tIns="0" rIns="0" bIns="0" rtlCol="0" anchor="ctr"/>
          <a:lstStyle/>
          <a:p>
            <a:pPr indent="0" marL="0">
              <a:buNone/>
            </a:pPr>
            <a:r>
              <a:rPr lang="en-US" sz="1200" i="1" dirty="0">
                <a:solidFill>
                  <a:srgbClr val="5A7682"/>
                </a:solidFill>
                <a:latin typeface="Calibri" pitchFamily="34" charset="0"/>
                <a:ea typeface="Calibri" pitchFamily="34" charset="-122"/>
                <a:cs typeface="Calibri" pitchFamily="34" charset="-120"/>
              </a:rPr>
              <a:t>Hands-on: the Excel mapping exercise, then Notebook 04 (SAS)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MODULE GOALS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By the end of this module you can…</a:t>
            </a:r>
            <a:endParaRPr lang="en-US" sz="3000" dirty="0"/>
          </a:p>
        </p:txBody>
      </p:sp>
      <p:sp>
        <p:nvSpPr>
          <p:cNvPr id="4" name="Shape 2"/>
          <p:cNvSpPr/>
          <p:nvPr/>
        </p:nvSpPr>
        <p:spPr>
          <a:xfrm>
            <a:off x="640080" y="160020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868680" y="1792224"/>
            <a:ext cx="548640" cy="548640"/>
          </a:xfrm>
          <a:prstGeom prst="ellipse">
            <a:avLst/>
          </a:prstGeom>
          <a:solidFill>
            <a:srgbClr val="0E7C86"/>
          </a:solidFill>
          <a:ln/>
        </p:spPr>
      </p:sp>
      <p:sp>
        <p:nvSpPr>
          <p:cNvPr id="6" name="Text 4"/>
          <p:cNvSpPr/>
          <p:nvPr/>
        </p:nvSpPr>
        <p:spPr>
          <a:xfrm>
            <a:off x="868680" y="179222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p:nvPr/>
        </p:nvSpPr>
        <p:spPr>
          <a:xfrm>
            <a:off x="1600200" y="174650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Explain what Special Purpose means  </a:t>
            </a:r>
            <a:pPr indent="0" marL="0">
              <a:buNone/>
            </a:pPr>
            <a:r>
              <a:rPr lang="en-US" sz="1350" dirty="0">
                <a:solidFill>
                  <a:srgbClr val="5A7682"/>
                </a:solidFill>
                <a:latin typeface="Calibri" pitchFamily="34" charset="0"/>
                <a:ea typeface="Calibri" pitchFamily="34" charset="-122"/>
                <a:cs typeface="Calibri" pitchFamily="34" charset="-120"/>
              </a:rPr>
              <a:t>and why DM does not follow the three general observation classes.</a:t>
            </a:r>
            <a:endParaRPr lang="en-US" sz="1600" dirty="0"/>
          </a:p>
        </p:txBody>
      </p:sp>
      <p:sp>
        <p:nvSpPr>
          <p:cNvPr id="8" name="Shape 6"/>
          <p:cNvSpPr/>
          <p:nvPr/>
        </p:nvSpPr>
        <p:spPr>
          <a:xfrm>
            <a:off x="640080" y="2606040"/>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868680" y="2798064"/>
            <a:ext cx="548640" cy="548640"/>
          </a:xfrm>
          <a:prstGeom prst="ellipse">
            <a:avLst/>
          </a:prstGeom>
          <a:solidFill>
            <a:srgbClr val="1FA8A0"/>
          </a:solidFill>
          <a:ln/>
        </p:spPr>
      </p:sp>
      <p:sp>
        <p:nvSpPr>
          <p:cNvPr id="10" name="Text 8"/>
          <p:cNvSpPr/>
          <p:nvPr/>
        </p:nvSpPr>
        <p:spPr>
          <a:xfrm>
            <a:off x="868680" y="279806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1600200" y="275234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Build USUBJID correctly  </a:t>
            </a:r>
            <a:pPr indent="0" marL="0">
              <a:buNone/>
            </a:pPr>
            <a:r>
              <a:rPr lang="en-US" sz="1350" dirty="0">
                <a:solidFill>
                  <a:srgbClr val="5A7682"/>
                </a:solidFill>
                <a:latin typeface="Calibri" pitchFamily="34" charset="0"/>
                <a:ea typeface="Calibri" pitchFamily="34" charset="-122"/>
                <a:cs typeface="Calibri" pitchFamily="34" charset="-120"/>
              </a:rPr>
              <a:t>and say why SUBJID alone is never enough.</a:t>
            </a:r>
            <a:endParaRPr lang="en-US" sz="1600" dirty="0"/>
          </a:p>
        </p:txBody>
      </p:sp>
      <p:sp>
        <p:nvSpPr>
          <p:cNvPr id="12" name="Shape 10"/>
          <p:cNvSpPr/>
          <p:nvPr/>
        </p:nvSpPr>
        <p:spPr>
          <a:xfrm>
            <a:off x="640080" y="361188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868680" y="3803904"/>
            <a:ext cx="548640" cy="548640"/>
          </a:xfrm>
          <a:prstGeom prst="ellipse">
            <a:avLst/>
          </a:prstGeom>
          <a:solidFill>
            <a:srgbClr val="E8833A"/>
          </a:solidFill>
          <a:ln/>
        </p:spPr>
      </p:sp>
      <p:sp>
        <p:nvSpPr>
          <p:cNvPr id="14" name="Text 12"/>
          <p:cNvSpPr/>
          <p:nvPr/>
        </p:nvSpPr>
        <p:spPr>
          <a:xfrm>
            <a:off x="868680" y="380390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5" name="Text 13"/>
          <p:cNvSpPr/>
          <p:nvPr/>
        </p:nvSpPr>
        <p:spPr>
          <a:xfrm>
            <a:off x="1600200" y="375818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Derive AGE from a birth date  </a:t>
            </a:r>
            <a:pPr indent="0" marL="0">
              <a:buNone/>
            </a:pPr>
            <a:r>
              <a:rPr lang="en-US" sz="1350" dirty="0">
                <a:solidFill>
                  <a:srgbClr val="5A7682"/>
                </a:solidFill>
                <a:latin typeface="Calibri" pitchFamily="34" charset="0"/>
                <a:ea typeface="Calibri" pitchFamily="34" charset="-122"/>
                <a:cs typeface="Calibri" pitchFamily="34" charset="-120"/>
              </a:rPr>
              <a:t>including the birthday edge case that catches everyone.</a:t>
            </a:r>
            <a:endParaRPr lang="en-US" sz="1600" dirty="0"/>
          </a:p>
        </p:txBody>
      </p:sp>
      <p:sp>
        <p:nvSpPr>
          <p:cNvPr id="16" name="Shape 14"/>
          <p:cNvSpPr/>
          <p:nvPr/>
        </p:nvSpPr>
        <p:spPr>
          <a:xfrm>
            <a:off x="640080" y="4617720"/>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868680" y="4809744"/>
            <a:ext cx="548640" cy="548640"/>
          </a:xfrm>
          <a:prstGeom prst="ellipse">
            <a:avLst/>
          </a:prstGeom>
          <a:solidFill>
            <a:srgbClr val="0F2E3D"/>
          </a:solidFill>
          <a:ln/>
        </p:spPr>
      </p:sp>
      <p:sp>
        <p:nvSpPr>
          <p:cNvPr id="18" name="Text 16"/>
          <p:cNvSpPr/>
          <p:nvPr/>
        </p:nvSpPr>
        <p:spPr>
          <a:xfrm>
            <a:off x="868680" y="480974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9" name="Text 17"/>
          <p:cNvSpPr/>
          <p:nvPr/>
        </p:nvSpPr>
        <p:spPr>
          <a:xfrm>
            <a:off x="1600200" y="476402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Apply CT to SEX, RACE and ETHNIC  </a:t>
            </a:r>
            <a:pPr indent="0" marL="0">
              <a:buNone/>
            </a:pPr>
            <a:r>
              <a:rPr lang="en-US" sz="1350" dirty="0">
                <a:solidFill>
                  <a:srgbClr val="5A7682"/>
                </a:solidFill>
                <a:latin typeface="Calibri" pitchFamily="34" charset="0"/>
                <a:ea typeface="Calibri" pitchFamily="34" charset="-122"/>
                <a:cs typeface="Calibri" pitchFamily="34" charset="-120"/>
              </a:rPr>
              <a:t>and know why blind upper-casing is dangerous in production.</a:t>
            </a:r>
            <a:endParaRPr lang="en-US" sz="1600" dirty="0"/>
          </a:p>
        </p:txBody>
      </p:sp>
      <p:sp>
        <p:nvSpPr>
          <p:cNvPr id="20" name="Shape 18"/>
          <p:cNvSpPr/>
          <p:nvPr/>
        </p:nvSpPr>
        <p:spPr>
          <a:xfrm>
            <a:off x="640080" y="5623560"/>
            <a:ext cx="10972800" cy="932688"/>
          </a:xfrm>
          <a:prstGeom prst="roundRect">
            <a:avLst>
              <a:gd name="adj" fmla="val 8824"/>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868680" y="5815584"/>
            <a:ext cx="548640" cy="548640"/>
          </a:xfrm>
          <a:prstGeom prst="ellipse">
            <a:avLst/>
          </a:prstGeom>
          <a:solidFill>
            <a:srgbClr val="0E7C86"/>
          </a:solidFill>
          <a:ln/>
        </p:spPr>
      </p:sp>
      <p:sp>
        <p:nvSpPr>
          <p:cNvPr id="22" name="Text 20"/>
          <p:cNvSpPr/>
          <p:nvPr/>
        </p:nvSpPr>
        <p:spPr>
          <a:xfrm>
            <a:off x="868680" y="5815584"/>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23" name="Text 21"/>
          <p:cNvSpPr/>
          <p:nvPr/>
        </p:nvSpPr>
        <p:spPr>
          <a:xfrm>
            <a:off x="1600200" y="5769864"/>
            <a:ext cx="9692640" cy="640080"/>
          </a:xfrm>
          <a:prstGeom prst="rect">
            <a:avLst/>
          </a:prstGeom>
          <a:noFill/>
          <a:ln/>
        </p:spPr>
        <p:txBody>
          <a:bodyPr wrap="square" lIns="0" tIns="0" rIns="0" bIns="0" rtlCol="0" anchor="ctr"/>
          <a:lstStyle/>
          <a:p>
            <a:pPr indent="0" marL="0">
              <a:buNone/>
            </a:pPr>
            <a:r>
              <a:rPr lang="en-US" sz="1600" b="1" dirty="0">
                <a:solidFill>
                  <a:srgbClr val="0F2E3D"/>
                </a:solidFill>
                <a:latin typeface="Calibri" pitchFamily="34" charset="0"/>
                <a:ea typeface="Calibri" pitchFamily="34" charset="-122"/>
                <a:cs typeface="Calibri" pitchFamily="34" charset="-120"/>
              </a:rPr>
              <a:t>Populate the reference dates  </a:t>
            </a:r>
            <a:pPr indent="0" marL="0">
              <a:buNone/>
            </a:pPr>
            <a:r>
              <a:rPr lang="en-US" sz="1350" dirty="0">
                <a:solidFill>
                  <a:srgbClr val="5A7682"/>
                </a:solidFill>
                <a:latin typeface="Calibri" pitchFamily="34" charset="0"/>
                <a:ea typeface="Calibri" pitchFamily="34" charset="-122"/>
                <a:cs typeface="Calibri" pitchFamily="34" charset="-120"/>
              </a:rPr>
              <a:t>and name which CRF form each one comes from.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RECAP AND PLACE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Where DM sits in the domain families</a:t>
            </a:r>
            <a:endParaRPr lang="en-US" sz="3000" dirty="0"/>
          </a:p>
        </p:txBody>
      </p:sp>
      <p:sp>
        <p:nvSpPr>
          <p:cNvPr id="4" name="Shape 2"/>
          <p:cNvSpPr/>
          <p:nvPr/>
        </p:nvSpPr>
        <p:spPr>
          <a:xfrm>
            <a:off x="640080" y="1737360"/>
            <a:ext cx="2724912" cy="2377440"/>
          </a:xfrm>
          <a:prstGeom prst="roundRect">
            <a:avLst>
              <a:gd name="adj" fmla="val 3462"/>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822960" y="1920240"/>
            <a:ext cx="2377440" cy="457200"/>
          </a:xfrm>
          <a:prstGeom prst="rect">
            <a:avLst/>
          </a:prstGeom>
          <a:noFill/>
          <a:ln/>
        </p:spPr>
        <p:txBody>
          <a:bodyPr wrap="square" lIns="0" tIns="0" rIns="0" bIns="0" rtlCol="0" anchor="ctr"/>
          <a:lstStyle/>
          <a:p>
            <a:pPr indent="0" marL="0">
              <a:buNone/>
            </a:pPr>
            <a:r>
              <a:rPr lang="en-US" sz="1700" b="1" dirty="0">
                <a:solidFill>
                  <a:srgbClr val="0E7C86"/>
                </a:solidFill>
                <a:latin typeface="Cambria" pitchFamily="34" charset="0"/>
                <a:ea typeface="Cambria" pitchFamily="34" charset="-122"/>
                <a:cs typeface="Cambria" pitchFamily="34" charset="-120"/>
              </a:rPr>
              <a:t>Interventions</a:t>
            </a:r>
            <a:endParaRPr lang="en-US" sz="1700" dirty="0"/>
          </a:p>
        </p:txBody>
      </p:sp>
      <p:sp>
        <p:nvSpPr>
          <p:cNvPr id="6" name="Text 4"/>
          <p:cNvSpPr/>
          <p:nvPr/>
        </p:nvSpPr>
        <p:spPr>
          <a:xfrm>
            <a:off x="822960" y="2450592"/>
            <a:ext cx="2377440" cy="73152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Something given to the subject</a:t>
            </a:r>
            <a:endParaRPr lang="en-US" sz="1250" dirty="0"/>
          </a:p>
        </p:txBody>
      </p:sp>
      <p:sp>
        <p:nvSpPr>
          <p:cNvPr id="7" name="Text 5"/>
          <p:cNvSpPr/>
          <p:nvPr/>
        </p:nvSpPr>
        <p:spPr>
          <a:xfrm>
            <a:off x="822960" y="3520440"/>
            <a:ext cx="2377440" cy="365760"/>
          </a:xfrm>
          <a:prstGeom prst="rect">
            <a:avLst/>
          </a:prstGeom>
          <a:noFill/>
          <a:ln/>
        </p:spPr>
        <p:txBody>
          <a:bodyPr wrap="square" lIns="0" tIns="0" rIns="0" bIns="0" rtlCol="0" anchor="ctr"/>
          <a:lstStyle/>
          <a:p>
            <a:pPr indent="0" marL="0">
              <a:buNone/>
            </a:pPr>
            <a:r>
              <a:rPr lang="en-US" sz="1250" b="1" dirty="0">
                <a:solidFill>
                  <a:srgbClr val="0E7C86"/>
                </a:solidFill>
                <a:latin typeface="Courier New" pitchFamily="34" charset="0"/>
                <a:ea typeface="Courier New" pitchFamily="34" charset="-122"/>
                <a:cs typeface="Courier New" pitchFamily="34" charset="-120"/>
              </a:rPr>
              <a:t>CM · EX</a:t>
            </a:r>
            <a:endParaRPr lang="en-US" sz="1250" dirty="0"/>
          </a:p>
        </p:txBody>
      </p:sp>
      <p:sp>
        <p:nvSpPr>
          <p:cNvPr id="8" name="Shape 6"/>
          <p:cNvSpPr/>
          <p:nvPr/>
        </p:nvSpPr>
        <p:spPr>
          <a:xfrm>
            <a:off x="3474720" y="1737360"/>
            <a:ext cx="2724912" cy="2377440"/>
          </a:xfrm>
          <a:prstGeom prst="roundRect">
            <a:avLst>
              <a:gd name="adj" fmla="val 3462"/>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3657600" y="1920240"/>
            <a:ext cx="2377440" cy="457200"/>
          </a:xfrm>
          <a:prstGeom prst="rect">
            <a:avLst/>
          </a:prstGeom>
          <a:noFill/>
          <a:ln/>
        </p:spPr>
        <p:txBody>
          <a:bodyPr wrap="square" lIns="0" tIns="0" rIns="0" bIns="0" rtlCol="0" anchor="ctr"/>
          <a:lstStyle/>
          <a:p>
            <a:pPr indent="0" marL="0">
              <a:buNone/>
            </a:pPr>
            <a:r>
              <a:rPr lang="en-US" sz="1700" b="1" dirty="0">
                <a:solidFill>
                  <a:srgbClr val="1FA8A0"/>
                </a:solidFill>
                <a:latin typeface="Cambria" pitchFamily="34" charset="0"/>
                <a:ea typeface="Cambria" pitchFamily="34" charset="-122"/>
                <a:cs typeface="Cambria" pitchFamily="34" charset="-120"/>
              </a:rPr>
              <a:t>Events</a:t>
            </a:r>
            <a:endParaRPr lang="en-US" sz="1700" dirty="0"/>
          </a:p>
        </p:txBody>
      </p:sp>
      <p:sp>
        <p:nvSpPr>
          <p:cNvPr id="10" name="Text 8"/>
          <p:cNvSpPr/>
          <p:nvPr/>
        </p:nvSpPr>
        <p:spPr>
          <a:xfrm>
            <a:off x="3657600" y="2450592"/>
            <a:ext cx="2377440" cy="73152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Something that happened</a:t>
            </a:r>
            <a:endParaRPr lang="en-US" sz="1250" dirty="0"/>
          </a:p>
        </p:txBody>
      </p:sp>
      <p:sp>
        <p:nvSpPr>
          <p:cNvPr id="11" name="Text 9"/>
          <p:cNvSpPr/>
          <p:nvPr/>
        </p:nvSpPr>
        <p:spPr>
          <a:xfrm>
            <a:off x="3657600" y="3520440"/>
            <a:ext cx="2377440" cy="365760"/>
          </a:xfrm>
          <a:prstGeom prst="rect">
            <a:avLst/>
          </a:prstGeom>
          <a:noFill/>
          <a:ln/>
        </p:spPr>
        <p:txBody>
          <a:bodyPr wrap="square" lIns="0" tIns="0" rIns="0" bIns="0" rtlCol="0" anchor="ctr"/>
          <a:lstStyle/>
          <a:p>
            <a:pPr indent="0" marL="0">
              <a:buNone/>
            </a:pPr>
            <a:r>
              <a:rPr lang="en-US" sz="1250" b="1" dirty="0">
                <a:solidFill>
                  <a:srgbClr val="1FA8A0"/>
                </a:solidFill>
                <a:latin typeface="Courier New" pitchFamily="34" charset="0"/>
                <a:ea typeface="Courier New" pitchFamily="34" charset="-122"/>
                <a:cs typeface="Courier New" pitchFamily="34" charset="-120"/>
              </a:rPr>
              <a:t>AE · MH · DS</a:t>
            </a:r>
            <a:endParaRPr lang="en-US" sz="1250" dirty="0"/>
          </a:p>
        </p:txBody>
      </p:sp>
      <p:sp>
        <p:nvSpPr>
          <p:cNvPr id="12" name="Shape 10"/>
          <p:cNvSpPr/>
          <p:nvPr/>
        </p:nvSpPr>
        <p:spPr>
          <a:xfrm>
            <a:off x="6309360" y="1737360"/>
            <a:ext cx="2724912" cy="2377440"/>
          </a:xfrm>
          <a:prstGeom prst="roundRect">
            <a:avLst>
              <a:gd name="adj" fmla="val 3462"/>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Text 11"/>
          <p:cNvSpPr/>
          <p:nvPr/>
        </p:nvSpPr>
        <p:spPr>
          <a:xfrm>
            <a:off x="6492240" y="1920240"/>
            <a:ext cx="2377440" cy="457200"/>
          </a:xfrm>
          <a:prstGeom prst="rect">
            <a:avLst/>
          </a:prstGeom>
          <a:noFill/>
          <a:ln/>
        </p:spPr>
        <p:txBody>
          <a:bodyPr wrap="square" lIns="0" tIns="0" rIns="0" bIns="0" rtlCol="0" anchor="ctr"/>
          <a:lstStyle/>
          <a:p>
            <a:pPr indent="0" marL="0">
              <a:buNone/>
            </a:pPr>
            <a:r>
              <a:rPr lang="en-US" sz="1700" b="1" dirty="0">
                <a:solidFill>
                  <a:srgbClr val="6FC8B4"/>
                </a:solidFill>
                <a:latin typeface="Cambria" pitchFamily="34" charset="0"/>
                <a:ea typeface="Cambria" pitchFamily="34" charset="-122"/>
                <a:cs typeface="Cambria" pitchFamily="34" charset="-120"/>
              </a:rPr>
              <a:t>Findings</a:t>
            </a:r>
            <a:endParaRPr lang="en-US" sz="1700" dirty="0"/>
          </a:p>
        </p:txBody>
      </p:sp>
      <p:sp>
        <p:nvSpPr>
          <p:cNvPr id="14" name="Text 12"/>
          <p:cNvSpPr/>
          <p:nvPr/>
        </p:nvSpPr>
        <p:spPr>
          <a:xfrm>
            <a:off x="6492240" y="2450592"/>
            <a:ext cx="2377440" cy="73152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Something measured</a:t>
            </a:r>
            <a:endParaRPr lang="en-US" sz="1250" dirty="0"/>
          </a:p>
        </p:txBody>
      </p:sp>
      <p:sp>
        <p:nvSpPr>
          <p:cNvPr id="15" name="Text 13"/>
          <p:cNvSpPr/>
          <p:nvPr/>
        </p:nvSpPr>
        <p:spPr>
          <a:xfrm>
            <a:off x="6492240" y="3520440"/>
            <a:ext cx="2377440" cy="365760"/>
          </a:xfrm>
          <a:prstGeom prst="rect">
            <a:avLst/>
          </a:prstGeom>
          <a:noFill/>
          <a:ln/>
        </p:spPr>
        <p:txBody>
          <a:bodyPr wrap="square" lIns="0" tIns="0" rIns="0" bIns="0" rtlCol="0" anchor="ctr"/>
          <a:lstStyle/>
          <a:p>
            <a:pPr indent="0" marL="0">
              <a:buNone/>
            </a:pPr>
            <a:r>
              <a:rPr lang="en-US" sz="1250" b="1" dirty="0">
                <a:solidFill>
                  <a:srgbClr val="6FC8B4"/>
                </a:solidFill>
                <a:latin typeface="Courier New" pitchFamily="34" charset="0"/>
                <a:ea typeface="Courier New" pitchFamily="34" charset="-122"/>
                <a:cs typeface="Courier New" pitchFamily="34" charset="-120"/>
              </a:rPr>
              <a:t>VS · LB · EG</a:t>
            </a:r>
            <a:endParaRPr lang="en-US" sz="1250" dirty="0"/>
          </a:p>
        </p:txBody>
      </p:sp>
      <p:sp>
        <p:nvSpPr>
          <p:cNvPr id="16" name="Shape 14"/>
          <p:cNvSpPr/>
          <p:nvPr/>
        </p:nvSpPr>
        <p:spPr>
          <a:xfrm>
            <a:off x="9144000" y="1737360"/>
            <a:ext cx="2724912" cy="2377440"/>
          </a:xfrm>
          <a:prstGeom prst="roundRect">
            <a:avLst>
              <a:gd name="adj" fmla="val 3462"/>
            </a:avLst>
          </a:prstGeom>
          <a:solidFill>
            <a:srgbClr val="FDF1E7"/>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9144000" y="1737360"/>
            <a:ext cx="2724912" cy="2377440"/>
          </a:xfrm>
          <a:prstGeom prst="roundRect">
            <a:avLst>
              <a:gd name="adj" fmla="val 3462"/>
            </a:avLst>
          </a:prstGeom>
          <a:ln w="31750">
            <a:solidFill>
              <a:srgbClr val="E8833A"/>
            </a:solidFill>
            <a:prstDash val="solid"/>
          </a:ln>
        </p:spPr>
      </p:sp>
      <p:sp>
        <p:nvSpPr>
          <p:cNvPr id="18" name="Text 16"/>
          <p:cNvSpPr/>
          <p:nvPr/>
        </p:nvSpPr>
        <p:spPr>
          <a:xfrm>
            <a:off x="9326880" y="1920240"/>
            <a:ext cx="2377440" cy="457200"/>
          </a:xfrm>
          <a:prstGeom prst="rect">
            <a:avLst/>
          </a:prstGeom>
          <a:noFill/>
          <a:ln/>
        </p:spPr>
        <p:txBody>
          <a:bodyPr wrap="square" lIns="0" tIns="0" rIns="0" bIns="0" rtlCol="0" anchor="ctr"/>
          <a:lstStyle/>
          <a:p>
            <a:pPr indent="0" marL="0">
              <a:buNone/>
            </a:pPr>
            <a:r>
              <a:rPr lang="en-US" sz="1700" b="1" dirty="0">
                <a:solidFill>
                  <a:srgbClr val="B5651A"/>
                </a:solidFill>
                <a:latin typeface="Cambria" pitchFamily="34" charset="0"/>
                <a:ea typeface="Cambria" pitchFamily="34" charset="-122"/>
                <a:cs typeface="Cambria" pitchFamily="34" charset="-120"/>
              </a:rPr>
              <a:t>Special Purpose</a:t>
            </a:r>
            <a:endParaRPr lang="en-US" sz="1700" dirty="0"/>
          </a:p>
        </p:txBody>
      </p:sp>
      <p:sp>
        <p:nvSpPr>
          <p:cNvPr id="19" name="Text 17"/>
          <p:cNvSpPr/>
          <p:nvPr/>
        </p:nvSpPr>
        <p:spPr>
          <a:xfrm>
            <a:off x="9326880" y="2450592"/>
            <a:ext cx="2377440" cy="731520"/>
          </a:xfrm>
          <a:prstGeom prst="rect">
            <a:avLst/>
          </a:prstGeom>
          <a:noFill/>
          <a:ln/>
        </p:spPr>
        <p:txBody>
          <a:bodyPr wrap="square" lIns="0" tIns="0" rIns="0" bIns="0" rtlCol="0" anchor="ctr"/>
          <a:lstStyle/>
          <a:p>
            <a:pPr indent="0" marL="0">
              <a:buNone/>
            </a:pPr>
            <a:r>
              <a:rPr lang="en-US" sz="1250" dirty="0">
                <a:solidFill>
                  <a:srgbClr val="5A7682"/>
                </a:solidFill>
                <a:latin typeface="Calibri" pitchFamily="34" charset="0"/>
                <a:ea typeface="Calibri" pitchFamily="34" charset="-122"/>
                <a:cs typeface="Calibri" pitchFamily="34" charset="-120"/>
              </a:rPr>
              <a:t>Its own fixed structure</a:t>
            </a:r>
            <a:endParaRPr lang="en-US" sz="1250" dirty="0"/>
          </a:p>
        </p:txBody>
      </p:sp>
      <p:sp>
        <p:nvSpPr>
          <p:cNvPr id="20" name="Text 18"/>
          <p:cNvSpPr/>
          <p:nvPr/>
        </p:nvSpPr>
        <p:spPr>
          <a:xfrm>
            <a:off x="9326880" y="3520440"/>
            <a:ext cx="2377440" cy="365760"/>
          </a:xfrm>
          <a:prstGeom prst="rect">
            <a:avLst/>
          </a:prstGeom>
          <a:noFill/>
          <a:ln/>
        </p:spPr>
        <p:txBody>
          <a:bodyPr wrap="square" lIns="0" tIns="0" rIns="0" bIns="0" rtlCol="0" anchor="ctr"/>
          <a:lstStyle/>
          <a:p>
            <a:pPr indent="0" marL="0">
              <a:buNone/>
            </a:pPr>
            <a:r>
              <a:rPr lang="en-US" sz="1250" b="1" dirty="0">
                <a:solidFill>
                  <a:srgbClr val="B5651A"/>
                </a:solidFill>
                <a:latin typeface="Courier New" pitchFamily="34" charset="0"/>
                <a:ea typeface="Courier New" pitchFamily="34" charset="-122"/>
                <a:cs typeface="Courier New" pitchFamily="34" charset="-120"/>
              </a:rPr>
              <a:t>DM · CO · SE · SV</a:t>
            </a:r>
            <a:endParaRPr lang="en-US" sz="1250" dirty="0"/>
          </a:p>
        </p:txBody>
      </p:sp>
      <p:sp>
        <p:nvSpPr>
          <p:cNvPr id="21" name="Shape 19"/>
          <p:cNvSpPr/>
          <p:nvPr/>
        </p:nvSpPr>
        <p:spPr>
          <a:xfrm>
            <a:off x="640080" y="4434840"/>
            <a:ext cx="10972800" cy="1691640"/>
          </a:xfrm>
          <a:prstGeom prst="roundRect">
            <a:avLst>
              <a:gd name="adj" fmla="val 4865"/>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2" name="Text 20"/>
          <p:cNvSpPr/>
          <p:nvPr/>
        </p:nvSpPr>
        <p:spPr>
          <a:xfrm>
            <a:off x="914400" y="4617720"/>
            <a:ext cx="10424160" cy="365760"/>
          </a:xfrm>
          <a:prstGeom prst="rect">
            <a:avLst/>
          </a:prstGeom>
          <a:noFill/>
          <a:ln/>
        </p:spPr>
        <p:txBody>
          <a:bodyPr wrap="square" lIns="0" tIns="0" rIns="0" bIns="0" rtlCol="0" anchor="ctr"/>
          <a:lstStyle/>
          <a:p>
            <a:pPr indent="0" marL="0">
              <a:buNone/>
            </a:pPr>
            <a:r>
              <a:rPr lang="en-US" sz="1600" b="1" dirty="0">
                <a:solidFill>
                  <a:srgbClr val="6FC8B4"/>
                </a:solidFill>
                <a:latin typeface="Calibri" pitchFamily="34" charset="0"/>
                <a:ea typeface="Calibri" pitchFamily="34" charset="-122"/>
                <a:cs typeface="Calibri" pitchFamily="34" charset="-120"/>
              </a:rPr>
              <a:t>Special Purpose means: this domain has its own defined structure</a:t>
            </a:r>
            <a:endParaRPr lang="en-US" sz="1600" dirty="0"/>
          </a:p>
        </p:txBody>
      </p:sp>
      <p:sp>
        <p:nvSpPr>
          <p:cNvPr id="23" name="Text 21"/>
          <p:cNvSpPr/>
          <p:nvPr/>
        </p:nvSpPr>
        <p:spPr>
          <a:xfrm>
            <a:off x="914400" y="5029200"/>
            <a:ext cx="10424160" cy="914400"/>
          </a:xfrm>
          <a:prstGeom prst="rect">
            <a:avLst/>
          </a:prstGeom>
          <a:noFill/>
          <a:ln/>
        </p:spPr>
        <p:txBody>
          <a:bodyPr wrap="square" lIns="0" tIns="0" rIns="0" bIns="0" rtlCol="0" anchor="ctr"/>
          <a:lstStyle/>
          <a:p>
            <a:pPr indent="0" marL="0">
              <a:buNone/>
            </a:pPr>
            <a:r>
              <a:rPr lang="en-US" sz="1350" dirty="0">
                <a:solidFill>
                  <a:srgbClr val="C7DCE0"/>
                </a:solidFill>
                <a:latin typeface="Calibri" pitchFamily="34" charset="0"/>
                <a:ea typeface="Calibri" pitchFamily="34" charset="-122"/>
                <a:cs typeface="Calibri" pitchFamily="34" charset="-120"/>
              </a:rPr>
              <a:t>The three general observation classes share a common set of variables (a topic, timing variables, qualifiers, a --SEQ). Special Purpose domains do not follow that pattern — the SDTMIG defines their variables explicitly. DM is the one you will meet first and use most.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SHAPE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Two rules that define DM</a:t>
            </a:r>
            <a:endParaRPr lang="en-US" sz="3000" dirty="0"/>
          </a:p>
        </p:txBody>
      </p:sp>
      <p:sp>
        <p:nvSpPr>
          <p:cNvPr id="4" name="Shape 2"/>
          <p:cNvSpPr/>
          <p:nvPr/>
        </p:nvSpPr>
        <p:spPr>
          <a:xfrm>
            <a:off x="640080" y="1737360"/>
            <a:ext cx="5394960" cy="2286000"/>
          </a:xfrm>
          <a:prstGeom prst="roundRect">
            <a:avLst>
              <a:gd name="adj" fmla="val 36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914400" y="1965960"/>
            <a:ext cx="685800" cy="685800"/>
          </a:xfrm>
          <a:prstGeom prst="ellipse">
            <a:avLst/>
          </a:prstGeom>
          <a:solidFill>
            <a:srgbClr val="0E7C86"/>
          </a:solidFill>
          <a:ln/>
        </p:spPr>
      </p:sp>
      <p:sp>
        <p:nvSpPr>
          <p:cNvPr id="6" name="Text 4"/>
          <p:cNvSpPr/>
          <p:nvPr/>
        </p:nvSpPr>
        <p:spPr>
          <a:xfrm>
            <a:off x="914400" y="1965960"/>
            <a:ext cx="685800" cy="68580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1828800" y="2011680"/>
            <a:ext cx="4023360" cy="457200"/>
          </a:xfrm>
          <a:prstGeom prst="rect">
            <a:avLst/>
          </a:prstGeom>
          <a:noFill/>
          <a:ln/>
        </p:spPr>
        <p:txBody>
          <a:bodyPr wrap="square" lIns="0" tIns="0" rIns="0" bIns="0" rtlCol="0" anchor="ctr"/>
          <a:lstStyle/>
          <a:p>
            <a:pPr indent="0" marL="0">
              <a:buNone/>
            </a:pPr>
            <a:r>
              <a:rPr lang="en-US" sz="2100" b="1" dirty="0">
                <a:solidFill>
                  <a:srgbClr val="0E7C86"/>
                </a:solidFill>
                <a:latin typeface="Cambria" pitchFamily="34" charset="0"/>
                <a:ea typeface="Cambria" pitchFamily="34" charset="-122"/>
                <a:cs typeface="Cambria" pitchFamily="34" charset="-120"/>
              </a:rPr>
              <a:t>One row per subject</a:t>
            </a:r>
            <a:endParaRPr lang="en-US" sz="2100" dirty="0"/>
          </a:p>
        </p:txBody>
      </p:sp>
      <p:sp>
        <p:nvSpPr>
          <p:cNvPr id="8" name="Text 6"/>
          <p:cNvSpPr/>
          <p:nvPr/>
        </p:nvSpPr>
        <p:spPr>
          <a:xfrm>
            <a:off x="914400" y="2788920"/>
            <a:ext cx="4846320" cy="1097280"/>
          </a:xfrm>
          <a:prstGeom prst="rect">
            <a:avLst/>
          </a:prstGeom>
          <a:noFill/>
          <a:ln/>
        </p:spPr>
        <p:txBody>
          <a:bodyPr wrap="square" lIns="0" tIns="0" rIns="0" bIns="0" rtlCol="0" anchor="ctr"/>
          <a:lstStyle/>
          <a:p>
            <a:pPr indent="0" marL="0">
              <a:buNone/>
            </a:pPr>
            <a:r>
              <a:rPr lang="en-US" sz="1350" dirty="0">
                <a:solidFill>
                  <a:srgbClr val="0F2E3D"/>
                </a:solidFill>
                <a:latin typeface="Calibri" pitchFamily="34" charset="0"/>
                <a:ea typeface="Calibri" pitchFamily="34" charset="-122"/>
                <a:cs typeface="Calibri" pitchFamily="34" charset="-120"/>
              </a:rPr>
              <a:t>8 subjects → exactly 8 rows. No subject appears twice, ever. This is the easiest domain to check: your row count must equal your subject count.</a:t>
            </a:r>
            <a:endParaRPr lang="en-US" sz="1350" dirty="0"/>
          </a:p>
        </p:txBody>
      </p:sp>
      <p:sp>
        <p:nvSpPr>
          <p:cNvPr id="9" name="Shape 7"/>
          <p:cNvSpPr/>
          <p:nvPr/>
        </p:nvSpPr>
        <p:spPr>
          <a:xfrm>
            <a:off x="6217920" y="1737360"/>
            <a:ext cx="5394960" cy="2286000"/>
          </a:xfrm>
          <a:prstGeom prst="roundRect">
            <a:avLst>
              <a:gd name="adj" fmla="val 3600"/>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Shape 8"/>
          <p:cNvSpPr/>
          <p:nvPr/>
        </p:nvSpPr>
        <p:spPr>
          <a:xfrm>
            <a:off x="6492240" y="1965960"/>
            <a:ext cx="685800" cy="685800"/>
          </a:xfrm>
          <a:prstGeom prst="ellipse">
            <a:avLst/>
          </a:prstGeom>
          <a:solidFill>
            <a:srgbClr val="E8833A"/>
          </a:solidFill>
          <a:ln/>
        </p:spPr>
      </p:sp>
      <p:sp>
        <p:nvSpPr>
          <p:cNvPr id="11" name="Text 9"/>
          <p:cNvSpPr/>
          <p:nvPr/>
        </p:nvSpPr>
        <p:spPr>
          <a:xfrm>
            <a:off x="6492240" y="1965960"/>
            <a:ext cx="685800" cy="685800"/>
          </a:xfrm>
          <a:prstGeom prst="rect">
            <a:avLst/>
          </a:prstGeom>
          <a:noFill/>
          <a:ln/>
        </p:spPr>
        <p:txBody>
          <a:bodyPr wrap="square" lIns="0" tIns="0" rIns="0" bIns="0" rtlCol="0" anchor="ctr"/>
          <a:lstStyle/>
          <a:p>
            <a:pPr algn="ctr" indent="0" marL="0">
              <a:buNone/>
            </a:pPr>
            <a:r>
              <a:rPr lang="en-US" sz="2200" b="1" dirty="0">
                <a:solidFill>
                  <a:srgbClr val="0F2E3D"/>
                </a:solidFill>
                <a:latin typeface="Calibri" pitchFamily="34" charset="0"/>
                <a:ea typeface="Calibri" pitchFamily="34" charset="-122"/>
                <a:cs typeface="Calibri" pitchFamily="34" charset="-120"/>
              </a:rPr>
              <a:t>2</a:t>
            </a:r>
            <a:endParaRPr lang="en-US" sz="2200" dirty="0"/>
          </a:p>
        </p:txBody>
      </p:sp>
      <p:sp>
        <p:nvSpPr>
          <p:cNvPr id="12" name="Text 10"/>
          <p:cNvSpPr/>
          <p:nvPr/>
        </p:nvSpPr>
        <p:spPr>
          <a:xfrm>
            <a:off x="7406640" y="2011680"/>
            <a:ext cx="4023360" cy="457200"/>
          </a:xfrm>
          <a:prstGeom prst="rect">
            <a:avLst/>
          </a:prstGeom>
          <a:noFill/>
          <a:ln/>
        </p:spPr>
        <p:txBody>
          <a:bodyPr wrap="square" lIns="0" tIns="0" rIns="0" bIns="0" rtlCol="0" anchor="ctr"/>
          <a:lstStyle/>
          <a:p>
            <a:pPr indent="0" marL="0">
              <a:buNone/>
            </a:pPr>
            <a:r>
              <a:rPr lang="en-US" sz="2100" b="1" dirty="0">
                <a:solidFill>
                  <a:srgbClr val="B5651A"/>
                </a:solidFill>
                <a:latin typeface="Cambria" pitchFamily="34" charset="0"/>
                <a:ea typeface="Cambria" pitchFamily="34" charset="-122"/>
                <a:cs typeface="Cambria" pitchFamily="34" charset="-120"/>
              </a:rPr>
              <a:t>No --SEQ variable</a:t>
            </a:r>
            <a:endParaRPr lang="en-US" sz="2100" dirty="0"/>
          </a:p>
        </p:txBody>
      </p:sp>
      <p:sp>
        <p:nvSpPr>
          <p:cNvPr id="13" name="Text 11"/>
          <p:cNvSpPr/>
          <p:nvPr/>
        </p:nvSpPr>
        <p:spPr>
          <a:xfrm>
            <a:off x="6492240" y="2788920"/>
            <a:ext cx="4846320" cy="1097280"/>
          </a:xfrm>
          <a:prstGeom prst="rect">
            <a:avLst/>
          </a:prstGeom>
          <a:noFill/>
          <a:ln/>
        </p:spPr>
        <p:txBody>
          <a:bodyPr wrap="square" lIns="0" tIns="0" rIns="0" bIns="0" rtlCol="0" anchor="ctr"/>
          <a:lstStyle/>
          <a:p>
            <a:pPr indent="0" marL="0">
              <a:buNone/>
            </a:pPr>
            <a:r>
              <a:rPr lang="en-US" sz="1350" dirty="0">
                <a:solidFill>
                  <a:srgbClr val="0F2E3D"/>
                </a:solidFill>
                <a:latin typeface="Calibri" pitchFamily="34" charset="0"/>
                <a:ea typeface="Calibri" pitchFamily="34" charset="-122"/>
                <a:cs typeface="Calibri" pitchFamily="34" charset="-120"/>
              </a:rPr>
              <a:t>There is no DMSEQ. Sequence numbers exist to tell a subject's multiple records apart — DM has only one record per subject, so it needs none.</a:t>
            </a:r>
            <a:endParaRPr lang="en-US" sz="1350" dirty="0"/>
          </a:p>
        </p:txBody>
      </p:sp>
      <p:sp>
        <p:nvSpPr>
          <p:cNvPr id="14" name="Shape 12"/>
          <p:cNvSpPr/>
          <p:nvPr/>
        </p:nvSpPr>
        <p:spPr>
          <a:xfrm>
            <a:off x="640080" y="4297680"/>
            <a:ext cx="10972800" cy="1783080"/>
          </a:xfrm>
          <a:prstGeom prst="roundRect">
            <a:avLst>
              <a:gd name="adj" fmla="val 4615"/>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Text 13"/>
          <p:cNvSpPr/>
          <p:nvPr/>
        </p:nvSpPr>
        <p:spPr>
          <a:xfrm>
            <a:off x="914400" y="4480560"/>
            <a:ext cx="10424160" cy="365760"/>
          </a:xfrm>
          <a:prstGeom prst="rect">
            <a:avLst/>
          </a:prstGeom>
          <a:noFill/>
          <a:ln/>
        </p:spPr>
        <p:txBody>
          <a:bodyPr wrap="square" lIns="0" tIns="0" rIns="0" bIns="0" rtlCol="0" anchor="ctr"/>
          <a:lstStyle/>
          <a:p>
            <a:pPr indent="0" marL="0">
              <a:buNone/>
            </a:pPr>
            <a:r>
              <a:rPr lang="en-US" sz="1600" b="1" dirty="0">
                <a:solidFill>
                  <a:srgbClr val="6FC8B4"/>
                </a:solidFill>
                <a:latin typeface="Calibri" pitchFamily="34" charset="0"/>
                <a:ea typeface="Calibri" pitchFamily="34" charset="-122"/>
                <a:cs typeface="Calibri" pitchFamily="34" charset="-120"/>
              </a:rPr>
              <a:t>DM is the spine of the study</a:t>
            </a:r>
            <a:endParaRPr lang="en-US" sz="1600" dirty="0"/>
          </a:p>
        </p:txBody>
      </p:sp>
      <p:sp>
        <p:nvSpPr>
          <p:cNvPr id="16" name="Text 14"/>
          <p:cNvSpPr/>
          <p:nvPr/>
        </p:nvSpPr>
        <p:spPr>
          <a:xfrm>
            <a:off x="914400" y="4892040"/>
            <a:ext cx="10424160" cy="1005840"/>
          </a:xfrm>
          <a:prstGeom prst="rect">
            <a:avLst/>
          </a:prstGeom>
          <a:noFill/>
          <a:ln/>
        </p:spPr>
        <p:txBody>
          <a:bodyPr wrap="square" lIns="0" tIns="0" rIns="0" bIns="0" rtlCol="0" anchor="ctr"/>
          <a:lstStyle/>
          <a:p>
            <a:pPr indent="0" marL="0">
              <a:buNone/>
            </a:pPr>
            <a:r>
              <a:rPr lang="en-US" sz="1350" dirty="0">
                <a:solidFill>
                  <a:srgbClr val="C7DCE0"/>
                </a:solidFill>
                <a:latin typeface="Calibri" pitchFamily="34" charset="0"/>
                <a:ea typeface="Calibri" pitchFamily="34" charset="-122"/>
                <a:cs typeface="Calibri" pitchFamily="34" charset="-120"/>
              </a:rPr>
              <a:t>Every other domain joins back to DM on USUBJID. DM also carries the reference dates that every --DY calculation in every other domain depends on. Build DM first, and build it right — everything downstream inherits its mistakes.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THE SURPRISE</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DM is built from THREE forms, not one</a:t>
            </a:r>
            <a:endParaRPr lang="en-US" sz="3000" dirty="0"/>
          </a:p>
        </p:txBody>
      </p:sp>
      <p:sp>
        <p:nvSpPr>
          <p:cNvPr id="4" name="Shape 2"/>
          <p:cNvSpPr/>
          <p:nvPr/>
        </p:nvSpPr>
        <p:spPr>
          <a:xfrm>
            <a:off x="640080" y="1965960"/>
            <a:ext cx="3611880" cy="3200400"/>
          </a:xfrm>
          <a:prstGeom prst="roundRect">
            <a:avLst>
              <a:gd name="adj" fmla="val 2571"/>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1984248" y="2194560"/>
            <a:ext cx="822960" cy="822960"/>
          </a:xfrm>
          <a:prstGeom prst="ellipse">
            <a:avLst/>
          </a:prstGeom>
          <a:solidFill>
            <a:srgbClr val="0E7C86"/>
          </a:solidFill>
          <a:ln/>
        </p:spPr>
      </p:sp>
      <p:sp>
        <p:nvSpPr>
          <p:cNvPr id="6" name="Text 4"/>
          <p:cNvSpPr/>
          <p:nvPr/>
        </p:nvSpPr>
        <p:spPr>
          <a:xfrm>
            <a:off x="1984248" y="2194560"/>
            <a:ext cx="822960" cy="82296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Text 5"/>
          <p:cNvSpPr/>
          <p:nvPr/>
        </p:nvSpPr>
        <p:spPr>
          <a:xfrm>
            <a:off x="731520" y="3154680"/>
            <a:ext cx="3429000" cy="3657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Demographics</a:t>
            </a:r>
            <a:endParaRPr lang="en-US" sz="1900" dirty="0"/>
          </a:p>
        </p:txBody>
      </p:sp>
      <p:sp>
        <p:nvSpPr>
          <p:cNvPr id="8" name="Text 6"/>
          <p:cNvSpPr/>
          <p:nvPr/>
        </p:nvSpPr>
        <p:spPr>
          <a:xfrm>
            <a:off x="731520" y="3566160"/>
            <a:ext cx="3429000" cy="320040"/>
          </a:xfrm>
          <a:prstGeom prst="rect">
            <a:avLst/>
          </a:prstGeom>
          <a:noFill/>
          <a:ln/>
        </p:spPr>
        <p:txBody>
          <a:bodyPr wrap="square" lIns="0" tIns="0" rIns="0" bIns="0" rtlCol="0" anchor="ctr"/>
          <a:lstStyle/>
          <a:p>
            <a:pPr algn="ctr" indent="0" marL="0">
              <a:buNone/>
            </a:pPr>
            <a:r>
              <a:rPr lang="en-US" sz="1250" dirty="0">
                <a:solidFill>
                  <a:srgbClr val="0E7C86"/>
                </a:solidFill>
                <a:latin typeface="Courier New" pitchFamily="34" charset="0"/>
                <a:ea typeface="Courier New" pitchFamily="34" charset="-122"/>
                <a:cs typeface="Courier New" pitchFamily="34" charset="-120"/>
              </a:rPr>
              <a:t>dm_raw.csv</a:t>
            </a:r>
            <a:endParaRPr lang="en-US" sz="1250" dirty="0"/>
          </a:p>
        </p:txBody>
      </p:sp>
      <p:sp>
        <p:nvSpPr>
          <p:cNvPr id="9" name="Text 7"/>
          <p:cNvSpPr/>
          <p:nvPr/>
        </p:nvSpPr>
        <p:spPr>
          <a:xfrm>
            <a:off x="896112" y="3977640"/>
            <a:ext cx="3108960" cy="1097280"/>
          </a:xfrm>
          <a:prstGeom prst="rect">
            <a:avLst/>
          </a:prstGeom>
          <a:noFill/>
          <a:ln/>
        </p:spPr>
        <p:txBody>
          <a:bodyPr wrap="square" lIns="0" tIns="0" rIns="0" bIns="0" rtlCol="0" anchor="ctr"/>
          <a:lstStyle/>
          <a:p>
            <a:pPr algn="ctr" indent="0" marL="0">
              <a:buNone/>
            </a:pPr>
            <a:r>
              <a:rPr lang="en-US" sz="1200" dirty="0">
                <a:solidFill>
                  <a:srgbClr val="C7DCE0"/>
                </a:solidFill>
                <a:latin typeface="Calibri" pitchFamily="34" charset="0"/>
                <a:ea typeface="Calibri" pitchFamily="34" charset="-122"/>
                <a:cs typeface="Calibri" pitchFamily="34" charset="-120"/>
              </a:rPr>
              <a:t>Who the subject is: birth date, sex, race, ethnicity, country, arm, consent date, randomization date</a:t>
            </a:r>
            <a:endParaRPr lang="en-US" sz="1200" dirty="0"/>
          </a:p>
        </p:txBody>
      </p:sp>
      <p:sp>
        <p:nvSpPr>
          <p:cNvPr id="10" name="Shape 8"/>
          <p:cNvSpPr/>
          <p:nvPr/>
        </p:nvSpPr>
        <p:spPr>
          <a:xfrm>
            <a:off x="4389120" y="1965960"/>
            <a:ext cx="3611880" cy="3200400"/>
          </a:xfrm>
          <a:prstGeom prst="roundRect">
            <a:avLst>
              <a:gd name="adj" fmla="val 2571"/>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Shape 9"/>
          <p:cNvSpPr/>
          <p:nvPr/>
        </p:nvSpPr>
        <p:spPr>
          <a:xfrm>
            <a:off x="5733288" y="2194560"/>
            <a:ext cx="822960" cy="822960"/>
          </a:xfrm>
          <a:prstGeom prst="ellipse">
            <a:avLst/>
          </a:prstGeom>
          <a:solidFill>
            <a:srgbClr val="E8833A"/>
          </a:solidFill>
          <a:ln/>
        </p:spPr>
      </p:sp>
      <p:sp>
        <p:nvSpPr>
          <p:cNvPr id="12" name="Text 10"/>
          <p:cNvSpPr/>
          <p:nvPr/>
        </p:nvSpPr>
        <p:spPr>
          <a:xfrm>
            <a:off x="5733288" y="2194560"/>
            <a:ext cx="822960" cy="822960"/>
          </a:xfrm>
          <a:prstGeom prst="rect">
            <a:avLst/>
          </a:prstGeom>
          <a:noFill/>
          <a:ln/>
        </p:spPr>
        <p:txBody>
          <a:bodyPr wrap="square" lIns="0" tIns="0" rIns="0" bIns="0" rtlCol="0" anchor="ctr"/>
          <a:lstStyle/>
          <a:p>
            <a:pPr algn="ctr" indent="0" marL="0">
              <a:buNone/>
            </a:pPr>
            <a:r>
              <a:rPr lang="en-US" sz="2200" b="1" dirty="0">
                <a:solidFill>
                  <a:srgbClr val="0F2E3D"/>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4480560" y="3154680"/>
            <a:ext cx="3429000" cy="3657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Exposure</a:t>
            </a:r>
            <a:endParaRPr lang="en-US" sz="1900" dirty="0"/>
          </a:p>
        </p:txBody>
      </p:sp>
      <p:sp>
        <p:nvSpPr>
          <p:cNvPr id="14" name="Text 12"/>
          <p:cNvSpPr/>
          <p:nvPr/>
        </p:nvSpPr>
        <p:spPr>
          <a:xfrm>
            <a:off x="4480560" y="3566160"/>
            <a:ext cx="3429000" cy="320040"/>
          </a:xfrm>
          <a:prstGeom prst="rect">
            <a:avLst/>
          </a:prstGeom>
          <a:noFill/>
          <a:ln/>
        </p:spPr>
        <p:txBody>
          <a:bodyPr wrap="square" lIns="0" tIns="0" rIns="0" bIns="0" rtlCol="0" anchor="ctr"/>
          <a:lstStyle/>
          <a:p>
            <a:pPr algn="ctr" indent="0" marL="0">
              <a:buNone/>
            </a:pPr>
            <a:r>
              <a:rPr lang="en-US" sz="1250" dirty="0">
                <a:solidFill>
                  <a:srgbClr val="E8833A"/>
                </a:solidFill>
                <a:latin typeface="Courier New" pitchFamily="34" charset="0"/>
                <a:ea typeface="Courier New" pitchFamily="34" charset="-122"/>
                <a:cs typeface="Courier New" pitchFamily="34" charset="-120"/>
              </a:rPr>
              <a:t>ex_raw.csv</a:t>
            </a:r>
            <a:endParaRPr lang="en-US" sz="1250" dirty="0"/>
          </a:p>
        </p:txBody>
      </p:sp>
      <p:sp>
        <p:nvSpPr>
          <p:cNvPr id="15" name="Text 13"/>
          <p:cNvSpPr/>
          <p:nvPr/>
        </p:nvSpPr>
        <p:spPr>
          <a:xfrm>
            <a:off x="4645152" y="3977640"/>
            <a:ext cx="3108960" cy="1097280"/>
          </a:xfrm>
          <a:prstGeom prst="rect">
            <a:avLst/>
          </a:prstGeom>
          <a:noFill/>
          <a:ln/>
        </p:spPr>
        <p:txBody>
          <a:bodyPr wrap="square" lIns="0" tIns="0" rIns="0" bIns="0" rtlCol="0" anchor="ctr"/>
          <a:lstStyle/>
          <a:p>
            <a:pPr algn="ctr" indent="0" marL="0">
              <a:buNone/>
            </a:pPr>
            <a:r>
              <a:rPr lang="en-US" sz="1200" dirty="0">
                <a:solidFill>
                  <a:srgbClr val="C7DCE0"/>
                </a:solidFill>
                <a:latin typeface="Calibri" pitchFamily="34" charset="0"/>
                <a:ea typeface="Calibri" pitchFamily="34" charset="-122"/>
                <a:cs typeface="Calibri" pitchFamily="34" charset="-120"/>
              </a:rPr>
              <a:t>RFSTDTC / RFENDTC — first and last dose. These define Study Day 1 for the whole study</a:t>
            </a:r>
            <a:endParaRPr lang="en-US" sz="1200" dirty="0"/>
          </a:p>
        </p:txBody>
      </p:sp>
      <p:sp>
        <p:nvSpPr>
          <p:cNvPr id="16" name="Shape 14"/>
          <p:cNvSpPr/>
          <p:nvPr/>
        </p:nvSpPr>
        <p:spPr>
          <a:xfrm>
            <a:off x="8138160" y="1965960"/>
            <a:ext cx="3611880" cy="3200400"/>
          </a:xfrm>
          <a:prstGeom prst="roundRect">
            <a:avLst>
              <a:gd name="adj" fmla="val 2571"/>
            </a:avLst>
          </a:prstGeom>
          <a:solidFill>
            <a:srgbClr val="16404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9482328" y="2194560"/>
            <a:ext cx="822960" cy="822960"/>
          </a:xfrm>
          <a:prstGeom prst="ellipse">
            <a:avLst/>
          </a:prstGeom>
          <a:solidFill>
            <a:srgbClr val="6FC8B4"/>
          </a:solidFill>
          <a:ln/>
        </p:spPr>
      </p:sp>
      <p:sp>
        <p:nvSpPr>
          <p:cNvPr id="18" name="Text 16"/>
          <p:cNvSpPr/>
          <p:nvPr/>
        </p:nvSpPr>
        <p:spPr>
          <a:xfrm>
            <a:off x="9482328" y="2194560"/>
            <a:ext cx="822960" cy="822960"/>
          </a:xfrm>
          <a:prstGeom prst="rect">
            <a:avLst/>
          </a:prstGeom>
          <a:noFill/>
          <a:ln/>
        </p:spPr>
        <p:txBody>
          <a:bodyPr wrap="square" lIns="0" tIns="0" rIns="0" bIns="0" rtlCol="0" anchor="ctr"/>
          <a:lstStyle/>
          <a:p>
            <a:pPr algn="ctr" indent="0" marL="0">
              <a:buNone/>
            </a:pPr>
            <a:r>
              <a:rPr lang="en-US" sz="2200" b="1" dirty="0">
                <a:solidFill>
                  <a:srgbClr val="0F2E3D"/>
                </a:solidFill>
                <a:latin typeface="Calibri" pitchFamily="34" charset="0"/>
                <a:ea typeface="Calibri" pitchFamily="34" charset="-122"/>
                <a:cs typeface="Calibri" pitchFamily="34" charset="-120"/>
              </a:rPr>
              <a:t>3</a:t>
            </a:r>
            <a:endParaRPr lang="en-US" sz="2200" dirty="0"/>
          </a:p>
        </p:txBody>
      </p:sp>
      <p:sp>
        <p:nvSpPr>
          <p:cNvPr id="19" name="Text 17"/>
          <p:cNvSpPr/>
          <p:nvPr/>
        </p:nvSpPr>
        <p:spPr>
          <a:xfrm>
            <a:off x="8229600" y="3154680"/>
            <a:ext cx="3429000" cy="36576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Disposition</a:t>
            </a:r>
            <a:endParaRPr lang="en-US" sz="1900" dirty="0"/>
          </a:p>
        </p:txBody>
      </p:sp>
      <p:sp>
        <p:nvSpPr>
          <p:cNvPr id="20" name="Text 18"/>
          <p:cNvSpPr/>
          <p:nvPr/>
        </p:nvSpPr>
        <p:spPr>
          <a:xfrm>
            <a:off x="8229600" y="3566160"/>
            <a:ext cx="3429000" cy="320040"/>
          </a:xfrm>
          <a:prstGeom prst="rect">
            <a:avLst/>
          </a:prstGeom>
          <a:noFill/>
          <a:ln/>
        </p:spPr>
        <p:txBody>
          <a:bodyPr wrap="square" lIns="0" tIns="0" rIns="0" bIns="0" rtlCol="0" anchor="ctr"/>
          <a:lstStyle/>
          <a:p>
            <a:pPr algn="ctr" indent="0" marL="0">
              <a:buNone/>
            </a:pPr>
            <a:r>
              <a:rPr lang="en-US" sz="1250" dirty="0">
                <a:solidFill>
                  <a:srgbClr val="6FC8B4"/>
                </a:solidFill>
                <a:latin typeface="Courier New" pitchFamily="34" charset="0"/>
                <a:ea typeface="Courier New" pitchFamily="34" charset="-122"/>
                <a:cs typeface="Courier New" pitchFamily="34" charset="-120"/>
              </a:rPr>
              <a:t>ds_raw.csv</a:t>
            </a:r>
            <a:endParaRPr lang="en-US" sz="1250" dirty="0"/>
          </a:p>
        </p:txBody>
      </p:sp>
      <p:sp>
        <p:nvSpPr>
          <p:cNvPr id="21" name="Text 19"/>
          <p:cNvSpPr/>
          <p:nvPr/>
        </p:nvSpPr>
        <p:spPr>
          <a:xfrm>
            <a:off x="8394192" y="3977640"/>
            <a:ext cx="3108960" cy="1097280"/>
          </a:xfrm>
          <a:prstGeom prst="rect">
            <a:avLst/>
          </a:prstGeom>
          <a:noFill/>
          <a:ln/>
        </p:spPr>
        <p:txBody>
          <a:bodyPr wrap="square" lIns="0" tIns="0" rIns="0" bIns="0" rtlCol="0" anchor="ctr"/>
          <a:lstStyle/>
          <a:p>
            <a:pPr algn="ctr" indent="0" marL="0">
              <a:buNone/>
            </a:pPr>
            <a:r>
              <a:rPr lang="en-US" sz="1200" dirty="0">
                <a:solidFill>
                  <a:srgbClr val="C7DCE0"/>
                </a:solidFill>
                <a:latin typeface="Calibri" pitchFamily="34" charset="0"/>
                <a:ea typeface="Calibri" pitchFamily="34" charset="-122"/>
                <a:cs typeface="Calibri" pitchFamily="34" charset="-120"/>
              </a:rPr>
              <a:t>RFPENDTC — the date the subject's participation ended</a:t>
            </a:r>
            <a:endParaRPr lang="en-US" sz="1200" dirty="0"/>
          </a:p>
        </p:txBody>
      </p:sp>
      <p:sp>
        <p:nvSpPr>
          <p:cNvPr id="22" name="Text 20"/>
          <p:cNvSpPr/>
          <p:nvPr/>
        </p:nvSpPr>
        <p:spPr>
          <a:xfrm>
            <a:off x="640080" y="5440680"/>
            <a:ext cx="10972800" cy="548640"/>
          </a:xfrm>
          <a:prstGeom prst="rect">
            <a:avLst/>
          </a:prstGeom>
          <a:noFill/>
          <a:ln/>
        </p:spPr>
        <p:txBody>
          <a:bodyPr wrap="square" lIns="0" tIns="0" rIns="0" bIns="0" rtlCol="0" anchor="ctr"/>
          <a:lstStyle/>
          <a:p>
            <a:pPr indent="0" marL="0">
              <a:buNone/>
            </a:pPr>
            <a:r>
              <a:rPr lang="en-US" sz="1400" i="1" dirty="0">
                <a:solidFill>
                  <a:srgbClr val="6FC8B4"/>
                </a:solidFill>
                <a:latin typeface="Calibri" pitchFamily="34" charset="0"/>
                <a:ea typeface="Calibri" pitchFamily="34" charset="-122"/>
                <a:cs typeface="Calibri" pitchFamily="34" charset="-120"/>
              </a:rPr>
              <a:t>A common beginner assumption is that DM comes from the demographics form alone. It does not — and the reference dates it borrows are the most consequential values in the study.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MOST IMPORTANT VARIABLE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Building USUBJID</a:t>
            </a:r>
            <a:endParaRPr lang="en-US" sz="3000" dirty="0"/>
          </a:p>
        </p:txBody>
      </p:sp>
      <p:sp>
        <p:nvSpPr>
          <p:cNvPr id="4" name="Text 2"/>
          <p:cNvSpPr/>
          <p:nvPr/>
        </p:nvSpPr>
        <p:spPr>
          <a:xfrm>
            <a:off x="548640" y="1371600"/>
            <a:ext cx="11155680" cy="411480"/>
          </a:xfrm>
          <a:prstGeom prst="rect">
            <a:avLst/>
          </a:prstGeom>
          <a:noFill/>
          <a:ln/>
        </p:spPr>
        <p:txBody>
          <a:bodyPr wrap="square" lIns="0" tIns="0" rIns="0" bIns="0" rtlCol="0" anchor="ctr"/>
          <a:lstStyle/>
          <a:p>
            <a:pPr indent="0" marL="0">
              <a:buNone/>
            </a:pPr>
            <a:r>
              <a:rPr lang="en-US" sz="1400" dirty="0">
                <a:solidFill>
                  <a:srgbClr val="5A7682"/>
                </a:solidFill>
                <a:latin typeface="Calibri" pitchFamily="34" charset="0"/>
                <a:ea typeface="Calibri" pitchFamily="34" charset="-122"/>
                <a:cs typeface="Calibri" pitchFamily="34" charset="-120"/>
              </a:rPr>
              <a:t>SUBJID is only unique within a site. USUBJID must be unique across the whole study — and identical for that subject in every domain.</a:t>
            </a:r>
            <a:endParaRPr lang="en-US" sz="1400" dirty="0"/>
          </a:p>
        </p:txBody>
      </p:sp>
      <p:sp>
        <p:nvSpPr>
          <p:cNvPr id="5" name="Shape 3"/>
          <p:cNvSpPr/>
          <p:nvPr/>
        </p:nvSpPr>
        <p:spPr>
          <a:xfrm>
            <a:off x="640080" y="1874520"/>
            <a:ext cx="5394960" cy="1600200"/>
          </a:xfrm>
          <a:prstGeom prst="roundRect">
            <a:avLst>
              <a:gd name="adj" fmla="val 5143"/>
            </a:avLst>
          </a:prstGeom>
          <a:solidFill>
            <a:srgbClr val="FDF1E7"/>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6" name="Text 4"/>
          <p:cNvSpPr/>
          <p:nvPr/>
        </p:nvSpPr>
        <p:spPr>
          <a:xfrm>
            <a:off x="914400" y="2011680"/>
            <a:ext cx="4846320" cy="320040"/>
          </a:xfrm>
          <a:prstGeom prst="rect">
            <a:avLst/>
          </a:prstGeom>
          <a:noFill/>
          <a:ln/>
        </p:spPr>
        <p:txBody>
          <a:bodyPr wrap="square" lIns="0" tIns="0" rIns="0" bIns="0" rtlCol="0" anchor="ctr"/>
          <a:lstStyle/>
          <a:p>
            <a:pPr indent="0" marL="0">
              <a:buNone/>
            </a:pPr>
            <a:r>
              <a:rPr lang="en-US" sz="1400" b="1" dirty="0">
                <a:solidFill>
                  <a:srgbClr val="B5651A"/>
                </a:solidFill>
                <a:latin typeface="Calibri" pitchFamily="34" charset="0"/>
                <a:ea typeface="Calibri" pitchFamily="34" charset="-122"/>
                <a:cs typeface="Calibri" pitchFamily="34" charset="-120"/>
              </a:rPr>
              <a:t>The problem</a:t>
            </a:r>
            <a:endParaRPr lang="en-US" sz="1400" dirty="0"/>
          </a:p>
        </p:txBody>
      </p:sp>
      <p:sp>
        <p:nvSpPr>
          <p:cNvPr id="7" name="Text 5"/>
          <p:cNvSpPr/>
          <p:nvPr/>
        </p:nvSpPr>
        <p:spPr>
          <a:xfrm>
            <a:off x="914400" y="2377440"/>
            <a:ext cx="4846320" cy="914400"/>
          </a:xfrm>
          <a:prstGeom prst="rect">
            <a:avLst/>
          </a:prstGeom>
          <a:noFill/>
          <a:ln/>
        </p:spPr>
        <p:txBody>
          <a:bodyPr wrap="square" lIns="0" tIns="0" rIns="0" bIns="0" rtlCol="0" anchor="ctr"/>
          <a:lstStyle/>
          <a:p>
            <a:pPr indent="0" marL="0">
              <a:lnSpc>
                <a:spcPts val="2000"/>
              </a:lnSpc>
              <a:buNone/>
            </a:pPr>
            <a:r>
              <a:rPr lang="en-US" sz="1400" dirty="0">
                <a:solidFill>
                  <a:srgbClr val="0F2E3D"/>
                </a:solidFill>
                <a:latin typeface="Courier New" pitchFamily="34" charset="0"/>
                <a:ea typeface="Courier New" pitchFamily="34" charset="-122"/>
                <a:cs typeface="Courier New" pitchFamily="34" charset="-120"/>
              </a:rPr>
              <a:t>Site 01, Subject 001</a:t>
            </a:r>
            <a:endParaRPr lang="en-US" sz="1400" dirty="0"/>
          </a:p>
          <a:p>
            <a:pPr indent="0" marL="0">
              <a:lnSpc>
                <a:spcPts val="2000"/>
              </a:lnSpc>
              <a:buNone/>
            </a:pPr>
            <a:r>
              <a:rPr lang="en-US" sz="1400" dirty="0">
                <a:solidFill>
                  <a:srgbClr val="0F2E3D"/>
                </a:solidFill>
                <a:latin typeface="Courier New" pitchFamily="34" charset="0"/>
                <a:ea typeface="Courier New" pitchFamily="34" charset="-122"/>
                <a:cs typeface="Courier New" pitchFamily="34" charset="-120"/>
              </a:rPr>
              <a:t>Site 02, Subject 001</a:t>
            </a:r>
            <a:endParaRPr lang="en-US" sz="1400" dirty="0"/>
          </a:p>
        </p:txBody>
      </p:sp>
      <p:sp>
        <p:nvSpPr>
          <p:cNvPr id="8" name="Text 6"/>
          <p:cNvSpPr/>
          <p:nvPr/>
        </p:nvSpPr>
        <p:spPr>
          <a:xfrm>
            <a:off x="3840480" y="2697480"/>
            <a:ext cx="2011680" cy="365760"/>
          </a:xfrm>
          <a:prstGeom prst="rect">
            <a:avLst/>
          </a:prstGeom>
          <a:noFill/>
          <a:ln/>
        </p:spPr>
        <p:txBody>
          <a:bodyPr wrap="square" lIns="0" tIns="0" rIns="0" bIns="0" rtlCol="0" anchor="ctr"/>
          <a:lstStyle/>
          <a:p>
            <a:pPr indent="0" marL="0">
              <a:buNone/>
            </a:pPr>
            <a:r>
              <a:rPr lang="en-US" sz="1250" b="1" i="1" dirty="0">
                <a:solidFill>
                  <a:srgbClr val="B5651A"/>
                </a:solidFill>
                <a:latin typeface="Calibri" pitchFamily="34" charset="0"/>
                <a:ea typeface="Calibri" pitchFamily="34" charset="-122"/>
                <a:cs typeface="Calibri" pitchFamily="34" charset="-120"/>
              </a:rPr>
              <a:t>Two different people.</a:t>
            </a:r>
            <a:endParaRPr lang="en-US" sz="1250" dirty="0"/>
          </a:p>
        </p:txBody>
      </p:sp>
      <p:sp>
        <p:nvSpPr>
          <p:cNvPr id="9" name="Shape 7"/>
          <p:cNvSpPr/>
          <p:nvPr/>
        </p:nvSpPr>
        <p:spPr>
          <a:xfrm>
            <a:off x="6217920" y="1874520"/>
            <a:ext cx="5394960" cy="1600200"/>
          </a:xfrm>
          <a:prstGeom prst="roundRect">
            <a:avLst>
              <a:gd name="adj" fmla="val 5143"/>
            </a:avLst>
          </a:prstGeom>
          <a:solidFill>
            <a:srgbClr val="EAF5F0"/>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0" name="Text 8"/>
          <p:cNvSpPr/>
          <p:nvPr/>
        </p:nvSpPr>
        <p:spPr>
          <a:xfrm>
            <a:off x="6492240" y="2011680"/>
            <a:ext cx="4846320" cy="320040"/>
          </a:xfrm>
          <a:prstGeom prst="rect">
            <a:avLst/>
          </a:prstGeom>
          <a:noFill/>
          <a:ln/>
        </p:spPr>
        <p:txBody>
          <a:bodyPr wrap="square" lIns="0" tIns="0" rIns="0" bIns="0" rtlCol="0" anchor="ctr"/>
          <a:lstStyle/>
          <a:p>
            <a:pPr indent="0" marL="0">
              <a:buNone/>
            </a:pPr>
            <a:r>
              <a:rPr lang="en-US" sz="1400" b="1" dirty="0">
                <a:solidFill>
                  <a:srgbClr val="0E7C86"/>
                </a:solidFill>
                <a:latin typeface="Calibri" pitchFamily="34" charset="0"/>
                <a:ea typeface="Calibri" pitchFamily="34" charset="-122"/>
                <a:cs typeface="Calibri" pitchFamily="34" charset="-120"/>
              </a:rPr>
              <a:t>The fix</a:t>
            </a:r>
            <a:endParaRPr lang="en-US" sz="1400" dirty="0"/>
          </a:p>
        </p:txBody>
      </p:sp>
      <p:sp>
        <p:nvSpPr>
          <p:cNvPr id="11" name="Text 9"/>
          <p:cNvSpPr/>
          <p:nvPr/>
        </p:nvSpPr>
        <p:spPr>
          <a:xfrm>
            <a:off x="6492240" y="2377440"/>
            <a:ext cx="4846320" cy="914400"/>
          </a:xfrm>
          <a:prstGeom prst="rect">
            <a:avLst/>
          </a:prstGeom>
          <a:noFill/>
          <a:ln/>
        </p:spPr>
        <p:txBody>
          <a:bodyPr wrap="square" lIns="0" tIns="0" rIns="0" bIns="0" rtlCol="0" anchor="ctr"/>
          <a:lstStyle/>
          <a:p>
            <a:pPr indent="0" marL="0">
              <a:lnSpc>
                <a:spcPts val="2000"/>
              </a:lnSpc>
              <a:buNone/>
            </a:pPr>
            <a:r>
              <a:rPr lang="en-US" sz="1400" b="1" dirty="0">
                <a:solidFill>
                  <a:srgbClr val="0E7C86"/>
                </a:solidFill>
                <a:latin typeface="Courier New" pitchFamily="34" charset="0"/>
                <a:ea typeface="Courier New" pitchFamily="34" charset="-122"/>
                <a:cs typeface="Courier New" pitchFamily="34" charset="-120"/>
              </a:rPr>
              <a:t>ABC-01-01-001</a:t>
            </a:r>
            <a:endParaRPr lang="en-US" sz="1400" dirty="0"/>
          </a:p>
          <a:p>
            <a:pPr indent="0" marL="0">
              <a:lnSpc>
                <a:spcPts val="2000"/>
              </a:lnSpc>
              <a:buNone/>
            </a:pPr>
            <a:r>
              <a:rPr lang="en-US" sz="1400" b="1" dirty="0">
                <a:solidFill>
                  <a:srgbClr val="0E7C86"/>
                </a:solidFill>
                <a:latin typeface="Courier New" pitchFamily="34" charset="0"/>
                <a:ea typeface="Courier New" pitchFamily="34" charset="-122"/>
                <a:cs typeface="Courier New" pitchFamily="34" charset="-120"/>
              </a:rPr>
              <a:t>ABC-01-02-001</a:t>
            </a:r>
            <a:endParaRPr lang="en-US" sz="1400" dirty="0"/>
          </a:p>
        </p:txBody>
      </p:sp>
      <p:sp>
        <p:nvSpPr>
          <p:cNvPr id="12" name="Text 10"/>
          <p:cNvSpPr/>
          <p:nvPr/>
        </p:nvSpPr>
        <p:spPr>
          <a:xfrm>
            <a:off x="9509760" y="2697480"/>
            <a:ext cx="1828800" cy="365760"/>
          </a:xfrm>
          <a:prstGeom prst="rect">
            <a:avLst/>
          </a:prstGeom>
          <a:noFill/>
          <a:ln/>
        </p:spPr>
        <p:txBody>
          <a:bodyPr wrap="square" lIns="0" tIns="0" rIns="0" bIns="0" rtlCol="0" anchor="ctr"/>
          <a:lstStyle/>
          <a:p>
            <a:pPr indent="0" marL="0">
              <a:buNone/>
            </a:pPr>
            <a:r>
              <a:rPr lang="en-US" sz="1250" b="1" i="1" dirty="0">
                <a:solidFill>
                  <a:srgbClr val="0E7C86"/>
                </a:solidFill>
                <a:latin typeface="Calibri" pitchFamily="34" charset="0"/>
                <a:ea typeface="Calibri" pitchFamily="34" charset="-122"/>
                <a:cs typeface="Calibri" pitchFamily="34" charset="-120"/>
              </a:rPr>
              <a:t>Unambiguous.</a:t>
            </a:r>
            <a:endParaRPr lang="en-US" sz="1250" dirty="0"/>
          </a:p>
        </p:txBody>
      </p:sp>
      <p:sp>
        <p:nvSpPr>
          <p:cNvPr id="13" name="Shape 11"/>
          <p:cNvSpPr/>
          <p:nvPr/>
        </p:nvSpPr>
        <p:spPr>
          <a:xfrm>
            <a:off x="640080" y="3657600"/>
            <a:ext cx="10972800" cy="1126744"/>
          </a:xfrm>
          <a:prstGeom prst="roundRect">
            <a:avLst>
              <a:gd name="adj" fmla="val 6492"/>
            </a:avLst>
          </a:prstGeom>
          <a:solidFill>
            <a:srgbClr val="13323F"/>
          </a:solidFill>
          <a:ln w="19050">
            <a:solidFill>
              <a:srgbClr val="0E7C86"/>
            </a:solidFill>
            <a:prstDash val="solid"/>
          </a:ln>
        </p:spPr>
      </p:sp>
      <p:sp>
        <p:nvSpPr>
          <p:cNvPr id="14" name="Text 12"/>
          <p:cNvSpPr/>
          <p:nvPr/>
        </p:nvSpPr>
        <p:spPr>
          <a:xfrm>
            <a:off x="868680" y="3749040"/>
            <a:ext cx="3657600" cy="320040"/>
          </a:xfrm>
          <a:prstGeom prst="rect">
            <a:avLst/>
          </a:prstGeom>
          <a:noFill/>
          <a:ln/>
        </p:spPr>
        <p:txBody>
          <a:bodyPr wrap="square" lIns="0" tIns="0" rIns="0" bIns="0" rtlCol="0" anchor="ctr"/>
          <a:lstStyle/>
          <a:p>
            <a:pPr indent="0" marL="0">
              <a:buNone/>
            </a:pPr>
            <a:r>
              <a:rPr lang="en-US" sz="1400" b="1" dirty="0">
                <a:solidFill>
                  <a:srgbClr val="0E7C86"/>
                </a:solidFill>
                <a:latin typeface="Cambria" pitchFamily="34" charset="0"/>
                <a:ea typeface="Cambria" pitchFamily="34" charset="-122"/>
                <a:cs typeface="Cambria" pitchFamily="34" charset="-120"/>
              </a:rPr>
              <a:t>The rule</a:t>
            </a:r>
            <a:endParaRPr lang="en-US" sz="1400" dirty="0"/>
          </a:p>
        </p:txBody>
      </p:sp>
      <p:sp>
        <p:nvSpPr>
          <p:cNvPr id="15" name="Text 13"/>
          <p:cNvSpPr/>
          <p:nvPr/>
        </p:nvSpPr>
        <p:spPr>
          <a:xfrm>
            <a:off x="868680" y="4114800"/>
            <a:ext cx="10561320" cy="559816"/>
          </a:xfrm>
          <a:prstGeom prst="rect">
            <a:avLst/>
          </a:prstGeom>
          <a:noFill/>
          <a:ln/>
        </p:spPr>
        <p:txBody>
          <a:bodyPr wrap="square" lIns="0" tIns="0" rIns="0" bIns="0" rtlCol="0" anchor="t"/>
          <a:lstStyle/>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USUBJID = STUDYID  ||  "-"  ||  SITEID  ||  "-"  ||  SUBJID</a:t>
            </a:r>
            <a:endParaRPr lang="en-US" sz="1200" dirty="0"/>
          </a:p>
          <a:p>
            <a:pPr indent="0" marL="0">
              <a:lnSpc>
                <a:spcPts val="1700"/>
              </a:lnSpc>
              <a:buNone/>
            </a:pPr>
            <a:r>
              <a:rPr lang="en-US" sz="1200" dirty="0">
                <a:solidFill>
                  <a:srgbClr val="DCEBEF"/>
                </a:solidFill>
                <a:latin typeface="Courier New" pitchFamily="34" charset="0"/>
                <a:ea typeface="Courier New" pitchFamily="34" charset="-122"/>
                <a:cs typeface="Courier New" pitchFamily="34" charset="-120"/>
              </a:rPr>
              <a:t>        = "ABC-01"    +      "01"     +      "001"      -&gt;   ABC-01-01-001</a:t>
            </a:r>
            <a:endParaRPr lang="en-US" sz="1200" dirty="0"/>
          </a:p>
        </p:txBody>
      </p:sp>
      <p:sp>
        <p:nvSpPr>
          <p:cNvPr id="16" name="Shape 14"/>
          <p:cNvSpPr/>
          <p:nvPr/>
        </p:nvSpPr>
        <p:spPr>
          <a:xfrm>
            <a:off x="640080" y="5120640"/>
            <a:ext cx="10972800" cy="1051560"/>
          </a:xfrm>
          <a:prstGeom prst="roundRect">
            <a:avLst>
              <a:gd name="adj" fmla="val 7826"/>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Text 15"/>
          <p:cNvSpPr/>
          <p:nvPr/>
        </p:nvSpPr>
        <p:spPr>
          <a:xfrm>
            <a:off x="914400" y="5285232"/>
            <a:ext cx="10424160" cy="777240"/>
          </a:xfrm>
          <a:prstGeom prst="rect">
            <a:avLst/>
          </a:prstGeom>
          <a:noFill/>
          <a:ln/>
        </p:spPr>
        <p:txBody>
          <a:bodyPr wrap="square" lIns="0" tIns="0" rIns="0" bIns="0" rtlCol="0" anchor="ctr"/>
          <a:lstStyle/>
          <a:p>
            <a:pPr indent="0" marL="0">
              <a:lnSpc>
                <a:spcPts val="2000"/>
              </a:lnSpc>
              <a:buNone/>
            </a:pPr>
            <a:r>
              <a:rPr lang="en-US" sz="1450" b="1" dirty="0">
                <a:solidFill>
                  <a:srgbClr val="E8833A"/>
                </a:solidFill>
                <a:latin typeface="Calibri" pitchFamily="34" charset="0"/>
                <a:ea typeface="Calibri" pitchFamily="34" charset="-122"/>
                <a:cs typeface="Calibri" pitchFamily="34" charset="-120"/>
              </a:rPr>
              <a:t>Watch the leading zeros.  </a:t>
            </a:r>
            <a:pPr indent="0" marL="0">
              <a:lnSpc>
                <a:spcPts val="2000"/>
              </a:lnSpc>
              <a:buNone/>
            </a:pPr>
            <a:r>
              <a:rPr lang="en-US" sz="1350" dirty="0">
                <a:solidFill>
                  <a:srgbClr val="C7DCE0"/>
                </a:solidFill>
                <a:latin typeface="Calibri" pitchFamily="34" charset="0"/>
                <a:ea typeface="Calibri" pitchFamily="34" charset="-122"/>
                <a:cs typeface="Calibri" pitchFamily="34" charset="-120"/>
              </a:rPr>
              <a:t>If SITEID or SUBJID is read as a number, </a:t>
            </a:r>
            <a:pPr indent="0" marL="0">
              <a:lnSpc>
                <a:spcPts val="2000"/>
              </a:lnSpc>
              <a:buNone/>
            </a:pPr>
            <a:r>
              <a:rPr lang="en-US" sz="1350" dirty="0">
                <a:solidFill>
                  <a:srgbClr val="FFFFFF"/>
                </a:solidFill>
                <a:latin typeface="Courier New" pitchFamily="34" charset="0"/>
                <a:ea typeface="Courier New" pitchFamily="34" charset="-122"/>
                <a:cs typeface="Courier New" pitchFamily="34" charset="-120"/>
              </a:rPr>
              <a:t>01</a:t>
            </a:r>
            <a:pPr indent="0" marL="0">
              <a:lnSpc>
                <a:spcPts val="2000"/>
              </a:lnSpc>
              <a:buNone/>
            </a:pPr>
            <a:r>
              <a:rPr lang="en-US" sz="1350" dirty="0">
                <a:solidFill>
                  <a:srgbClr val="C7DCE0"/>
                </a:solidFill>
                <a:latin typeface="Calibri" pitchFamily="34" charset="0"/>
                <a:ea typeface="Calibri" pitchFamily="34" charset="-122"/>
                <a:cs typeface="Calibri" pitchFamily="34" charset="-120"/>
              </a:rPr>
              <a:t> becomes </a:t>
            </a:r>
            <a:pPr indent="0" marL="0">
              <a:lnSpc>
                <a:spcPts val="2000"/>
              </a:lnSpc>
              <a:buNone/>
            </a:pPr>
            <a:r>
              <a:rPr lang="en-US" sz="1350" dirty="0">
                <a:solidFill>
                  <a:srgbClr val="FFFFFF"/>
                </a:solidFill>
                <a:latin typeface="Courier New" pitchFamily="34" charset="0"/>
                <a:ea typeface="Courier New" pitchFamily="34" charset="-122"/>
                <a:cs typeface="Courier New" pitchFamily="34" charset="-120"/>
              </a:rPr>
              <a:t>1</a:t>
            </a:r>
            <a:pPr indent="0" marL="0">
              <a:lnSpc>
                <a:spcPts val="2000"/>
              </a:lnSpc>
              <a:buNone/>
            </a:pPr>
            <a:r>
              <a:rPr lang="en-US" sz="1350" dirty="0">
                <a:solidFill>
                  <a:srgbClr val="C7DCE0"/>
                </a:solidFill>
                <a:latin typeface="Calibri" pitchFamily="34" charset="0"/>
                <a:ea typeface="Calibri" pitchFamily="34" charset="-122"/>
                <a:cs typeface="Calibri" pitchFamily="34" charset="-120"/>
              </a:rPr>
              <a:t> and you build </a:t>
            </a:r>
            <a:pPr indent="0" marL="0">
              <a:lnSpc>
                <a:spcPts val="2000"/>
              </a:lnSpc>
              <a:buNone/>
            </a:pPr>
            <a:r>
              <a:rPr lang="en-US" sz="1350" dirty="0">
                <a:solidFill>
                  <a:srgbClr val="E8833A"/>
                </a:solidFill>
                <a:latin typeface="Courier New" pitchFamily="34" charset="0"/>
                <a:ea typeface="Courier New" pitchFamily="34" charset="-122"/>
                <a:cs typeface="Courier New" pitchFamily="34" charset="-120"/>
              </a:rPr>
              <a:t>ABC-01-1-1</a:t>
            </a:r>
            <a:pPr indent="0" marL="0">
              <a:lnSpc>
                <a:spcPts val="2000"/>
              </a:lnSpc>
              <a:buNone/>
            </a:pPr>
            <a:r>
              <a:rPr lang="en-US" sz="1350" dirty="0">
                <a:solidFill>
                  <a:srgbClr val="C7DCE0"/>
                </a:solidFill>
                <a:latin typeface="Calibri" pitchFamily="34" charset="0"/>
                <a:ea typeface="Calibri" pitchFamily="34" charset="-122"/>
                <a:cs typeface="Calibri" pitchFamily="34" charset="-120"/>
              </a:rPr>
              <a:t> — wrong for every subject, in every domain.</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DERIVATION THAT CATCHES EVERYONE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AGE is calculated, not collected</a:t>
            </a:r>
            <a:endParaRPr lang="en-US" sz="3000" dirty="0"/>
          </a:p>
        </p:txBody>
      </p:sp>
      <p:sp>
        <p:nvSpPr>
          <p:cNvPr id="4" name="Text 2"/>
          <p:cNvSpPr/>
          <p:nvPr/>
        </p:nvSpPr>
        <p:spPr>
          <a:xfrm>
            <a:off x="548640" y="1371600"/>
            <a:ext cx="11155680" cy="411480"/>
          </a:xfrm>
          <a:prstGeom prst="rect">
            <a:avLst/>
          </a:prstGeom>
          <a:noFill/>
          <a:ln/>
        </p:spPr>
        <p:txBody>
          <a:bodyPr wrap="square" lIns="0" tIns="0" rIns="0" bIns="0" rtlCol="0" anchor="ctr"/>
          <a:lstStyle/>
          <a:p>
            <a:pPr indent="0" marL="0">
              <a:buNone/>
            </a:pPr>
            <a:r>
              <a:rPr lang="en-US" sz="1400" dirty="0">
                <a:solidFill>
                  <a:srgbClr val="5A7682"/>
                </a:solidFill>
                <a:latin typeface="Calibri" pitchFamily="34" charset="0"/>
                <a:ea typeface="Calibri" pitchFamily="34" charset="-122"/>
                <a:cs typeface="Calibri" pitchFamily="34" charset="-120"/>
              </a:rPr>
              <a:t>The CRF collects a birth date. SDTM wants completed years at a defined reference date — here, informed consent.</a:t>
            </a:r>
            <a:endParaRPr lang="en-US" sz="1400" dirty="0"/>
          </a:p>
        </p:txBody>
      </p:sp>
      <p:sp>
        <p:nvSpPr>
          <p:cNvPr id="5" name="Shape 3"/>
          <p:cNvSpPr/>
          <p:nvPr/>
        </p:nvSpPr>
        <p:spPr>
          <a:xfrm>
            <a:off x="640080" y="1920240"/>
            <a:ext cx="5486400" cy="868680"/>
          </a:xfrm>
          <a:prstGeom prst="roundRect">
            <a:avLst>
              <a:gd name="adj" fmla="val 947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6" name="Text 4"/>
          <p:cNvSpPr/>
          <p:nvPr/>
        </p:nvSpPr>
        <p:spPr>
          <a:xfrm>
            <a:off x="914400" y="2029968"/>
            <a:ext cx="2926080" cy="640080"/>
          </a:xfrm>
          <a:prstGeom prst="rect">
            <a:avLst/>
          </a:prstGeom>
          <a:noFill/>
          <a:ln/>
        </p:spPr>
        <p:txBody>
          <a:bodyPr wrap="square" lIns="0" tIns="0" rIns="0" bIns="0" rtlCol="0" anchor="ctr"/>
          <a:lstStyle/>
          <a:p>
            <a:pPr indent="0" marL="0">
              <a:buNone/>
            </a:pPr>
            <a:r>
              <a:rPr lang="en-US" sz="1400" dirty="0">
                <a:solidFill>
                  <a:srgbClr val="0F2E3D"/>
                </a:solidFill>
                <a:latin typeface="Calibri" pitchFamily="34" charset="0"/>
                <a:ea typeface="Calibri" pitchFamily="34" charset="-122"/>
                <a:cs typeface="Calibri" pitchFamily="34" charset="-120"/>
              </a:rPr>
              <a:t>Born</a:t>
            </a:r>
            <a:endParaRPr lang="en-US" sz="1400" dirty="0"/>
          </a:p>
        </p:txBody>
      </p:sp>
      <p:sp>
        <p:nvSpPr>
          <p:cNvPr id="7" name="Text 5"/>
          <p:cNvSpPr/>
          <p:nvPr/>
        </p:nvSpPr>
        <p:spPr>
          <a:xfrm>
            <a:off x="3657600" y="2029968"/>
            <a:ext cx="2377440" cy="640080"/>
          </a:xfrm>
          <a:prstGeom prst="rect">
            <a:avLst/>
          </a:prstGeom>
          <a:noFill/>
          <a:ln/>
        </p:spPr>
        <p:txBody>
          <a:bodyPr wrap="square" lIns="0" tIns="0" rIns="0" bIns="0" rtlCol="0" anchor="ctr"/>
          <a:lstStyle/>
          <a:p>
            <a:pPr indent="0" marL="0">
              <a:buNone/>
            </a:pPr>
            <a:r>
              <a:rPr lang="en-US" sz="1400" b="1" dirty="0">
                <a:solidFill>
                  <a:srgbClr val="0F2E3D"/>
                </a:solidFill>
                <a:latin typeface="Courier New" pitchFamily="34" charset="0"/>
                <a:ea typeface="Courier New" pitchFamily="34" charset="-122"/>
                <a:cs typeface="Courier New" pitchFamily="34" charset="-120"/>
              </a:rPr>
              <a:t>1969-05-14</a:t>
            </a:r>
            <a:endParaRPr lang="en-US" sz="1400" dirty="0"/>
          </a:p>
        </p:txBody>
      </p:sp>
      <p:sp>
        <p:nvSpPr>
          <p:cNvPr id="8" name="Shape 6"/>
          <p:cNvSpPr/>
          <p:nvPr/>
        </p:nvSpPr>
        <p:spPr>
          <a:xfrm>
            <a:off x="640080" y="2880360"/>
            <a:ext cx="5486400" cy="868680"/>
          </a:xfrm>
          <a:prstGeom prst="roundRect">
            <a:avLst>
              <a:gd name="adj" fmla="val 947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914400" y="2990088"/>
            <a:ext cx="2926080" cy="640080"/>
          </a:xfrm>
          <a:prstGeom prst="rect">
            <a:avLst/>
          </a:prstGeom>
          <a:noFill/>
          <a:ln/>
        </p:spPr>
        <p:txBody>
          <a:bodyPr wrap="square" lIns="0" tIns="0" rIns="0" bIns="0" rtlCol="0" anchor="ctr"/>
          <a:lstStyle/>
          <a:p>
            <a:pPr indent="0" marL="0">
              <a:buNone/>
            </a:pPr>
            <a:r>
              <a:rPr lang="en-US" sz="1400" dirty="0">
                <a:solidFill>
                  <a:srgbClr val="0F2E3D"/>
                </a:solidFill>
                <a:latin typeface="Calibri" pitchFamily="34" charset="0"/>
                <a:ea typeface="Calibri" pitchFamily="34" charset="-122"/>
                <a:cs typeface="Calibri" pitchFamily="34" charset="-120"/>
              </a:rPr>
              <a:t>Consented</a:t>
            </a:r>
            <a:endParaRPr lang="en-US" sz="1400" dirty="0"/>
          </a:p>
        </p:txBody>
      </p:sp>
      <p:sp>
        <p:nvSpPr>
          <p:cNvPr id="10" name="Text 8"/>
          <p:cNvSpPr/>
          <p:nvPr/>
        </p:nvSpPr>
        <p:spPr>
          <a:xfrm>
            <a:off x="3657600" y="2990088"/>
            <a:ext cx="2377440" cy="640080"/>
          </a:xfrm>
          <a:prstGeom prst="rect">
            <a:avLst/>
          </a:prstGeom>
          <a:noFill/>
          <a:ln/>
        </p:spPr>
        <p:txBody>
          <a:bodyPr wrap="square" lIns="0" tIns="0" rIns="0" bIns="0" rtlCol="0" anchor="ctr"/>
          <a:lstStyle/>
          <a:p>
            <a:pPr indent="0" marL="0">
              <a:buNone/>
            </a:pPr>
            <a:r>
              <a:rPr lang="en-US" sz="1400" b="1" dirty="0">
                <a:solidFill>
                  <a:srgbClr val="0F2E3D"/>
                </a:solidFill>
                <a:latin typeface="Courier New" pitchFamily="34" charset="0"/>
                <a:ea typeface="Courier New" pitchFamily="34" charset="-122"/>
                <a:cs typeface="Courier New" pitchFamily="34" charset="-120"/>
              </a:rPr>
              <a:t>2024-02-20</a:t>
            </a:r>
            <a:endParaRPr lang="en-US" sz="1400" dirty="0"/>
          </a:p>
        </p:txBody>
      </p:sp>
      <p:sp>
        <p:nvSpPr>
          <p:cNvPr id="11" name="Shape 9"/>
          <p:cNvSpPr/>
          <p:nvPr/>
        </p:nvSpPr>
        <p:spPr>
          <a:xfrm>
            <a:off x="640080" y="3840480"/>
            <a:ext cx="5486400" cy="868680"/>
          </a:xfrm>
          <a:prstGeom prst="roundRect">
            <a:avLst>
              <a:gd name="adj" fmla="val 9474"/>
            </a:avLst>
          </a:prstGeom>
          <a:solidFill>
            <a:srgbClr val="FDF1E7"/>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2" name="Text 10"/>
          <p:cNvSpPr/>
          <p:nvPr/>
        </p:nvSpPr>
        <p:spPr>
          <a:xfrm>
            <a:off x="914400" y="3950208"/>
            <a:ext cx="2926080" cy="64008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Simple year subtraction</a:t>
            </a:r>
            <a:endParaRPr lang="en-US" sz="1400" dirty="0"/>
          </a:p>
        </p:txBody>
      </p:sp>
      <p:sp>
        <p:nvSpPr>
          <p:cNvPr id="13" name="Text 11"/>
          <p:cNvSpPr/>
          <p:nvPr/>
        </p:nvSpPr>
        <p:spPr>
          <a:xfrm>
            <a:off x="3657600" y="3950208"/>
            <a:ext cx="2377440" cy="640080"/>
          </a:xfrm>
          <a:prstGeom prst="rect">
            <a:avLst/>
          </a:prstGeom>
          <a:noFill/>
          <a:ln/>
        </p:spPr>
        <p:txBody>
          <a:bodyPr wrap="square" lIns="0" tIns="0" rIns="0" bIns="0" rtlCol="0" anchor="ctr"/>
          <a:lstStyle/>
          <a:p>
            <a:pPr indent="0" marL="0">
              <a:buNone/>
            </a:pPr>
            <a:r>
              <a:rPr lang="en-US" sz="1700" b="1" dirty="0">
                <a:solidFill>
                  <a:srgbClr val="B5651A"/>
                </a:solidFill>
                <a:latin typeface="Courier New" pitchFamily="34" charset="0"/>
                <a:ea typeface="Courier New" pitchFamily="34" charset="-122"/>
                <a:cs typeface="Courier New" pitchFamily="34" charset="-120"/>
              </a:rPr>
              <a:t>2024 − 1969 = 55</a:t>
            </a:r>
            <a:endParaRPr lang="en-US" sz="1700" dirty="0"/>
          </a:p>
        </p:txBody>
      </p:sp>
      <p:sp>
        <p:nvSpPr>
          <p:cNvPr id="14" name="Shape 12"/>
          <p:cNvSpPr/>
          <p:nvPr/>
        </p:nvSpPr>
        <p:spPr>
          <a:xfrm>
            <a:off x="640080" y="4800600"/>
            <a:ext cx="5486400" cy="868680"/>
          </a:xfrm>
          <a:prstGeom prst="roundRect">
            <a:avLst>
              <a:gd name="adj" fmla="val 9474"/>
            </a:avLst>
          </a:prstGeom>
          <a:solidFill>
            <a:srgbClr val="EAF5F0"/>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Text 13"/>
          <p:cNvSpPr/>
          <p:nvPr/>
        </p:nvSpPr>
        <p:spPr>
          <a:xfrm>
            <a:off x="914400" y="4910328"/>
            <a:ext cx="2926080" cy="64008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Correct answer</a:t>
            </a:r>
            <a:endParaRPr lang="en-US" sz="1400" dirty="0"/>
          </a:p>
        </p:txBody>
      </p:sp>
      <p:sp>
        <p:nvSpPr>
          <p:cNvPr id="16" name="Text 14"/>
          <p:cNvSpPr/>
          <p:nvPr/>
        </p:nvSpPr>
        <p:spPr>
          <a:xfrm>
            <a:off x="3657600" y="4910328"/>
            <a:ext cx="2377440" cy="640080"/>
          </a:xfrm>
          <a:prstGeom prst="rect">
            <a:avLst/>
          </a:prstGeom>
          <a:noFill/>
          <a:ln/>
        </p:spPr>
        <p:txBody>
          <a:bodyPr wrap="square" lIns="0" tIns="0" rIns="0" bIns="0" rtlCol="0" anchor="ctr"/>
          <a:lstStyle/>
          <a:p>
            <a:pPr indent="0" marL="0">
              <a:buNone/>
            </a:pPr>
            <a:r>
              <a:rPr lang="en-US" sz="1700" b="1" dirty="0">
                <a:solidFill>
                  <a:srgbClr val="0E7C86"/>
                </a:solidFill>
                <a:latin typeface="Courier New" pitchFamily="34" charset="0"/>
                <a:ea typeface="Courier New" pitchFamily="34" charset="-122"/>
                <a:cs typeface="Courier New" pitchFamily="34" charset="-120"/>
              </a:rPr>
              <a:t>54</a:t>
            </a:r>
            <a:endParaRPr lang="en-US" sz="1700" dirty="0"/>
          </a:p>
        </p:txBody>
      </p:sp>
      <p:sp>
        <p:nvSpPr>
          <p:cNvPr id="17" name="Shape 15"/>
          <p:cNvSpPr/>
          <p:nvPr/>
        </p:nvSpPr>
        <p:spPr>
          <a:xfrm>
            <a:off x="6400800" y="1920240"/>
            <a:ext cx="5212080" cy="3657600"/>
          </a:xfrm>
          <a:prstGeom prst="roundRect">
            <a:avLst>
              <a:gd name="adj" fmla="val 2250"/>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8" name="Text 16"/>
          <p:cNvSpPr/>
          <p:nvPr/>
        </p:nvSpPr>
        <p:spPr>
          <a:xfrm>
            <a:off x="6675120" y="2103120"/>
            <a:ext cx="4663440" cy="365760"/>
          </a:xfrm>
          <a:prstGeom prst="rect">
            <a:avLst/>
          </a:prstGeom>
          <a:noFill/>
          <a:ln/>
        </p:spPr>
        <p:txBody>
          <a:bodyPr wrap="square" lIns="0" tIns="0" rIns="0" bIns="0" rtlCol="0" anchor="ctr"/>
          <a:lstStyle/>
          <a:p>
            <a:pPr indent="0" marL="0">
              <a:buNone/>
            </a:pPr>
            <a:r>
              <a:rPr lang="en-US" sz="2000" b="1" dirty="0">
                <a:solidFill>
                  <a:srgbClr val="6FC8B4"/>
                </a:solidFill>
                <a:latin typeface="Cambria" pitchFamily="34" charset="0"/>
                <a:ea typeface="Cambria" pitchFamily="34" charset="-122"/>
                <a:cs typeface="Cambria" pitchFamily="34" charset="-120"/>
              </a:rPr>
              <a:t>Why 54?</a:t>
            </a:r>
            <a:endParaRPr lang="en-US" sz="2000" dirty="0"/>
          </a:p>
        </p:txBody>
      </p:sp>
      <p:sp>
        <p:nvSpPr>
          <p:cNvPr id="19" name="Text 17"/>
          <p:cNvSpPr/>
          <p:nvPr/>
        </p:nvSpPr>
        <p:spPr>
          <a:xfrm>
            <a:off x="6675120" y="2606040"/>
            <a:ext cx="4663440" cy="1828800"/>
          </a:xfrm>
          <a:prstGeom prst="rect">
            <a:avLst/>
          </a:prstGeom>
          <a:noFill/>
          <a:ln/>
        </p:spPr>
        <p:txBody>
          <a:bodyPr wrap="square" lIns="0" tIns="0" rIns="0" bIns="0" rtlCol="0" anchor="ctr"/>
          <a:lstStyle/>
          <a:p>
            <a:pPr indent="0" marL="0">
              <a:lnSpc>
                <a:spcPts val="2000"/>
              </a:lnSpc>
              <a:buNone/>
            </a:pPr>
            <a:r>
              <a:rPr lang="en-US" sz="1350" dirty="0">
                <a:solidFill>
                  <a:srgbClr val="C7DCE0"/>
                </a:solidFill>
                <a:latin typeface="Calibri" pitchFamily="34" charset="0"/>
                <a:ea typeface="Calibri" pitchFamily="34" charset="-122"/>
                <a:cs typeface="Calibri" pitchFamily="34" charset="-120"/>
              </a:rPr>
              <a:t>Her birthday is 14 May. On 20 February 2024 it had not yet happened that year, so she had completed only 54 years.</a:t>
            </a:r>
            <a:endParaRPr lang="en-US" sz="1350" dirty="0"/>
          </a:p>
          <a:p>
            <a:pPr indent="0" marL="0">
              <a:lnSpc>
                <a:spcPts val="2000"/>
              </a:lnSpc>
              <a:buNone/>
            </a:pPr>
            <a:endParaRPr lang="en-US" sz="1350" dirty="0"/>
          </a:p>
          <a:p>
            <a:pPr indent="0" marL="0">
              <a:lnSpc>
                <a:spcPts val="2000"/>
              </a:lnSpc>
              <a:buNone/>
            </a:pPr>
            <a:r>
              <a:rPr lang="en-US" sz="1350" dirty="0">
                <a:solidFill>
                  <a:srgbClr val="C7DCE0"/>
                </a:solidFill>
                <a:latin typeface="Calibri" pitchFamily="34" charset="0"/>
                <a:ea typeface="Calibri" pitchFamily="34" charset="-122"/>
                <a:cs typeface="Calibri" pitchFamily="34" charset="-120"/>
              </a:rPr>
              <a:t>The rule: subtract one if the birthday has not occurred by the reference date.</a:t>
            </a:r>
            <a:endParaRPr lang="en-US" sz="1350" dirty="0"/>
          </a:p>
        </p:txBody>
      </p:sp>
      <p:sp>
        <p:nvSpPr>
          <p:cNvPr id="20" name="Text 18"/>
          <p:cNvSpPr/>
          <p:nvPr/>
        </p:nvSpPr>
        <p:spPr>
          <a:xfrm>
            <a:off x="6675120" y="4617720"/>
            <a:ext cx="4663440" cy="731520"/>
          </a:xfrm>
          <a:prstGeom prst="rect">
            <a:avLst/>
          </a:prstGeom>
          <a:noFill/>
          <a:ln/>
        </p:spPr>
        <p:txBody>
          <a:bodyPr wrap="square" lIns="0" tIns="0" rIns="0" bIns="0" rtlCol="0" anchor="ctr"/>
          <a:lstStyle/>
          <a:p>
            <a:pPr indent="0" marL="0">
              <a:lnSpc>
                <a:spcPts val="1800"/>
              </a:lnSpc>
              <a:buNone/>
            </a:pPr>
            <a:r>
              <a:rPr lang="en-US" sz="1200" dirty="0">
                <a:solidFill>
                  <a:srgbClr val="6FC8B4"/>
                </a:solidFill>
                <a:latin typeface="Courier New" pitchFamily="34" charset="0"/>
                <a:ea typeface="Courier New" pitchFamily="34" charset="-122"/>
                <a:cs typeface="Courier New" pitchFamily="34" charset="-120"/>
              </a:rPr>
              <a:t>SAS:  intck("year", birth, ref, "C")</a:t>
            </a:r>
            <a:endParaRPr lang="en-US" sz="1200" dirty="0"/>
          </a:p>
          <a:p>
            <a:pPr indent="0" marL="0">
              <a:lnSpc>
                <a:spcPts val="1800"/>
              </a:lnSpc>
              <a:buNone/>
            </a:pPr>
            <a:r>
              <a:rPr lang="en-US" sz="1200" dirty="0">
                <a:solidFill>
                  <a:srgbClr val="6FC8B4"/>
                </a:solidFill>
                <a:latin typeface="Courier New" pitchFamily="34" charset="0"/>
                <a:ea typeface="Courier New" pitchFamily="34" charset="-122"/>
                <a:cs typeface="Courier New" pitchFamily="34" charset="-120"/>
              </a:rPr>
              <a:t>R:    completed-years helper</a:t>
            </a:r>
            <a:endParaRPr lang="en-US" sz="1200" dirty="0"/>
          </a:p>
        </p:txBody>
      </p:sp>
      <p:sp>
        <p:nvSpPr>
          <p:cNvPr id="21" name="Text 19"/>
          <p:cNvSpPr/>
          <p:nvPr/>
        </p:nvSpPr>
        <p:spPr>
          <a:xfrm>
            <a:off x="640080" y="5806440"/>
            <a:ext cx="10972800" cy="457200"/>
          </a:xfrm>
          <a:prstGeom prst="rect">
            <a:avLst/>
          </a:prstGeom>
          <a:noFill/>
          <a:ln/>
        </p:spPr>
        <p:txBody>
          <a:bodyPr wrap="square" lIns="0" tIns="0" rIns="0" bIns="0" rtlCol="0" anchor="ctr"/>
          <a:lstStyle/>
          <a:p>
            <a:pPr indent="0" marL="0">
              <a:buNone/>
            </a:pPr>
            <a:r>
              <a:rPr lang="en-US" sz="1300" i="1" dirty="0">
                <a:solidFill>
                  <a:srgbClr val="0E7C86"/>
                </a:solidFill>
                <a:latin typeface="Calibri" pitchFamily="34" charset="0"/>
                <a:ea typeface="Calibri" pitchFamily="34" charset="-122"/>
                <a:cs typeface="Calibri" pitchFamily="34" charset="-120"/>
              </a:rPr>
              <a:t>Which reference date? The protocol decides — consent or first dose. Using first dose here would make one of our subjects a year older. Never leave it implicit.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STANDARDIZING VALUES</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CT in DM: SEX, RACE, ETHNIC, ARM</a:t>
            </a:r>
            <a:endParaRPr lang="en-US" sz="3000" dirty="0"/>
          </a:p>
        </p:txBody>
      </p:sp>
      <p:sp>
        <p:nvSpPr>
          <p:cNvPr id="4" name="Shape 2"/>
          <p:cNvSpPr/>
          <p:nvPr/>
        </p:nvSpPr>
        <p:spPr>
          <a:xfrm>
            <a:off x="640080" y="1627632"/>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865376"/>
            <a:ext cx="1371600" cy="457200"/>
          </a:xfrm>
          <a:prstGeom prst="rect">
            <a:avLst/>
          </a:prstGeom>
          <a:noFill/>
          <a:ln/>
        </p:spPr>
        <p:txBody>
          <a:bodyPr wrap="square" lIns="0" tIns="0" rIns="0" bIns="0" rtlCol="0" anchor="ctr"/>
          <a:lstStyle/>
          <a:p>
            <a:pPr indent="0" marL="0">
              <a:buNone/>
            </a:pPr>
            <a:r>
              <a:rPr lang="en-US" sz="1600" b="1" dirty="0">
                <a:solidFill>
                  <a:srgbClr val="0E7C86"/>
                </a:solidFill>
                <a:latin typeface="Courier New" pitchFamily="34" charset="0"/>
                <a:ea typeface="Courier New" pitchFamily="34" charset="-122"/>
                <a:cs typeface="Courier New" pitchFamily="34" charset="-120"/>
              </a:rPr>
              <a:t>SEX</a:t>
            </a:r>
            <a:endParaRPr lang="en-US" sz="1600" dirty="0"/>
          </a:p>
        </p:txBody>
      </p:sp>
      <p:sp>
        <p:nvSpPr>
          <p:cNvPr id="6" name="Text 4"/>
          <p:cNvSpPr/>
          <p:nvPr/>
        </p:nvSpPr>
        <p:spPr>
          <a:xfrm>
            <a:off x="2377440" y="1865376"/>
            <a:ext cx="2834640" cy="457200"/>
          </a:xfrm>
          <a:prstGeom prst="rect">
            <a:avLst/>
          </a:prstGeom>
          <a:noFill/>
          <a:ln/>
        </p:spPr>
        <p:txBody>
          <a:bodyPr wrap="square" lIns="0" tIns="0" rIns="0" bIns="0" rtlCol="0" anchor="ctr"/>
          <a:lstStyle/>
          <a:p>
            <a:pPr indent="0" marL="0">
              <a:buNone/>
            </a:pPr>
            <a:r>
              <a:rPr lang="en-US" sz="1200" dirty="0">
                <a:solidFill>
                  <a:srgbClr val="5A7682"/>
                </a:solidFill>
                <a:latin typeface="Courier New" pitchFamily="34" charset="0"/>
                <a:ea typeface="Courier New" pitchFamily="34" charset="-122"/>
                <a:cs typeface="Courier New" pitchFamily="34" charset="-120"/>
              </a:rPr>
              <a:t>1 / 2</a:t>
            </a:r>
            <a:endParaRPr lang="en-US" sz="1200" dirty="0"/>
          </a:p>
        </p:txBody>
      </p:sp>
      <p:sp>
        <p:nvSpPr>
          <p:cNvPr id="7" name="Text 5"/>
          <p:cNvSpPr/>
          <p:nvPr/>
        </p:nvSpPr>
        <p:spPr>
          <a:xfrm>
            <a:off x="5257800" y="1865376"/>
            <a:ext cx="365760" cy="457200"/>
          </a:xfrm>
          <a:prstGeom prst="rect">
            <a:avLst/>
          </a:prstGeom>
          <a:noFill/>
          <a:ln/>
        </p:spPr>
        <p:txBody>
          <a:bodyPr wrap="square" lIns="0" tIns="0" rIns="0" bIns="0" rtlCol="0" anchor="ctr"/>
          <a:lstStyle/>
          <a:p>
            <a:pPr algn="ctr" indent="0" marL="0">
              <a:buNone/>
            </a:pPr>
            <a:r>
              <a:rPr lang="en-US" sz="1600" b="1" dirty="0">
                <a:solidFill>
                  <a:srgbClr val="E8833A"/>
                </a:solidFill>
              </a:rPr>
              <a:t>→</a:t>
            </a:r>
            <a:endParaRPr lang="en-US" sz="1600" dirty="0"/>
          </a:p>
        </p:txBody>
      </p:sp>
      <p:sp>
        <p:nvSpPr>
          <p:cNvPr id="8" name="Text 6"/>
          <p:cNvSpPr/>
          <p:nvPr/>
        </p:nvSpPr>
        <p:spPr>
          <a:xfrm>
            <a:off x="5715000" y="1865376"/>
            <a:ext cx="2286000" cy="457200"/>
          </a:xfrm>
          <a:prstGeom prst="rect">
            <a:avLst/>
          </a:prstGeom>
          <a:noFill/>
          <a:ln/>
        </p:spPr>
        <p:txBody>
          <a:bodyPr wrap="square" lIns="0" tIns="0" rIns="0" bIns="0" rtlCol="0" anchor="ctr"/>
          <a:lstStyle/>
          <a:p>
            <a:pPr indent="0" marL="0">
              <a:buNone/>
            </a:pPr>
            <a:r>
              <a:rPr lang="en-US" sz="1300" b="1" dirty="0">
                <a:solidFill>
                  <a:srgbClr val="0F2E3D"/>
                </a:solidFill>
                <a:latin typeface="Courier New" pitchFamily="34" charset="0"/>
                <a:ea typeface="Courier New" pitchFamily="34" charset="-122"/>
                <a:cs typeface="Courier New" pitchFamily="34" charset="-120"/>
              </a:rPr>
              <a:t>M / F</a:t>
            </a:r>
            <a:endParaRPr lang="en-US" sz="1300" dirty="0"/>
          </a:p>
        </p:txBody>
      </p:sp>
      <p:sp>
        <p:nvSpPr>
          <p:cNvPr id="9" name="Text 7"/>
          <p:cNvSpPr/>
          <p:nvPr/>
        </p:nvSpPr>
        <p:spPr>
          <a:xfrm>
            <a:off x="8138160" y="1819656"/>
            <a:ext cx="3291840" cy="548640"/>
          </a:xfrm>
          <a:prstGeom prst="rect">
            <a:avLst/>
          </a:prstGeom>
          <a:noFill/>
          <a:ln/>
        </p:spPr>
        <p:txBody>
          <a:bodyPr wrap="square" lIns="0" tIns="0" rIns="0" bIns="0" rtlCol="0" anchor="ctr"/>
          <a:lstStyle/>
          <a:p>
            <a:pPr indent="0" marL="0">
              <a:buNone/>
            </a:pPr>
            <a:r>
              <a:rPr lang="en-US" sz="1150" dirty="0">
                <a:solidFill>
                  <a:srgbClr val="5A7682"/>
                </a:solidFill>
                <a:latin typeface="Calibri" pitchFamily="34" charset="0"/>
                <a:ea typeface="Calibri" pitchFamily="34" charset="-122"/>
                <a:cs typeface="Calibri" pitchFamily="34" charset="-120"/>
              </a:rPr>
              <a:t>EDC stores a numeric code — you need the data dictionary to decode it</a:t>
            </a:r>
            <a:endParaRPr lang="en-US" sz="1150" dirty="0"/>
          </a:p>
        </p:txBody>
      </p:sp>
      <p:sp>
        <p:nvSpPr>
          <p:cNvPr id="10" name="Shape 8"/>
          <p:cNvSpPr/>
          <p:nvPr/>
        </p:nvSpPr>
        <p:spPr>
          <a:xfrm>
            <a:off x="640080" y="2624328"/>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Text 9"/>
          <p:cNvSpPr/>
          <p:nvPr/>
        </p:nvSpPr>
        <p:spPr>
          <a:xfrm>
            <a:off x="914400" y="2862072"/>
            <a:ext cx="1371600" cy="457200"/>
          </a:xfrm>
          <a:prstGeom prst="rect">
            <a:avLst/>
          </a:prstGeom>
          <a:noFill/>
          <a:ln/>
        </p:spPr>
        <p:txBody>
          <a:bodyPr wrap="square" lIns="0" tIns="0" rIns="0" bIns="0" rtlCol="0" anchor="ctr"/>
          <a:lstStyle/>
          <a:p>
            <a:pPr indent="0" marL="0">
              <a:buNone/>
            </a:pPr>
            <a:r>
              <a:rPr lang="en-US" sz="1600" b="1" dirty="0">
                <a:solidFill>
                  <a:srgbClr val="1FA8A0"/>
                </a:solidFill>
                <a:latin typeface="Courier New" pitchFamily="34" charset="0"/>
                <a:ea typeface="Courier New" pitchFamily="34" charset="-122"/>
                <a:cs typeface="Courier New" pitchFamily="34" charset="-120"/>
              </a:rPr>
              <a:t>RACE</a:t>
            </a:r>
            <a:endParaRPr lang="en-US" sz="1600" dirty="0"/>
          </a:p>
        </p:txBody>
      </p:sp>
      <p:sp>
        <p:nvSpPr>
          <p:cNvPr id="12" name="Text 10"/>
          <p:cNvSpPr/>
          <p:nvPr/>
        </p:nvSpPr>
        <p:spPr>
          <a:xfrm>
            <a:off x="2377440" y="2862072"/>
            <a:ext cx="2834640" cy="457200"/>
          </a:xfrm>
          <a:prstGeom prst="rect">
            <a:avLst/>
          </a:prstGeom>
          <a:noFill/>
          <a:ln/>
        </p:spPr>
        <p:txBody>
          <a:bodyPr wrap="square" lIns="0" tIns="0" rIns="0" bIns="0" rtlCol="0" anchor="ctr"/>
          <a:lstStyle/>
          <a:p>
            <a:pPr indent="0" marL="0">
              <a:buNone/>
            </a:pPr>
            <a:r>
              <a:rPr lang="en-US" sz="1200" dirty="0">
                <a:solidFill>
                  <a:srgbClr val="5A7682"/>
                </a:solidFill>
                <a:latin typeface="Courier New" pitchFamily="34" charset="0"/>
                <a:ea typeface="Courier New" pitchFamily="34" charset="-122"/>
                <a:cs typeface="Courier New" pitchFamily="34" charset="-120"/>
              </a:rPr>
              <a:t>White · asian · 'White '</a:t>
            </a:r>
            <a:endParaRPr lang="en-US" sz="1200" dirty="0"/>
          </a:p>
        </p:txBody>
      </p:sp>
      <p:sp>
        <p:nvSpPr>
          <p:cNvPr id="13" name="Text 11"/>
          <p:cNvSpPr/>
          <p:nvPr/>
        </p:nvSpPr>
        <p:spPr>
          <a:xfrm>
            <a:off x="5257800" y="2862072"/>
            <a:ext cx="365760" cy="457200"/>
          </a:xfrm>
          <a:prstGeom prst="rect">
            <a:avLst/>
          </a:prstGeom>
          <a:noFill/>
          <a:ln/>
        </p:spPr>
        <p:txBody>
          <a:bodyPr wrap="square" lIns="0" tIns="0" rIns="0" bIns="0" rtlCol="0" anchor="ctr"/>
          <a:lstStyle/>
          <a:p>
            <a:pPr algn="ctr" indent="0" marL="0">
              <a:buNone/>
            </a:pPr>
            <a:r>
              <a:rPr lang="en-US" sz="1600" b="1" dirty="0">
                <a:solidFill>
                  <a:srgbClr val="E8833A"/>
                </a:solidFill>
              </a:rPr>
              <a:t>→</a:t>
            </a:r>
            <a:endParaRPr lang="en-US" sz="1600" dirty="0"/>
          </a:p>
        </p:txBody>
      </p:sp>
      <p:sp>
        <p:nvSpPr>
          <p:cNvPr id="14" name="Text 12"/>
          <p:cNvSpPr/>
          <p:nvPr/>
        </p:nvSpPr>
        <p:spPr>
          <a:xfrm>
            <a:off x="5715000" y="2862072"/>
            <a:ext cx="2286000" cy="457200"/>
          </a:xfrm>
          <a:prstGeom prst="rect">
            <a:avLst/>
          </a:prstGeom>
          <a:noFill/>
          <a:ln/>
        </p:spPr>
        <p:txBody>
          <a:bodyPr wrap="square" lIns="0" tIns="0" rIns="0" bIns="0" rtlCol="0" anchor="ctr"/>
          <a:lstStyle/>
          <a:p>
            <a:pPr indent="0" marL="0">
              <a:buNone/>
            </a:pPr>
            <a:r>
              <a:rPr lang="en-US" sz="1300" b="1" dirty="0">
                <a:solidFill>
                  <a:srgbClr val="0F2E3D"/>
                </a:solidFill>
                <a:latin typeface="Courier New" pitchFamily="34" charset="0"/>
                <a:ea typeface="Courier New" pitchFamily="34" charset="-122"/>
                <a:cs typeface="Courier New" pitchFamily="34" charset="-120"/>
              </a:rPr>
              <a:t>WHITE · ASIAN</a:t>
            </a:r>
            <a:endParaRPr lang="en-US" sz="1300" dirty="0"/>
          </a:p>
        </p:txBody>
      </p:sp>
      <p:sp>
        <p:nvSpPr>
          <p:cNvPr id="15" name="Text 13"/>
          <p:cNvSpPr/>
          <p:nvPr/>
        </p:nvSpPr>
        <p:spPr>
          <a:xfrm>
            <a:off x="8138160" y="2816352"/>
            <a:ext cx="3291840" cy="548640"/>
          </a:xfrm>
          <a:prstGeom prst="rect">
            <a:avLst/>
          </a:prstGeom>
          <a:noFill/>
          <a:ln/>
        </p:spPr>
        <p:txBody>
          <a:bodyPr wrap="square" lIns="0" tIns="0" rIns="0" bIns="0" rtlCol="0" anchor="ctr"/>
          <a:lstStyle/>
          <a:p>
            <a:pPr indent="0" marL="0">
              <a:buNone/>
            </a:pPr>
            <a:r>
              <a:rPr lang="en-US" sz="1150" dirty="0">
                <a:solidFill>
                  <a:srgbClr val="5A7682"/>
                </a:solidFill>
                <a:latin typeface="Calibri" pitchFamily="34" charset="0"/>
                <a:ea typeface="Calibri" pitchFamily="34" charset="-122"/>
                <a:cs typeface="Calibri" pitchFamily="34" charset="-120"/>
              </a:rPr>
              <a:t>Free text, mixed case, stray spaces — trim then normalise</a:t>
            </a:r>
            <a:endParaRPr lang="en-US" sz="1150" dirty="0"/>
          </a:p>
        </p:txBody>
      </p:sp>
      <p:sp>
        <p:nvSpPr>
          <p:cNvPr id="16" name="Shape 14"/>
          <p:cNvSpPr/>
          <p:nvPr/>
        </p:nvSpPr>
        <p:spPr>
          <a:xfrm>
            <a:off x="640080" y="3621024"/>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Text 15"/>
          <p:cNvSpPr/>
          <p:nvPr/>
        </p:nvSpPr>
        <p:spPr>
          <a:xfrm>
            <a:off x="914400" y="3858768"/>
            <a:ext cx="1371600" cy="457200"/>
          </a:xfrm>
          <a:prstGeom prst="rect">
            <a:avLst/>
          </a:prstGeom>
          <a:noFill/>
          <a:ln/>
        </p:spPr>
        <p:txBody>
          <a:bodyPr wrap="square" lIns="0" tIns="0" rIns="0" bIns="0" rtlCol="0" anchor="ctr"/>
          <a:lstStyle/>
          <a:p>
            <a:pPr indent="0" marL="0">
              <a:buNone/>
            </a:pPr>
            <a:r>
              <a:rPr lang="en-US" sz="1600" b="1" dirty="0">
                <a:solidFill>
                  <a:srgbClr val="E8833A"/>
                </a:solidFill>
                <a:latin typeface="Courier New" pitchFamily="34" charset="0"/>
                <a:ea typeface="Courier New" pitchFamily="34" charset="-122"/>
                <a:cs typeface="Courier New" pitchFamily="34" charset="-120"/>
              </a:rPr>
              <a:t>ETHNIC</a:t>
            </a:r>
            <a:endParaRPr lang="en-US" sz="1600" dirty="0"/>
          </a:p>
        </p:txBody>
      </p:sp>
      <p:sp>
        <p:nvSpPr>
          <p:cNvPr id="18" name="Text 16"/>
          <p:cNvSpPr/>
          <p:nvPr/>
        </p:nvSpPr>
        <p:spPr>
          <a:xfrm>
            <a:off x="2377440" y="3858768"/>
            <a:ext cx="2834640" cy="457200"/>
          </a:xfrm>
          <a:prstGeom prst="rect">
            <a:avLst/>
          </a:prstGeom>
          <a:noFill/>
          <a:ln/>
        </p:spPr>
        <p:txBody>
          <a:bodyPr wrap="square" lIns="0" tIns="0" rIns="0" bIns="0" rtlCol="0" anchor="ctr"/>
          <a:lstStyle/>
          <a:p>
            <a:pPr indent="0" marL="0">
              <a:buNone/>
            </a:pPr>
            <a:r>
              <a:rPr lang="en-US" sz="1200" dirty="0">
                <a:solidFill>
                  <a:srgbClr val="5A7682"/>
                </a:solidFill>
                <a:latin typeface="Courier New" pitchFamily="34" charset="0"/>
                <a:ea typeface="Courier New" pitchFamily="34" charset="-122"/>
                <a:cs typeface="Courier New" pitchFamily="34" charset="-120"/>
              </a:rPr>
              <a:t>Not Hispanic or Latino</a:t>
            </a:r>
            <a:endParaRPr lang="en-US" sz="1200" dirty="0"/>
          </a:p>
        </p:txBody>
      </p:sp>
      <p:sp>
        <p:nvSpPr>
          <p:cNvPr id="19" name="Text 17"/>
          <p:cNvSpPr/>
          <p:nvPr/>
        </p:nvSpPr>
        <p:spPr>
          <a:xfrm>
            <a:off x="5257800" y="3858768"/>
            <a:ext cx="365760" cy="457200"/>
          </a:xfrm>
          <a:prstGeom prst="rect">
            <a:avLst/>
          </a:prstGeom>
          <a:noFill/>
          <a:ln/>
        </p:spPr>
        <p:txBody>
          <a:bodyPr wrap="square" lIns="0" tIns="0" rIns="0" bIns="0" rtlCol="0" anchor="ctr"/>
          <a:lstStyle/>
          <a:p>
            <a:pPr algn="ctr" indent="0" marL="0">
              <a:buNone/>
            </a:pPr>
            <a:r>
              <a:rPr lang="en-US" sz="1600" b="1" dirty="0">
                <a:solidFill>
                  <a:srgbClr val="E8833A"/>
                </a:solidFill>
              </a:rPr>
              <a:t>→</a:t>
            </a:r>
            <a:endParaRPr lang="en-US" sz="1600" dirty="0"/>
          </a:p>
        </p:txBody>
      </p:sp>
      <p:sp>
        <p:nvSpPr>
          <p:cNvPr id="20" name="Text 18"/>
          <p:cNvSpPr/>
          <p:nvPr/>
        </p:nvSpPr>
        <p:spPr>
          <a:xfrm>
            <a:off x="5715000" y="3858768"/>
            <a:ext cx="2286000" cy="457200"/>
          </a:xfrm>
          <a:prstGeom prst="rect">
            <a:avLst/>
          </a:prstGeom>
          <a:noFill/>
          <a:ln/>
        </p:spPr>
        <p:txBody>
          <a:bodyPr wrap="square" lIns="0" tIns="0" rIns="0" bIns="0" rtlCol="0" anchor="ctr"/>
          <a:lstStyle/>
          <a:p>
            <a:pPr indent="0" marL="0">
              <a:buNone/>
            </a:pPr>
            <a:r>
              <a:rPr lang="en-US" sz="1300" b="1" dirty="0">
                <a:solidFill>
                  <a:srgbClr val="0F2E3D"/>
                </a:solidFill>
                <a:latin typeface="Courier New" pitchFamily="34" charset="0"/>
                <a:ea typeface="Courier New" pitchFamily="34" charset="-122"/>
                <a:cs typeface="Courier New" pitchFamily="34" charset="-120"/>
              </a:rPr>
              <a:t>NOT HISPANIC OR LATINO</a:t>
            </a:r>
            <a:endParaRPr lang="en-US" sz="1300" dirty="0"/>
          </a:p>
        </p:txBody>
      </p:sp>
      <p:sp>
        <p:nvSpPr>
          <p:cNvPr id="21" name="Text 19"/>
          <p:cNvSpPr/>
          <p:nvPr/>
        </p:nvSpPr>
        <p:spPr>
          <a:xfrm>
            <a:off x="8138160" y="3813048"/>
            <a:ext cx="3291840" cy="548640"/>
          </a:xfrm>
          <a:prstGeom prst="rect">
            <a:avLst/>
          </a:prstGeom>
          <a:noFill/>
          <a:ln/>
        </p:spPr>
        <p:txBody>
          <a:bodyPr wrap="square" lIns="0" tIns="0" rIns="0" bIns="0" rtlCol="0" anchor="ctr"/>
          <a:lstStyle/>
          <a:p>
            <a:pPr indent="0" marL="0">
              <a:buNone/>
            </a:pPr>
            <a:r>
              <a:rPr lang="en-US" sz="1150" dirty="0">
                <a:solidFill>
                  <a:srgbClr val="5A7682"/>
                </a:solidFill>
                <a:latin typeface="Calibri" pitchFamily="34" charset="0"/>
                <a:ea typeface="Calibri" pitchFamily="34" charset="-122"/>
                <a:cs typeface="Calibri" pitchFamily="34" charset="-120"/>
              </a:rPr>
              <a:t>Upper-case to match CT exactly</a:t>
            </a:r>
            <a:endParaRPr lang="en-US" sz="1150" dirty="0"/>
          </a:p>
        </p:txBody>
      </p:sp>
      <p:sp>
        <p:nvSpPr>
          <p:cNvPr id="22" name="Shape 20"/>
          <p:cNvSpPr/>
          <p:nvPr/>
        </p:nvSpPr>
        <p:spPr>
          <a:xfrm>
            <a:off x="640080" y="4617720"/>
            <a:ext cx="10972800" cy="932688"/>
          </a:xfrm>
          <a:prstGeom prst="roundRect">
            <a:avLst>
              <a:gd name="adj" fmla="val 8824"/>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3" name="Text 21"/>
          <p:cNvSpPr/>
          <p:nvPr/>
        </p:nvSpPr>
        <p:spPr>
          <a:xfrm>
            <a:off x="914400" y="4855464"/>
            <a:ext cx="1371600" cy="457200"/>
          </a:xfrm>
          <a:prstGeom prst="rect">
            <a:avLst/>
          </a:prstGeom>
          <a:noFill/>
          <a:ln/>
        </p:spPr>
        <p:txBody>
          <a:bodyPr wrap="square" lIns="0" tIns="0" rIns="0" bIns="0" rtlCol="0" anchor="ctr"/>
          <a:lstStyle/>
          <a:p>
            <a:pPr indent="0" marL="0">
              <a:buNone/>
            </a:pPr>
            <a:r>
              <a:rPr lang="en-US" sz="1600" b="1" dirty="0">
                <a:solidFill>
                  <a:srgbClr val="0F2E3D"/>
                </a:solidFill>
                <a:latin typeface="Courier New" pitchFamily="34" charset="0"/>
                <a:ea typeface="Courier New" pitchFamily="34" charset="-122"/>
                <a:cs typeface="Courier New" pitchFamily="34" charset="-120"/>
              </a:rPr>
              <a:t>ARMCD</a:t>
            </a:r>
            <a:endParaRPr lang="en-US" sz="1600" dirty="0"/>
          </a:p>
        </p:txBody>
      </p:sp>
      <p:sp>
        <p:nvSpPr>
          <p:cNvPr id="24" name="Text 22"/>
          <p:cNvSpPr/>
          <p:nvPr/>
        </p:nvSpPr>
        <p:spPr>
          <a:xfrm>
            <a:off x="2377440" y="4855464"/>
            <a:ext cx="2834640" cy="457200"/>
          </a:xfrm>
          <a:prstGeom prst="rect">
            <a:avLst/>
          </a:prstGeom>
          <a:noFill/>
          <a:ln/>
        </p:spPr>
        <p:txBody>
          <a:bodyPr wrap="square" lIns="0" tIns="0" rIns="0" bIns="0" rtlCol="0" anchor="ctr"/>
          <a:lstStyle/>
          <a:p>
            <a:pPr indent="0" marL="0">
              <a:buNone/>
            </a:pPr>
            <a:r>
              <a:rPr lang="en-US" sz="1200" dirty="0">
                <a:solidFill>
                  <a:srgbClr val="5A7682"/>
                </a:solidFill>
                <a:latin typeface="Courier New" pitchFamily="34" charset="0"/>
                <a:ea typeface="Courier New" pitchFamily="34" charset="-122"/>
                <a:cs typeface="Courier New" pitchFamily="34" charset="-120"/>
              </a:rPr>
              <a:t>Drug A / Placebo</a:t>
            </a:r>
            <a:endParaRPr lang="en-US" sz="1200" dirty="0"/>
          </a:p>
        </p:txBody>
      </p:sp>
      <p:sp>
        <p:nvSpPr>
          <p:cNvPr id="25" name="Text 23"/>
          <p:cNvSpPr/>
          <p:nvPr/>
        </p:nvSpPr>
        <p:spPr>
          <a:xfrm>
            <a:off x="5257800" y="4855464"/>
            <a:ext cx="365760" cy="457200"/>
          </a:xfrm>
          <a:prstGeom prst="rect">
            <a:avLst/>
          </a:prstGeom>
          <a:noFill/>
          <a:ln/>
        </p:spPr>
        <p:txBody>
          <a:bodyPr wrap="square" lIns="0" tIns="0" rIns="0" bIns="0" rtlCol="0" anchor="ctr"/>
          <a:lstStyle/>
          <a:p>
            <a:pPr algn="ctr" indent="0" marL="0">
              <a:buNone/>
            </a:pPr>
            <a:r>
              <a:rPr lang="en-US" sz="1600" b="1" dirty="0">
                <a:solidFill>
                  <a:srgbClr val="E8833A"/>
                </a:solidFill>
              </a:rPr>
              <a:t>→</a:t>
            </a:r>
            <a:endParaRPr lang="en-US" sz="1600" dirty="0"/>
          </a:p>
        </p:txBody>
      </p:sp>
      <p:sp>
        <p:nvSpPr>
          <p:cNvPr id="26" name="Text 24"/>
          <p:cNvSpPr/>
          <p:nvPr/>
        </p:nvSpPr>
        <p:spPr>
          <a:xfrm>
            <a:off x="5715000" y="4855464"/>
            <a:ext cx="2286000" cy="457200"/>
          </a:xfrm>
          <a:prstGeom prst="rect">
            <a:avLst/>
          </a:prstGeom>
          <a:noFill/>
          <a:ln/>
        </p:spPr>
        <p:txBody>
          <a:bodyPr wrap="square" lIns="0" tIns="0" rIns="0" bIns="0" rtlCol="0" anchor="ctr"/>
          <a:lstStyle/>
          <a:p>
            <a:pPr indent="0" marL="0">
              <a:buNone/>
            </a:pPr>
            <a:r>
              <a:rPr lang="en-US" sz="1300" b="1" dirty="0">
                <a:solidFill>
                  <a:srgbClr val="0F2E3D"/>
                </a:solidFill>
                <a:latin typeface="Courier New" pitchFamily="34" charset="0"/>
                <a:ea typeface="Courier New" pitchFamily="34" charset="-122"/>
                <a:cs typeface="Courier New" pitchFamily="34" charset="-120"/>
              </a:rPr>
              <a:t>A / P</a:t>
            </a:r>
            <a:endParaRPr lang="en-US" sz="1300" dirty="0"/>
          </a:p>
        </p:txBody>
      </p:sp>
      <p:sp>
        <p:nvSpPr>
          <p:cNvPr id="27" name="Text 25"/>
          <p:cNvSpPr/>
          <p:nvPr/>
        </p:nvSpPr>
        <p:spPr>
          <a:xfrm>
            <a:off x="8138160" y="4809744"/>
            <a:ext cx="3291840" cy="548640"/>
          </a:xfrm>
          <a:prstGeom prst="rect">
            <a:avLst/>
          </a:prstGeom>
          <a:noFill/>
          <a:ln/>
        </p:spPr>
        <p:txBody>
          <a:bodyPr wrap="square" lIns="0" tIns="0" rIns="0" bIns="0" rtlCol="0" anchor="ctr"/>
          <a:lstStyle/>
          <a:p>
            <a:pPr indent="0" marL="0">
              <a:buNone/>
            </a:pPr>
            <a:r>
              <a:rPr lang="en-US" sz="1150" dirty="0">
                <a:solidFill>
                  <a:srgbClr val="5A7682"/>
                </a:solidFill>
                <a:latin typeface="Calibri" pitchFamily="34" charset="0"/>
                <a:ea typeface="Calibri" pitchFamily="34" charset="-122"/>
                <a:cs typeface="Calibri" pitchFamily="34" charset="-120"/>
              </a:rPr>
              <a:t>Derived short code: max 20 chars, no spaces</a:t>
            </a:r>
            <a:endParaRPr lang="en-US" sz="1150" dirty="0"/>
          </a:p>
        </p:txBody>
      </p:sp>
      <p:sp>
        <p:nvSpPr>
          <p:cNvPr id="28" name="Shape 26"/>
          <p:cNvSpPr/>
          <p:nvPr/>
        </p:nvSpPr>
        <p:spPr>
          <a:xfrm>
            <a:off x="640080" y="5669280"/>
            <a:ext cx="10972800" cy="868680"/>
          </a:xfrm>
          <a:prstGeom prst="roundRect">
            <a:avLst>
              <a:gd name="adj" fmla="val 9474"/>
            </a:avLst>
          </a:prstGeom>
          <a:solidFill>
            <a:srgbClr val="FDF1E7"/>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9" name="Text 27"/>
          <p:cNvSpPr/>
          <p:nvPr/>
        </p:nvSpPr>
        <p:spPr>
          <a:xfrm>
            <a:off x="914400" y="5788152"/>
            <a:ext cx="10424160" cy="658368"/>
          </a:xfrm>
          <a:prstGeom prst="rect">
            <a:avLst/>
          </a:prstGeom>
          <a:noFill/>
          <a:ln/>
        </p:spPr>
        <p:txBody>
          <a:bodyPr wrap="square" lIns="0" tIns="0" rIns="0" bIns="0" rtlCol="0" anchor="ctr"/>
          <a:lstStyle/>
          <a:p>
            <a:pPr indent="0" marL="0">
              <a:lnSpc>
                <a:spcPts val="1900"/>
              </a:lnSpc>
              <a:buNone/>
            </a:pPr>
            <a:r>
              <a:rPr lang="en-US" sz="1400" b="1" dirty="0">
                <a:solidFill>
                  <a:srgbClr val="B5651A"/>
                </a:solidFill>
                <a:latin typeface="Calibri" pitchFamily="34" charset="0"/>
                <a:ea typeface="Calibri" pitchFamily="34" charset="-122"/>
                <a:cs typeface="Calibri" pitchFamily="34" charset="-120"/>
              </a:rPr>
              <a:t>Production warning.  </a:t>
            </a:r>
            <a:pPr indent="0" marL="0">
              <a:lnSpc>
                <a:spcPts val="1900"/>
              </a:lnSpc>
              <a:buNone/>
            </a:pPr>
            <a:r>
              <a:rPr lang="en-US" sz="1300" dirty="0">
                <a:solidFill>
                  <a:srgbClr val="0F2E3D"/>
                </a:solidFill>
                <a:latin typeface="Calibri" pitchFamily="34" charset="0"/>
                <a:ea typeface="Calibri" pitchFamily="34" charset="-122"/>
                <a:cs typeface="Calibri" pitchFamily="34" charset="-120"/>
              </a:rPr>
              <a:t>Blindly upper-casing free text happens to produce valid CT for this study. It would also let a site's "Caucasian" through un-flagged. Real mapping code uses an explicit lookup and fails loudly on anything it does not recognise.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PLANNED VERSUS ACTUAL</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ARM, ARMCD, ACTARM, ACTARMCD</a:t>
            </a:r>
            <a:endParaRPr lang="en-US" sz="3000" dirty="0"/>
          </a:p>
        </p:txBody>
      </p:sp>
      <p:sp>
        <p:nvSpPr>
          <p:cNvPr id="4" name="Shape 2"/>
          <p:cNvSpPr/>
          <p:nvPr/>
        </p:nvSpPr>
        <p:spPr>
          <a:xfrm>
            <a:off x="640080" y="1737360"/>
            <a:ext cx="5394960" cy="2103120"/>
          </a:xfrm>
          <a:prstGeom prst="roundRect">
            <a:avLst>
              <a:gd name="adj" fmla="val 3913"/>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Text 3"/>
          <p:cNvSpPr/>
          <p:nvPr/>
        </p:nvSpPr>
        <p:spPr>
          <a:xfrm>
            <a:off x="914400" y="1920240"/>
            <a:ext cx="4846320" cy="411480"/>
          </a:xfrm>
          <a:prstGeom prst="rect">
            <a:avLst/>
          </a:prstGeom>
          <a:noFill/>
          <a:ln/>
        </p:spPr>
        <p:txBody>
          <a:bodyPr wrap="square" lIns="0" tIns="0" rIns="0" bIns="0" rtlCol="0" anchor="ctr"/>
          <a:lstStyle/>
          <a:p>
            <a:pPr indent="0" marL="0">
              <a:buNone/>
            </a:pPr>
            <a:r>
              <a:rPr lang="en-US" sz="2000" b="1" dirty="0">
                <a:solidFill>
                  <a:srgbClr val="0E7C86"/>
                </a:solidFill>
                <a:latin typeface="Cambria" pitchFamily="34" charset="0"/>
                <a:ea typeface="Cambria" pitchFamily="34" charset="-122"/>
                <a:cs typeface="Cambria" pitchFamily="34" charset="-120"/>
              </a:rPr>
              <a:t>ARM / ARMCD</a:t>
            </a:r>
            <a:endParaRPr lang="en-US" sz="2000" dirty="0"/>
          </a:p>
        </p:txBody>
      </p:sp>
      <p:sp>
        <p:nvSpPr>
          <p:cNvPr id="6" name="Text 4"/>
          <p:cNvSpPr/>
          <p:nvPr/>
        </p:nvSpPr>
        <p:spPr>
          <a:xfrm>
            <a:off x="914400" y="2377440"/>
            <a:ext cx="4846320" cy="457200"/>
          </a:xfrm>
          <a:prstGeom prst="rect">
            <a:avLst/>
          </a:prstGeom>
          <a:noFill/>
          <a:ln/>
        </p:spPr>
        <p:txBody>
          <a:bodyPr wrap="square" lIns="0" tIns="0" rIns="0" bIns="0" rtlCol="0" anchor="ctr"/>
          <a:lstStyle/>
          <a:p>
            <a:pPr indent="0" marL="0">
              <a:buNone/>
            </a:pPr>
            <a:r>
              <a:rPr lang="en-US" sz="1350" b="1" dirty="0">
                <a:solidFill>
                  <a:srgbClr val="0F2E3D"/>
                </a:solidFill>
                <a:latin typeface="Calibri" pitchFamily="34" charset="0"/>
                <a:ea typeface="Calibri" pitchFamily="34" charset="-122"/>
                <a:cs typeface="Calibri" pitchFamily="34" charset="-120"/>
              </a:rPr>
              <a:t>PLANNED — the arm the subject was randomized to.</a:t>
            </a:r>
            <a:endParaRPr lang="en-US" sz="1350" dirty="0"/>
          </a:p>
        </p:txBody>
      </p:sp>
      <p:sp>
        <p:nvSpPr>
          <p:cNvPr id="7" name="Text 5"/>
          <p:cNvSpPr/>
          <p:nvPr/>
        </p:nvSpPr>
        <p:spPr>
          <a:xfrm>
            <a:off x="914400" y="2926080"/>
            <a:ext cx="4846320" cy="73152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Comes from the randomization on the demographics form.</a:t>
            </a:r>
            <a:endParaRPr lang="en-US" sz="1300" dirty="0"/>
          </a:p>
        </p:txBody>
      </p:sp>
      <p:sp>
        <p:nvSpPr>
          <p:cNvPr id="8" name="Shape 6"/>
          <p:cNvSpPr/>
          <p:nvPr/>
        </p:nvSpPr>
        <p:spPr>
          <a:xfrm>
            <a:off x="6217920" y="1737360"/>
            <a:ext cx="5394960" cy="2103120"/>
          </a:xfrm>
          <a:prstGeom prst="roundRect">
            <a:avLst>
              <a:gd name="adj" fmla="val 3913"/>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Text 7"/>
          <p:cNvSpPr/>
          <p:nvPr/>
        </p:nvSpPr>
        <p:spPr>
          <a:xfrm>
            <a:off x="6492240" y="1920240"/>
            <a:ext cx="4846320" cy="411480"/>
          </a:xfrm>
          <a:prstGeom prst="rect">
            <a:avLst/>
          </a:prstGeom>
          <a:noFill/>
          <a:ln/>
        </p:spPr>
        <p:txBody>
          <a:bodyPr wrap="square" lIns="0" tIns="0" rIns="0" bIns="0" rtlCol="0" anchor="ctr"/>
          <a:lstStyle/>
          <a:p>
            <a:pPr indent="0" marL="0">
              <a:buNone/>
            </a:pPr>
            <a:r>
              <a:rPr lang="en-US" sz="2000" b="1" dirty="0">
                <a:solidFill>
                  <a:srgbClr val="E8833A"/>
                </a:solidFill>
                <a:latin typeface="Cambria" pitchFamily="34" charset="0"/>
                <a:ea typeface="Cambria" pitchFamily="34" charset="-122"/>
                <a:cs typeface="Cambria" pitchFamily="34" charset="-120"/>
              </a:rPr>
              <a:t>ACTARM / ACTARMCD</a:t>
            </a:r>
            <a:endParaRPr lang="en-US" sz="2000" dirty="0"/>
          </a:p>
        </p:txBody>
      </p:sp>
      <p:sp>
        <p:nvSpPr>
          <p:cNvPr id="10" name="Text 8"/>
          <p:cNvSpPr/>
          <p:nvPr/>
        </p:nvSpPr>
        <p:spPr>
          <a:xfrm>
            <a:off x="6492240" y="2377440"/>
            <a:ext cx="4846320" cy="457200"/>
          </a:xfrm>
          <a:prstGeom prst="rect">
            <a:avLst/>
          </a:prstGeom>
          <a:noFill/>
          <a:ln/>
        </p:spPr>
        <p:txBody>
          <a:bodyPr wrap="square" lIns="0" tIns="0" rIns="0" bIns="0" rtlCol="0" anchor="ctr"/>
          <a:lstStyle/>
          <a:p>
            <a:pPr indent="0" marL="0">
              <a:buNone/>
            </a:pPr>
            <a:r>
              <a:rPr lang="en-US" sz="1350" b="1" dirty="0">
                <a:solidFill>
                  <a:srgbClr val="0F2E3D"/>
                </a:solidFill>
                <a:latin typeface="Calibri" pitchFamily="34" charset="0"/>
                <a:ea typeface="Calibri" pitchFamily="34" charset="-122"/>
                <a:cs typeface="Calibri" pitchFamily="34" charset="-120"/>
              </a:rPr>
              <a:t>ACTUAL — the arm the subject really received.</a:t>
            </a:r>
            <a:endParaRPr lang="en-US" sz="1350" dirty="0"/>
          </a:p>
        </p:txBody>
      </p:sp>
      <p:sp>
        <p:nvSpPr>
          <p:cNvPr id="11" name="Text 9"/>
          <p:cNvSpPr/>
          <p:nvPr/>
        </p:nvSpPr>
        <p:spPr>
          <a:xfrm>
            <a:off x="6492240" y="2926080"/>
            <a:ext cx="4846320" cy="731520"/>
          </a:xfrm>
          <a:prstGeom prst="rect">
            <a:avLst/>
          </a:prstGeom>
          <a:noFill/>
          <a:ln/>
        </p:spPr>
        <p:txBody>
          <a:bodyPr wrap="square" lIns="0" tIns="0" rIns="0" bIns="0" rtlCol="0" anchor="ctr"/>
          <a:lstStyle/>
          <a:p>
            <a:pPr indent="0" marL="0">
              <a:buNone/>
            </a:pPr>
            <a:r>
              <a:rPr lang="en-US" sz="1300" dirty="0">
                <a:solidFill>
                  <a:srgbClr val="5A7682"/>
                </a:solidFill>
                <a:latin typeface="Calibri" pitchFamily="34" charset="0"/>
                <a:ea typeface="Calibri" pitchFamily="34" charset="-122"/>
                <a:cs typeface="Calibri" pitchFamily="34" charset="-120"/>
              </a:rPr>
              <a:t>Determined from what was actually administered (EX).</a:t>
            </a:r>
            <a:endParaRPr lang="en-US" sz="1300" dirty="0"/>
          </a:p>
        </p:txBody>
      </p:sp>
      <p:sp>
        <p:nvSpPr>
          <p:cNvPr id="12" name="Shape 10"/>
          <p:cNvSpPr/>
          <p:nvPr/>
        </p:nvSpPr>
        <p:spPr>
          <a:xfrm>
            <a:off x="640080" y="4069080"/>
            <a:ext cx="10972800" cy="1051560"/>
          </a:xfrm>
          <a:prstGeom prst="roundRect">
            <a:avLst>
              <a:gd name="adj" fmla="val 7826"/>
            </a:avLst>
          </a:prstGeom>
          <a:solidFill>
            <a:srgbClr val="EAF5F0"/>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Text 11"/>
          <p:cNvSpPr/>
          <p:nvPr/>
        </p:nvSpPr>
        <p:spPr>
          <a:xfrm>
            <a:off x="914400" y="4224528"/>
            <a:ext cx="10424160" cy="777240"/>
          </a:xfrm>
          <a:prstGeom prst="rect">
            <a:avLst/>
          </a:prstGeom>
          <a:noFill/>
          <a:ln/>
        </p:spPr>
        <p:txBody>
          <a:bodyPr wrap="square" lIns="0" tIns="0" rIns="0" bIns="0" rtlCol="0" anchor="ctr"/>
          <a:lstStyle/>
          <a:p>
            <a:pPr indent="0" marL="0">
              <a:lnSpc>
                <a:spcPts val="2000"/>
              </a:lnSpc>
              <a:buNone/>
            </a:pPr>
            <a:r>
              <a:rPr lang="en-US" sz="1450" b="1" dirty="0">
                <a:solidFill>
                  <a:srgbClr val="0E7C86"/>
                </a:solidFill>
                <a:latin typeface="Calibri" pitchFamily="34" charset="0"/>
                <a:ea typeface="Calibri" pitchFamily="34" charset="-122"/>
                <a:cs typeface="Calibri" pitchFamily="34" charset="-120"/>
              </a:rPr>
              <a:t>In ABC-01 they are identical  </a:t>
            </a:r>
            <a:pPr indent="0" marL="0">
              <a:lnSpc>
                <a:spcPts val="2000"/>
              </a:lnSpc>
              <a:buNone/>
            </a:pPr>
            <a:r>
              <a:rPr lang="en-US" sz="1350" dirty="0">
                <a:solidFill>
                  <a:srgbClr val="0F2E3D"/>
                </a:solidFill>
                <a:latin typeface="Calibri" pitchFamily="34" charset="0"/>
                <a:ea typeface="Calibri" pitchFamily="34" charset="-122"/>
                <a:cs typeface="Calibri" pitchFamily="34" charset="-120"/>
              </a:rPr>
              <a:t>— every subject received the treatment they were randomized to, so ACTARM = ARM for all 8. That is the normal case, and it is why the copy looks trivial.</a:t>
            </a:r>
            <a:endParaRPr lang="en-US" sz="1450" dirty="0"/>
          </a:p>
        </p:txBody>
      </p:sp>
      <p:sp>
        <p:nvSpPr>
          <p:cNvPr id="14" name="Shape 12"/>
          <p:cNvSpPr/>
          <p:nvPr/>
        </p:nvSpPr>
        <p:spPr>
          <a:xfrm>
            <a:off x="640080" y="5303520"/>
            <a:ext cx="10972800" cy="1097280"/>
          </a:xfrm>
          <a:prstGeom prst="roundRect">
            <a:avLst>
              <a:gd name="adj" fmla="val 7500"/>
            </a:avLst>
          </a:prstGeom>
          <a:solidFill>
            <a:srgbClr val="0F2E3D"/>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Text 13"/>
          <p:cNvSpPr/>
          <p:nvPr/>
        </p:nvSpPr>
        <p:spPr>
          <a:xfrm>
            <a:off x="914400" y="5468112"/>
            <a:ext cx="10424160" cy="822960"/>
          </a:xfrm>
          <a:prstGeom prst="rect">
            <a:avLst/>
          </a:prstGeom>
          <a:noFill/>
          <a:ln/>
        </p:spPr>
        <p:txBody>
          <a:bodyPr wrap="square" lIns="0" tIns="0" rIns="0" bIns="0" rtlCol="0" anchor="ctr"/>
          <a:lstStyle/>
          <a:p>
            <a:pPr indent="0" marL="0">
              <a:lnSpc>
                <a:spcPts val="1900"/>
              </a:lnSpc>
              <a:buNone/>
            </a:pPr>
            <a:r>
              <a:rPr lang="en-US" sz="1450" b="1" dirty="0">
                <a:solidFill>
                  <a:srgbClr val="6FC8B4"/>
                </a:solidFill>
                <a:latin typeface="Calibri" pitchFamily="34" charset="0"/>
                <a:ea typeface="Calibri" pitchFamily="34" charset="-122"/>
                <a:cs typeface="Calibri" pitchFamily="34" charset="-120"/>
              </a:rPr>
              <a:t>When would they differ?  </a:t>
            </a:r>
            <a:pPr indent="0" marL="0">
              <a:lnSpc>
                <a:spcPts val="1900"/>
              </a:lnSpc>
              <a:buNone/>
            </a:pPr>
            <a:r>
              <a:rPr lang="en-US" sz="1300" dirty="0">
                <a:solidFill>
                  <a:srgbClr val="C7DCE0"/>
                </a:solidFill>
                <a:latin typeface="Calibri" pitchFamily="34" charset="0"/>
                <a:ea typeface="Calibri" pitchFamily="34" charset="-122"/>
                <a:cs typeface="Calibri" pitchFamily="34" charset="-120"/>
              </a:rPr>
              <a:t>A subject randomized to Drug A who is dispensed placebo by a pharmacy error has ARM = Drug A but ACTARM = Placebo. Safety analyses use the actual arm; efficacy analyses usually use the planned one. All four variables are Required in SDTMIG v3.3.</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E3D"/>
        </a:solidFill>
      </p:bgPr>
    </p:bg>
    <p:spTree>
      <p:nvGrpSpPr>
        <p:cNvPr id="1" name=""/>
        <p:cNvGrpSpPr/>
        <p:nvPr/>
      </p:nvGrpSpPr>
      <p:grpSpPr>
        <a:xfrm>
          <a:off x="0" y="0"/>
          <a:ext cx="0" cy="0"/>
          <a:chOff x="0" y="0"/>
          <a:chExt cx="0" cy="0"/>
        </a:xfrm>
      </p:grpSpPr>
      <p:sp>
        <p:nvSpPr>
          <p:cNvPr id="2" name="Text 0"/>
          <p:cNvSpPr/>
          <p:nvPr/>
        </p:nvSpPr>
        <p:spPr>
          <a:xfrm>
            <a:off x="640080" y="502920"/>
            <a:ext cx="10972800" cy="274320"/>
          </a:xfrm>
          <a:prstGeom prst="rect">
            <a:avLst/>
          </a:prstGeom>
          <a:noFill/>
          <a:ln/>
        </p:spPr>
        <p:txBody>
          <a:bodyPr wrap="square" lIns="0" tIns="0" rIns="0" bIns="0" rtlCol="0" anchor="ctr"/>
          <a:lstStyle/>
          <a:p>
            <a:pPr indent="0" marL="0">
              <a:buNone/>
            </a:pPr>
            <a:r>
              <a:rPr lang="en-US" sz="1200" b="1" spc="200" kern="0" dirty="0">
                <a:solidFill>
                  <a:srgbClr val="6FC8B4"/>
                </a:solidFill>
                <a:latin typeface="Calibri" pitchFamily="34" charset="0"/>
                <a:ea typeface="Calibri" pitchFamily="34" charset="-122"/>
                <a:cs typeface="Calibri" pitchFamily="34" charset="-120"/>
              </a:rPr>
              <a:t>TIMING ANCHORS</a:t>
            </a:r>
            <a:endParaRPr lang="en-US" sz="1200" dirty="0"/>
          </a:p>
        </p:txBody>
      </p:sp>
      <p:sp>
        <p:nvSpPr>
          <p:cNvPr id="3" name="Text 1"/>
          <p:cNvSpPr/>
          <p:nvPr/>
        </p:nvSpPr>
        <p:spPr>
          <a:xfrm>
            <a:off x="603504" y="822960"/>
            <a:ext cx="10972800" cy="68580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six reference dates — and where each comes from</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965960"/>
          <a:ext cx="10972800" cy="914400"/>
        </p:xfrm>
        <a:graphic>
          <a:graphicData uri="http://schemas.openxmlformats.org/drawingml/2006/table">
            <a:tbl>
              <a:tblPr/>
              <a:tblGrid>
                <a:gridCol w="1920240"/>
                <a:gridCol w="2377440"/>
                <a:gridCol w="2743200"/>
                <a:gridCol w="3931920"/>
              </a:tblGrid>
              <a:tr h="457200">
                <a:tc>
                  <a:txBody>
                    <a:bodyPr/>
                    <a:lstStyle/>
                    <a:p>
                      <a:pPr indent="0" marL="0">
                        <a:buNone/>
                      </a:pPr>
                      <a:r>
                        <a:rPr lang="en-US" sz="1250" b="1" dirty="0">
                          <a:solidFill>
                            <a:srgbClr val="0F2E3D"/>
                          </a:solidFill>
                          <a:latin typeface="Calibri" pitchFamily="34" charset="0"/>
                          <a:ea typeface="Calibri" pitchFamily="34" charset="-122"/>
                          <a:cs typeface="Calibri" pitchFamily="34" charset="-120"/>
                        </a:rPr>
                        <a:t>Variable</a:t>
                      </a:r>
                      <a:endParaRPr lang="en-US" sz="125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6FC8B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Meaning</a:t>
                      </a:r>
                      <a:endParaRPr lang="en-US" sz="125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0E7C8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Source</a:t>
                      </a:r>
                      <a:endParaRPr lang="en-US" sz="125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0E7C86"/>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Note</a:t>
                      </a:r>
                      <a:endParaRPr lang="en-US" sz="125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0E7C86"/>
                    </a:solidFill>
                  </a:tcPr>
                </a:tc>
              </a:tr>
              <a:tr h="457200">
                <a:tc>
                  <a:txBody>
                    <a:bodyPr/>
                    <a:lstStyle/>
                    <a:p>
                      <a:pPr indent="0" marL="0">
                        <a:buNone/>
                      </a:pPr>
                      <a:r>
                        <a:rPr lang="en-US" sz="1200" b="1" dirty="0">
                          <a:solidFill>
                            <a:srgbClr val="F0B27A"/>
                          </a:solidFill>
                          <a:latin typeface="Courier New" pitchFamily="34" charset="0"/>
                          <a:ea typeface="Courier New" pitchFamily="34" charset="-122"/>
                          <a:cs typeface="Courier New" pitchFamily="34" charset="-120"/>
                        </a:rPr>
                        <a:t>RFSTDTC</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First dose</a:t>
                      </a:r>
                      <a:endParaRPr lang="en-US" sz="120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c>
                  <a:txBody>
                    <a:bodyPr/>
                    <a:lstStyle/>
                    <a:p>
                      <a:pPr indent="0" marL="0">
                        <a:buNone/>
                      </a:pPr>
                      <a:r>
                        <a:rPr lang="en-US" sz="1150" dirty="0">
                          <a:solidFill>
                            <a:srgbClr val="C7DCE0"/>
                          </a:solidFill>
                          <a:latin typeface="Courier New" pitchFamily="34" charset="0"/>
                          <a:ea typeface="Courier New" pitchFamily="34" charset="-122"/>
                          <a:cs typeface="Courier New" pitchFamily="34" charset="-120"/>
                        </a:rPr>
                        <a:t>ex_raw.EXSTDTC</a:t>
                      </a:r>
                      <a:endParaRPr lang="en-US" sz="11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c>
                  <a:txBody>
                    <a:bodyPr/>
                    <a:lstStyle/>
                    <a:p>
                      <a:pPr indent="0" marL="0">
                        <a:buNone/>
                      </a:pPr>
                      <a:r>
                        <a:rPr lang="en-US" sz="1150" i="1" dirty="0">
                          <a:solidFill>
                            <a:srgbClr val="F0B27A"/>
                          </a:solidFill>
                          <a:latin typeface="Calibri" pitchFamily="34" charset="0"/>
                          <a:ea typeface="Calibri" pitchFamily="34" charset="-122"/>
                          <a:cs typeface="Calibri" pitchFamily="34" charset="-120"/>
                        </a:rPr>
                        <a:t>Defines Study Day 1 for the WHOLE study</a:t>
                      </a:r>
                      <a:endParaRPr lang="en-US" sz="115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r>
              <a:tr h="457200">
                <a:tc>
                  <a:txBody>
                    <a:bodyPr/>
                    <a:lstStyle/>
                    <a:p>
                      <a:pPr indent="0" marL="0">
                        <a:buNone/>
                      </a:pPr>
                      <a:r>
                        <a:rPr lang="en-US" sz="1200" b="1" dirty="0">
                          <a:solidFill>
                            <a:srgbClr val="9FC0C6"/>
                          </a:solidFill>
                          <a:latin typeface="Courier New" pitchFamily="34" charset="0"/>
                          <a:ea typeface="Courier New" pitchFamily="34" charset="-122"/>
                          <a:cs typeface="Courier New" pitchFamily="34" charset="-120"/>
                        </a:rPr>
                        <a:t>RFENDTC</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Last dose</a:t>
                      </a:r>
                      <a:endParaRPr lang="en-US" sz="120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c>
                  <a:txBody>
                    <a:bodyPr/>
                    <a:lstStyle/>
                    <a:p>
                      <a:pPr indent="0" marL="0">
                        <a:buNone/>
                      </a:pPr>
                      <a:r>
                        <a:rPr lang="en-US" sz="1150" dirty="0">
                          <a:solidFill>
                            <a:srgbClr val="C7DCE0"/>
                          </a:solidFill>
                          <a:latin typeface="Courier New" pitchFamily="34" charset="0"/>
                          <a:ea typeface="Courier New" pitchFamily="34" charset="-122"/>
                          <a:cs typeface="Courier New" pitchFamily="34" charset="-120"/>
                        </a:rPr>
                        <a:t>ex_raw.EXENDTC</a:t>
                      </a:r>
                      <a:endParaRPr lang="en-US" sz="11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c>
                  <a:txBody>
                    <a:bodyPr/>
                    <a:lstStyle/>
                    <a:p>
                      <a:pPr indent="0" marL="0">
                        <a:buNone/>
                      </a:pPr>
                      <a:endParaRPr lang="en-US" sz="115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r>
              <a:tr h="457200">
                <a:tc>
                  <a:txBody>
                    <a:bodyPr/>
                    <a:lstStyle/>
                    <a:p>
                      <a:pPr indent="0" marL="0">
                        <a:buNone/>
                      </a:pPr>
                      <a:r>
                        <a:rPr lang="en-US" sz="1200" b="1" dirty="0">
                          <a:solidFill>
                            <a:srgbClr val="9FC0C6"/>
                          </a:solidFill>
                          <a:latin typeface="Courier New" pitchFamily="34" charset="0"/>
                          <a:ea typeface="Courier New" pitchFamily="34" charset="-122"/>
                          <a:cs typeface="Courier New" pitchFamily="34" charset="-120"/>
                        </a:rPr>
                        <a:t>RFXSTDTC</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First study treatment</a:t>
                      </a:r>
                      <a:endParaRPr lang="en-US" sz="120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c>
                  <a:txBody>
                    <a:bodyPr/>
                    <a:lstStyle/>
                    <a:p>
                      <a:pPr indent="0" marL="0">
                        <a:buNone/>
                      </a:pPr>
                      <a:r>
                        <a:rPr lang="en-US" sz="1150" dirty="0">
                          <a:solidFill>
                            <a:srgbClr val="C7DCE0"/>
                          </a:solidFill>
                          <a:latin typeface="Courier New" pitchFamily="34" charset="0"/>
                          <a:ea typeface="Courier New" pitchFamily="34" charset="-122"/>
                          <a:cs typeface="Courier New" pitchFamily="34" charset="-120"/>
                        </a:rPr>
                        <a:t>ex_raw.EXSTDTC</a:t>
                      </a:r>
                      <a:endParaRPr lang="en-US" sz="11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c>
                  <a:txBody>
                    <a:bodyPr/>
                    <a:lstStyle/>
                    <a:p>
                      <a:pPr indent="0" marL="0">
                        <a:buNone/>
                      </a:pPr>
                      <a:endParaRPr lang="en-US" sz="115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r>
              <a:tr h="457200">
                <a:tc>
                  <a:txBody>
                    <a:bodyPr/>
                    <a:lstStyle/>
                    <a:p>
                      <a:pPr indent="0" marL="0">
                        <a:buNone/>
                      </a:pPr>
                      <a:r>
                        <a:rPr lang="en-US" sz="1200" b="1" dirty="0">
                          <a:solidFill>
                            <a:srgbClr val="9FC0C6"/>
                          </a:solidFill>
                          <a:latin typeface="Courier New" pitchFamily="34" charset="0"/>
                          <a:ea typeface="Courier New" pitchFamily="34" charset="-122"/>
                          <a:cs typeface="Courier New" pitchFamily="34" charset="-120"/>
                        </a:rPr>
                        <a:t>RFXENDTC</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Last study treatment</a:t>
                      </a:r>
                      <a:endParaRPr lang="en-US" sz="120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c>
                  <a:txBody>
                    <a:bodyPr/>
                    <a:lstStyle/>
                    <a:p>
                      <a:pPr indent="0" marL="0">
                        <a:buNone/>
                      </a:pPr>
                      <a:r>
                        <a:rPr lang="en-US" sz="1150" dirty="0">
                          <a:solidFill>
                            <a:srgbClr val="C7DCE0"/>
                          </a:solidFill>
                          <a:latin typeface="Courier New" pitchFamily="34" charset="0"/>
                          <a:ea typeface="Courier New" pitchFamily="34" charset="-122"/>
                          <a:cs typeface="Courier New" pitchFamily="34" charset="-120"/>
                        </a:rPr>
                        <a:t>ex_raw.EXENDTC</a:t>
                      </a:r>
                      <a:endParaRPr lang="en-US" sz="11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c>
                  <a:txBody>
                    <a:bodyPr/>
                    <a:lstStyle/>
                    <a:p>
                      <a:pPr indent="0" marL="0">
                        <a:buNone/>
                      </a:pPr>
                      <a:endParaRPr lang="en-US" sz="115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r>
              <a:tr h="457200">
                <a:tc>
                  <a:txBody>
                    <a:bodyPr/>
                    <a:lstStyle/>
                    <a:p>
                      <a:pPr indent="0" marL="0">
                        <a:buNone/>
                      </a:pPr>
                      <a:r>
                        <a:rPr lang="en-US" sz="1200" b="1" dirty="0">
                          <a:solidFill>
                            <a:srgbClr val="6FC8B4"/>
                          </a:solidFill>
                          <a:latin typeface="Courier New" pitchFamily="34" charset="0"/>
                          <a:ea typeface="Courier New" pitchFamily="34" charset="-122"/>
                          <a:cs typeface="Courier New" pitchFamily="34" charset="-120"/>
                        </a:rPr>
                        <a:t>RFICDTC</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Informed consent</a:t>
                      </a:r>
                      <a:endParaRPr lang="en-US" sz="120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c>
                  <a:txBody>
                    <a:bodyPr/>
                    <a:lstStyle/>
                    <a:p>
                      <a:pPr indent="0" marL="0">
                        <a:buNone/>
                      </a:pPr>
                      <a:r>
                        <a:rPr lang="en-US" sz="1150" dirty="0">
                          <a:solidFill>
                            <a:srgbClr val="C7DCE0"/>
                          </a:solidFill>
                          <a:latin typeface="Courier New" pitchFamily="34" charset="0"/>
                          <a:ea typeface="Courier New" pitchFamily="34" charset="-122"/>
                          <a:cs typeface="Courier New" pitchFamily="34" charset="-120"/>
                        </a:rPr>
                        <a:t>dm_raw.RFICDTC</a:t>
                      </a:r>
                      <a:endParaRPr lang="en-US" sz="11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c>
                  <a:txBody>
                    <a:bodyPr/>
                    <a:lstStyle/>
                    <a:p>
                      <a:pPr indent="0" marL="0">
                        <a:buNone/>
                      </a:pPr>
                      <a:r>
                        <a:rPr lang="en-US" sz="1150" i="1" dirty="0">
                          <a:solidFill>
                            <a:srgbClr val="F0B27A"/>
                          </a:solidFill>
                          <a:latin typeface="Calibri" pitchFamily="34" charset="0"/>
                          <a:ea typeface="Calibri" pitchFamily="34" charset="-122"/>
                          <a:cs typeface="Calibri" pitchFamily="34" charset="-120"/>
                        </a:rPr>
                        <a:t>Also becomes a DS protocol milestone</a:t>
                      </a:r>
                      <a:endParaRPr lang="en-US" sz="115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3323F"/>
                    </a:solidFill>
                  </a:tcPr>
                </a:tc>
              </a:tr>
              <a:tr h="457200">
                <a:tc>
                  <a:txBody>
                    <a:bodyPr/>
                    <a:lstStyle/>
                    <a:p>
                      <a:pPr indent="0" marL="0">
                        <a:buNone/>
                      </a:pPr>
                      <a:r>
                        <a:rPr lang="en-US" sz="1200" b="1" dirty="0">
                          <a:solidFill>
                            <a:srgbClr val="6FC8B4"/>
                          </a:solidFill>
                          <a:latin typeface="Courier New" pitchFamily="34" charset="0"/>
                          <a:ea typeface="Courier New" pitchFamily="34" charset="-122"/>
                          <a:cs typeface="Courier New" pitchFamily="34" charset="-120"/>
                        </a:rPr>
                        <a:t>RFPENDTC</a:t>
                      </a:r>
                      <a:endParaRPr lang="en-US" sz="120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c>
                  <a:txBody>
                    <a:bodyPr/>
                    <a:lstStyle/>
                    <a:p>
                      <a:pPr indent="0" marL="0">
                        <a:buNone/>
                      </a:pPr>
                      <a:r>
                        <a:rPr lang="en-US" sz="1200" dirty="0">
                          <a:solidFill>
                            <a:srgbClr val="FFFFFF"/>
                          </a:solidFill>
                          <a:latin typeface="Calibri" pitchFamily="34" charset="0"/>
                          <a:ea typeface="Calibri" pitchFamily="34" charset="-122"/>
                          <a:cs typeface="Calibri" pitchFamily="34" charset="-120"/>
                        </a:rPr>
                        <a:t>End of participation</a:t>
                      </a:r>
                      <a:endParaRPr lang="en-US" sz="120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c>
                  <a:txBody>
                    <a:bodyPr/>
                    <a:lstStyle/>
                    <a:p>
                      <a:pPr indent="0" marL="0">
                        <a:buNone/>
                      </a:pPr>
                      <a:r>
                        <a:rPr lang="en-US" sz="1150" dirty="0">
                          <a:solidFill>
                            <a:srgbClr val="C7DCE0"/>
                          </a:solidFill>
                          <a:latin typeface="Courier New" pitchFamily="34" charset="0"/>
                          <a:ea typeface="Courier New" pitchFamily="34" charset="-122"/>
                          <a:cs typeface="Courier New" pitchFamily="34" charset="-120"/>
                        </a:rPr>
                        <a:t>ds_raw.EOSDT</a:t>
                      </a:r>
                      <a:endParaRPr lang="en-US" sz="1150" dirty="0">
                        <a:latin typeface="Courier New" charset="0"/>
                        <a:ea typeface="Courier New" charset="0"/>
                        <a:cs typeface="Courier New"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c>
                  <a:txBody>
                    <a:bodyPr/>
                    <a:lstStyle/>
                    <a:p>
                      <a:pPr indent="0" marL="0">
                        <a:buNone/>
                      </a:pPr>
                      <a:r>
                        <a:rPr lang="en-US" sz="1150" i="1" dirty="0">
                          <a:solidFill>
                            <a:srgbClr val="F0B27A"/>
                          </a:solidFill>
                          <a:latin typeface="Calibri" pitchFamily="34" charset="0"/>
                          <a:ea typeface="Calibri" pitchFamily="34" charset="-122"/>
                          <a:cs typeface="Calibri" pitchFamily="34" charset="-120"/>
                        </a:rPr>
                        <a:t>From the Disposition form</a:t>
                      </a:r>
                      <a:endParaRPr lang="en-US" sz="1150" dirty="0">
                        <a:latin typeface="Calibri" charset="0"/>
                        <a:ea typeface="Calibri" charset="0"/>
                        <a:cs typeface="Calibri" charset="0"/>
                      </a:endParaRPr>
                    </a:p>
                  </a:txBody>
                  <a:tcPr marL="101600" marR="101600" marT="25400" marB="25400" anchor="ctr">
                    <a:lnL w="12700" cap="flat" cmpd="sng" algn="ctr">
                      <a:solidFill>
                        <a:srgbClr val="2A5566"/>
                      </a:solidFill>
                      <a:prstDash val="solid"/>
                      <a:round/>
                      <a:headEnd type="none" w="med" len="med"/>
                      <a:tailEnd type="none" w="med" len="med"/>
                    </a:lnL>
                    <a:lnR w="12700" cap="flat" cmpd="sng" algn="ctr">
                      <a:solidFill>
                        <a:srgbClr val="2A5566"/>
                      </a:solidFill>
                      <a:prstDash val="solid"/>
                      <a:round/>
                      <a:headEnd type="none" w="med" len="med"/>
                      <a:tailEnd type="none" w="med" len="med"/>
                    </a:lnR>
                    <a:lnT w="12700" cap="flat" cmpd="sng" algn="ctr">
                      <a:solidFill>
                        <a:srgbClr val="2A5566"/>
                      </a:solidFill>
                      <a:prstDash val="solid"/>
                      <a:round/>
                      <a:headEnd type="none" w="med" len="med"/>
                      <a:tailEnd type="none" w="med" len="med"/>
                    </a:lnT>
                    <a:lnB w="12700" cap="flat" cmpd="sng" algn="ctr">
                      <a:solidFill>
                        <a:srgbClr val="2A5566"/>
                      </a:solidFill>
                      <a:prstDash val="solid"/>
                      <a:round/>
                      <a:headEnd type="none" w="med" len="med"/>
                      <a:tailEnd type="none" w="med" len="med"/>
                    </a:lnB>
                    <a:solidFill>
                      <a:srgbClr val="16404F"/>
                    </a:solidFill>
                  </a:tcPr>
                </a:tc>
              </a:tr>
            </a:tbl>
          </a:graphicData>
        </a:graphic>
      </p:graphicFrame>
      <p:sp>
        <p:nvSpPr>
          <p:cNvPr id="5" name="Text 2"/>
          <p:cNvSpPr/>
          <p:nvPr/>
        </p:nvSpPr>
        <p:spPr>
          <a:xfrm>
            <a:off x="640080" y="5669280"/>
            <a:ext cx="10972800" cy="457200"/>
          </a:xfrm>
          <a:prstGeom prst="rect">
            <a:avLst/>
          </a:prstGeom>
          <a:noFill/>
          <a:ln/>
        </p:spPr>
        <p:txBody>
          <a:bodyPr wrap="square" lIns="0" tIns="0" rIns="0" bIns="0" rtlCol="0" anchor="ctr"/>
          <a:lstStyle/>
          <a:p>
            <a:pPr indent="0" marL="0">
              <a:buNone/>
            </a:pPr>
            <a:r>
              <a:rPr lang="en-US" sz="1400" i="1" dirty="0">
                <a:solidFill>
                  <a:srgbClr val="6FC8B4"/>
                </a:solidFill>
                <a:latin typeface="Calibri" pitchFamily="34" charset="0"/>
                <a:ea typeface="Calibri" pitchFamily="34" charset="-122"/>
                <a:cs typeface="Calibri" pitchFamily="34" charset="-120"/>
              </a:rPr>
              <a:t>Only two of the six come from the demographics form. Four are borrowed from other CRFs — which is why DM cannot be built in isolation.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THE TARGET</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One finished DM row</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11292840" cy="914400"/>
        </p:xfrm>
        <a:graphic>
          <a:graphicData uri="http://schemas.openxmlformats.org/drawingml/2006/table">
            <a:tbl>
              <a:tblPr/>
              <a:tblGrid>
                <a:gridCol w="1600200"/>
                <a:gridCol w="731520"/>
                <a:gridCol w="685800"/>
                <a:gridCol w="1143000"/>
                <a:gridCol w="1143000"/>
                <a:gridCol w="548640"/>
                <a:gridCol w="777240"/>
                <a:gridCol w="548640"/>
                <a:gridCol w="914400"/>
                <a:gridCol w="777240"/>
                <a:gridCol w="960120"/>
                <a:gridCol w="868680"/>
              </a:tblGrid>
              <a:tr h="457200">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USUBJID</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SUBJID</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SITEID</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RFSTDTC</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RFICDTC</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AGE</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AGEU</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SEX</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RACE</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ARMCD</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ARM</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c>
                  <a:txBody>
                    <a:bodyP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COUNTRY</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0F2E3D"/>
                    </a:solidFill>
                  </a:tcPr>
                </a:tc>
              </a:tr>
              <a:tr h="457200">
                <a:tc>
                  <a:txBody>
                    <a:bodyPr/>
                    <a:lstStyle/>
                    <a:p>
                      <a:pPr algn="ctr" indent="0" marL="0">
                        <a:buNone/>
                      </a:pPr>
                      <a:r>
                        <a:rPr lang="en-US" sz="950" dirty="0">
                          <a:solidFill>
                            <a:srgbClr val="0F2E3D"/>
                          </a:solidFill>
                          <a:latin typeface="Courier New" pitchFamily="34" charset="0"/>
                          <a:ea typeface="Courier New" pitchFamily="34" charset="-122"/>
                          <a:cs typeface="Courier New" pitchFamily="34" charset="-120"/>
                        </a:rPr>
                        <a:t>ABC-01-01-001</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50" dirty="0">
                          <a:solidFill>
                            <a:srgbClr val="0F2E3D"/>
                          </a:solidFill>
                          <a:latin typeface="Courier New" pitchFamily="34" charset="0"/>
                          <a:ea typeface="Courier New" pitchFamily="34" charset="-122"/>
                          <a:cs typeface="Courier New" pitchFamily="34" charset="-120"/>
                        </a:rPr>
                        <a:t>001</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50" dirty="0">
                          <a:solidFill>
                            <a:srgbClr val="0F2E3D"/>
                          </a:solidFill>
                          <a:latin typeface="Courier New" pitchFamily="34" charset="0"/>
                          <a:ea typeface="Courier New" pitchFamily="34" charset="-122"/>
                          <a:cs typeface="Courier New" pitchFamily="34" charset="-120"/>
                        </a:rPr>
                        <a:t>01</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50" dirty="0">
                          <a:solidFill>
                            <a:srgbClr val="0F2E3D"/>
                          </a:solidFill>
                          <a:latin typeface="Courier New" pitchFamily="34" charset="0"/>
                          <a:ea typeface="Courier New" pitchFamily="34" charset="-122"/>
                          <a:cs typeface="Courier New" pitchFamily="34" charset="-120"/>
                        </a:rPr>
                        <a:t>2024-03-01</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50" dirty="0">
                          <a:solidFill>
                            <a:srgbClr val="0F2E3D"/>
                          </a:solidFill>
                          <a:latin typeface="Courier New" pitchFamily="34" charset="0"/>
                          <a:ea typeface="Courier New" pitchFamily="34" charset="-122"/>
                          <a:cs typeface="Courier New" pitchFamily="34" charset="-120"/>
                        </a:rPr>
                        <a:t>2024-02-20</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50" dirty="0">
                          <a:solidFill>
                            <a:srgbClr val="0F2E3D"/>
                          </a:solidFill>
                          <a:latin typeface="Courier New" pitchFamily="34" charset="0"/>
                          <a:ea typeface="Courier New" pitchFamily="34" charset="-122"/>
                          <a:cs typeface="Courier New" pitchFamily="34" charset="-120"/>
                        </a:rPr>
                        <a:t>54</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50" dirty="0">
                          <a:solidFill>
                            <a:srgbClr val="0F2E3D"/>
                          </a:solidFill>
                          <a:latin typeface="Courier New" pitchFamily="34" charset="0"/>
                          <a:ea typeface="Courier New" pitchFamily="34" charset="-122"/>
                          <a:cs typeface="Courier New" pitchFamily="34" charset="-120"/>
                        </a:rPr>
                        <a:t>YEARS</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50" dirty="0">
                          <a:solidFill>
                            <a:srgbClr val="0F2E3D"/>
                          </a:solidFill>
                          <a:latin typeface="Courier New" pitchFamily="34" charset="0"/>
                          <a:ea typeface="Courier New" pitchFamily="34" charset="-122"/>
                          <a:cs typeface="Courier New" pitchFamily="34" charset="-120"/>
                        </a:rPr>
                        <a:t>F</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50" dirty="0">
                          <a:solidFill>
                            <a:srgbClr val="0F2E3D"/>
                          </a:solidFill>
                          <a:latin typeface="Courier New" pitchFamily="34" charset="0"/>
                          <a:ea typeface="Courier New" pitchFamily="34" charset="-122"/>
                          <a:cs typeface="Courier New" pitchFamily="34" charset="-120"/>
                        </a:rPr>
                        <a:t>WHITE</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50" dirty="0">
                          <a:solidFill>
                            <a:srgbClr val="0F2E3D"/>
                          </a:solidFill>
                          <a:latin typeface="Courier New" pitchFamily="34" charset="0"/>
                          <a:ea typeface="Courier New" pitchFamily="34" charset="-122"/>
                          <a:cs typeface="Courier New" pitchFamily="34" charset="-120"/>
                        </a:rPr>
                        <a:t>A</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50" dirty="0">
                          <a:solidFill>
                            <a:srgbClr val="0F2E3D"/>
                          </a:solidFill>
                          <a:latin typeface="Courier New" pitchFamily="34" charset="0"/>
                          <a:ea typeface="Courier New" pitchFamily="34" charset="-122"/>
                          <a:cs typeface="Courier New" pitchFamily="34" charset="-120"/>
                        </a:rPr>
                        <a:t>Drug A</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c>
                  <a:txBody>
                    <a:bodyPr/>
                    <a:lstStyle/>
                    <a:p>
                      <a:pPr algn="ctr" indent="0" marL="0">
                        <a:buNone/>
                      </a:pPr>
                      <a:r>
                        <a:rPr lang="en-US" sz="950" dirty="0">
                          <a:solidFill>
                            <a:srgbClr val="0F2E3D"/>
                          </a:solidFill>
                          <a:latin typeface="Courier New" pitchFamily="34" charset="0"/>
                          <a:ea typeface="Courier New" pitchFamily="34" charset="-122"/>
                          <a:cs typeface="Courier New" pitchFamily="34" charset="-120"/>
                        </a:rPr>
                        <a:t>USA</a:t>
                      </a:r>
                      <a:endParaRPr lang="en-US" sz="950" dirty="0">
                        <a:latin typeface="Courier New" charset="0"/>
                        <a:ea typeface="Courier New" charset="0"/>
                        <a:cs typeface="Courier New" charset="0"/>
                      </a:endParaRPr>
                    </a:p>
                  </a:txBody>
                  <a:tcPr marL="38100" marR="38100" marT="25400" marB="25400" anchor="ctr">
                    <a:lnL w="12700" cap="flat" cmpd="sng" algn="ctr">
                      <a:solidFill>
                        <a:srgbClr val="CFDEE1"/>
                      </a:solidFill>
                      <a:prstDash val="solid"/>
                      <a:round/>
                      <a:headEnd type="none" w="med" len="med"/>
                      <a:tailEnd type="none" w="med" len="med"/>
                    </a:lnL>
                    <a:lnR w="12700" cap="flat" cmpd="sng" algn="ctr">
                      <a:solidFill>
                        <a:srgbClr val="CFDEE1"/>
                      </a:solidFill>
                      <a:prstDash val="solid"/>
                      <a:round/>
                      <a:headEnd type="none" w="med" len="med"/>
                      <a:tailEnd type="none" w="med" len="med"/>
                    </a:lnR>
                    <a:lnT w="12700" cap="flat" cmpd="sng" algn="ctr">
                      <a:solidFill>
                        <a:srgbClr val="CFDEE1"/>
                      </a:solidFill>
                      <a:prstDash val="solid"/>
                      <a:round/>
                      <a:headEnd type="none" w="med" len="med"/>
                      <a:tailEnd type="none" w="med" len="med"/>
                    </a:lnT>
                    <a:lnB w="12700" cap="flat" cmpd="sng" algn="ctr">
                      <a:solidFill>
                        <a:srgbClr val="CFDEE1"/>
                      </a:solidFill>
                      <a:prstDash val="solid"/>
                      <a:round/>
                      <a:headEnd type="none" w="med" len="med"/>
                      <a:tailEnd type="none" w="med" len="med"/>
                    </a:lnB>
                    <a:solidFill>
                      <a:srgbClr val="F3F7F8"/>
                    </a:solidFill>
                  </a:tcPr>
                </a:tc>
              </a:tr>
            </a:tbl>
          </a:graphicData>
        </a:graphic>
      </p:graphicFrame>
      <p:sp>
        <p:nvSpPr>
          <p:cNvPr id="5" name="Text 2"/>
          <p:cNvSpPr/>
          <p:nvPr/>
        </p:nvSpPr>
        <p:spPr>
          <a:xfrm>
            <a:off x="457200" y="2606040"/>
            <a:ext cx="10972800" cy="274320"/>
          </a:xfrm>
          <a:prstGeom prst="rect">
            <a:avLst/>
          </a:prstGeom>
          <a:noFill/>
          <a:ln/>
        </p:spPr>
        <p:txBody>
          <a:bodyPr wrap="square" lIns="0" tIns="0" rIns="0" bIns="0" rtlCol="0" anchor="ctr"/>
          <a:lstStyle/>
          <a:p>
            <a:pPr indent="0" marL="0">
              <a:buNone/>
            </a:pPr>
            <a:r>
              <a:rPr lang="en-US" sz="1150" i="1" dirty="0">
                <a:solidFill>
                  <a:srgbClr val="5A7682"/>
                </a:solidFill>
                <a:latin typeface="Calibri" pitchFamily="34" charset="0"/>
                <a:ea typeface="Calibri" pitchFamily="34" charset="-122"/>
                <a:cs typeface="Calibri" pitchFamily="34" charset="-120"/>
              </a:rPr>
              <a:t>(23 variables in total — 12 shown)</a:t>
            </a:r>
            <a:endParaRPr lang="en-US" sz="1150" dirty="0"/>
          </a:p>
        </p:txBody>
      </p:sp>
      <p:sp>
        <p:nvSpPr>
          <p:cNvPr id="6" name="Shape 3"/>
          <p:cNvSpPr/>
          <p:nvPr/>
        </p:nvSpPr>
        <p:spPr>
          <a:xfrm>
            <a:off x="640080" y="3063240"/>
            <a:ext cx="10972800" cy="566928"/>
          </a:xfrm>
          <a:prstGeom prst="roundRect">
            <a:avLst>
              <a:gd name="adj" fmla="val 1451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7" name="Shape 4"/>
          <p:cNvSpPr/>
          <p:nvPr/>
        </p:nvSpPr>
        <p:spPr>
          <a:xfrm>
            <a:off x="822960" y="3182112"/>
            <a:ext cx="128016" cy="329184"/>
          </a:xfrm>
          <a:prstGeom prst="roundRect">
            <a:avLst>
              <a:gd name="adj" fmla="val 35714"/>
            </a:avLst>
          </a:prstGeom>
          <a:solidFill>
            <a:srgbClr val="0E7C86"/>
          </a:solidFill>
          <a:ln/>
        </p:spPr>
      </p:sp>
      <p:sp>
        <p:nvSpPr>
          <p:cNvPr id="8" name="Text 5"/>
          <p:cNvSpPr/>
          <p:nvPr/>
        </p:nvSpPr>
        <p:spPr>
          <a:xfrm>
            <a:off x="1143000" y="3136392"/>
            <a:ext cx="3291840" cy="411480"/>
          </a:xfrm>
          <a:prstGeom prst="rect">
            <a:avLst/>
          </a:prstGeom>
          <a:noFill/>
          <a:ln/>
        </p:spPr>
        <p:txBody>
          <a:bodyPr wrap="square" lIns="0" tIns="0" rIns="0" bIns="0" rtlCol="0" anchor="ctr"/>
          <a:lstStyle/>
          <a:p>
            <a:pPr indent="0" marL="0">
              <a:buNone/>
            </a:pPr>
            <a:r>
              <a:rPr lang="en-US" sz="1300" b="1" dirty="0">
                <a:solidFill>
                  <a:srgbClr val="0F2E3D"/>
                </a:solidFill>
                <a:latin typeface="Calibri" pitchFamily="34" charset="0"/>
                <a:ea typeface="Calibri" pitchFamily="34" charset="-122"/>
                <a:cs typeface="Calibri" pitchFamily="34" charset="-120"/>
              </a:rPr>
              <a:t>Copied as collected</a:t>
            </a:r>
            <a:endParaRPr lang="en-US" sz="1300" dirty="0"/>
          </a:p>
        </p:txBody>
      </p:sp>
      <p:sp>
        <p:nvSpPr>
          <p:cNvPr id="9" name="Text 6"/>
          <p:cNvSpPr/>
          <p:nvPr/>
        </p:nvSpPr>
        <p:spPr>
          <a:xfrm>
            <a:off x="4480560" y="3136392"/>
            <a:ext cx="6858000" cy="411480"/>
          </a:xfrm>
          <a:prstGeom prst="rect">
            <a:avLst/>
          </a:prstGeom>
          <a:noFill/>
          <a:ln/>
        </p:spPr>
        <p:txBody>
          <a:bodyPr wrap="square" lIns="0" tIns="0" rIns="0" bIns="0" rtlCol="0" anchor="ctr"/>
          <a:lstStyle/>
          <a:p>
            <a:pPr indent="0" marL="0">
              <a:buNone/>
            </a:pPr>
            <a:r>
              <a:rPr lang="en-US" sz="1150" dirty="0">
                <a:solidFill>
                  <a:srgbClr val="5A7682"/>
                </a:solidFill>
                <a:latin typeface="Courier New" pitchFamily="34" charset="0"/>
                <a:ea typeface="Courier New" pitchFamily="34" charset="-122"/>
                <a:cs typeface="Courier New" pitchFamily="34" charset="-120"/>
              </a:rPr>
              <a:t>SUBJID · SITEID · ARM · COUNTRY</a:t>
            </a:r>
            <a:endParaRPr lang="en-US" sz="1150" dirty="0"/>
          </a:p>
        </p:txBody>
      </p:sp>
      <p:sp>
        <p:nvSpPr>
          <p:cNvPr id="10" name="Shape 7"/>
          <p:cNvSpPr/>
          <p:nvPr/>
        </p:nvSpPr>
        <p:spPr>
          <a:xfrm>
            <a:off x="640080" y="3703320"/>
            <a:ext cx="10972800" cy="566928"/>
          </a:xfrm>
          <a:prstGeom prst="roundRect">
            <a:avLst>
              <a:gd name="adj" fmla="val 1451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1" name="Shape 8"/>
          <p:cNvSpPr/>
          <p:nvPr/>
        </p:nvSpPr>
        <p:spPr>
          <a:xfrm>
            <a:off x="822960" y="3822192"/>
            <a:ext cx="128016" cy="329184"/>
          </a:xfrm>
          <a:prstGeom prst="roundRect">
            <a:avLst>
              <a:gd name="adj" fmla="val 35714"/>
            </a:avLst>
          </a:prstGeom>
          <a:solidFill>
            <a:srgbClr val="E8833A"/>
          </a:solidFill>
          <a:ln/>
        </p:spPr>
      </p:sp>
      <p:sp>
        <p:nvSpPr>
          <p:cNvPr id="12" name="Text 9"/>
          <p:cNvSpPr/>
          <p:nvPr/>
        </p:nvSpPr>
        <p:spPr>
          <a:xfrm>
            <a:off x="1143000" y="3776472"/>
            <a:ext cx="3291840" cy="411480"/>
          </a:xfrm>
          <a:prstGeom prst="rect">
            <a:avLst/>
          </a:prstGeom>
          <a:noFill/>
          <a:ln/>
        </p:spPr>
        <p:txBody>
          <a:bodyPr wrap="square" lIns="0" tIns="0" rIns="0" bIns="0" rtlCol="0" anchor="ctr"/>
          <a:lstStyle/>
          <a:p>
            <a:pPr indent="0" marL="0">
              <a:buNone/>
            </a:pPr>
            <a:r>
              <a:rPr lang="en-US" sz="1300" b="1" dirty="0">
                <a:solidFill>
                  <a:srgbClr val="0F2E3D"/>
                </a:solidFill>
                <a:latin typeface="Calibri" pitchFamily="34" charset="0"/>
                <a:ea typeface="Calibri" pitchFamily="34" charset="-122"/>
                <a:cs typeface="Calibri" pitchFamily="34" charset="-120"/>
              </a:rPr>
              <a:t>Derived</a:t>
            </a:r>
            <a:endParaRPr lang="en-US" sz="1300" dirty="0"/>
          </a:p>
        </p:txBody>
      </p:sp>
      <p:sp>
        <p:nvSpPr>
          <p:cNvPr id="13" name="Text 10"/>
          <p:cNvSpPr/>
          <p:nvPr/>
        </p:nvSpPr>
        <p:spPr>
          <a:xfrm>
            <a:off x="4480560" y="3776472"/>
            <a:ext cx="6858000" cy="411480"/>
          </a:xfrm>
          <a:prstGeom prst="rect">
            <a:avLst/>
          </a:prstGeom>
          <a:noFill/>
          <a:ln/>
        </p:spPr>
        <p:txBody>
          <a:bodyPr wrap="square" lIns="0" tIns="0" rIns="0" bIns="0" rtlCol="0" anchor="ctr"/>
          <a:lstStyle/>
          <a:p>
            <a:pPr indent="0" marL="0">
              <a:buNone/>
            </a:pPr>
            <a:r>
              <a:rPr lang="en-US" sz="1150" dirty="0">
                <a:solidFill>
                  <a:srgbClr val="5A7682"/>
                </a:solidFill>
                <a:latin typeface="Courier New" pitchFamily="34" charset="0"/>
                <a:ea typeface="Courier New" pitchFamily="34" charset="-122"/>
                <a:cs typeface="Courier New" pitchFamily="34" charset="-120"/>
              </a:rPr>
              <a:t>USUBJID · AGE · ARMCD · ACTARMCD</a:t>
            </a:r>
            <a:endParaRPr lang="en-US" sz="1150" dirty="0"/>
          </a:p>
        </p:txBody>
      </p:sp>
      <p:sp>
        <p:nvSpPr>
          <p:cNvPr id="14" name="Shape 11"/>
          <p:cNvSpPr/>
          <p:nvPr/>
        </p:nvSpPr>
        <p:spPr>
          <a:xfrm>
            <a:off x="640080" y="4343400"/>
            <a:ext cx="10972800" cy="566928"/>
          </a:xfrm>
          <a:prstGeom prst="roundRect">
            <a:avLst>
              <a:gd name="adj" fmla="val 1451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5" name="Shape 12"/>
          <p:cNvSpPr/>
          <p:nvPr/>
        </p:nvSpPr>
        <p:spPr>
          <a:xfrm>
            <a:off x="822960" y="4462272"/>
            <a:ext cx="128016" cy="329184"/>
          </a:xfrm>
          <a:prstGeom prst="roundRect">
            <a:avLst>
              <a:gd name="adj" fmla="val 35714"/>
            </a:avLst>
          </a:prstGeom>
          <a:solidFill>
            <a:srgbClr val="1FA8A0"/>
          </a:solidFill>
          <a:ln/>
        </p:spPr>
      </p:sp>
      <p:sp>
        <p:nvSpPr>
          <p:cNvPr id="16" name="Text 13"/>
          <p:cNvSpPr/>
          <p:nvPr/>
        </p:nvSpPr>
        <p:spPr>
          <a:xfrm>
            <a:off x="1143000" y="4416552"/>
            <a:ext cx="3291840" cy="411480"/>
          </a:xfrm>
          <a:prstGeom prst="rect">
            <a:avLst/>
          </a:prstGeom>
          <a:noFill/>
          <a:ln/>
        </p:spPr>
        <p:txBody>
          <a:bodyPr wrap="square" lIns="0" tIns="0" rIns="0" bIns="0" rtlCol="0" anchor="ctr"/>
          <a:lstStyle/>
          <a:p>
            <a:pPr indent="0" marL="0">
              <a:buNone/>
            </a:pPr>
            <a:r>
              <a:rPr lang="en-US" sz="1300" b="1" dirty="0">
                <a:solidFill>
                  <a:srgbClr val="0F2E3D"/>
                </a:solidFill>
                <a:latin typeface="Calibri" pitchFamily="34" charset="0"/>
                <a:ea typeface="Calibri" pitchFamily="34" charset="-122"/>
                <a:cs typeface="Calibri" pitchFamily="34" charset="-120"/>
              </a:rPr>
              <a:t>Assigned</a:t>
            </a:r>
            <a:endParaRPr lang="en-US" sz="1300" dirty="0"/>
          </a:p>
        </p:txBody>
      </p:sp>
      <p:sp>
        <p:nvSpPr>
          <p:cNvPr id="17" name="Text 14"/>
          <p:cNvSpPr/>
          <p:nvPr/>
        </p:nvSpPr>
        <p:spPr>
          <a:xfrm>
            <a:off x="4480560" y="4416552"/>
            <a:ext cx="6858000" cy="411480"/>
          </a:xfrm>
          <a:prstGeom prst="rect">
            <a:avLst/>
          </a:prstGeom>
          <a:noFill/>
          <a:ln/>
        </p:spPr>
        <p:txBody>
          <a:bodyPr wrap="square" lIns="0" tIns="0" rIns="0" bIns="0" rtlCol="0" anchor="ctr"/>
          <a:lstStyle/>
          <a:p>
            <a:pPr indent="0" marL="0">
              <a:buNone/>
            </a:pPr>
            <a:r>
              <a:rPr lang="en-US" sz="1150" dirty="0">
                <a:solidFill>
                  <a:srgbClr val="5A7682"/>
                </a:solidFill>
                <a:latin typeface="Courier New" pitchFamily="34" charset="0"/>
                <a:ea typeface="Courier New" pitchFamily="34" charset="-122"/>
                <a:cs typeface="Courier New" pitchFamily="34" charset="-120"/>
              </a:rPr>
              <a:t>STUDYID · DOMAIN · AGEU</a:t>
            </a:r>
            <a:endParaRPr lang="en-US" sz="1150" dirty="0"/>
          </a:p>
        </p:txBody>
      </p:sp>
      <p:sp>
        <p:nvSpPr>
          <p:cNvPr id="18" name="Shape 15"/>
          <p:cNvSpPr/>
          <p:nvPr/>
        </p:nvSpPr>
        <p:spPr>
          <a:xfrm>
            <a:off x="640080" y="4983480"/>
            <a:ext cx="10972800" cy="566928"/>
          </a:xfrm>
          <a:prstGeom prst="roundRect">
            <a:avLst>
              <a:gd name="adj" fmla="val 14516"/>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9" name="Shape 16"/>
          <p:cNvSpPr/>
          <p:nvPr/>
        </p:nvSpPr>
        <p:spPr>
          <a:xfrm>
            <a:off x="822960" y="5102352"/>
            <a:ext cx="128016" cy="329184"/>
          </a:xfrm>
          <a:prstGeom prst="roundRect">
            <a:avLst>
              <a:gd name="adj" fmla="val 35714"/>
            </a:avLst>
          </a:prstGeom>
          <a:solidFill>
            <a:srgbClr val="0F2E3D"/>
          </a:solidFill>
          <a:ln/>
        </p:spPr>
      </p:sp>
      <p:sp>
        <p:nvSpPr>
          <p:cNvPr id="20" name="Text 17"/>
          <p:cNvSpPr/>
          <p:nvPr/>
        </p:nvSpPr>
        <p:spPr>
          <a:xfrm>
            <a:off x="1143000" y="5056632"/>
            <a:ext cx="3291840" cy="411480"/>
          </a:xfrm>
          <a:prstGeom prst="rect">
            <a:avLst/>
          </a:prstGeom>
          <a:noFill/>
          <a:ln/>
        </p:spPr>
        <p:txBody>
          <a:bodyPr wrap="square" lIns="0" tIns="0" rIns="0" bIns="0" rtlCol="0" anchor="ctr"/>
          <a:lstStyle/>
          <a:p>
            <a:pPr indent="0" marL="0">
              <a:buNone/>
            </a:pPr>
            <a:r>
              <a:rPr lang="en-US" sz="1300" b="1" dirty="0">
                <a:solidFill>
                  <a:srgbClr val="0F2E3D"/>
                </a:solidFill>
                <a:latin typeface="Calibri" pitchFamily="34" charset="0"/>
                <a:ea typeface="Calibri" pitchFamily="34" charset="-122"/>
                <a:cs typeface="Calibri" pitchFamily="34" charset="-120"/>
              </a:rPr>
              <a:t>Mapped to CT</a:t>
            </a:r>
            <a:endParaRPr lang="en-US" sz="1300" dirty="0"/>
          </a:p>
        </p:txBody>
      </p:sp>
      <p:sp>
        <p:nvSpPr>
          <p:cNvPr id="21" name="Text 18"/>
          <p:cNvSpPr/>
          <p:nvPr/>
        </p:nvSpPr>
        <p:spPr>
          <a:xfrm>
            <a:off x="4480560" y="5056632"/>
            <a:ext cx="6858000" cy="411480"/>
          </a:xfrm>
          <a:prstGeom prst="rect">
            <a:avLst/>
          </a:prstGeom>
          <a:noFill/>
          <a:ln/>
        </p:spPr>
        <p:txBody>
          <a:bodyPr wrap="square" lIns="0" tIns="0" rIns="0" bIns="0" rtlCol="0" anchor="ctr"/>
          <a:lstStyle/>
          <a:p>
            <a:pPr indent="0" marL="0">
              <a:buNone/>
            </a:pPr>
            <a:r>
              <a:rPr lang="en-US" sz="1150" dirty="0">
                <a:solidFill>
                  <a:srgbClr val="5A7682"/>
                </a:solidFill>
                <a:latin typeface="Courier New" pitchFamily="34" charset="0"/>
                <a:ea typeface="Courier New" pitchFamily="34" charset="-122"/>
                <a:cs typeface="Courier New" pitchFamily="34" charset="-120"/>
              </a:rPr>
              <a:t>SEX · RACE · ETHNIC</a:t>
            </a:r>
            <a:endParaRPr lang="en-US" sz="1150" dirty="0"/>
          </a:p>
        </p:txBody>
      </p:sp>
      <p:sp>
        <p:nvSpPr>
          <p:cNvPr id="22" name="Shape 19"/>
          <p:cNvSpPr/>
          <p:nvPr/>
        </p:nvSpPr>
        <p:spPr>
          <a:xfrm>
            <a:off x="640080" y="5623560"/>
            <a:ext cx="10972800" cy="566928"/>
          </a:xfrm>
          <a:prstGeom prst="roundRect">
            <a:avLst>
              <a:gd name="adj" fmla="val 14516"/>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3" name="Shape 20"/>
          <p:cNvSpPr/>
          <p:nvPr/>
        </p:nvSpPr>
        <p:spPr>
          <a:xfrm>
            <a:off x="822960" y="5742432"/>
            <a:ext cx="128016" cy="329184"/>
          </a:xfrm>
          <a:prstGeom prst="roundRect">
            <a:avLst>
              <a:gd name="adj" fmla="val 35714"/>
            </a:avLst>
          </a:prstGeom>
          <a:solidFill>
            <a:srgbClr val="6FC8B4"/>
          </a:solidFill>
          <a:ln/>
        </p:spPr>
      </p:sp>
      <p:sp>
        <p:nvSpPr>
          <p:cNvPr id="24" name="Text 21"/>
          <p:cNvSpPr/>
          <p:nvPr/>
        </p:nvSpPr>
        <p:spPr>
          <a:xfrm>
            <a:off x="1143000" y="5696712"/>
            <a:ext cx="3291840" cy="411480"/>
          </a:xfrm>
          <a:prstGeom prst="rect">
            <a:avLst/>
          </a:prstGeom>
          <a:noFill/>
          <a:ln/>
        </p:spPr>
        <p:txBody>
          <a:bodyPr wrap="square" lIns="0" tIns="0" rIns="0" bIns="0" rtlCol="0" anchor="ctr"/>
          <a:lstStyle/>
          <a:p>
            <a:pPr indent="0" marL="0">
              <a:buNone/>
            </a:pPr>
            <a:r>
              <a:rPr lang="en-US" sz="1300" b="1" dirty="0">
                <a:solidFill>
                  <a:srgbClr val="0F2E3D"/>
                </a:solidFill>
                <a:latin typeface="Calibri" pitchFamily="34" charset="0"/>
                <a:ea typeface="Calibri" pitchFamily="34" charset="-122"/>
                <a:cs typeface="Calibri" pitchFamily="34" charset="-120"/>
              </a:rPr>
              <a:t>Borrowed from another form</a:t>
            </a:r>
            <a:endParaRPr lang="en-US" sz="1300" dirty="0"/>
          </a:p>
        </p:txBody>
      </p:sp>
      <p:sp>
        <p:nvSpPr>
          <p:cNvPr id="25" name="Text 22"/>
          <p:cNvSpPr/>
          <p:nvPr/>
        </p:nvSpPr>
        <p:spPr>
          <a:xfrm>
            <a:off x="4480560" y="5696712"/>
            <a:ext cx="6858000" cy="411480"/>
          </a:xfrm>
          <a:prstGeom prst="rect">
            <a:avLst/>
          </a:prstGeom>
          <a:noFill/>
          <a:ln/>
        </p:spPr>
        <p:txBody>
          <a:bodyPr wrap="square" lIns="0" tIns="0" rIns="0" bIns="0" rtlCol="0" anchor="ctr"/>
          <a:lstStyle/>
          <a:p>
            <a:pPr indent="0" marL="0">
              <a:buNone/>
            </a:pPr>
            <a:r>
              <a:rPr lang="en-US" sz="1150" dirty="0">
                <a:solidFill>
                  <a:srgbClr val="5A7682"/>
                </a:solidFill>
                <a:latin typeface="Courier New" pitchFamily="34" charset="0"/>
                <a:ea typeface="Courier New" pitchFamily="34" charset="-122"/>
                <a:cs typeface="Courier New" pitchFamily="34" charset="-120"/>
              </a:rPr>
              <a:t>RFSTDTC · RFENDTC · RFXSTDTC · RFXENDTC · RFPENDTC</a:t>
            </a:r>
            <a:endParaRPr lang="en-US" sz="1150" dirty="0"/>
          </a:p>
        </p:txBody>
      </p:sp>
      <p:sp>
        <p:nvSpPr>
          <p:cNvPr id="26" name="Text 23"/>
          <p:cNvSpPr/>
          <p:nvPr/>
        </p:nvSpPr>
        <p:spPr>
          <a:xfrm>
            <a:off x="640080" y="6355080"/>
            <a:ext cx="10972800" cy="365760"/>
          </a:xfrm>
          <a:prstGeom prst="rect">
            <a:avLst/>
          </a:prstGeom>
          <a:noFill/>
          <a:ln/>
        </p:spPr>
        <p:txBody>
          <a:bodyPr wrap="square" lIns="0" tIns="0" rIns="0" bIns="0" rtlCol="0" anchor="ctr"/>
          <a:lstStyle/>
          <a:p>
            <a:pPr indent="0" marL="0">
              <a:buNone/>
            </a:pPr>
            <a:r>
              <a:rPr lang="en-US" sz="1300" i="1" dirty="0">
                <a:solidFill>
                  <a:srgbClr val="0E7C86"/>
                </a:solidFill>
                <a:latin typeface="Calibri" pitchFamily="34" charset="0"/>
                <a:ea typeface="Calibri" pitchFamily="34" charset="-122"/>
                <a:cs typeface="Calibri" pitchFamily="34" charset="-120"/>
              </a:rPr>
              <a:t>Every DM variable is one of these five kinds. Classify each one before you write any code — that IS the mapping specification.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10972800" cy="274320"/>
          </a:xfrm>
          <a:prstGeom prst="rect">
            <a:avLst/>
          </a:prstGeom>
          <a:noFill/>
          <a:ln/>
        </p:spPr>
        <p:txBody>
          <a:bodyPr wrap="square" lIns="0" tIns="0" rIns="0" bIns="0" rtlCol="0" anchor="ctr"/>
          <a:lstStyle/>
          <a:p>
            <a:pPr indent="0" marL="0">
              <a:buNone/>
            </a:pPr>
            <a:r>
              <a:rPr lang="en-US" sz="1200" b="1" spc="200" kern="0" dirty="0">
                <a:solidFill>
                  <a:srgbClr val="0E7C86"/>
                </a:solidFill>
                <a:latin typeface="Calibri" pitchFamily="34" charset="0"/>
                <a:ea typeface="Calibri" pitchFamily="34" charset="-122"/>
                <a:cs typeface="Calibri" pitchFamily="34" charset="-120"/>
              </a:rPr>
              <a:t>LEARN FROM THESE</a:t>
            </a:r>
            <a:endParaRPr lang="en-US" sz="1200" dirty="0"/>
          </a:p>
        </p:txBody>
      </p:sp>
      <p:sp>
        <p:nvSpPr>
          <p:cNvPr id="3" name="Text 1"/>
          <p:cNvSpPr/>
          <p:nvPr/>
        </p:nvSpPr>
        <p:spPr>
          <a:xfrm>
            <a:off x="548640" y="658368"/>
            <a:ext cx="11064240" cy="731520"/>
          </a:xfrm>
          <a:prstGeom prst="rect">
            <a:avLst/>
          </a:prstGeom>
          <a:noFill/>
          <a:ln/>
        </p:spPr>
        <p:txBody>
          <a:bodyPr wrap="square" lIns="0" tIns="0" rIns="0" bIns="0" rtlCol="0" anchor="ctr"/>
          <a:lstStyle/>
          <a:p>
            <a:pPr indent="0" marL="0">
              <a:buNone/>
            </a:pPr>
            <a:r>
              <a:rPr lang="en-US" sz="3000" b="1" dirty="0">
                <a:solidFill>
                  <a:srgbClr val="0F2E3D"/>
                </a:solidFill>
                <a:latin typeface="Cambria" pitchFamily="34" charset="0"/>
                <a:ea typeface="Cambria" pitchFamily="34" charset="-122"/>
                <a:cs typeface="Cambria" pitchFamily="34" charset="-120"/>
              </a:rPr>
              <a:t>Common DM mistakes</a:t>
            </a:r>
            <a:endParaRPr lang="en-US" sz="3000" dirty="0"/>
          </a:p>
        </p:txBody>
      </p:sp>
      <p:sp>
        <p:nvSpPr>
          <p:cNvPr id="4" name="Shape 2"/>
          <p:cNvSpPr/>
          <p:nvPr/>
        </p:nvSpPr>
        <p:spPr>
          <a:xfrm>
            <a:off x="640080" y="1691640"/>
            <a:ext cx="539496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5" name="Shape 3"/>
          <p:cNvSpPr/>
          <p:nvPr/>
        </p:nvSpPr>
        <p:spPr>
          <a:xfrm>
            <a:off x="868680" y="2075688"/>
            <a:ext cx="548640" cy="548640"/>
          </a:xfrm>
          <a:prstGeom prst="ellipse">
            <a:avLst/>
          </a:prstGeom>
          <a:solidFill>
            <a:srgbClr val="E8833A"/>
          </a:solidFill>
          <a:ln/>
        </p:spPr>
      </p:sp>
      <p:sp>
        <p:nvSpPr>
          <p:cNvPr id="6" name="Text 4"/>
          <p:cNvSpPr/>
          <p:nvPr/>
        </p:nvSpPr>
        <p:spPr>
          <a:xfrm>
            <a:off x="868680" y="207568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1600200" y="185623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Adding a DMSEQ
</a:t>
            </a:r>
            <a:pPr indent="0" marL="0">
              <a:buNone/>
            </a:pPr>
            <a:r>
              <a:rPr lang="en-US" sz="1180" dirty="0">
                <a:solidFill>
                  <a:srgbClr val="5A7682"/>
                </a:solidFill>
                <a:latin typeface="Calibri" pitchFamily="34" charset="0"/>
                <a:ea typeface="Calibri" pitchFamily="34" charset="-122"/>
                <a:cs typeface="Calibri" pitchFamily="34" charset="-120"/>
              </a:rPr>
              <a:t>DM has no sequence variable — one row per subject means nothing to sequence.</a:t>
            </a:r>
            <a:endParaRPr lang="en-US" sz="1400" dirty="0"/>
          </a:p>
        </p:txBody>
      </p:sp>
      <p:sp>
        <p:nvSpPr>
          <p:cNvPr id="8" name="Shape 6"/>
          <p:cNvSpPr/>
          <p:nvPr/>
        </p:nvSpPr>
        <p:spPr>
          <a:xfrm>
            <a:off x="6217920" y="1691640"/>
            <a:ext cx="5394960" cy="1325880"/>
          </a:xfrm>
          <a:prstGeom prst="roundRect">
            <a:avLst>
              <a:gd name="adj" fmla="val 620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9" name="Shape 7"/>
          <p:cNvSpPr/>
          <p:nvPr/>
        </p:nvSpPr>
        <p:spPr>
          <a:xfrm>
            <a:off x="6446520" y="2075688"/>
            <a:ext cx="548640" cy="548640"/>
          </a:xfrm>
          <a:prstGeom prst="ellipse">
            <a:avLst/>
          </a:prstGeom>
          <a:solidFill>
            <a:srgbClr val="E8833A"/>
          </a:solidFill>
          <a:ln/>
        </p:spPr>
      </p:sp>
      <p:sp>
        <p:nvSpPr>
          <p:cNvPr id="10" name="Text 8"/>
          <p:cNvSpPr/>
          <p:nvPr/>
        </p:nvSpPr>
        <p:spPr>
          <a:xfrm>
            <a:off x="6446520" y="207568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7178040" y="185623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USUBJID from SUBJID alone
</a:t>
            </a:r>
            <a:pPr indent="0" marL="0">
              <a:buNone/>
            </a:pPr>
            <a:r>
              <a:rPr lang="en-US" sz="1180" dirty="0">
                <a:solidFill>
                  <a:srgbClr val="5A7682"/>
                </a:solidFill>
                <a:latin typeface="Calibri" pitchFamily="34" charset="0"/>
                <a:ea typeface="Calibri" pitchFamily="34" charset="-122"/>
                <a:cs typeface="Calibri" pitchFamily="34" charset="-120"/>
              </a:rPr>
              <a:t>Not unique across sites. Two subject 001s become one person.</a:t>
            </a:r>
            <a:endParaRPr lang="en-US" sz="1400" dirty="0"/>
          </a:p>
        </p:txBody>
      </p:sp>
      <p:sp>
        <p:nvSpPr>
          <p:cNvPr id="12" name="Shape 10"/>
          <p:cNvSpPr/>
          <p:nvPr/>
        </p:nvSpPr>
        <p:spPr>
          <a:xfrm>
            <a:off x="640080" y="3154680"/>
            <a:ext cx="539496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3" name="Shape 11"/>
          <p:cNvSpPr/>
          <p:nvPr/>
        </p:nvSpPr>
        <p:spPr>
          <a:xfrm>
            <a:off x="868680" y="3538728"/>
            <a:ext cx="548640" cy="548640"/>
          </a:xfrm>
          <a:prstGeom prst="ellipse">
            <a:avLst/>
          </a:prstGeom>
          <a:solidFill>
            <a:srgbClr val="E8833A"/>
          </a:solidFill>
          <a:ln/>
        </p:spPr>
      </p:sp>
      <p:sp>
        <p:nvSpPr>
          <p:cNvPr id="14" name="Text 12"/>
          <p:cNvSpPr/>
          <p:nvPr/>
        </p:nvSpPr>
        <p:spPr>
          <a:xfrm>
            <a:off x="868680" y="353872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1600200" y="331927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Simple year subtraction for AGE
</a:t>
            </a:r>
            <a:pPr indent="0" marL="0">
              <a:buNone/>
            </a:pPr>
            <a:r>
              <a:rPr lang="en-US" sz="1180" dirty="0">
                <a:solidFill>
                  <a:srgbClr val="5A7682"/>
                </a:solidFill>
                <a:latin typeface="Calibri" pitchFamily="34" charset="0"/>
                <a:ea typeface="Calibri" pitchFamily="34" charset="-122"/>
                <a:cs typeface="Calibri" pitchFamily="34" charset="-120"/>
              </a:rPr>
              <a:t>Gives 55 instead of 54. Check whether the birthday has occurred.</a:t>
            </a:r>
            <a:endParaRPr lang="en-US" sz="1400" dirty="0"/>
          </a:p>
        </p:txBody>
      </p:sp>
      <p:sp>
        <p:nvSpPr>
          <p:cNvPr id="16" name="Shape 14"/>
          <p:cNvSpPr/>
          <p:nvPr/>
        </p:nvSpPr>
        <p:spPr>
          <a:xfrm>
            <a:off x="6217920" y="3154680"/>
            <a:ext cx="5394960" cy="1325880"/>
          </a:xfrm>
          <a:prstGeom prst="roundRect">
            <a:avLst>
              <a:gd name="adj" fmla="val 620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17" name="Shape 15"/>
          <p:cNvSpPr/>
          <p:nvPr/>
        </p:nvSpPr>
        <p:spPr>
          <a:xfrm>
            <a:off x="6446520" y="3538728"/>
            <a:ext cx="548640" cy="548640"/>
          </a:xfrm>
          <a:prstGeom prst="ellipse">
            <a:avLst/>
          </a:prstGeom>
          <a:solidFill>
            <a:srgbClr val="E8833A"/>
          </a:solidFill>
          <a:ln/>
        </p:spPr>
      </p:sp>
      <p:sp>
        <p:nvSpPr>
          <p:cNvPr id="18" name="Text 16"/>
          <p:cNvSpPr/>
          <p:nvPr/>
        </p:nvSpPr>
        <p:spPr>
          <a:xfrm>
            <a:off x="6446520" y="353872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7178040" y="331927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Blank RFSTDTC
</a:t>
            </a:r>
            <a:pPr indent="0" marL="0">
              <a:buNone/>
            </a:pPr>
            <a:r>
              <a:rPr lang="en-US" sz="1180" dirty="0">
                <a:solidFill>
                  <a:srgbClr val="5A7682"/>
                </a:solidFill>
                <a:latin typeface="Calibri" pitchFamily="34" charset="0"/>
                <a:ea typeface="Calibri" pitchFamily="34" charset="-122"/>
                <a:cs typeface="Calibri" pitchFamily="34" charset="-120"/>
              </a:rPr>
              <a:t>You forgot to join EX. Every downstream --DY will be wrong or missing.</a:t>
            </a:r>
            <a:endParaRPr lang="en-US" sz="1400" dirty="0"/>
          </a:p>
        </p:txBody>
      </p:sp>
      <p:sp>
        <p:nvSpPr>
          <p:cNvPr id="20" name="Shape 18"/>
          <p:cNvSpPr/>
          <p:nvPr/>
        </p:nvSpPr>
        <p:spPr>
          <a:xfrm>
            <a:off x="640080" y="4617720"/>
            <a:ext cx="5394960" cy="1325880"/>
          </a:xfrm>
          <a:prstGeom prst="roundRect">
            <a:avLst>
              <a:gd name="adj" fmla="val 6207"/>
            </a:avLst>
          </a:prstGeom>
          <a:solidFill>
            <a:srgbClr val="F3F7F8"/>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1" name="Shape 19"/>
          <p:cNvSpPr/>
          <p:nvPr/>
        </p:nvSpPr>
        <p:spPr>
          <a:xfrm>
            <a:off x="868680" y="5001768"/>
            <a:ext cx="548640" cy="548640"/>
          </a:xfrm>
          <a:prstGeom prst="ellipse">
            <a:avLst/>
          </a:prstGeom>
          <a:solidFill>
            <a:srgbClr val="E8833A"/>
          </a:solidFill>
          <a:ln/>
        </p:spPr>
      </p:sp>
      <p:sp>
        <p:nvSpPr>
          <p:cNvPr id="22" name="Text 20"/>
          <p:cNvSpPr/>
          <p:nvPr/>
        </p:nvSpPr>
        <p:spPr>
          <a:xfrm>
            <a:off x="868680" y="500176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1600200" y="478231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Omitting ACTARM / ACTARMCD
</a:t>
            </a:r>
            <a:pPr indent="0" marL="0">
              <a:buNone/>
            </a:pPr>
            <a:r>
              <a:rPr lang="en-US" sz="1180" dirty="0">
                <a:solidFill>
                  <a:srgbClr val="5A7682"/>
                </a:solidFill>
                <a:latin typeface="Calibri" pitchFamily="34" charset="0"/>
                <a:ea typeface="Calibri" pitchFamily="34" charset="-122"/>
                <a:cs typeface="Calibri" pitchFamily="34" charset="-120"/>
              </a:rPr>
              <a:t>Both are Required in SDTMIG v3.3, even when they equal ARM.</a:t>
            </a:r>
            <a:endParaRPr lang="en-US" sz="1400" dirty="0"/>
          </a:p>
        </p:txBody>
      </p:sp>
      <p:sp>
        <p:nvSpPr>
          <p:cNvPr id="24" name="Shape 22"/>
          <p:cNvSpPr/>
          <p:nvPr/>
        </p:nvSpPr>
        <p:spPr>
          <a:xfrm>
            <a:off x="6217920" y="4617720"/>
            <a:ext cx="5394960" cy="1325880"/>
          </a:xfrm>
          <a:prstGeom prst="roundRect">
            <a:avLst>
              <a:gd name="adj" fmla="val 6207"/>
            </a:avLst>
          </a:prstGeom>
          <a:solidFill>
            <a:srgbClr val="FFFFFF"/>
          </a:solidFill>
          <a:ln w="12700">
            <a:solidFill>
              <a:srgbClr val="CFDEE1"/>
            </a:solidFill>
            <a:prstDash val="solid"/>
          </a:ln>
          <a:effectLst>
            <a:outerShdw sx="100000" sy="100000" kx="0" ky="0" algn="bl" rotWithShape="0" blurRad="101600" dist="38100" dir="5400000">
              <a:srgbClr val="8AA0A8">
                <a:alpha val="35000"/>
              </a:srgbClr>
            </a:outerShdw>
          </a:effectLst>
        </p:spPr>
      </p:sp>
      <p:sp>
        <p:nvSpPr>
          <p:cNvPr id="25" name="Shape 23"/>
          <p:cNvSpPr/>
          <p:nvPr/>
        </p:nvSpPr>
        <p:spPr>
          <a:xfrm>
            <a:off x="6446520" y="5001768"/>
            <a:ext cx="548640" cy="548640"/>
          </a:xfrm>
          <a:prstGeom prst="ellipse">
            <a:avLst/>
          </a:prstGeom>
          <a:solidFill>
            <a:srgbClr val="E8833A"/>
          </a:solidFill>
          <a:ln/>
        </p:spPr>
      </p:sp>
      <p:sp>
        <p:nvSpPr>
          <p:cNvPr id="26" name="Text 24"/>
          <p:cNvSpPr/>
          <p:nvPr/>
        </p:nvSpPr>
        <p:spPr>
          <a:xfrm>
            <a:off x="6446520" y="5001768"/>
            <a:ext cx="548640" cy="548640"/>
          </a:xfrm>
          <a:prstGeom prst="rect">
            <a:avLst/>
          </a:prstGeom>
          <a:noFill/>
          <a:ln/>
        </p:spPr>
        <p:txBody>
          <a:bodyPr wrap="square" lIns="0" tIns="0" rIns="0" bIns="0" rtlCol="0" anchor="ctr"/>
          <a:lstStyle/>
          <a:p>
            <a:pPr algn="ctr" indent="0" marL="0">
              <a:buNone/>
            </a:pPr>
            <a:r>
              <a:rPr lang="en-US" sz="1600" b="1" dirty="0">
                <a:solidFill>
                  <a:srgbClr val="0F2E3D"/>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7178040" y="4782312"/>
            <a:ext cx="4297680" cy="1005840"/>
          </a:xfrm>
          <a:prstGeom prst="rect">
            <a:avLst/>
          </a:prstGeom>
          <a:noFill/>
          <a:ln/>
        </p:spPr>
        <p:txBody>
          <a:bodyPr wrap="square" lIns="0" tIns="0" rIns="0" bIns="0" rtlCol="0" anchor="ctr"/>
          <a:lstStyle/>
          <a:p>
            <a:pPr indent="0" marL="0">
              <a:buNone/>
            </a:pPr>
            <a:r>
              <a:rPr lang="en-US" sz="1400" b="1" dirty="0">
                <a:solidFill>
                  <a:srgbClr val="0F2E3D"/>
                </a:solidFill>
                <a:latin typeface="Calibri" pitchFamily="34" charset="0"/>
                <a:ea typeface="Calibri" pitchFamily="34" charset="-122"/>
                <a:cs typeface="Calibri" pitchFamily="34" charset="-120"/>
              </a:rPr>
              <a:t>Looking for end-of-study in DM raw
</a:t>
            </a:r>
            <a:pPr indent="0" marL="0">
              <a:buNone/>
            </a:pPr>
            <a:r>
              <a:rPr lang="en-US" sz="1180" dirty="0">
                <a:solidFill>
                  <a:srgbClr val="5A7682"/>
                </a:solidFill>
                <a:latin typeface="Calibri" pitchFamily="34" charset="0"/>
                <a:ea typeface="Calibri" pitchFamily="34" charset="-122"/>
                <a:cs typeface="Calibri" pitchFamily="34" charset="-120"/>
              </a:rPr>
              <a:t>It is on the Disposition form — DM borrows RFPENDTC from it.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2E3D"/>
        </a:solidFill>
      </p:bgPr>
    </p:bg>
    <p:spTree>
      <p:nvGrpSpPr>
        <p:cNvPr id="1" name=""/>
        <p:cNvGrpSpPr/>
        <p:nvPr/>
      </p:nvGrpSpPr>
      <p:grpSpPr>
        <a:xfrm>
          <a:off x="0" y="0"/>
          <a:ext cx="0" cy="0"/>
          <a:chOff x="0" y="0"/>
          <a:chExt cx="0" cy="0"/>
        </a:xfrm>
      </p:grpSpPr>
      <p:sp>
        <p:nvSpPr>
          <p:cNvPr id="2" name="Shape 0"/>
          <p:cNvSpPr/>
          <p:nvPr/>
        </p:nvSpPr>
        <p:spPr>
          <a:xfrm>
            <a:off x="9326880" y="4206240"/>
            <a:ext cx="4572000" cy="4572000"/>
          </a:xfrm>
          <a:prstGeom prst="ellipse">
            <a:avLst/>
          </a:prstGeom>
          <a:solidFill>
            <a:srgbClr val="133B4C"/>
          </a:solidFill>
          <a:ln/>
        </p:spPr>
      </p:sp>
      <p:sp>
        <p:nvSpPr>
          <p:cNvPr id="3" name="Shape 1"/>
          <p:cNvSpPr/>
          <p:nvPr/>
        </p:nvSpPr>
        <p:spPr>
          <a:xfrm>
            <a:off x="10241280" y="5120640"/>
            <a:ext cx="2743200" cy="2743200"/>
          </a:xfrm>
          <a:prstGeom prst="ellipse">
            <a:avLst/>
          </a:prstGeom>
          <a:solidFill>
            <a:srgbClr val="0E7C86"/>
          </a:solidFill>
          <a:ln/>
        </p:spPr>
      </p:sp>
      <p:sp>
        <p:nvSpPr>
          <p:cNvPr id="4" name="Text 2"/>
          <p:cNvSpPr/>
          <p:nvPr/>
        </p:nvSpPr>
        <p:spPr>
          <a:xfrm>
            <a:off x="640080" y="1280160"/>
            <a:ext cx="10058400" cy="320040"/>
          </a:xfrm>
          <a:prstGeom prst="rect">
            <a:avLst/>
          </a:prstGeom>
          <a:noFill/>
          <a:ln/>
        </p:spPr>
        <p:txBody>
          <a:bodyPr wrap="square" lIns="0" tIns="0" rIns="0" bIns="0" rtlCol="0" anchor="ctr"/>
          <a:lstStyle/>
          <a:p>
            <a:pPr indent="0" marL="0">
              <a:buNone/>
            </a:pPr>
            <a:r>
              <a:rPr lang="en-US" sz="1300" b="1" spc="200" kern="0" dirty="0">
                <a:solidFill>
                  <a:srgbClr val="6FC8B4"/>
                </a:solidFill>
                <a:latin typeface="Calibri" pitchFamily="34" charset="0"/>
                <a:ea typeface="Calibri" pitchFamily="34" charset="-122"/>
                <a:cs typeface="Calibri" pitchFamily="34" charset="-120"/>
              </a:rPr>
              <a:t>WHAT'S NEXT</a:t>
            </a:r>
            <a:endParaRPr lang="en-US" sz="1300" dirty="0"/>
          </a:p>
        </p:txBody>
      </p:sp>
      <p:sp>
        <p:nvSpPr>
          <p:cNvPr id="5" name="Text 3"/>
          <p:cNvSpPr/>
          <p:nvPr/>
        </p:nvSpPr>
        <p:spPr>
          <a:xfrm>
            <a:off x="603504" y="1645920"/>
            <a:ext cx="105156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Map it by hand, then automate it</a:t>
            </a:r>
            <a:endParaRPr lang="en-US" sz="3200" dirty="0"/>
          </a:p>
        </p:txBody>
      </p:sp>
      <p:sp>
        <p:nvSpPr>
          <p:cNvPr id="6" name="Shape 4"/>
          <p:cNvSpPr/>
          <p:nvPr/>
        </p:nvSpPr>
        <p:spPr>
          <a:xfrm>
            <a:off x="640080" y="2743200"/>
            <a:ext cx="566928" cy="566928"/>
          </a:xfrm>
          <a:prstGeom prst="ellipse">
            <a:avLst/>
          </a:prstGeom>
          <a:solidFill>
            <a:srgbClr val="E8833A"/>
          </a:solidFill>
          <a:ln/>
        </p:spPr>
      </p:sp>
      <p:sp>
        <p:nvSpPr>
          <p:cNvPr id="7" name="Text 5"/>
          <p:cNvSpPr/>
          <p:nvPr/>
        </p:nvSpPr>
        <p:spPr>
          <a:xfrm>
            <a:off x="640080" y="2743200"/>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1</a:t>
            </a:r>
            <a:endParaRPr lang="en-US" sz="1700" dirty="0"/>
          </a:p>
        </p:txBody>
      </p:sp>
      <p:sp>
        <p:nvSpPr>
          <p:cNvPr id="8" name="Text 6"/>
          <p:cNvSpPr/>
          <p:nvPr/>
        </p:nvSpPr>
        <p:spPr>
          <a:xfrm>
            <a:off x="1417320" y="2724912"/>
            <a:ext cx="9875520" cy="7315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Step 1 · Excel   </a:t>
            </a:r>
            <a:pPr indent="0" marL="0">
              <a:buNone/>
            </a:pPr>
            <a:r>
              <a:rPr lang="en-US" sz="1350" dirty="0">
                <a:solidFill>
                  <a:srgbClr val="C7DCE0"/>
                </a:solidFill>
                <a:latin typeface="Calibri" pitchFamily="34" charset="0"/>
                <a:ea typeface="Calibri" pitchFamily="34" charset="-122"/>
                <a:cs typeface="Calibri" pitchFamily="34" charset="-120"/>
              </a:rPr>
              <a:t>Map all 8 subjects into DM by hand in the mapping workbook. No code — just the rules.</a:t>
            </a:r>
            <a:endParaRPr lang="en-US" sz="1700" dirty="0"/>
          </a:p>
        </p:txBody>
      </p:sp>
      <p:sp>
        <p:nvSpPr>
          <p:cNvPr id="9" name="Shape 7"/>
          <p:cNvSpPr/>
          <p:nvPr/>
        </p:nvSpPr>
        <p:spPr>
          <a:xfrm>
            <a:off x="640080" y="3703320"/>
            <a:ext cx="566928" cy="566928"/>
          </a:xfrm>
          <a:prstGeom prst="ellipse">
            <a:avLst/>
          </a:prstGeom>
          <a:solidFill>
            <a:srgbClr val="0E7C86"/>
          </a:solidFill>
          <a:ln/>
        </p:spPr>
      </p:sp>
      <p:sp>
        <p:nvSpPr>
          <p:cNvPr id="10" name="Text 8"/>
          <p:cNvSpPr/>
          <p:nvPr/>
        </p:nvSpPr>
        <p:spPr>
          <a:xfrm>
            <a:off x="640080" y="3703320"/>
            <a:ext cx="566928" cy="56692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1" name="Text 9"/>
          <p:cNvSpPr/>
          <p:nvPr/>
        </p:nvSpPr>
        <p:spPr>
          <a:xfrm>
            <a:off x="1417320" y="3685032"/>
            <a:ext cx="9875520" cy="7315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Step 2 · Notebook 04   </a:t>
            </a:r>
            <a:pPr indent="0" marL="0">
              <a:buNone/>
            </a:pPr>
            <a:r>
              <a:rPr lang="en-US" sz="1350" dirty="0">
                <a:solidFill>
                  <a:srgbClr val="C7DCE0"/>
                </a:solidFill>
                <a:latin typeface="Calibri" pitchFamily="34" charset="0"/>
                <a:ea typeface="Calibri" pitchFamily="34" charset="-122"/>
                <a:cs typeface="Calibri" pitchFamily="34" charset="-120"/>
              </a:rPr>
              <a:t>Build the same DM dataset in SAS. Compare it to what you did by hand.</a:t>
            </a:r>
            <a:endParaRPr lang="en-US" sz="1700" dirty="0"/>
          </a:p>
        </p:txBody>
      </p:sp>
      <p:sp>
        <p:nvSpPr>
          <p:cNvPr id="12" name="Shape 10"/>
          <p:cNvSpPr/>
          <p:nvPr/>
        </p:nvSpPr>
        <p:spPr>
          <a:xfrm>
            <a:off x="640080" y="4663440"/>
            <a:ext cx="566928" cy="566928"/>
          </a:xfrm>
          <a:prstGeom prst="ellipse">
            <a:avLst/>
          </a:prstGeom>
          <a:solidFill>
            <a:srgbClr val="6FC8B4"/>
          </a:solidFill>
          <a:ln/>
        </p:spPr>
      </p:sp>
      <p:sp>
        <p:nvSpPr>
          <p:cNvPr id="13" name="Text 11"/>
          <p:cNvSpPr/>
          <p:nvPr/>
        </p:nvSpPr>
        <p:spPr>
          <a:xfrm>
            <a:off x="640080" y="4663440"/>
            <a:ext cx="566928" cy="566928"/>
          </a:xfrm>
          <a:prstGeom prst="rect">
            <a:avLst/>
          </a:prstGeom>
          <a:noFill/>
          <a:ln/>
        </p:spPr>
        <p:txBody>
          <a:bodyPr wrap="square" lIns="0" tIns="0" rIns="0" bIns="0" rtlCol="0" anchor="ctr"/>
          <a:lstStyle/>
          <a:p>
            <a:pPr algn="ctr" indent="0" marL="0">
              <a:buNone/>
            </a:pPr>
            <a:r>
              <a:rPr lang="en-US" sz="1700" b="1" dirty="0">
                <a:solidFill>
                  <a:srgbClr val="0F2E3D"/>
                </a:solidFill>
                <a:latin typeface="Calibri" pitchFamily="34" charset="0"/>
                <a:ea typeface="Calibri" pitchFamily="34" charset="-122"/>
                <a:cs typeface="Calibri" pitchFamily="34" charset="-120"/>
              </a:rPr>
              <a:t>3</a:t>
            </a:r>
            <a:endParaRPr lang="en-US" sz="1700" dirty="0"/>
          </a:p>
        </p:txBody>
      </p:sp>
      <p:sp>
        <p:nvSpPr>
          <p:cNvPr id="14" name="Text 12"/>
          <p:cNvSpPr/>
          <p:nvPr/>
        </p:nvSpPr>
        <p:spPr>
          <a:xfrm>
            <a:off x="1417320" y="4645152"/>
            <a:ext cx="9875520" cy="73152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Step 3 · Check   </a:t>
            </a:r>
            <a:pPr indent="0" marL="0">
              <a:buNone/>
            </a:pPr>
            <a:r>
              <a:rPr lang="en-US" sz="1350" dirty="0">
                <a:solidFill>
                  <a:srgbClr val="C7DCE0"/>
                </a:solidFill>
                <a:latin typeface="Calibri" pitchFamily="34" charset="0"/>
                <a:ea typeface="Calibri" pitchFamily="34" charset="-122"/>
                <a:cs typeface="Calibri" pitchFamily="34" charset="-120"/>
              </a:rPr>
              <a:t>Compare against data/sdtm/dm.csv — the finished reference.</a:t>
            </a:r>
            <a:endParaRPr lang="en-US" sz="1700" dirty="0"/>
          </a:p>
        </p:txBody>
      </p:sp>
      <p:sp>
        <p:nvSpPr>
          <p:cNvPr id="15" name="Text 13"/>
          <p:cNvSpPr/>
          <p:nvPr/>
        </p:nvSpPr>
        <p:spPr>
          <a:xfrm>
            <a:off x="640080" y="5943600"/>
            <a:ext cx="10515600" cy="548640"/>
          </a:xfrm>
          <a:prstGeom prst="rect">
            <a:avLst/>
          </a:prstGeom>
          <a:noFill/>
          <a:ln/>
        </p:spPr>
        <p:txBody>
          <a:bodyPr wrap="square" lIns="0" tIns="0" rIns="0" bIns="0" rtlCol="0" anchor="ctr"/>
          <a:lstStyle/>
          <a:p>
            <a:pPr indent="0" marL="0">
              <a:buNone/>
            </a:pPr>
            <a:r>
              <a:rPr lang="en-US" sz="1400" i="1" dirty="0">
                <a:solidFill>
                  <a:srgbClr val="6FC8B4"/>
                </a:solidFill>
                <a:latin typeface="Calibri" pitchFamily="34" charset="0"/>
                <a:ea typeface="Calibri" pitchFamily="34" charset="-122"/>
                <a:cs typeface="Calibri" pitchFamily="34" charset="-120"/>
              </a:rPr>
              <a:t>Doing it by hand first is deliberate: if you cannot map a row in a spreadsheet, you cannot write code that maps 800.</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SDTM Domains I: Special Purpose &amp; DM</dc:title>
  <dc:subject>PptxGenJS Presentation</dc:subject>
  <dc:creator>Clinical Programming Bootcamp</dc:creator>
  <cp:lastModifiedBy>Clinical Programming Bootcamp</cp:lastModifiedBy>
  <cp:revision>1</cp:revision>
  <dcterms:created xsi:type="dcterms:W3CDTF">2026-07-19T16:11:09Z</dcterms:created>
  <dcterms:modified xsi:type="dcterms:W3CDTF">2026-07-19T16:11:09Z</dcterms:modified>
</cp:coreProperties>
</file>