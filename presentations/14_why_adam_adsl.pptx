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14 opens the ADaM track. The audience has just spent ten days learning that SDTM must not derive anything it did not collect. ADaM inverts that instruction, and it is worth naming the whiplash explicitly or they will think one of the two rules is wrong. Both are right; they serve different readers.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4 is the one they will actually be tested by in the notebook. Goal 1 is the one they will be asked in an interview.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slide — it is the whole module. The point is not that ADaM is 'better'. SDTM is organised for a reviewer who asks 'is this faithful to what was collected?'. ADaM is organised for a statistician who asks 'what does this study show?'. Both questions are legitimate and neither dataset answers the other one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definition to memorise. Everything else in the ADaM track is downstream of it. When a trainee asks 'should this variable be in the dataset?', the answer is always 'does a table need it, and would you otherwise have to join to get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common mistake is picking by topic — 'labs go in ADLB' — rather than by shape. Ask instead: does this thing repeat over visits (BDS), or did it either occur or not (OCCDS)? A vital sign measured once is still BDS. An AE is OCCDS even though it has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failure mode: if SAFFL is derived independently in ADAE and in ADSL, and someone later changes the definition in one place, the study now has two answers to 'who was dosed'. Neither can be defended, and no error is raised. One derivation, one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02 covered INPUT vs PUT. This is where it stops being an exercise. Mention that the reference CSVs store dates as ISO text because a CSV cannot carry a numeric date, so the PROC COMPARE step renders the numeric back to text — for the comparison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notebook is built around, and Exercise 1 makes them do it the wrong way on purpose. The pedagogical point is bigger than height: it is that a silent wrong answer is more dangerous than a crash, and that the only defence is knowing what the number SHOULD look like before you run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teaching risk here is that ABC-01 cannot demonstrate the difference — every flag is Y. Say so explicitly rather than letting them conclude the flags are redundant. Exercise 2 asks them to invent the two subjects that WOULD tell the rules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Traceability is a regulatory requirement, not a nicety — it is what lets a reviewer reproduce a result without the sponsor's programs. Point forward: in ADVS the derived BMI parameter has BLANK source variables, and that is correct, because there is no single source record to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this back to the SDTM track's eleven real defects, eight of which raised no error. The pattern is identical in ADaM and the defence is the same: know what the answer should look like before you run the code, and check row counts and key uniqueness every single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dependency: ADSL is not just the first dataset, it is the one every other dataset trusts. End of Module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E3D"/>
        </a:solidFill>
      </p:bgPr>
    </p:bg>
    <p:spTree>
      <p:nvGrpSpPr>
        <p:cNvPr id="1" name=""/>
        <p:cNvGrpSpPr/>
        <p:nvPr/>
      </p:nvGrpSpPr>
      <p:grpSpPr>
        <a:xfrm>
          <a:off x="0" y="0"/>
          <a:ext cx="0" cy="0"/>
          <a:chOff x="0" y="0"/>
          <a:chExt cx="0" cy="0"/>
        </a:xfrm>
      </p:grpSpPr>
      <p:sp>
        <p:nvSpPr>
          <p:cNvPr id="2" name="Shape 0"/>
          <p:cNvSpPr/>
          <p:nvPr/>
        </p:nvSpPr>
        <p:spPr>
          <a:xfrm>
            <a:off x="8869680" y="-1463040"/>
            <a:ext cx="4754880" cy="4754880"/>
          </a:xfrm>
          <a:prstGeom prst="ellipse">
            <a:avLst/>
          </a:prstGeom>
          <a:solidFill>
            <a:srgbClr val="133B4C"/>
          </a:solidFill>
          <a:ln/>
        </p:spPr>
      </p:sp>
      <p:sp>
        <p:nvSpPr>
          <p:cNvPr id="3" name="Shape 1"/>
          <p:cNvSpPr/>
          <p:nvPr/>
        </p:nvSpPr>
        <p:spPr>
          <a:xfrm>
            <a:off x="9784080" y="-548640"/>
            <a:ext cx="2926080" cy="2926080"/>
          </a:xfrm>
          <a:prstGeom prst="ellipse">
            <a:avLst/>
          </a:prstGeom>
          <a:solidFill>
            <a:srgbClr val="0E7C86"/>
          </a:solidFill>
          <a:ln/>
        </p:spPr>
      </p:sp>
      <p:sp>
        <p:nvSpPr>
          <p:cNvPr id="4" name="Shape 2"/>
          <p:cNvSpPr/>
          <p:nvPr/>
        </p:nvSpPr>
        <p:spPr>
          <a:xfrm>
            <a:off x="10469880" y="137160"/>
            <a:ext cx="1554480" cy="1554480"/>
          </a:xfrm>
          <a:prstGeom prst="ellipse">
            <a:avLst/>
          </a:prstGeom>
          <a:solidFill>
            <a:srgbClr val="E8833A"/>
          </a:solidFill>
          <a:ln/>
        </p:spPr>
      </p:sp>
      <p:sp>
        <p:nvSpPr>
          <p:cNvPr id="5" name="Text 3"/>
          <p:cNvSpPr/>
          <p:nvPr/>
        </p:nvSpPr>
        <p:spPr>
          <a:xfrm>
            <a:off x="640080" y="1828800"/>
            <a:ext cx="8229600" cy="365760"/>
          </a:xfrm>
          <a:prstGeom prst="rect">
            <a:avLst/>
          </a:prstGeom>
          <a:noFill/>
          <a:ln/>
        </p:spPr>
        <p:txBody>
          <a:bodyPr wrap="square" lIns="0" tIns="0" rIns="0" bIns="0" rtlCol="0" anchor="ctr"/>
          <a:lstStyle/>
          <a:p>
            <a:pPr indent="0" marL="0">
              <a:buNone/>
            </a:pPr>
            <a:r>
              <a:rPr lang="en-US" sz="1400" b="1" spc="200" kern="0" dirty="0">
                <a:solidFill>
                  <a:srgbClr val="6FC8B4"/>
                </a:solidFill>
                <a:latin typeface="Calibri" pitchFamily="34" charset="0"/>
                <a:ea typeface="Calibri" pitchFamily="34" charset="-122"/>
                <a:cs typeface="Calibri" pitchFamily="34" charset="-120"/>
              </a:rPr>
              <a:t>CLINICAL PROGRAMMING BOOTCAMP  ·  MODULE 14</a:t>
            </a:r>
            <a:endParaRPr lang="en-US" sz="1400" dirty="0"/>
          </a:p>
        </p:txBody>
      </p:sp>
      <p:sp>
        <p:nvSpPr>
          <p:cNvPr id="6" name="Text 4"/>
          <p:cNvSpPr/>
          <p:nvPr/>
        </p:nvSpPr>
        <p:spPr>
          <a:xfrm>
            <a:off x="603504" y="2286000"/>
            <a:ext cx="8778240" cy="1554480"/>
          </a:xfrm>
          <a:prstGeom prst="rect">
            <a:avLst/>
          </a:prstGeom>
          <a:noFill/>
          <a:ln/>
        </p:spPr>
        <p:txBody>
          <a:bodyPr wrap="square" lIns="0" tIns="0" rIns="0" bIns="0" rtlCol="0" anchor="ctr"/>
          <a:lstStyle/>
          <a:p>
            <a:pPr indent="0" marL="0">
              <a:lnSpc>
                <a:spcPts val="4800"/>
              </a:lnSpc>
              <a:buNone/>
            </a:pPr>
            <a:r>
              <a:rPr lang="en-US" sz="4400" b="1" dirty="0">
                <a:solidFill>
                  <a:srgbClr val="FFFFFF"/>
                </a:solidFill>
                <a:latin typeface="Cambria" pitchFamily="34" charset="0"/>
                <a:ea typeface="Cambria" pitchFamily="34" charset="-122"/>
                <a:cs typeface="Cambria" pitchFamily="34" charset="-120"/>
              </a:rPr>
              <a:t>From Tabulation</a:t>
            </a:r>
            <a:endParaRPr lang="en-US" sz="4400" dirty="0"/>
          </a:p>
          <a:p>
            <a:pPr indent="0" marL="0">
              <a:lnSpc>
                <a:spcPts val="4800"/>
              </a:lnSpc>
              <a:buNone/>
            </a:pPr>
            <a:r>
              <a:rPr lang="en-US" sz="4400" b="1" dirty="0">
                <a:solidFill>
                  <a:srgbClr val="FFFFFF"/>
                </a:solidFill>
                <a:latin typeface="Cambria" pitchFamily="34" charset="0"/>
                <a:ea typeface="Cambria" pitchFamily="34" charset="-122"/>
                <a:cs typeface="Cambria" pitchFamily="34" charset="-120"/>
              </a:rPr>
              <a:t>to Analysis</a:t>
            </a:r>
            <a:endParaRPr lang="en-US" sz="4400" dirty="0"/>
          </a:p>
        </p:txBody>
      </p:sp>
      <p:sp>
        <p:nvSpPr>
          <p:cNvPr id="7" name="Text 5"/>
          <p:cNvSpPr/>
          <p:nvPr/>
        </p:nvSpPr>
        <p:spPr>
          <a:xfrm>
            <a:off x="640080" y="3794760"/>
            <a:ext cx="8778240" cy="548640"/>
          </a:xfrm>
          <a:prstGeom prst="rect">
            <a:avLst/>
          </a:prstGeom>
          <a:noFill/>
          <a:ln/>
        </p:spPr>
        <p:txBody>
          <a:bodyPr wrap="square" lIns="0" tIns="0" rIns="0" bIns="0" rtlCol="0" anchor="ctr"/>
          <a:lstStyle/>
          <a:p>
            <a:pPr indent="0" marL="0">
              <a:buNone/>
            </a:pPr>
            <a:r>
              <a:rPr lang="en-US" sz="2600" dirty="0">
                <a:solidFill>
                  <a:srgbClr val="6FC8B4"/>
                </a:solidFill>
                <a:latin typeface="Cambria" pitchFamily="34" charset="0"/>
                <a:ea typeface="Cambria" pitchFamily="34" charset="-122"/>
                <a:cs typeface="Cambria" pitchFamily="34" charset="-120"/>
              </a:rPr>
              <a:t>Why ADaM exists — and building ADSL</a:t>
            </a:r>
            <a:endParaRPr lang="en-US" sz="2600" dirty="0"/>
          </a:p>
        </p:txBody>
      </p:sp>
      <p:sp>
        <p:nvSpPr>
          <p:cNvPr id="8" name="Text 6"/>
          <p:cNvSpPr/>
          <p:nvPr/>
        </p:nvSpPr>
        <p:spPr>
          <a:xfrm>
            <a:off x="640080" y="4572000"/>
            <a:ext cx="8412480" cy="731520"/>
          </a:xfrm>
          <a:prstGeom prst="rect">
            <a:avLst/>
          </a:prstGeom>
          <a:noFill/>
          <a:ln/>
        </p:spPr>
        <p:txBody>
          <a:bodyPr wrap="square" lIns="0" tIns="0" rIns="0" bIns="0" rtlCol="0" anchor="ctr"/>
          <a:lstStyle/>
          <a:p>
            <a:pPr indent="0" marL="0">
              <a:buNone/>
            </a:pPr>
            <a:r>
              <a:rPr lang="en-US" sz="1600" dirty="0">
                <a:solidFill>
                  <a:srgbClr val="C7DCE0"/>
                </a:solidFill>
                <a:latin typeface="Calibri" pitchFamily="34" charset="0"/>
                <a:ea typeface="Calibri" pitchFamily="34" charset="-122"/>
                <a:cs typeface="Calibri" pitchFamily="34" charset="-120"/>
              </a:rPr>
              <a:t>You have spent ten days making data faithful. Now you make it answerable.</a:t>
            </a:r>
            <a:endParaRPr lang="en-US" sz="1600" dirty="0"/>
          </a:p>
        </p:txBody>
      </p:sp>
      <p:sp>
        <p:nvSpPr>
          <p:cNvPr id="9" name="Text 7"/>
          <p:cNvSpPr/>
          <p:nvPr/>
        </p:nvSpPr>
        <p:spPr>
          <a:xfrm>
            <a:off x="640080" y="5943600"/>
            <a:ext cx="10972800" cy="365760"/>
          </a:xfrm>
          <a:prstGeom prst="rect">
            <a:avLst/>
          </a:prstGeom>
          <a:noFill/>
          <a:ln/>
        </p:spPr>
        <p:txBody>
          <a:bodyPr wrap="square" lIns="0" tIns="0" rIns="0" bIns="0" rtlCol="0" anchor="ctr"/>
          <a:lstStyle/>
          <a:p>
            <a:pPr indent="0" marL="0">
              <a:buNone/>
            </a:pPr>
            <a:r>
              <a:rPr lang="en-US" sz="1200" i="1" dirty="0">
                <a:solidFill>
                  <a:srgbClr val="5A7682"/>
                </a:solidFill>
                <a:latin typeface="Calibri" pitchFamily="34" charset="0"/>
                <a:ea typeface="Calibri" pitchFamily="34" charset="-122"/>
                <a:cs typeface="Calibri" pitchFamily="34" charset="-120"/>
              </a:rPr>
              <a:t>Hands-on: Notebook 14 (SAS) — Build ADSL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MODULE GOALS</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By the end of this module you can…</a:t>
            </a:r>
            <a:endParaRPr lang="en-US" sz="3000" dirty="0"/>
          </a:p>
        </p:txBody>
      </p:sp>
      <p:sp>
        <p:nvSpPr>
          <p:cNvPr id="4" name="Shape 2"/>
          <p:cNvSpPr/>
          <p:nvPr/>
        </p:nvSpPr>
        <p:spPr>
          <a:xfrm>
            <a:off x="640080" y="1600200"/>
            <a:ext cx="10972800" cy="932688"/>
          </a:xfrm>
          <a:prstGeom prst="roundRect">
            <a:avLst>
              <a:gd name="adj" fmla="val 8824"/>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868680" y="1792224"/>
            <a:ext cx="548640" cy="548640"/>
          </a:xfrm>
          <a:prstGeom prst="ellipse">
            <a:avLst/>
          </a:prstGeom>
          <a:solidFill>
            <a:srgbClr val="0E7C86"/>
          </a:solidFill>
          <a:ln/>
        </p:spPr>
      </p:sp>
      <p:sp>
        <p:nvSpPr>
          <p:cNvPr id="6" name="Text 4"/>
          <p:cNvSpPr/>
          <p:nvPr/>
        </p:nvSpPr>
        <p:spPr>
          <a:xfrm>
            <a:off x="868680" y="1792224"/>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600200" y="1746504"/>
            <a:ext cx="978408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Say why ADaM exists  </a:t>
            </a:r>
            <a:pPr indent="0" marL="0">
              <a:buNone/>
            </a:pPr>
            <a:r>
              <a:rPr lang="en-US" sz="1350" dirty="0">
                <a:solidFill>
                  <a:srgbClr val="5A7682"/>
                </a:solidFill>
                <a:latin typeface="Calibri" pitchFamily="34" charset="0"/>
                <a:ea typeface="Calibri" pitchFamily="34" charset="-122"/>
                <a:cs typeface="Calibri" pitchFamily="34" charset="-120"/>
              </a:rPr>
              <a:t>in one sentence, without using the word 'analysis-ready' as if it explained itself.</a:t>
            </a:r>
            <a:endParaRPr lang="en-US" sz="1600" dirty="0"/>
          </a:p>
        </p:txBody>
      </p:sp>
      <p:sp>
        <p:nvSpPr>
          <p:cNvPr id="8" name="Shape 6"/>
          <p:cNvSpPr/>
          <p:nvPr/>
        </p:nvSpPr>
        <p:spPr>
          <a:xfrm>
            <a:off x="640080" y="2624328"/>
            <a:ext cx="10972800" cy="932688"/>
          </a:xfrm>
          <a:prstGeom prst="roundRect">
            <a:avLst>
              <a:gd name="adj" fmla="val 8824"/>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Shape 7"/>
          <p:cNvSpPr/>
          <p:nvPr/>
        </p:nvSpPr>
        <p:spPr>
          <a:xfrm>
            <a:off x="868680" y="2816352"/>
            <a:ext cx="548640" cy="548640"/>
          </a:xfrm>
          <a:prstGeom prst="ellipse">
            <a:avLst/>
          </a:prstGeom>
          <a:solidFill>
            <a:srgbClr val="1FA8A0"/>
          </a:solidFill>
          <a:ln/>
        </p:spPr>
      </p:sp>
      <p:sp>
        <p:nvSpPr>
          <p:cNvPr id="10" name="Text 8"/>
          <p:cNvSpPr/>
          <p:nvPr/>
        </p:nvSpPr>
        <p:spPr>
          <a:xfrm>
            <a:off x="868680" y="2816352"/>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1" name="Text 9"/>
          <p:cNvSpPr/>
          <p:nvPr/>
        </p:nvSpPr>
        <p:spPr>
          <a:xfrm>
            <a:off x="1600200" y="2770632"/>
            <a:ext cx="978408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Name the three dataset classes  </a:t>
            </a:r>
            <a:pPr indent="0" marL="0">
              <a:buNone/>
            </a:pPr>
            <a:r>
              <a:rPr lang="en-US" sz="1350" dirty="0">
                <a:solidFill>
                  <a:srgbClr val="5A7682"/>
                </a:solidFill>
                <a:latin typeface="Calibri" pitchFamily="34" charset="0"/>
                <a:ea typeface="Calibri" pitchFamily="34" charset="-122"/>
                <a:cs typeface="Calibri" pitchFamily="34" charset="-120"/>
              </a:rPr>
              <a:t>ADSL, BDS and OCCDS — and say which to reach for.</a:t>
            </a:r>
            <a:endParaRPr lang="en-US" sz="1600" dirty="0"/>
          </a:p>
        </p:txBody>
      </p:sp>
      <p:sp>
        <p:nvSpPr>
          <p:cNvPr id="12" name="Shape 10"/>
          <p:cNvSpPr/>
          <p:nvPr/>
        </p:nvSpPr>
        <p:spPr>
          <a:xfrm>
            <a:off x="640080" y="3648456"/>
            <a:ext cx="10972800" cy="932688"/>
          </a:xfrm>
          <a:prstGeom prst="roundRect">
            <a:avLst>
              <a:gd name="adj" fmla="val 8824"/>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Shape 11"/>
          <p:cNvSpPr/>
          <p:nvPr/>
        </p:nvSpPr>
        <p:spPr>
          <a:xfrm>
            <a:off x="868680" y="3840480"/>
            <a:ext cx="548640" cy="548640"/>
          </a:xfrm>
          <a:prstGeom prst="ellipse">
            <a:avLst/>
          </a:prstGeom>
          <a:solidFill>
            <a:srgbClr val="E8833A"/>
          </a:solidFill>
          <a:ln/>
        </p:spPr>
      </p:sp>
      <p:sp>
        <p:nvSpPr>
          <p:cNvPr id="14" name="Text 12"/>
          <p:cNvSpPr/>
          <p:nvPr/>
        </p:nvSpPr>
        <p:spPr>
          <a:xfrm>
            <a:off x="868680" y="384048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5" name="Text 13"/>
          <p:cNvSpPr/>
          <p:nvPr/>
        </p:nvSpPr>
        <p:spPr>
          <a:xfrm>
            <a:off x="1600200" y="3794760"/>
            <a:ext cx="978408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Build ADSL end to end  </a:t>
            </a:r>
            <a:pPr indent="0" marL="0">
              <a:buNone/>
            </a:pPr>
            <a:r>
              <a:rPr lang="en-US" sz="1350" dirty="0">
                <a:solidFill>
                  <a:srgbClr val="5A7682"/>
                </a:solidFill>
                <a:latin typeface="Calibri" pitchFamily="34" charset="0"/>
                <a:ea typeface="Calibri" pitchFamily="34" charset="-122"/>
                <a:cs typeface="Calibri" pitchFamily="34" charset="-120"/>
              </a:rPr>
              <a:t>treatment variables, population flags, disposition, baseline measurements.</a:t>
            </a:r>
            <a:endParaRPr lang="en-US" sz="1600" dirty="0"/>
          </a:p>
        </p:txBody>
      </p:sp>
      <p:sp>
        <p:nvSpPr>
          <p:cNvPr id="16" name="Shape 14"/>
          <p:cNvSpPr/>
          <p:nvPr/>
        </p:nvSpPr>
        <p:spPr>
          <a:xfrm>
            <a:off x="640080" y="4672584"/>
            <a:ext cx="10972800" cy="932688"/>
          </a:xfrm>
          <a:prstGeom prst="roundRect">
            <a:avLst>
              <a:gd name="adj" fmla="val 8824"/>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Shape 15"/>
          <p:cNvSpPr/>
          <p:nvPr/>
        </p:nvSpPr>
        <p:spPr>
          <a:xfrm>
            <a:off x="868680" y="4864608"/>
            <a:ext cx="548640" cy="548640"/>
          </a:xfrm>
          <a:prstGeom prst="ellipse">
            <a:avLst/>
          </a:prstGeom>
          <a:solidFill>
            <a:srgbClr val="0F2E3D"/>
          </a:solidFill>
          <a:ln/>
        </p:spPr>
      </p:sp>
      <p:sp>
        <p:nvSpPr>
          <p:cNvPr id="18" name="Text 16"/>
          <p:cNvSpPr/>
          <p:nvPr/>
        </p:nvSpPr>
        <p:spPr>
          <a:xfrm>
            <a:off x="868680" y="4864608"/>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19" name="Text 17"/>
          <p:cNvSpPr/>
          <p:nvPr/>
        </p:nvSpPr>
        <p:spPr>
          <a:xfrm>
            <a:off x="1600200" y="4818888"/>
            <a:ext cx="978408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Apply the ADaM baseline rule  </a:t>
            </a:r>
            <a:pPr indent="0" marL="0">
              <a:buNone/>
            </a:pPr>
            <a:r>
              <a:rPr lang="en-US" sz="1350" dirty="0">
                <a:solidFill>
                  <a:srgbClr val="5A7682"/>
                </a:solidFill>
                <a:latin typeface="Calibri" pitchFamily="34" charset="0"/>
                <a:ea typeface="Calibri" pitchFamily="34" charset="-122"/>
                <a:cs typeface="Calibri" pitchFamily="34" charset="-120"/>
              </a:rPr>
              <a:t>and say why copying VSBLFL breaks silently.</a:t>
            </a:r>
            <a:endParaRPr lang="en-US" sz="1600" dirty="0"/>
          </a:p>
        </p:txBody>
      </p:sp>
      <p:sp>
        <p:nvSpPr>
          <p:cNvPr id="20" name="Shape 18"/>
          <p:cNvSpPr/>
          <p:nvPr/>
        </p:nvSpPr>
        <p:spPr>
          <a:xfrm>
            <a:off x="640080" y="5696712"/>
            <a:ext cx="10972800" cy="932688"/>
          </a:xfrm>
          <a:prstGeom prst="roundRect">
            <a:avLst>
              <a:gd name="adj" fmla="val 8824"/>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1" name="Shape 19"/>
          <p:cNvSpPr/>
          <p:nvPr/>
        </p:nvSpPr>
        <p:spPr>
          <a:xfrm>
            <a:off x="868680" y="5888736"/>
            <a:ext cx="548640" cy="548640"/>
          </a:xfrm>
          <a:prstGeom prst="ellipse">
            <a:avLst/>
          </a:prstGeom>
          <a:solidFill>
            <a:srgbClr val="0E7C86"/>
          </a:solidFill>
          <a:ln/>
        </p:spPr>
      </p:sp>
      <p:sp>
        <p:nvSpPr>
          <p:cNvPr id="22" name="Text 20"/>
          <p:cNvSpPr/>
          <p:nvPr/>
        </p:nvSpPr>
        <p:spPr>
          <a:xfrm>
            <a:off x="868680" y="5888736"/>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23" name="Text 21"/>
          <p:cNvSpPr/>
          <p:nvPr/>
        </p:nvSpPr>
        <p:spPr>
          <a:xfrm>
            <a:off x="1600200" y="5843016"/>
            <a:ext cx="978408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Defend traceability  </a:t>
            </a:r>
            <a:pPr indent="0" marL="0">
              <a:buNone/>
            </a:pPr>
            <a:r>
              <a:rPr lang="en-US" sz="1350" dirty="0">
                <a:solidFill>
                  <a:srgbClr val="5A7682"/>
                </a:solidFill>
                <a:latin typeface="Calibri" pitchFamily="34" charset="0"/>
                <a:ea typeface="Calibri" pitchFamily="34" charset="-122"/>
                <a:cs typeface="Calibri" pitchFamily="34" charset="-120"/>
              </a:rPr>
              <a:t>explain how a regulator gets from a number in a table back to a CRF page.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CORE IDEA</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The same subject, told two different ways</a:t>
            </a:r>
            <a:endParaRPr lang="en-US" sz="3000" dirty="0"/>
          </a:p>
        </p:txBody>
      </p:sp>
      <p:sp>
        <p:nvSpPr>
          <p:cNvPr id="4" name="Text 2"/>
          <p:cNvSpPr/>
          <p:nvPr/>
        </p:nvSpPr>
        <p:spPr>
          <a:xfrm>
            <a:off x="640080" y="1417320"/>
            <a:ext cx="10972800" cy="365760"/>
          </a:xfrm>
          <a:prstGeom prst="rect">
            <a:avLst/>
          </a:prstGeom>
          <a:noFill/>
          <a:ln/>
        </p:spPr>
        <p:txBody>
          <a:bodyPr wrap="square" lIns="0" tIns="0" rIns="0" bIns="0" rtlCol="0" anchor="ctr"/>
          <a:lstStyle/>
          <a:p>
            <a:pPr indent="0" marL="0">
              <a:buNone/>
            </a:pPr>
            <a:r>
              <a:rPr lang="en-US" sz="1450" dirty="0">
                <a:solidFill>
                  <a:srgbClr val="5A7682"/>
                </a:solidFill>
                <a:latin typeface="Calibri" pitchFamily="34" charset="0"/>
                <a:ea typeface="Calibri" pitchFamily="34" charset="-122"/>
                <a:cs typeface="Calibri" pitchFamily="34" charset="-120"/>
              </a:rPr>
              <a:t>Subject ABC-01-01-004 wants to appear in a table of mean treatment duration by arm.</a:t>
            </a:r>
            <a:endParaRPr lang="en-US" sz="1450" dirty="0"/>
          </a:p>
        </p:txBody>
      </p:sp>
      <p:sp>
        <p:nvSpPr>
          <p:cNvPr id="5" name="Shape 3"/>
          <p:cNvSpPr/>
          <p:nvPr/>
        </p:nvSpPr>
        <p:spPr>
          <a:xfrm>
            <a:off x="640080" y="1920240"/>
            <a:ext cx="5394960" cy="3200400"/>
          </a:xfrm>
          <a:prstGeom prst="roundRect">
            <a:avLst>
              <a:gd name="adj" fmla="val 2571"/>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6" name="Text 4"/>
          <p:cNvSpPr/>
          <p:nvPr/>
        </p:nvSpPr>
        <p:spPr>
          <a:xfrm>
            <a:off x="868680" y="2084832"/>
            <a:ext cx="4937760" cy="365760"/>
          </a:xfrm>
          <a:prstGeom prst="rect">
            <a:avLst/>
          </a:prstGeom>
          <a:noFill/>
          <a:ln/>
        </p:spPr>
        <p:txBody>
          <a:bodyPr wrap="square" lIns="0" tIns="0" rIns="0" bIns="0" rtlCol="0" anchor="ctr"/>
          <a:lstStyle/>
          <a:p>
            <a:pPr indent="0" marL="0">
              <a:buNone/>
            </a:pPr>
            <a:r>
              <a:rPr lang="en-US" sz="1700" b="1" dirty="0">
                <a:solidFill>
                  <a:srgbClr val="0F2E3D"/>
                </a:solidFill>
                <a:latin typeface="Cambria" pitchFamily="34" charset="0"/>
                <a:ea typeface="Cambria" pitchFamily="34" charset="-122"/>
                <a:cs typeface="Cambria" pitchFamily="34" charset="-120"/>
              </a:rPr>
              <a:t>SDTM asks: what happened?</a:t>
            </a:r>
            <a:endParaRPr lang="en-US" sz="1700" dirty="0"/>
          </a:p>
        </p:txBody>
      </p:sp>
      <p:sp>
        <p:nvSpPr>
          <p:cNvPr id="7" name="Text 5"/>
          <p:cNvSpPr/>
          <p:nvPr/>
        </p:nvSpPr>
        <p:spPr>
          <a:xfrm>
            <a:off x="868680" y="2514600"/>
            <a:ext cx="4937760" cy="2468880"/>
          </a:xfrm>
          <a:prstGeom prst="rect">
            <a:avLst/>
          </a:prstGeom>
          <a:noFill/>
          <a:ln/>
        </p:spPr>
        <p:txBody>
          <a:bodyPr wrap="square" lIns="0" tIns="0" rIns="0" bIns="0" rtlCol="0" anchor="ctr"/>
          <a:lstStyle/>
          <a:p>
            <a:pPr indent="0" marL="0">
              <a:lnSpc>
                <a:spcPts val="1900"/>
              </a:lnSpc>
              <a:buNone/>
            </a:pPr>
            <a:r>
              <a:rPr lang="en-US" sz="1350" b="1" dirty="0">
                <a:solidFill>
                  <a:srgbClr val="0E7C86"/>
                </a:solidFill>
                <a:latin typeface="Calibri" pitchFamily="34" charset="0"/>
                <a:ea typeface="Calibri" pitchFamily="34" charset="-122"/>
                <a:cs typeface="Calibri" pitchFamily="34" charset="-120"/>
              </a:rPr>
              <a:t>DM</a:t>
            </a:r>
            <a:pPr indent="0" marL="0">
              <a:lnSpc>
                <a:spcPts val="1900"/>
              </a:lnSpc>
              <a:buNone/>
            </a:pPr>
            <a:r>
              <a:rPr lang="en-US" sz="1350" dirty="0">
                <a:solidFill>
                  <a:srgbClr val="0F2E3D"/>
                </a:solidFill>
                <a:latin typeface="Calibri" pitchFamily="34" charset="0"/>
                <a:ea typeface="Calibri" pitchFamily="34" charset="-122"/>
                <a:cs typeface="Calibri" pitchFamily="34" charset="-120"/>
              </a:rPr>
              <a:t>  →  RFXSTDTC, RFXENDTC (text)
</a:t>
            </a:r>
            <a:pPr indent="0" marL="0">
              <a:lnSpc>
                <a:spcPts val="1900"/>
              </a:lnSpc>
              <a:buNone/>
            </a:pPr>
            <a:r>
              <a:rPr lang="en-US" sz="1350" b="1" dirty="0">
                <a:solidFill>
                  <a:srgbClr val="0E7C86"/>
                </a:solidFill>
                <a:latin typeface="Calibri" pitchFamily="34" charset="0"/>
                <a:ea typeface="Calibri" pitchFamily="34" charset="-122"/>
                <a:cs typeface="Calibri" pitchFamily="34" charset="-120"/>
              </a:rPr>
              <a:t>DS</a:t>
            </a:r>
            <a:pPr indent="0" marL="0">
              <a:lnSpc>
                <a:spcPts val="1900"/>
              </a:lnSpc>
              <a:buNone/>
            </a:pPr>
            <a:r>
              <a:rPr lang="en-US" sz="1350" dirty="0">
                <a:solidFill>
                  <a:srgbClr val="0F2E3D"/>
                </a:solidFill>
                <a:latin typeface="Calibri" pitchFamily="34" charset="0"/>
                <a:ea typeface="Calibri" pitchFamily="34" charset="-122"/>
                <a:cs typeface="Calibri" pitchFamily="34" charset="-120"/>
              </a:rPr>
              <a:t>  →  disposition, why they left
</a:t>
            </a:r>
            <a:pPr indent="0" marL="0">
              <a:lnSpc>
                <a:spcPts val="1900"/>
              </a:lnSpc>
              <a:buNone/>
            </a:pPr>
            <a:r>
              <a:rPr lang="en-US" sz="1350" b="1" dirty="0">
                <a:solidFill>
                  <a:srgbClr val="0E7C86"/>
                </a:solidFill>
                <a:latin typeface="Calibri" pitchFamily="34" charset="0"/>
                <a:ea typeface="Calibri" pitchFamily="34" charset="-122"/>
                <a:cs typeface="Calibri" pitchFamily="34" charset="-120"/>
              </a:rPr>
              <a:t>EX</a:t>
            </a:r>
            <a:pPr indent="0" marL="0">
              <a:lnSpc>
                <a:spcPts val="1900"/>
              </a:lnSpc>
              <a:buNone/>
            </a:pPr>
            <a:r>
              <a:rPr lang="en-US" sz="1350" dirty="0">
                <a:solidFill>
                  <a:srgbClr val="0F2E3D"/>
                </a:solidFill>
                <a:latin typeface="Calibri" pitchFamily="34" charset="0"/>
                <a:ea typeface="Calibri" pitchFamily="34" charset="-122"/>
                <a:cs typeface="Calibri" pitchFamily="34" charset="-120"/>
              </a:rPr>
              <a:t>  →  what was actually given
</a:t>
            </a:r>
            <a:pPr indent="0" marL="0">
              <a:lnSpc>
                <a:spcPts val="1900"/>
              </a:lnSpc>
              <a:buNone/>
            </a:pPr>
            <a:r>
              <a:rPr lang="en-US" sz="1350" i="1" dirty="0">
                <a:solidFill>
                  <a:srgbClr val="5A7682"/>
                </a:solidFill>
                <a:latin typeface="Calibri" pitchFamily="34" charset="0"/>
                <a:ea typeface="Calibri" pitchFamily="34" charset="-122"/>
                <a:cs typeface="Calibri" pitchFamily="34" charset="-120"/>
              </a:rPr>
              <a:t>Three domains. Nothing derived.</a:t>
            </a:r>
            <a:endParaRPr lang="en-US" sz="1350" dirty="0"/>
          </a:p>
          <a:p>
            <a:pPr indent="0" marL="0">
              <a:lnSpc>
                <a:spcPts val="1900"/>
              </a:lnSpc>
              <a:buNone/>
            </a:pPr>
            <a:r>
              <a:rPr lang="en-US" sz="1350" i="1" dirty="0">
                <a:solidFill>
                  <a:srgbClr val="5A7682"/>
                </a:solidFill>
                <a:latin typeface="Calibri" pitchFamily="34" charset="0"/>
                <a:ea typeface="Calibri" pitchFamily="34" charset="-122"/>
                <a:cs typeface="Calibri" pitchFamily="34" charset="-120"/>
              </a:rPr>
              <a:t>To get the duration you must join</a:t>
            </a:r>
            <a:endParaRPr lang="en-US" sz="1350" dirty="0"/>
          </a:p>
          <a:p>
            <a:pPr indent="0" marL="0">
              <a:lnSpc>
                <a:spcPts val="1900"/>
              </a:lnSpc>
              <a:buNone/>
            </a:pPr>
            <a:r>
              <a:rPr lang="en-US" sz="1350" i="1" dirty="0">
                <a:solidFill>
                  <a:srgbClr val="5A7682"/>
                </a:solidFill>
                <a:latin typeface="Calibri" pitchFamily="34" charset="0"/>
                <a:ea typeface="Calibri" pitchFamily="34" charset="-122"/>
                <a:cs typeface="Calibri" pitchFamily="34" charset="-120"/>
              </a:rPr>
              <a:t>them and compute it yourself —</a:t>
            </a:r>
            <a:endParaRPr lang="en-US" sz="1350" dirty="0"/>
          </a:p>
          <a:p>
            <a:pPr indent="0" marL="0">
              <a:lnSpc>
                <a:spcPts val="1900"/>
              </a:lnSpc>
              <a:buNone/>
            </a:pPr>
            <a:r>
              <a:rPr lang="en-US" sz="1350" i="1" dirty="0">
                <a:solidFill>
                  <a:srgbClr val="5A7682"/>
                </a:solidFill>
                <a:latin typeface="Calibri" pitchFamily="34" charset="0"/>
                <a:ea typeface="Calibri" pitchFamily="34" charset="-122"/>
                <a:cs typeface="Calibri" pitchFamily="34" charset="-120"/>
              </a:rPr>
              <a:t>every time, in every program.</a:t>
            </a:r>
            <a:endParaRPr lang="en-US" sz="1350" dirty="0"/>
          </a:p>
        </p:txBody>
      </p:sp>
      <p:sp>
        <p:nvSpPr>
          <p:cNvPr id="8" name="Shape 6"/>
          <p:cNvSpPr/>
          <p:nvPr/>
        </p:nvSpPr>
        <p:spPr>
          <a:xfrm>
            <a:off x="6309360" y="1920240"/>
            <a:ext cx="5303520" cy="3200400"/>
          </a:xfrm>
          <a:prstGeom prst="roundRect">
            <a:avLst>
              <a:gd name="adj" fmla="val 2571"/>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Text 7"/>
          <p:cNvSpPr/>
          <p:nvPr/>
        </p:nvSpPr>
        <p:spPr>
          <a:xfrm>
            <a:off x="6537960" y="2084832"/>
            <a:ext cx="4846320" cy="365760"/>
          </a:xfrm>
          <a:prstGeom prst="rect">
            <a:avLst/>
          </a:prstGeom>
          <a:noFill/>
          <a:ln/>
        </p:spPr>
        <p:txBody>
          <a:bodyPr wrap="square" lIns="0" tIns="0" rIns="0" bIns="0" rtlCol="0" anchor="ctr"/>
          <a:lstStyle/>
          <a:p>
            <a:pPr indent="0" marL="0">
              <a:buNone/>
            </a:pPr>
            <a:r>
              <a:rPr lang="en-US" sz="1700" b="1" dirty="0">
                <a:solidFill>
                  <a:srgbClr val="0F2E3D"/>
                </a:solidFill>
                <a:latin typeface="Cambria" pitchFamily="34" charset="0"/>
                <a:ea typeface="Cambria" pitchFamily="34" charset="-122"/>
                <a:cs typeface="Cambria" pitchFamily="34" charset="-120"/>
              </a:rPr>
              <a:t>ADaM asks: what do I report?</a:t>
            </a:r>
            <a:endParaRPr lang="en-US" sz="1700" dirty="0"/>
          </a:p>
        </p:txBody>
      </p:sp>
      <p:sp>
        <p:nvSpPr>
          <p:cNvPr id="10" name="Text 8"/>
          <p:cNvSpPr/>
          <p:nvPr/>
        </p:nvSpPr>
        <p:spPr>
          <a:xfrm>
            <a:off x="6537960" y="2514600"/>
            <a:ext cx="4846320" cy="2468880"/>
          </a:xfrm>
          <a:prstGeom prst="rect">
            <a:avLst/>
          </a:prstGeom>
          <a:noFill/>
          <a:ln/>
        </p:spPr>
        <p:txBody>
          <a:bodyPr wrap="square" lIns="0" tIns="0" rIns="0" bIns="0" rtlCol="0" anchor="ctr"/>
          <a:lstStyle/>
          <a:p>
            <a:pPr indent="0" marL="0">
              <a:lnSpc>
                <a:spcPts val="1900"/>
              </a:lnSpc>
              <a:buNone/>
            </a:pPr>
            <a:r>
              <a:rPr lang="en-US" sz="1350" b="1" dirty="0">
                <a:solidFill>
                  <a:srgbClr val="E8833A"/>
                </a:solidFill>
                <a:latin typeface="Calibri" pitchFamily="34" charset="0"/>
                <a:ea typeface="Calibri" pitchFamily="34" charset="-122"/>
                <a:cs typeface="Calibri" pitchFamily="34" charset="-120"/>
              </a:rPr>
              <a:t>ADSL</a:t>
            </a:r>
            <a:pPr indent="0" marL="0">
              <a:lnSpc>
                <a:spcPts val="1900"/>
              </a:lnSpc>
              <a:buNone/>
            </a:pPr>
            <a:r>
              <a:rPr lang="en-US" sz="1350" dirty="0">
                <a:solidFill>
                  <a:srgbClr val="0F2E3D"/>
                </a:solidFill>
                <a:latin typeface="Calibri" pitchFamily="34" charset="0"/>
                <a:ea typeface="Calibri" pitchFamily="34" charset="-122"/>
                <a:cs typeface="Calibri" pitchFamily="34" charset="-120"/>
              </a:rPr>
              <a:t>  →  one row, everything on it
</a:t>
            </a:r>
            <a:pPr indent="0" marL="0">
              <a:lnSpc>
                <a:spcPts val="1900"/>
              </a:lnSpc>
              <a:buNone/>
            </a:pPr>
            <a:r>
              <a:rPr lang="en-US" sz="1200" dirty="0">
                <a:solidFill>
                  <a:srgbClr val="0F2E3D"/>
                </a:solidFill>
                <a:latin typeface="Courier New" pitchFamily="34" charset="0"/>
                <a:ea typeface="Courier New" pitchFamily="34" charset="-122"/>
                <a:cs typeface="Courier New" pitchFamily="34" charset="-120"/>
              </a:rPr>
              <a:t>TRT01P  = Placebo
TRTSDT  = 06MAR2024
TRTEDT  = 25MAR2024
TRTDURD = 20
SAFFL   = Y
</a:t>
            </a:r>
            <a:pPr indent="0" marL="0">
              <a:lnSpc>
                <a:spcPts val="1900"/>
              </a:lnSpc>
              <a:buNone/>
            </a:pPr>
            <a:endParaRPr lang="en-US" sz="1350" dirty="0"/>
          </a:p>
          <a:p>
            <a:pPr indent="0" marL="0">
              <a:lnSpc>
                <a:spcPts val="1900"/>
              </a:lnSpc>
              <a:buNone/>
            </a:pPr>
            <a:r>
              <a:rPr lang="en-US" sz="1350" i="1" dirty="0">
                <a:solidFill>
                  <a:srgbClr val="5A7682"/>
                </a:solidFill>
                <a:latin typeface="Calibri" pitchFamily="34" charset="0"/>
                <a:ea typeface="Calibri" pitchFamily="34" charset="-122"/>
                <a:cs typeface="Calibri" pitchFamily="34" charset="-120"/>
              </a:rPr>
              <a:t>One dataset. PROC MEANS. Done.</a:t>
            </a:r>
            <a:endParaRPr lang="en-US" sz="1350" dirty="0"/>
          </a:p>
        </p:txBody>
      </p:sp>
      <p:sp>
        <p:nvSpPr>
          <p:cNvPr id="11" name="Text 9"/>
          <p:cNvSpPr/>
          <p:nvPr/>
        </p:nvSpPr>
        <p:spPr>
          <a:xfrm>
            <a:off x="640080" y="5349240"/>
            <a:ext cx="10972800" cy="457200"/>
          </a:xfrm>
          <a:prstGeom prst="rect">
            <a:avLst/>
          </a:prstGeom>
          <a:noFill/>
          <a:ln/>
        </p:spPr>
        <p:txBody>
          <a:bodyPr wrap="square" lIns="0" tIns="0" rIns="0" bIns="0" rtlCol="0" anchor="ctr"/>
          <a:lstStyle/>
          <a:p>
            <a:pPr indent="0" marL="0">
              <a:buNone/>
            </a:pPr>
            <a:r>
              <a:rPr lang="en-US" sz="1450" i="1" dirty="0">
                <a:solidFill>
                  <a:srgbClr val="0E7C86"/>
                </a:solidFill>
                <a:latin typeface="Calibri" pitchFamily="34" charset="0"/>
                <a:ea typeface="Calibri" pitchFamily="34" charset="-122"/>
                <a:cs typeface="Calibri" pitchFamily="34" charset="-120"/>
              </a:rPr>
              <a:t>Same subject. Same truth. Different organising principle — because they have different readers.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1371600"/>
            <a:ext cx="10058400" cy="320040"/>
          </a:xfrm>
          <a:prstGeom prst="rect">
            <a:avLst/>
          </a:prstGeom>
          <a:noFill/>
          <a:ln/>
        </p:spPr>
        <p:txBody>
          <a:bodyPr wrap="square" lIns="0" tIns="0" rIns="0" bIns="0" rtlCol="0" anchor="ctr"/>
          <a:lstStyle/>
          <a:p>
            <a:pPr indent="0" marL="0">
              <a:buNone/>
            </a:pPr>
            <a:r>
              <a:rPr lang="en-US" sz="1300" b="1" spc="200" kern="0" dirty="0">
                <a:solidFill>
                  <a:srgbClr val="6FC8B4"/>
                </a:solidFill>
                <a:latin typeface="Calibri" pitchFamily="34" charset="0"/>
                <a:ea typeface="Calibri" pitchFamily="34" charset="-122"/>
                <a:cs typeface="Calibri" pitchFamily="34" charset="-120"/>
              </a:rPr>
              <a:t>THE TEST A DATASET MUST PASS</a:t>
            </a:r>
            <a:endParaRPr lang="en-US" sz="1300" dirty="0"/>
          </a:p>
        </p:txBody>
      </p:sp>
      <p:sp>
        <p:nvSpPr>
          <p:cNvPr id="3" name="Text 1"/>
          <p:cNvSpPr/>
          <p:nvPr/>
        </p:nvSpPr>
        <p:spPr>
          <a:xfrm>
            <a:off x="603504" y="1828800"/>
            <a:ext cx="10972800" cy="2011680"/>
          </a:xfrm>
          <a:prstGeom prst="rect">
            <a:avLst/>
          </a:prstGeom>
          <a:noFill/>
          <a:ln/>
        </p:spPr>
        <p:txBody>
          <a:bodyPr wrap="square" lIns="0" tIns="0" rIns="0" bIns="0" rtlCol="0" anchor="ctr"/>
          <a:lstStyle/>
          <a:p>
            <a:pPr indent="0" marL="0">
              <a:lnSpc>
                <a:spcPts val="4200"/>
              </a:lnSpc>
              <a:buNone/>
            </a:pPr>
            <a:r>
              <a:rPr lang="en-US" sz="3000" b="1" dirty="0">
                <a:solidFill>
                  <a:srgbClr val="FFFFFF"/>
                </a:solidFill>
                <a:latin typeface="Cambria" pitchFamily="34" charset="0"/>
                <a:ea typeface="Cambria" pitchFamily="34" charset="-122"/>
                <a:cs typeface="Cambria" pitchFamily="34" charset="-120"/>
              </a:rPr>
              <a:t>A table, listing or figure can be produced</a:t>
            </a:r>
            <a:endParaRPr lang="en-US" sz="3000" dirty="0"/>
          </a:p>
          <a:p>
            <a:pPr indent="0" marL="0">
              <a:lnSpc>
                <a:spcPts val="4200"/>
              </a:lnSpc>
              <a:buNone/>
            </a:pPr>
            <a:r>
              <a:rPr lang="en-US" sz="3000" b="1" dirty="0">
                <a:solidFill>
                  <a:srgbClr val="FFFFFF"/>
                </a:solidFill>
                <a:latin typeface="Cambria" pitchFamily="34" charset="0"/>
                <a:ea typeface="Cambria" pitchFamily="34" charset="-122"/>
                <a:cs typeface="Cambria" pitchFamily="34" charset="-120"/>
              </a:rPr>
              <a:t>by subsetting and summarising ONE dataset —</a:t>
            </a:r>
            <a:endParaRPr lang="en-US" sz="3000" dirty="0"/>
          </a:p>
          <a:p>
            <a:pPr indent="0" marL="0">
              <a:lnSpc>
                <a:spcPts val="4200"/>
              </a:lnSpc>
              <a:buNone/>
            </a:pPr>
            <a:r>
              <a:rPr lang="en-US" sz="3000" b="1" dirty="0">
                <a:solidFill>
                  <a:srgbClr val="FFFFFF"/>
                </a:solidFill>
                <a:latin typeface="Cambria" pitchFamily="34" charset="0"/>
                <a:ea typeface="Cambria" pitchFamily="34" charset="-122"/>
                <a:cs typeface="Cambria" pitchFamily="34" charset="-120"/>
              </a:rPr>
              <a:t>with no further merging and no further derivation.</a:t>
            </a:r>
            <a:endParaRPr lang="en-US" sz="3000" dirty="0"/>
          </a:p>
        </p:txBody>
      </p:sp>
      <p:sp>
        <p:nvSpPr>
          <p:cNvPr id="4" name="Shape 2"/>
          <p:cNvSpPr/>
          <p:nvPr/>
        </p:nvSpPr>
        <p:spPr>
          <a:xfrm>
            <a:off x="640080" y="4114800"/>
            <a:ext cx="73152" cy="1371600"/>
          </a:xfrm>
          <a:prstGeom prst="rect">
            <a:avLst/>
          </a:prstGeom>
          <a:solidFill>
            <a:srgbClr val="E8833A"/>
          </a:solidFill>
          <a:ln/>
        </p:spPr>
      </p:sp>
      <p:sp>
        <p:nvSpPr>
          <p:cNvPr id="5" name="Text 3"/>
          <p:cNvSpPr/>
          <p:nvPr/>
        </p:nvSpPr>
        <p:spPr>
          <a:xfrm>
            <a:off x="960120" y="4114800"/>
            <a:ext cx="10332720" cy="1371600"/>
          </a:xfrm>
          <a:prstGeom prst="rect">
            <a:avLst/>
          </a:prstGeom>
          <a:noFill/>
          <a:ln/>
        </p:spPr>
        <p:txBody>
          <a:bodyPr wrap="square" lIns="0" tIns="0" rIns="0" bIns="0" rtlCol="0" anchor="ctr"/>
          <a:lstStyle/>
          <a:p>
            <a:pPr indent="0" marL="0">
              <a:lnSpc>
                <a:spcPts val="2400"/>
              </a:lnSpc>
              <a:buNone/>
            </a:pPr>
            <a:r>
              <a:rPr lang="en-US" sz="1550" dirty="0">
                <a:solidFill>
                  <a:srgbClr val="C7DCE0"/>
                </a:solidFill>
                <a:latin typeface="Calibri" pitchFamily="34" charset="0"/>
                <a:ea typeface="Calibri" pitchFamily="34" charset="-122"/>
                <a:cs typeface="Calibri" pitchFamily="34" charset="-120"/>
              </a:rPr>
              <a:t>If you need a join at the analysis step, the analysis dataset was built wrong.</a:t>
            </a:r>
            <a:endParaRPr lang="en-US" sz="1550" dirty="0"/>
          </a:p>
          <a:p>
            <a:pPr indent="0" marL="0">
              <a:lnSpc>
                <a:spcPts val="2400"/>
              </a:lnSpc>
              <a:buNone/>
            </a:pPr>
            <a:endParaRPr lang="en-US" sz="1550" dirty="0"/>
          </a:p>
          <a:p>
            <a:pPr indent="0" marL="0">
              <a:lnSpc>
                <a:spcPts val="2400"/>
              </a:lnSpc>
              <a:buNone/>
            </a:pPr>
            <a:r>
              <a:rPr lang="en-US" sz="1550" dirty="0">
                <a:solidFill>
                  <a:srgbClr val="C7DCE0"/>
                </a:solidFill>
                <a:latin typeface="Calibri" pitchFamily="34" charset="0"/>
                <a:ea typeface="Calibri" pitchFamily="34" charset="-122"/>
                <a:cs typeface="Calibri" pitchFamily="34" charset="-120"/>
              </a:rPr>
              <a:t>That is not a style preference. It is the difference between a result a reviewer can reproduce and one they cannot.</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STRUCTURE</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Three dataset classes — and how to choose</a:t>
            </a:r>
            <a:endParaRPr lang="en-US" sz="3000" dirty="0"/>
          </a:p>
        </p:txBody>
      </p:sp>
      <p:sp>
        <p:nvSpPr>
          <p:cNvPr id="4" name="Shape 2"/>
          <p:cNvSpPr/>
          <p:nvPr/>
        </p:nvSpPr>
        <p:spPr>
          <a:xfrm>
            <a:off x="640080" y="1600200"/>
            <a:ext cx="3611880" cy="3840480"/>
          </a:xfrm>
          <a:prstGeom prst="roundRect">
            <a:avLst>
              <a:gd name="adj" fmla="val 2278"/>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640080" y="1600200"/>
            <a:ext cx="3611880" cy="118872"/>
          </a:xfrm>
          <a:prstGeom prst="rect">
            <a:avLst/>
          </a:prstGeom>
          <a:solidFill>
            <a:srgbClr val="E8833A"/>
          </a:solidFill>
          <a:ln/>
        </p:spPr>
      </p:sp>
      <p:sp>
        <p:nvSpPr>
          <p:cNvPr id="6" name="Text 4"/>
          <p:cNvSpPr/>
          <p:nvPr/>
        </p:nvSpPr>
        <p:spPr>
          <a:xfrm>
            <a:off x="914400" y="1874520"/>
            <a:ext cx="3108960" cy="457200"/>
          </a:xfrm>
          <a:prstGeom prst="rect">
            <a:avLst/>
          </a:prstGeom>
          <a:noFill/>
          <a:ln/>
        </p:spPr>
        <p:txBody>
          <a:bodyPr wrap="square" lIns="0" tIns="0" rIns="0" bIns="0" rtlCol="0" anchor="ctr"/>
          <a:lstStyle/>
          <a:p>
            <a:pPr indent="0" marL="0">
              <a:buNone/>
            </a:pPr>
            <a:r>
              <a:rPr lang="en-US" sz="2600" b="1" dirty="0">
                <a:solidFill>
                  <a:srgbClr val="E8833A"/>
                </a:solidFill>
                <a:latin typeface="Cambria" pitchFamily="34" charset="0"/>
                <a:ea typeface="Cambria" pitchFamily="34" charset="-122"/>
                <a:cs typeface="Cambria" pitchFamily="34" charset="-120"/>
              </a:rPr>
              <a:t>ADSL</a:t>
            </a:r>
            <a:endParaRPr lang="en-US" sz="2600" dirty="0"/>
          </a:p>
        </p:txBody>
      </p:sp>
      <p:sp>
        <p:nvSpPr>
          <p:cNvPr id="7" name="Text 5"/>
          <p:cNvSpPr/>
          <p:nvPr/>
        </p:nvSpPr>
        <p:spPr>
          <a:xfrm>
            <a:off x="914400" y="2377440"/>
            <a:ext cx="3108960" cy="32004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Subject-Level</a:t>
            </a:r>
            <a:endParaRPr lang="en-US" sz="1250" dirty="0"/>
          </a:p>
        </p:txBody>
      </p:sp>
      <p:sp>
        <p:nvSpPr>
          <p:cNvPr id="8" name="Text 6"/>
          <p:cNvSpPr/>
          <p:nvPr/>
        </p:nvSpPr>
        <p:spPr>
          <a:xfrm>
            <a:off x="914400" y="2834640"/>
            <a:ext cx="3108960" cy="731520"/>
          </a:xfrm>
          <a:prstGeom prst="rect">
            <a:avLst/>
          </a:prstGeom>
          <a:noFill/>
          <a:ln/>
        </p:spPr>
        <p:txBody>
          <a:bodyPr wrap="square" lIns="0" tIns="0" rIns="0" bIns="0" rtlCol="0" anchor="ctr"/>
          <a:lstStyle/>
          <a:p>
            <a:pPr indent="0" marL="0">
              <a:lnSpc>
                <a:spcPts val="1900"/>
              </a:lnSpc>
              <a:buNone/>
            </a:pPr>
            <a:r>
              <a:rPr lang="en-US" sz="1400" b="1" dirty="0">
                <a:solidFill>
                  <a:srgbClr val="0F2E3D"/>
                </a:solidFill>
                <a:latin typeface="Calibri" pitchFamily="34" charset="0"/>
                <a:ea typeface="Calibri" pitchFamily="34" charset="-122"/>
                <a:cs typeface="Calibri" pitchFamily="34" charset="-120"/>
              </a:rPr>
              <a:t>ONE row per subject</a:t>
            </a:r>
            <a:endParaRPr lang="en-US" sz="1400" dirty="0"/>
          </a:p>
        </p:txBody>
      </p:sp>
      <p:sp>
        <p:nvSpPr>
          <p:cNvPr id="9" name="Text 7"/>
          <p:cNvSpPr/>
          <p:nvPr/>
        </p:nvSpPr>
        <p:spPr>
          <a:xfrm>
            <a:off x="914400" y="3794760"/>
            <a:ext cx="3108960" cy="1371600"/>
          </a:xfrm>
          <a:prstGeom prst="rect">
            <a:avLst/>
          </a:prstGeom>
          <a:noFill/>
          <a:ln/>
        </p:spPr>
        <p:txBody>
          <a:bodyPr wrap="square" lIns="0" tIns="0" rIns="0" bIns="0" rtlCol="0" anchor="ctr"/>
          <a:lstStyle/>
          <a:p>
            <a:pPr indent="0" marL="0">
              <a:lnSpc>
                <a:spcPts val="1800"/>
              </a:lnSpc>
              <a:buNone/>
            </a:pPr>
            <a:r>
              <a:rPr lang="en-US" sz="1300" dirty="0">
                <a:solidFill>
                  <a:srgbClr val="5A7682"/>
                </a:solidFill>
                <a:latin typeface="Calibri" pitchFamily="34" charset="0"/>
                <a:ea typeface="Calibri" pitchFamily="34" charset="-122"/>
                <a:cs typeface="Calibri" pitchFamily="34" charset="-120"/>
              </a:rPr>
              <a:t>The spine. Treatment, populations, key dates.</a:t>
            </a:r>
            <a:endParaRPr lang="en-US" sz="1300" dirty="0"/>
          </a:p>
          <a:p>
            <a:pPr indent="0" marL="0">
              <a:lnSpc>
                <a:spcPts val="1800"/>
              </a:lnSpc>
              <a:buNone/>
            </a:pPr>
            <a:r>
              <a:rPr lang="en-US" sz="1300" dirty="0">
                <a:solidFill>
                  <a:srgbClr val="5A7682"/>
                </a:solidFill>
                <a:latin typeface="Calibri" pitchFamily="34" charset="0"/>
                <a:ea typeface="Calibri" pitchFamily="34" charset="-122"/>
                <a:cs typeface="Calibri" pitchFamily="34" charset="-120"/>
              </a:rPr>
              <a:t>Every other dataset copies from it.</a:t>
            </a:r>
            <a:endParaRPr lang="en-US" sz="1300" dirty="0"/>
          </a:p>
        </p:txBody>
      </p:sp>
      <p:sp>
        <p:nvSpPr>
          <p:cNvPr id="10" name="Shape 8"/>
          <p:cNvSpPr/>
          <p:nvPr/>
        </p:nvSpPr>
        <p:spPr>
          <a:xfrm>
            <a:off x="4434840" y="1600200"/>
            <a:ext cx="3611880" cy="3840480"/>
          </a:xfrm>
          <a:prstGeom prst="roundRect">
            <a:avLst>
              <a:gd name="adj" fmla="val 2278"/>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1" name="Shape 9"/>
          <p:cNvSpPr/>
          <p:nvPr/>
        </p:nvSpPr>
        <p:spPr>
          <a:xfrm>
            <a:off x="4434840" y="1600200"/>
            <a:ext cx="3611880" cy="118872"/>
          </a:xfrm>
          <a:prstGeom prst="rect">
            <a:avLst/>
          </a:prstGeom>
          <a:solidFill>
            <a:srgbClr val="0E7C86"/>
          </a:solidFill>
          <a:ln/>
        </p:spPr>
      </p:sp>
      <p:sp>
        <p:nvSpPr>
          <p:cNvPr id="12" name="Text 10"/>
          <p:cNvSpPr/>
          <p:nvPr/>
        </p:nvSpPr>
        <p:spPr>
          <a:xfrm>
            <a:off x="4709160" y="1874520"/>
            <a:ext cx="3108960" cy="457200"/>
          </a:xfrm>
          <a:prstGeom prst="rect">
            <a:avLst/>
          </a:prstGeom>
          <a:noFill/>
          <a:ln/>
        </p:spPr>
        <p:txBody>
          <a:bodyPr wrap="square" lIns="0" tIns="0" rIns="0" bIns="0" rtlCol="0" anchor="ctr"/>
          <a:lstStyle/>
          <a:p>
            <a:pPr indent="0" marL="0">
              <a:buNone/>
            </a:pPr>
            <a:r>
              <a:rPr lang="en-US" sz="2600" b="1" dirty="0">
                <a:solidFill>
                  <a:srgbClr val="0E7C86"/>
                </a:solidFill>
                <a:latin typeface="Cambria" pitchFamily="34" charset="0"/>
                <a:ea typeface="Cambria" pitchFamily="34" charset="-122"/>
                <a:cs typeface="Cambria" pitchFamily="34" charset="-120"/>
              </a:rPr>
              <a:t>BDS</a:t>
            </a:r>
            <a:endParaRPr lang="en-US" sz="2600" dirty="0"/>
          </a:p>
        </p:txBody>
      </p:sp>
      <p:sp>
        <p:nvSpPr>
          <p:cNvPr id="13" name="Text 11"/>
          <p:cNvSpPr/>
          <p:nvPr/>
        </p:nvSpPr>
        <p:spPr>
          <a:xfrm>
            <a:off x="4709160" y="2377440"/>
            <a:ext cx="3108960" cy="32004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Basic Data Structure</a:t>
            </a:r>
            <a:endParaRPr lang="en-US" sz="1250" dirty="0"/>
          </a:p>
        </p:txBody>
      </p:sp>
      <p:sp>
        <p:nvSpPr>
          <p:cNvPr id="14" name="Text 12"/>
          <p:cNvSpPr/>
          <p:nvPr/>
        </p:nvSpPr>
        <p:spPr>
          <a:xfrm>
            <a:off x="4709160" y="2834640"/>
            <a:ext cx="3108960" cy="731520"/>
          </a:xfrm>
          <a:prstGeom prst="rect">
            <a:avLst/>
          </a:prstGeom>
          <a:noFill/>
          <a:ln/>
        </p:spPr>
        <p:txBody>
          <a:bodyPr wrap="square" lIns="0" tIns="0" rIns="0" bIns="0" rtlCol="0" anchor="ctr"/>
          <a:lstStyle/>
          <a:p>
            <a:pPr indent="0" marL="0">
              <a:lnSpc>
                <a:spcPts val="1900"/>
              </a:lnSpc>
              <a:buNone/>
            </a:pPr>
            <a:r>
              <a:rPr lang="en-US" sz="1400" b="1" dirty="0">
                <a:solidFill>
                  <a:srgbClr val="0F2E3D"/>
                </a:solidFill>
                <a:latin typeface="Calibri" pitchFamily="34" charset="0"/>
                <a:ea typeface="Calibri" pitchFamily="34" charset="-122"/>
                <a:cs typeface="Calibri" pitchFamily="34" charset="-120"/>
              </a:rPr>
              <a:t>One row per subject</a:t>
            </a:r>
            <a:endParaRPr lang="en-US" sz="1400" dirty="0"/>
          </a:p>
          <a:p>
            <a:pPr indent="0" marL="0">
              <a:lnSpc>
                <a:spcPts val="1900"/>
              </a:lnSpc>
              <a:buNone/>
            </a:pPr>
            <a:r>
              <a:rPr lang="en-US" sz="1400" b="1" dirty="0">
                <a:solidFill>
                  <a:srgbClr val="0F2E3D"/>
                </a:solidFill>
                <a:latin typeface="Calibri" pitchFamily="34" charset="0"/>
                <a:ea typeface="Calibri" pitchFamily="34" charset="-122"/>
                <a:cs typeface="Calibri" pitchFamily="34" charset="-120"/>
              </a:rPr>
              <a:t>per parameter per visit</a:t>
            </a:r>
            <a:endParaRPr lang="en-US" sz="1400" dirty="0"/>
          </a:p>
        </p:txBody>
      </p:sp>
      <p:sp>
        <p:nvSpPr>
          <p:cNvPr id="15" name="Text 13"/>
          <p:cNvSpPr/>
          <p:nvPr/>
        </p:nvSpPr>
        <p:spPr>
          <a:xfrm>
            <a:off x="4709160" y="3794760"/>
            <a:ext cx="3108960" cy="1371600"/>
          </a:xfrm>
          <a:prstGeom prst="rect">
            <a:avLst/>
          </a:prstGeom>
          <a:noFill/>
          <a:ln/>
        </p:spPr>
        <p:txBody>
          <a:bodyPr wrap="square" lIns="0" tIns="0" rIns="0" bIns="0" rtlCol="0" anchor="ctr"/>
          <a:lstStyle/>
          <a:p>
            <a:pPr indent="0" marL="0">
              <a:lnSpc>
                <a:spcPts val="1800"/>
              </a:lnSpc>
              <a:buNone/>
            </a:pPr>
            <a:r>
              <a:rPr lang="en-US" sz="1300" dirty="0">
                <a:solidFill>
                  <a:srgbClr val="5A7682"/>
                </a:solidFill>
                <a:latin typeface="Calibri" pitchFamily="34" charset="0"/>
                <a:ea typeface="Calibri" pitchFamily="34" charset="-122"/>
                <a:cs typeface="Calibri" pitchFamily="34" charset="-120"/>
              </a:rPr>
              <a:t>Anything measured repeatedly:</a:t>
            </a:r>
            <a:endParaRPr lang="en-US" sz="1300" dirty="0"/>
          </a:p>
          <a:p>
            <a:pPr indent="0" marL="0">
              <a:lnSpc>
                <a:spcPts val="1800"/>
              </a:lnSpc>
              <a:buNone/>
            </a:pPr>
            <a:r>
              <a:rPr lang="en-US" sz="1300" dirty="0">
                <a:solidFill>
                  <a:srgbClr val="5A7682"/>
                </a:solidFill>
                <a:latin typeface="Calibri" pitchFamily="34" charset="0"/>
                <a:ea typeface="Calibri" pitchFamily="34" charset="-122"/>
                <a:cs typeface="Calibri" pitchFamily="34" charset="-120"/>
              </a:rPr>
              <a:t>vitals, labs, scores. ADVS, ADLB.</a:t>
            </a:r>
            <a:endParaRPr lang="en-US" sz="1300" dirty="0"/>
          </a:p>
        </p:txBody>
      </p:sp>
      <p:sp>
        <p:nvSpPr>
          <p:cNvPr id="16" name="Shape 14"/>
          <p:cNvSpPr/>
          <p:nvPr/>
        </p:nvSpPr>
        <p:spPr>
          <a:xfrm>
            <a:off x="8229600" y="1600200"/>
            <a:ext cx="3611880" cy="3840480"/>
          </a:xfrm>
          <a:prstGeom prst="roundRect">
            <a:avLst>
              <a:gd name="adj" fmla="val 2278"/>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Shape 15"/>
          <p:cNvSpPr/>
          <p:nvPr/>
        </p:nvSpPr>
        <p:spPr>
          <a:xfrm>
            <a:off x="8229600" y="1600200"/>
            <a:ext cx="3611880" cy="118872"/>
          </a:xfrm>
          <a:prstGeom prst="rect">
            <a:avLst/>
          </a:prstGeom>
          <a:solidFill>
            <a:srgbClr val="1FA8A0"/>
          </a:solidFill>
          <a:ln/>
        </p:spPr>
      </p:sp>
      <p:sp>
        <p:nvSpPr>
          <p:cNvPr id="18" name="Text 16"/>
          <p:cNvSpPr/>
          <p:nvPr/>
        </p:nvSpPr>
        <p:spPr>
          <a:xfrm>
            <a:off x="8503920" y="1874520"/>
            <a:ext cx="3108960" cy="457200"/>
          </a:xfrm>
          <a:prstGeom prst="rect">
            <a:avLst/>
          </a:prstGeom>
          <a:noFill/>
          <a:ln/>
        </p:spPr>
        <p:txBody>
          <a:bodyPr wrap="square" lIns="0" tIns="0" rIns="0" bIns="0" rtlCol="0" anchor="ctr"/>
          <a:lstStyle/>
          <a:p>
            <a:pPr indent="0" marL="0">
              <a:buNone/>
            </a:pPr>
            <a:r>
              <a:rPr lang="en-US" sz="2600" b="1" dirty="0">
                <a:solidFill>
                  <a:srgbClr val="1FA8A0"/>
                </a:solidFill>
                <a:latin typeface="Cambria" pitchFamily="34" charset="0"/>
                <a:ea typeface="Cambria" pitchFamily="34" charset="-122"/>
                <a:cs typeface="Cambria" pitchFamily="34" charset="-120"/>
              </a:rPr>
              <a:t>OCCDS</a:t>
            </a:r>
            <a:endParaRPr lang="en-US" sz="2600" dirty="0"/>
          </a:p>
        </p:txBody>
      </p:sp>
      <p:sp>
        <p:nvSpPr>
          <p:cNvPr id="19" name="Text 17"/>
          <p:cNvSpPr/>
          <p:nvPr/>
        </p:nvSpPr>
        <p:spPr>
          <a:xfrm>
            <a:off x="8503920" y="2377440"/>
            <a:ext cx="3108960" cy="32004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Occurrence</a:t>
            </a:r>
            <a:endParaRPr lang="en-US" sz="1250" dirty="0"/>
          </a:p>
        </p:txBody>
      </p:sp>
      <p:sp>
        <p:nvSpPr>
          <p:cNvPr id="20" name="Text 18"/>
          <p:cNvSpPr/>
          <p:nvPr/>
        </p:nvSpPr>
        <p:spPr>
          <a:xfrm>
            <a:off x="8503920" y="2834640"/>
            <a:ext cx="3108960" cy="731520"/>
          </a:xfrm>
          <a:prstGeom prst="rect">
            <a:avLst/>
          </a:prstGeom>
          <a:noFill/>
          <a:ln/>
        </p:spPr>
        <p:txBody>
          <a:bodyPr wrap="square" lIns="0" tIns="0" rIns="0" bIns="0" rtlCol="0" anchor="ctr"/>
          <a:lstStyle/>
          <a:p>
            <a:pPr indent="0" marL="0">
              <a:lnSpc>
                <a:spcPts val="1900"/>
              </a:lnSpc>
              <a:buNone/>
            </a:pPr>
            <a:r>
              <a:rPr lang="en-US" sz="1400" b="1" dirty="0">
                <a:solidFill>
                  <a:srgbClr val="0F2E3D"/>
                </a:solidFill>
                <a:latin typeface="Calibri" pitchFamily="34" charset="0"/>
                <a:ea typeface="Calibri" pitchFamily="34" charset="-122"/>
                <a:cs typeface="Calibri" pitchFamily="34" charset="-120"/>
              </a:rPr>
              <a:t>One row per event</a:t>
            </a:r>
            <a:endParaRPr lang="en-US" sz="1400" dirty="0"/>
          </a:p>
        </p:txBody>
      </p:sp>
      <p:sp>
        <p:nvSpPr>
          <p:cNvPr id="21" name="Text 19"/>
          <p:cNvSpPr/>
          <p:nvPr/>
        </p:nvSpPr>
        <p:spPr>
          <a:xfrm>
            <a:off x="8503920" y="3794760"/>
            <a:ext cx="3108960" cy="1371600"/>
          </a:xfrm>
          <a:prstGeom prst="rect">
            <a:avLst/>
          </a:prstGeom>
          <a:noFill/>
          <a:ln/>
        </p:spPr>
        <p:txBody>
          <a:bodyPr wrap="square" lIns="0" tIns="0" rIns="0" bIns="0" rtlCol="0" anchor="ctr"/>
          <a:lstStyle/>
          <a:p>
            <a:pPr indent="0" marL="0">
              <a:lnSpc>
                <a:spcPts val="1800"/>
              </a:lnSpc>
              <a:buNone/>
            </a:pPr>
            <a:r>
              <a:rPr lang="en-US" sz="1300" dirty="0">
                <a:solidFill>
                  <a:srgbClr val="5A7682"/>
                </a:solidFill>
                <a:latin typeface="Calibri" pitchFamily="34" charset="0"/>
                <a:ea typeface="Calibri" pitchFamily="34" charset="-122"/>
                <a:cs typeface="Calibri" pitchFamily="34" charset="-120"/>
              </a:rPr>
              <a:t>Things that either happened or did not:</a:t>
            </a:r>
            <a:endParaRPr lang="en-US" sz="1300" dirty="0"/>
          </a:p>
          <a:p>
            <a:pPr indent="0" marL="0">
              <a:lnSpc>
                <a:spcPts val="1800"/>
              </a:lnSpc>
              <a:buNone/>
            </a:pPr>
            <a:r>
              <a:rPr lang="en-US" sz="1300" dirty="0">
                <a:solidFill>
                  <a:srgbClr val="5A7682"/>
                </a:solidFill>
                <a:latin typeface="Calibri" pitchFamily="34" charset="0"/>
                <a:ea typeface="Calibri" pitchFamily="34" charset="-122"/>
                <a:cs typeface="Calibri" pitchFamily="34" charset="-120"/>
              </a:rPr>
              <a:t>adverse events, medications. ADAE.</a:t>
            </a:r>
            <a:endParaRPr lang="en-US" sz="1300" dirty="0"/>
          </a:p>
        </p:txBody>
      </p:sp>
      <p:sp>
        <p:nvSpPr>
          <p:cNvPr id="22" name="Text 20"/>
          <p:cNvSpPr/>
          <p:nvPr/>
        </p:nvSpPr>
        <p:spPr>
          <a:xfrm>
            <a:off x="640080" y="5669280"/>
            <a:ext cx="10972800" cy="457200"/>
          </a:xfrm>
          <a:prstGeom prst="rect">
            <a:avLst/>
          </a:prstGeom>
          <a:noFill/>
          <a:ln/>
        </p:spPr>
        <p:txBody>
          <a:bodyPr wrap="square" lIns="0" tIns="0" rIns="0" bIns="0" rtlCol="0" anchor="ctr"/>
          <a:lstStyle/>
          <a:p>
            <a:pPr indent="0" marL="0">
              <a:buNone/>
            </a:pPr>
            <a:r>
              <a:rPr lang="en-US" sz="1400" i="1" dirty="0">
                <a:solidFill>
                  <a:srgbClr val="0E7C86"/>
                </a:solidFill>
                <a:latin typeface="Calibri" pitchFamily="34" charset="0"/>
                <a:ea typeface="Calibri" pitchFamily="34" charset="-122"/>
                <a:cs typeface="Calibri" pitchFamily="34" charset="-120"/>
              </a:rPr>
              <a:t>Pick by SHAPE, not by subject matter. A questionnaire score is BDS. A protocol deviation is OCCDS.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ADSL</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One dataset defines the study's subject-level truth</a:t>
            </a:r>
            <a:endParaRPr lang="en-US" sz="3000" dirty="0"/>
          </a:p>
        </p:txBody>
      </p:sp>
      <p:sp>
        <p:nvSpPr>
          <p:cNvPr id="4" name="Shape 2"/>
          <p:cNvSpPr/>
          <p:nvPr/>
        </p:nvSpPr>
        <p:spPr>
          <a:xfrm>
            <a:off x="5394960" y="1737360"/>
            <a:ext cx="1371600" cy="1371600"/>
          </a:xfrm>
          <a:prstGeom prst="ellipse">
            <a:avLst/>
          </a:prstGeom>
          <a:solidFill>
            <a:srgbClr val="E8833A"/>
          </a:solidFill>
          <a:ln/>
        </p:spPr>
      </p:sp>
      <p:sp>
        <p:nvSpPr>
          <p:cNvPr id="5" name="Text 3"/>
          <p:cNvSpPr/>
          <p:nvPr/>
        </p:nvSpPr>
        <p:spPr>
          <a:xfrm>
            <a:off x="5394960" y="1737360"/>
            <a:ext cx="1371600" cy="13716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ADSL</a:t>
            </a:r>
            <a:endParaRPr lang="en-US" sz="2000" dirty="0"/>
          </a:p>
        </p:txBody>
      </p:sp>
      <p:sp>
        <p:nvSpPr>
          <p:cNvPr id="6" name="Shape 4"/>
          <p:cNvSpPr/>
          <p:nvPr/>
        </p:nvSpPr>
        <p:spPr>
          <a:xfrm>
            <a:off x="6080760" y="3108960"/>
            <a:ext cx="-3566160" cy="822960"/>
          </a:xfrm>
          <a:prstGeom prst="line">
            <a:avLst/>
          </a:prstGeom>
          <a:noFill/>
          <a:ln w="25400">
            <a:solidFill>
              <a:srgbClr val="CFDEE1"/>
            </a:solidFill>
            <a:prstDash val="solid"/>
          </a:ln>
        </p:spPr>
      </p:sp>
      <p:sp>
        <p:nvSpPr>
          <p:cNvPr id="7" name="Shape 5"/>
          <p:cNvSpPr/>
          <p:nvPr/>
        </p:nvSpPr>
        <p:spPr>
          <a:xfrm>
            <a:off x="6080760" y="3108960"/>
            <a:ext cx="-1188720" cy="822960"/>
          </a:xfrm>
          <a:prstGeom prst="line">
            <a:avLst/>
          </a:prstGeom>
          <a:noFill/>
          <a:ln w="25400">
            <a:solidFill>
              <a:srgbClr val="CFDEE1"/>
            </a:solidFill>
            <a:prstDash val="solid"/>
          </a:ln>
        </p:spPr>
      </p:sp>
      <p:sp>
        <p:nvSpPr>
          <p:cNvPr id="8" name="Shape 6"/>
          <p:cNvSpPr/>
          <p:nvPr/>
        </p:nvSpPr>
        <p:spPr>
          <a:xfrm>
            <a:off x="6080760" y="3108960"/>
            <a:ext cx="1188720" cy="822960"/>
          </a:xfrm>
          <a:prstGeom prst="line">
            <a:avLst/>
          </a:prstGeom>
          <a:noFill/>
          <a:ln w="25400">
            <a:solidFill>
              <a:srgbClr val="CFDEE1"/>
            </a:solidFill>
            <a:prstDash val="solid"/>
          </a:ln>
        </p:spPr>
      </p:sp>
      <p:sp>
        <p:nvSpPr>
          <p:cNvPr id="9" name="Shape 7"/>
          <p:cNvSpPr/>
          <p:nvPr/>
        </p:nvSpPr>
        <p:spPr>
          <a:xfrm>
            <a:off x="6080760" y="3108960"/>
            <a:ext cx="3566160" cy="822960"/>
          </a:xfrm>
          <a:prstGeom prst="line">
            <a:avLst/>
          </a:prstGeom>
          <a:noFill/>
          <a:ln w="25400">
            <a:solidFill>
              <a:srgbClr val="CFDEE1"/>
            </a:solidFill>
            <a:prstDash val="solid"/>
          </a:ln>
        </p:spPr>
      </p:sp>
      <p:sp>
        <p:nvSpPr>
          <p:cNvPr id="10" name="Shape 8"/>
          <p:cNvSpPr/>
          <p:nvPr/>
        </p:nvSpPr>
        <p:spPr>
          <a:xfrm>
            <a:off x="1828800" y="3931920"/>
            <a:ext cx="1371600" cy="685800"/>
          </a:xfrm>
          <a:prstGeom prst="roundRect">
            <a:avLst>
              <a:gd name="adj" fmla="val 1200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1" name="Text 9"/>
          <p:cNvSpPr/>
          <p:nvPr/>
        </p:nvSpPr>
        <p:spPr>
          <a:xfrm>
            <a:off x="1828800" y="3931920"/>
            <a:ext cx="1371600" cy="685800"/>
          </a:xfrm>
          <a:prstGeom prst="rect">
            <a:avLst/>
          </a:prstGeom>
          <a:noFill/>
          <a:ln/>
        </p:spPr>
        <p:txBody>
          <a:bodyPr wrap="square" lIns="0" tIns="0" rIns="0" bIns="0" rtlCol="0" anchor="ctr"/>
          <a:lstStyle/>
          <a:p>
            <a:pPr algn="ctr" indent="0" marL="0">
              <a:buNone/>
            </a:pPr>
            <a:r>
              <a:rPr lang="en-US" sz="1500" b="1" dirty="0">
                <a:solidFill>
                  <a:srgbClr val="0F2E3D"/>
                </a:solidFill>
                <a:latin typeface="Calibri" pitchFamily="34" charset="0"/>
                <a:ea typeface="Calibri" pitchFamily="34" charset="-122"/>
                <a:cs typeface="Calibri" pitchFamily="34" charset="-120"/>
              </a:rPr>
              <a:t>ADAE</a:t>
            </a:r>
            <a:endParaRPr lang="en-US" sz="1500" dirty="0"/>
          </a:p>
        </p:txBody>
      </p:sp>
      <p:sp>
        <p:nvSpPr>
          <p:cNvPr id="12" name="Shape 10"/>
          <p:cNvSpPr/>
          <p:nvPr/>
        </p:nvSpPr>
        <p:spPr>
          <a:xfrm>
            <a:off x="4206240" y="3931920"/>
            <a:ext cx="1371600" cy="685800"/>
          </a:xfrm>
          <a:prstGeom prst="roundRect">
            <a:avLst>
              <a:gd name="adj" fmla="val 1200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Text 11"/>
          <p:cNvSpPr/>
          <p:nvPr/>
        </p:nvSpPr>
        <p:spPr>
          <a:xfrm>
            <a:off x="4206240" y="3931920"/>
            <a:ext cx="1371600" cy="685800"/>
          </a:xfrm>
          <a:prstGeom prst="rect">
            <a:avLst/>
          </a:prstGeom>
          <a:noFill/>
          <a:ln/>
        </p:spPr>
        <p:txBody>
          <a:bodyPr wrap="square" lIns="0" tIns="0" rIns="0" bIns="0" rtlCol="0" anchor="ctr"/>
          <a:lstStyle/>
          <a:p>
            <a:pPr algn="ctr" indent="0" marL="0">
              <a:buNone/>
            </a:pPr>
            <a:r>
              <a:rPr lang="en-US" sz="1500" b="1" dirty="0">
                <a:solidFill>
                  <a:srgbClr val="0F2E3D"/>
                </a:solidFill>
                <a:latin typeface="Calibri" pitchFamily="34" charset="0"/>
                <a:ea typeface="Calibri" pitchFamily="34" charset="-122"/>
                <a:cs typeface="Calibri" pitchFamily="34" charset="-120"/>
              </a:rPr>
              <a:t>ADVS</a:t>
            </a:r>
            <a:endParaRPr lang="en-US" sz="1500" dirty="0"/>
          </a:p>
        </p:txBody>
      </p:sp>
      <p:sp>
        <p:nvSpPr>
          <p:cNvPr id="14" name="Shape 12"/>
          <p:cNvSpPr/>
          <p:nvPr/>
        </p:nvSpPr>
        <p:spPr>
          <a:xfrm>
            <a:off x="6583680" y="3931920"/>
            <a:ext cx="1371600" cy="685800"/>
          </a:xfrm>
          <a:prstGeom prst="roundRect">
            <a:avLst>
              <a:gd name="adj" fmla="val 1200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5" name="Text 13"/>
          <p:cNvSpPr/>
          <p:nvPr/>
        </p:nvSpPr>
        <p:spPr>
          <a:xfrm>
            <a:off x="6583680" y="3931920"/>
            <a:ext cx="1371600" cy="685800"/>
          </a:xfrm>
          <a:prstGeom prst="rect">
            <a:avLst/>
          </a:prstGeom>
          <a:noFill/>
          <a:ln/>
        </p:spPr>
        <p:txBody>
          <a:bodyPr wrap="square" lIns="0" tIns="0" rIns="0" bIns="0" rtlCol="0" anchor="ctr"/>
          <a:lstStyle/>
          <a:p>
            <a:pPr algn="ctr" indent="0" marL="0">
              <a:buNone/>
            </a:pPr>
            <a:r>
              <a:rPr lang="en-US" sz="1500" b="1" dirty="0">
                <a:solidFill>
                  <a:srgbClr val="0F2E3D"/>
                </a:solidFill>
                <a:latin typeface="Calibri" pitchFamily="34" charset="0"/>
                <a:ea typeface="Calibri" pitchFamily="34" charset="-122"/>
                <a:cs typeface="Calibri" pitchFamily="34" charset="-120"/>
              </a:rPr>
              <a:t>ADLB</a:t>
            </a:r>
            <a:endParaRPr lang="en-US" sz="1500" dirty="0"/>
          </a:p>
        </p:txBody>
      </p:sp>
      <p:sp>
        <p:nvSpPr>
          <p:cNvPr id="16" name="Shape 14"/>
          <p:cNvSpPr/>
          <p:nvPr/>
        </p:nvSpPr>
        <p:spPr>
          <a:xfrm>
            <a:off x="8961120" y="3931920"/>
            <a:ext cx="1371600" cy="685800"/>
          </a:xfrm>
          <a:prstGeom prst="roundRect">
            <a:avLst>
              <a:gd name="adj" fmla="val 1200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Text 15"/>
          <p:cNvSpPr/>
          <p:nvPr/>
        </p:nvSpPr>
        <p:spPr>
          <a:xfrm>
            <a:off x="8961120" y="3931920"/>
            <a:ext cx="1371600" cy="685800"/>
          </a:xfrm>
          <a:prstGeom prst="rect">
            <a:avLst/>
          </a:prstGeom>
          <a:noFill/>
          <a:ln/>
        </p:spPr>
        <p:txBody>
          <a:bodyPr wrap="square" lIns="0" tIns="0" rIns="0" bIns="0" rtlCol="0" anchor="ctr"/>
          <a:lstStyle/>
          <a:p>
            <a:pPr algn="ctr" indent="0" marL="0">
              <a:buNone/>
            </a:pPr>
            <a:r>
              <a:rPr lang="en-US" sz="1500" b="1" dirty="0">
                <a:solidFill>
                  <a:srgbClr val="0F2E3D"/>
                </a:solidFill>
                <a:latin typeface="Calibri" pitchFamily="34" charset="0"/>
                <a:ea typeface="Calibri" pitchFamily="34" charset="-122"/>
                <a:cs typeface="Calibri" pitchFamily="34" charset="-120"/>
              </a:rPr>
              <a:t>ADTTE</a:t>
            </a:r>
            <a:endParaRPr lang="en-US" sz="1500" dirty="0"/>
          </a:p>
        </p:txBody>
      </p:sp>
      <p:sp>
        <p:nvSpPr>
          <p:cNvPr id="18" name="Text 16"/>
          <p:cNvSpPr/>
          <p:nvPr/>
        </p:nvSpPr>
        <p:spPr>
          <a:xfrm>
            <a:off x="640080" y="4892040"/>
            <a:ext cx="10972800" cy="365760"/>
          </a:xfrm>
          <a:prstGeom prst="rect">
            <a:avLst/>
          </a:prstGeom>
          <a:noFill/>
          <a:ln/>
        </p:spPr>
        <p:txBody>
          <a:bodyPr wrap="square" lIns="0" tIns="0" rIns="0" bIns="0" rtlCol="0" anchor="ctr"/>
          <a:lstStyle/>
          <a:p>
            <a:pPr algn="ctr" indent="0" marL="0">
              <a:buNone/>
            </a:pPr>
            <a:r>
              <a:rPr lang="en-US" sz="1300" dirty="0">
                <a:solidFill>
                  <a:srgbClr val="0E7C86"/>
                </a:solidFill>
                <a:latin typeface="Courier New" pitchFamily="34" charset="0"/>
                <a:ea typeface="Courier New" pitchFamily="34" charset="-122"/>
                <a:cs typeface="Courier New" pitchFamily="34" charset="-120"/>
              </a:rPr>
              <a:t>TRT01P · TRT01A · SAFFL · ITTFL · TRTSDT · TRTEDT · AGEGR1</a:t>
            </a:r>
            <a:endParaRPr lang="en-US" sz="1300" dirty="0"/>
          </a:p>
        </p:txBody>
      </p:sp>
      <p:sp>
        <p:nvSpPr>
          <p:cNvPr id="19" name="Text 17"/>
          <p:cNvSpPr/>
          <p:nvPr/>
        </p:nvSpPr>
        <p:spPr>
          <a:xfrm>
            <a:off x="640080" y="5349240"/>
            <a:ext cx="10972800" cy="457200"/>
          </a:xfrm>
          <a:prstGeom prst="rect">
            <a:avLst/>
          </a:prstGeom>
          <a:noFill/>
          <a:ln/>
        </p:spPr>
        <p:txBody>
          <a:bodyPr wrap="square" lIns="0" tIns="0" rIns="0" bIns="0" rtlCol="0" anchor="ctr"/>
          <a:lstStyle/>
          <a:p>
            <a:pPr algn="ctr" indent="0" marL="0">
              <a:buNone/>
            </a:pPr>
            <a:r>
              <a:rPr lang="en-US" sz="1400" i="1" dirty="0">
                <a:solidFill>
                  <a:srgbClr val="5A7682"/>
                </a:solidFill>
                <a:latin typeface="Calibri" pitchFamily="34" charset="0"/>
                <a:ea typeface="Calibri" pitchFamily="34" charset="-122"/>
                <a:cs typeface="Calibri" pitchFamily="34" charset="-120"/>
              </a:rPr>
              <a:t>These are COPIED downstream — never re-derived. Re-deriving invites the two to drift, and nothing tells you when they do.</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TYPE CHANGE</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In ADaM, a date is a number</a:t>
            </a:r>
            <a:endParaRPr lang="en-US" sz="3000" dirty="0"/>
          </a:p>
        </p:txBody>
      </p:sp>
      <p:sp>
        <p:nvSpPr>
          <p:cNvPr id="4" name="Shape 2"/>
          <p:cNvSpPr/>
          <p:nvPr/>
        </p:nvSpPr>
        <p:spPr>
          <a:xfrm>
            <a:off x="640080" y="1554480"/>
            <a:ext cx="5394960" cy="1990344"/>
          </a:xfrm>
          <a:prstGeom prst="roundRect">
            <a:avLst>
              <a:gd name="adj" fmla="val 3675"/>
            </a:avLst>
          </a:prstGeom>
          <a:solidFill>
            <a:srgbClr val="13323F"/>
          </a:solidFill>
          <a:ln w="19050">
            <a:solidFill>
              <a:srgbClr val="0E7C86"/>
            </a:solidFill>
            <a:prstDash val="solid"/>
          </a:ln>
        </p:spPr>
      </p:sp>
      <p:sp>
        <p:nvSpPr>
          <p:cNvPr id="5" name="Text 3"/>
          <p:cNvSpPr/>
          <p:nvPr/>
        </p:nvSpPr>
        <p:spPr>
          <a:xfrm>
            <a:off x="868680" y="1645920"/>
            <a:ext cx="5486400" cy="320040"/>
          </a:xfrm>
          <a:prstGeom prst="rect">
            <a:avLst/>
          </a:prstGeom>
          <a:noFill/>
          <a:ln/>
        </p:spPr>
        <p:txBody>
          <a:bodyPr wrap="square" lIns="0" tIns="0" rIns="0" bIns="0" rtlCol="0" anchor="ctr"/>
          <a:lstStyle/>
          <a:p>
            <a:pPr indent="0" marL="0">
              <a:buNone/>
            </a:pPr>
            <a:r>
              <a:rPr lang="en-US" sz="1400" b="1" dirty="0">
                <a:solidFill>
                  <a:srgbClr val="0E7C86"/>
                </a:solidFill>
                <a:latin typeface="Cambria" pitchFamily="34" charset="0"/>
                <a:ea typeface="Cambria" pitchFamily="34" charset="-122"/>
                <a:cs typeface="Cambria" pitchFamily="34" charset="-120"/>
              </a:rPr>
              <a:t>SDTM</a:t>
            </a:r>
            <a:endParaRPr lang="en-US" sz="1400" dirty="0"/>
          </a:p>
        </p:txBody>
      </p:sp>
      <p:sp>
        <p:nvSpPr>
          <p:cNvPr id="6" name="Text 4"/>
          <p:cNvSpPr/>
          <p:nvPr/>
        </p:nvSpPr>
        <p:spPr>
          <a:xfrm>
            <a:off x="868680" y="2011680"/>
            <a:ext cx="4983480" cy="14234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RFXSTDTC = "2024-03-01"</a:t>
            </a:r>
            <a:endParaRPr lang="en-US" sz="1200" dirty="0"/>
          </a:p>
          <a:p>
            <a:pPr indent="0" marL="0">
              <a:lnSpc>
                <a:spcPts val="1700"/>
              </a:lnSpc>
              <a:buNone/>
            </a:pP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CHARACTER. ISO 8601.</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Faithful, readable, sortable.</a:t>
            </a:r>
            <a:endParaRPr lang="en-US" sz="1200" dirty="0"/>
          </a:p>
          <a:p>
            <a:pPr indent="0" marL="0">
              <a:lnSpc>
                <a:spcPts val="1700"/>
              </a:lnSpc>
              <a:buNone/>
            </a:pP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You cannot subtract it.</a:t>
            </a:r>
            <a:endParaRPr lang="en-US" sz="1200" dirty="0"/>
          </a:p>
        </p:txBody>
      </p:sp>
      <p:sp>
        <p:nvSpPr>
          <p:cNvPr id="7" name="Shape 5"/>
          <p:cNvSpPr/>
          <p:nvPr/>
        </p:nvSpPr>
        <p:spPr>
          <a:xfrm>
            <a:off x="6309360" y="1554480"/>
            <a:ext cx="5303520" cy="1990344"/>
          </a:xfrm>
          <a:prstGeom prst="roundRect">
            <a:avLst>
              <a:gd name="adj" fmla="val 3675"/>
            </a:avLst>
          </a:prstGeom>
          <a:solidFill>
            <a:srgbClr val="13323F"/>
          </a:solidFill>
          <a:ln w="19050">
            <a:solidFill>
              <a:srgbClr val="E8833A"/>
            </a:solidFill>
            <a:prstDash val="solid"/>
          </a:ln>
        </p:spPr>
      </p:sp>
      <p:sp>
        <p:nvSpPr>
          <p:cNvPr id="8" name="Text 6"/>
          <p:cNvSpPr/>
          <p:nvPr/>
        </p:nvSpPr>
        <p:spPr>
          <a:xfrm>
            <a:off x="6537960" y="1645920"/>
            <a:ext cx="5486400" cy="320040"/>
          </a:xfrm>
          <a:prstGeom prst="rect">
            <a:avLst/>
          </a:prstGeom>
          <a:noFill/>
          <a:ln/>
        </p:spPr>
        <p:txBody>
          <a:bodyPr wrap="square" lIns="0" tIns="0" rIns="0" bIns="0" rtlCol="0" anchor="ctr"/>
          <a:lstStyle/>
          <a:p>
            <a:pPr indent="0" marL="0">
              <a:buNone/>
            </a:pPr>
            <a:r>
              <a:rPr lang="en-US" sz="1400" b="1" dirty="0">
                <a:solidFill>
                  <a:srgbClr val="E8833A"/>
                </a:solidFill>
                <a:latin typeface="Cambria" pitchFamily="34" charset="0"/>
                <a:ea typeface="Cambria" pitchFamily="34" charset="-122"/>
                <a:cs typeface="Cambria" pitchFamily="34" charset="-120"/>
              </a:rPr>
              <a:t>ADaM</a:t>
            </a:r>
            <a:endParaRPr lang="en-US" sz="1400" dirty="0"/>
          </a:p>
        </p:txBody>
      </p:sp>
      <p:sp>
        <p:nvSpPr>
          <p:cNvPr id="9" name="Text 7"/>
          <p:cNvSpPr/>
          <p:nvPr/>
        </p:nvSpPr>
        <p:spPr>
          <a:xfrm>
            <a:off x="6537960" y="2011680"/>
            <a:ext cx="4892040" cy="14234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TRTSDT = 23436</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(01MAR2024)</a:t>
            </a:r>
            <a:endParaRPr lang="en-US" sz="1200" dirty="0"/>
          </a:p>
          <a:p>
            <a:pPr indent="0" marL="0">
              <a:lnSpc>
                <a:spcPts val="1700"/>
              </a:lnSpc>
              <a:buNone/>
            </a:pP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NUMERIC SAS date.</a:t>
            </a:r>
            <a:endParaRPr lang="en-US" sz="1200" dirty="0"/>
          </a:p>
          <a:p>
            <a:pPr indent="0" marL="0">
              <a:lnSpc>
                <a:spcPts val="1700"/>
              </a:lnSpc>
              <a:buNone/>
            </a:pP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TRTEDT - TRTSDT + 1 = 28</a:t>
            </a:r>
            <a:endParaRPr lang="en-US" sz="1200" dirty="0"/>
          </a:p>
        </p:txBody>
      </p:sp>
      <p:sp>
        <p:nvSpPr>
          <p:cNvPr id="10" name="Shape 8"/>
          <p:cNvSpPr/>
          <p:nvPr/>
        </p:nvSpPr>
        <p:spPr>
          <a:xfrm>
            <a:off x="640080" y="4114800"/>
            <a:ext cx="10972800" cy="1417320"/>
          </a:xfrm>
          <a:prstGeom prst="roundRect">
            <a:avLst>
              <a:gd name="adj" fmla="val 5806"/>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1" name="Text 9"/>
          <p:cNvSpPr/>
          <p:nvPr/>
        </p:nvSpPr>
        <p:spPr>
          <a:xfrm>
            <a:off x="914400" y="4343400"/>
            <a:ext cx="10424160" cy="1005840"/>
          </a:xfrm>
          <a:prstGeom prst="rect">
            <a:avLst/>
          </a:prstGeom>
          <a:noFill/>
          <a:ln/>
        </p:spPr>
        <p:txBody>
          <a:bodyPr wrap="square" lIns="0" tIns="0" rIns="0" bIns="0" rtlCol="0" anchor="ctr"/>
          <a:lstStyle/>
          <a:p>
            <a:pPr indent="0" marL="0">
              <a:lnSpc>
                <a:spcPts val="2200"/>
              </a:lnSpc>
              <a:buNone/>
            </a:pPr>
            <a:r>
              <a:rPr lang="en-US" sz="1450" b="1" dirty="0">
                <a:solidFill>
                  <a:srgbClr val="0E7C86"/>
                </a:solidFill>
                <a:latin typeface="Courier New" pitchFamily="34" charset="0"/>
                <a:ea typeface="Courier New" pitchFamily="34" charset="-122"/>
                <a:cs typeface="Courier New" pitchFamily="34" charset="-120"/>
              </a:rPr>
              <a:t>INPUT() </a:t>
            </a:r>
            <a:pPr indent="0" marL="0">
              <a:lnSpc>
                <a:spcPts val="2200"/>
              </a:lnSpc>
              <a:buNone/>
            </a:pPr>
            <a:r>
              <a:rPr lang="en-US" sz="1450" dirty="0">
                <a:solidFill>
                  <a:srgbClr val="0F2E3D"/>
                </a:solidFill>
                <a:latin typeface="Calibri" pitchFamily="34" charset="0"/>
                <a:ea typeface="Calibri" pitchFamily="34" charset="-122"/>
                <a:cs typeface="Calibri" pitchFamily="34" charset="-120"/>
              </a:rPr>
              <a:t>converts character → numeric.    </a:t>
            </a:r>
            <a:pPr indent="0" marL="0">
              <a:lnSpc>
                <a:spcPts val="2200"/>
              </a:lnSpc>
              <a:buNone/>
            </a:pPr>
            <a:r>
              <a:rPr lang="en-US" sz="1450" b="1" dirty="0">
                <a:solidFill>
                  <a:srgbClr val="E8833A"/>
                </a:solidFill>
                <a:latin typeface="Courier New" pitchFamily="34" charset="0"/>
                <a:ea typeface="Courier New" pitchFamily="34" charset="-122"/>
                <a:cs typeface="Courier New" pitchFamily="34" charset="-120"/>
              </a:rPr>
              <a:t>PUT() </a:t>
            </a:r>
            <a:pPr indent="0" marL="0">
              <a:lnSpc>
                <a:spcPts val="2200"/>
              </a:lnSpc>
              <a:buNone/>
            </a:pPr>
            <a:r>
              <a:rPr lang="en-US" sz="1450" dirty="0">
                <a:solidFill>
                  <a:srgbClr val="0F2E3D"/>
                </a:solidFill>
                <a:latin typeface="Calibri" pitchFamily="34" charset="0"/>
                <a:ea typeface="Calibri" pitchFamily="34" charset="-122"/>
                <a:cs typeface="Calibri" pitchFamily="34" charset="-120"/>
              </a:rPr>
              <a:t>converts numeric → character.
</a:t>
            </a:r>
            <a:pPr indent="0" marL="0">
              <a:lnSpc>
                <a:spcPts val="2200"/>
              </a:lnSpc>
              <a:buNone/>
            </a:pPr>
            <a:r>
              <a:rPr lang="en-US" sz="1450" i="1" dirty="0">
                <a:solidFill>
                  <a:srgbClr val="5A7682"/>
                </a:solidFill>
                <a:latin typeface="Calibri" pitchFamily="34" charset="0"/>
                <a:ea typeface="Calibri" pitchFamily="34" charset="-122"/>
                <a:cs typeface="Calibri" pitchFamily="34" charset="-120"/>
              </a:rPr>
              <a:t>Getting these backwards is the most common SAS error in this course. It does not always fail loudly.</a:t>
            </a:r>
            <a:endParaRPr lang="en-US" sz="1450" dirty="0"/>
          </a:p>
        </p:txBody>
      </p:sp>
      <p:sp>
        <p:nvSpPr>
          <p:cNvPr id="12" name="Text 10"/>
          <p:cNvSpPr/>
          <p:nvPr/>
        </p:nvSpPr>
        <p:spPr>
          <a:xfrm>
            <a:off x="640080" y="5715000"/>
            <a:ext cx="10972800" cy="365760"/>
          </a:xfrm>
          <a:prstGeom prst="rect">
            <a:avLst/>
          </a:prstGeom>
          <a:noFill/>
          <a:ln/>
        </p:spPr>
        <p:txBody>
          <a:bodyPr wrap="square" lIns="0" tIns="0" rIns="0" bIns="0" rtlCol="0" anchor="ctr"/>
          <a:lstStyle/>
          <a:p>
            <a:pPr indent="0" marL="0">
              <a:buNone/>
            </a:pPr>
            <a:r>
              <a:rPr lang="en-US" sz="1400" i="1" dirty="0">
                <a:solidFill>
                  <a:srgbClr val="0E7C86"/>
                </a:solidFill>
                <a:latin typeface="Calibri" pitchFamily="34" charset="0"/>
                <a:ea typeface="Calibri" pitchFamily="34" charset="-122"/>
                <a:cs typeface="Calibri" pitchFamily="34" charset="-120"/>
              </a:rPr>
              <a:t>Why the change? Because a table needs arithmetic, and arithmetic needs numbers.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HARD PART</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Baseline is a question about time, not about a visit</a:t>
            </a:r>
            <a:endParaRPr lang="en-US" sz="3000" dirty="0"/>
          </a:p>
        </p:txBody>
      </p:sp>
      <p:sp>
        <p:nvSpPr>
          <p:cNvPr id="4" name="Shape 2"/>
          <p:cNvSpPr/>
          <p:nvPr/>
        </p:nvSpPr>
        <p:spPr>
          <a:xfrm>
            <a:off x="640080" y="1554480"/>
            <a:ext cx="10972800" cy="822960"/>
          </a:xfrm>
          <a:prstGeom prst="roundRect">
            <a:avLst>
              <a:gd name="adj" fmla="val 10000"/>
            </a:avLst>
          </a:prstGeom>
          <a:solidFill>
            <a:srgbClr val="0F2E3D"/>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868680" y="1554480"/>
            <a:ext cx="10515600" cy="8229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Baseline = the LAST non-missing value on or before the date of first dose.</a:t>
            </a:r>
            <a:endParaRPr lang="en-US" sz="2000" dirty="0"/>
          </a:p>
        </p:txBody>
      </p:sp>
      <p:sp>
        <p:nvSpPr>
          <p:cNvPr id="6" name="Shape 4"/>
          <p:cNvSpPr/>
          <p:nvPr/>
        </p:nvSpPr>
        <p:spPr>
          <a:xfrm>
            <a:off x="640080" y="2606040"/>
            <a:ext cx="5394960" cy="2286000"/>
          </a:xfrm>
          <a:prstGeom prst="roundRect">
            <a:avLst>
              <a:gd name="adj" fmla="val 3600"/>
            </a:avLst>
          </a:prstGeom>
          <a:solidFill>
            <a:srgbClr val="FBEAE4"/>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7" name="Shape 5"/>
          <p:cNvSpPr/>
          <p:nvPr/>
        </p:nvSpPr>
        <p:spPr>
          <a:xfrm>
            <a:off x="640080" y="2606040"/>
            <a:ext cx="82296" cy="2286000"/>
          </a:xfrm>
          <a:prstGeom prst="rect">
            <a:avLst/>
          </a:prstGeom>
          <a:solidFill>
            <a:srgbClr val="C4442E"/>
          </a:solidFill>
          <a:ln/>
        </p:spPr>
      </p:sp>
      <p:sp>
        <p:nvSpPr>
          <p:cNvPr id="8" name="Text 6"/>
          <p:cNvSpPr/>
          <p:nvPr/>
        </p:nvSpPr>
        <p:spPr>
          <a:xfrm>
            <a:off x="960120" y="2743200"/>
            <a:ext cx="4846320" cy="320040"/>
          </a:xfrm>
          <a:prstGeom prst="rect">
            <a:avLst/>
          </a:prstGeom>
          <a:noFill/>
          <a:ln/>
        </p:spPr>
        <p:txBody>
          <a:bodyPr wrap="square" lIns="0" tIns="0" rIns="0" bIns="0" rtlCol="0" anchor="ctr"/>
          <a:lstStyle/>
          <a:p>
            <a:pPr indent="0" marL="0">
              <a:buNone/>
            </a:pPr>
            <a:r>
              <a:rPr lang="en-US" sz="1600" b="1" dirty="0">
                <a:solidFill>
                  <a:srgbClr val="C4442E"/>
                </a:solidFill>
                <a:latin typeface="Cambria" pitchFamily="34" charset="0"/>
                <a:ea typeface="Cambria" pitchFamily="34" charset="-122"/>
                <a:cs typeface="Cambria" pitchFamily="34" charset="-120"/>
              </a:rPr>
              <a:t>The tempting shortcut</a:t>
            </a:r>
            <a:endParaRPr lang="en-US" sz="1600" dirty="0"/>
          </a:p>
        </p:txBody>
      </p:sp>
      <p:sp>
        <p:nvSpPr>
          <p:cNvPr id="9" name="Text 7"/>
          <p:cNvSpPr/>
          <p:nvPr/>
        </p:nvSpPr>
        <p:spPr>
          <a:xfrm>
            <a:off x="960120" y="3108960"/>
            <a:ext cx="4846320" cy="1645920"/>
          </a:xfrm>
          <a:prstGeom prst="rect">
            <a:avLst/>
          </a:prstGeom>
          <a:noFill/>
          <a:ln/>
        </p:spPr>
        <p:txBody>
          <a:bodyPr wrap="square" lIns="0" tIns="0" rIns="0" bIns="0" rtlCol="0" anchor="ctr"/>
          <a:lstStyle/>
          <a:p>
            <a:pPr indent="0" marL="0">
              <a:lnSpc>
                <a:spcPts val="1800"/>
              </a:lnSpc>
              <a:buNone/>
            </a:pPr>
            <a:r>
              <a:rPr lang="en-US" sz="1250" dirty="0">
                <a:solidFill>
                  <a:srgbClr val="0F2E3D"/>
                </a:solidFill>
                <a:latin typeface="Courier New" pitchFamily="34" charset="0"/>
                <a:ea typeface="Courier New" pitchFamily="34" charset="-122"/>
                <a:cs typeface="Courier New" pitchFamily="34" charset="-120"/>
              </a:rPr>
              <a:t>if vsblfl = 'Y';
</a:t>
            </a:r>
            <a:pPr indent="0" marL="0">
              <a:lnSpc>
                <a:spcPts val="1800"/>
              </a:lnSpc>
              <a:buNone/>
            </a:pPr>
            <a:r>
              <a:rPr lang="en-US" sz="1300" dirty="0">
                <a:solidFill>
                  <a:srgbClr val="0F2E3D"/>
                </a:solidFill>
                <a:latin typeface="Calibri" pitchFamily="34" charset="0"/>
                <a:ea typeface="Calibri" pitchFamily="34" charset="-122"/>
                <a:cs typeface="Calibri" pitchFamily="34" charset="-120"/>
              </a:rPr>
              <a:t>HEIGHT is collected only at SCREENING.
VSBLFL marks the BASELINE visit.
</a:t>
            </a:r>
            <a:pPr indent="0" marL="0">
              <a:lnSpc>
                <a:spcPts val="1800"/>
              </a:lnSpc>
              <a:buNone/>
            </a:pPr>
            <a:r>
              <a:rPr lang="en-US" sz="1300" b="1" dirty="0">
                <a:solidFill>
                  <a:srgbClr val="0F2E3D"/>
                </a:solidFill>
                <a:latin typeface="Calibri" pitchFamily="34" charset="0"/>
                <a:ea typeface="Calibri" pitchFamily="34" charset="-122"/>
                <a:cs typeface="Calibri" pitchFamily="34" charset="-120"/>
              </a:rPr>
              <a:t>Zero height records carry VSBLFL='Y'.</a:t>
            </a:r>
            <a:endParaRPr lang="en-US" sz="1300" dirty="0"/>
          </a:p>
          <a:p>
            <a:pPr indent="0" marL="0">
              <a:lnSpc>
                <a:spcPts val="1800"/>
              </a:lnSpc>
              <a:buNone/>
            </a:pPr>
            <a:r>
              <a:rPr lang="en-US" sz="1300" b="1" dirty="0">
                <a:solidFill>
                  <a:srgbClr val="0F2E3D"/>
                </a:solidFill>
                <a:latin typeface="Calibri" pitchFamily="34" charset="0"/>
                <a:ea typeface="Calibri" pitchFamily="34" charset="-122"/>
                <a:cs typeface="Calibri" pitchFamily="34" charset="-120"/>
              </a:rPr>
              <a:t>All 8 subjects lose baseline height —</a:t>
            </a:r>
            <a:endParaRPr lang="en-US" sz="1300" dirty="0"/>
          </a:p>
          <a:p>
            <a:pPr indent="0" marL="0">
              <a:lnSpc>
                <a:spcPts val="1800"/>
              </a:lnSpc>
              <a:buNone/>
            </a:pPr>
            <a:r>
              <a:rPr lang="en-US" sz="1300" b="1" dirty="0">
                <a:solidFill>
                  <a:srgbClr val="0F2E3D"/>
                </a:solidFill>
                <a:latin typeface="Calibri" pitchFamily="34" charset="0"/>
                <a:ea typeface="Calibri" pitchFamily="34" charset="-122"/>
                <a:cs typeface="Calibri" pitchFamily="34" charset="-120"/>
              </a:rPr>
              <a:t>and their BMI. No error. No warning.</a:t>
            </a:r>
            <a:endParaRPr lang="en-US" sz="1300" dirty="0"/>
          </a:p>
        </p:txBody>
      </p:sp>
      <p:sp>
        <p:nvSpPr>
          <p:cNvPr id="10" name="Shape 8"/>
          <p:cNvSpPr/>
          <p:nvPr/>
        </p:nvSpPr>
        <p:spPr>
          <a:xfrm>
            <a:off x="6309360" y="2606040"/>
            <a:ext cx="5303520" cy="2286000"/>
          </a:xfrm>
          <a:prstGeom prst="roundRect">
            <a:avLst>
              <a:gd name="adj" fmla="val 3600"/>
            </a:avLst>
          </a:prstGeom>
          <a:solidFill>
            <a:srgbClr val="E8F4F1"/>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1" name="Shape 9"/>
          <p:cNvSpPr/>
          <p:nvPr/>
        </p:nvSpPr>
        <p:spPr>
          <a:xfrm>
            <a:off x="6309360" y="2606040"/>
            <a:ext cx="82296" cy="2286000"/>
          </a:xfrm>
          <a:prstGeom prst="rect">
            <a:avLst/>
          </a:prstGeom>
          <a:solidFill>
            <a:srgbClr val="1FA8A0"/>
          </a:solidFill>
          <a:ln/>
        </p:spPr>
      </p:sp>
      <p:sp>
        <p:nvSpPr>
          <p:cNvPr id="12" name="Text 10"/>
          <p:cNvSpPr/>
          <p:nvPr/>
        </p:nvSpPr>
        <p:spPr>
          <a:xfrm>
            <a:off x="6629400" y="2743200"/>
            <a:ext cx="4754880" cy="320040"/>
          </a:xfrm>
          <a:prstGeom prst="rect">
            <a:avLst/>
          </a:prstGeom>
          <a:noFill/>
          <a:ln/>
        </p:spPr>
        <p:txBody>
          <a:bodyPr wrap="square" lIns="0" tIns="0" rIns="0" bIns="0" rtlCol="0" anchor="ctr"/>
          <a:lstStyle/>
          <a:p>
            <a:pPr indent="0" marL="0">
              <a:buNone/>
            </a:pPr>
            <a:r>
              <a:rPr lang="en-US" sz="1600" b="1" dirty="0">
                <a:solidFill>
                  <a:srgbClr val="0E7C86"/>
                </a:solidFill>
                <a:latin typeface="Cambria" pitchFamily="34" charset="0"/>
                <a:ea typeface="Cambria" pitchFamily="34" charset="-122"/>
                <a:cs typeface="Cambria" pitchFamily="34" charset="-120"/>
              </a:rPr>
              <a:t>The rule, done properly</a:t>
            </a:r>
            <a:endParaRPr lang="en-US" sz="1600" dirty="0"/>
          </a:p>
        </p:txBody>
      </p:sp>
      <p:sp>
        <p:nvSpPr>
          <p:cNvPr id="13" name="Text 11"/>
          <p:cNvSpPr/>
          <p:nvPr/>
        </p:nvSpPr>
        <p:spPr>
          <a:xfrm>
            <a:off x="6629400" y="3108960"/>
            <a:ext cx="4754880" cy="1645920"/>
          </a:xfrm>
          <a:prstGeom prst="rect">
            <a:avLst/>
          </a:prstGeom>
          <a:noFill/>
          <a:ln/>
        </p:spPr>
        <p:txBody>
          <a:bodyPr wrap="square" lIns="0" tIns="0" rIns="0" bIns="0" rtlCol="0" anchor="ctr"/>
          <a:lstStyle/>
          <a:p>
            <a:pPr indent="0" marL="0">
              <a:lnSpc>
                <a:spcPts val="1800"/>
              </a:lnSpc>
              <a:buNone/>
            </a:pPr>
            <a:r>
              <a:rPr lang="en-US" sz="1250" dirty="0">
                <a:solidFill>
                  <a:srgbClr val="0F2E3D"/>
                </a:solidFill>
                <a:latin typeface="Courier New" pitchFamily="34" charset="0"/>
                <a:ea typeface="Courier New" pitchFamily="34" charset="-122"/>
                <a:cs typeface="Courier New" pitchFamily="34" charset="-120"/>
              </a:rPr>
              <a:t>where vsdtc &lt;= trtsdt
... if last.vstestcd;
</a:t>
            </a:r>
            <a:pPr indent="0" marL="0">
              <a:lnSpc>
                <a:spcPts val="1800"/>
              </a:lnSpc>
              <a:buNone/>
            </a:pPr>
            <a:r>
              <a:rPr lang="en-US" sz="1300" dirty="0">
                <a:solidFill>
                  <a:srgbClr val="0F2E3D"/>
                </a:solidFill>
                <a:latin typeface="Calibri" pitchFamily="34" charset="0"/>
                <a:ea typeface="Calibri" pitchFamily="34" charset="-122"/>
                <a:cs typeface="Calibri" pitchFamily="34" charset="-120"/>
              </a:rPr>
              <a:t>HEIGHT  → resolves to Screening
WEIGHT  → resolves to Baseline
</a:t>
            </a:r>
            <a:pPr indent="0" marL="0">
              <a:lnSpc>
                <a:spcPts val="1800"/>
              </a:lnSpc>
              <a:buNone/>
            </a:pPr>
            <a:r>
              <a:rPr lang="en-US" sz="1300" b="1" dirty="0">
                <a:solidFill>
                  <a:srgbClr val="0F2E3D"/>
                </a:solidFill>
                <a:latin typeface="Calibri" pitchFamily="34" charset="0"/>
                <a:ea typeface="Calibri" pitchFamily="34" charset="-122"/>
                <a:cs typeface="Calibri" pitchFamily="34" charset="-120"/>
              </a:rPr>
              <a:t>Same rule. Different visits.</a:t>
            </a:r>
            <a:endParaRPr lang="en-US" sz="1300" dirty="0"/>
          </a:p>
          <a:p>
            <a:pPr indent="0" marL="0">
              <a:lnSpc>
                <a:spcPts val="1800"/>
              </a:lnSpc>
              <a:buNone/>
            </a:pPr>
            <a:r>
              <a:rPr lang="en-US" sz="1300" b="1" dirty="0">
                <a:solidFill>
                  <a:srgbClr val="0F2E3D"/>
                </a:solidFill>
                <a:latin typeface="Calibri" pitchFamily="34" charset="0"/>
                <a:ea typeface="Calibri" pitchFamily="34" charset="-122"/>
                <a:cs typeface="Calibri" pitchFamily="34" charset="-120"/>
              </a:rPr>
              <a:t>Because it asks about TIME.</a:t>
            </a:r>
            <a:endParaRPr lang="en-US" sz="1300" dirty="0"/>
          </a:p>
        </p:txBody>
      </p:sp>
      <p:sp>
        <p:nvSpPr>
          <p:cNvPr id="14" name="Text 12"/>
          <p:cNvSpPr/>
          <p:nvPr/>
        </p:nvSpPr>
        <p:spPr>
          <a:xfrm>
            <a:off x="640080" y="5166360"/>
            <a:ext cx="10972800" cy="457200"/>
          </a:xfrm>
          <a:prstGeom prst="rect">
            <a:avLst/>
          </a:prstGeom>
          <a:noFill/>
          <a:ln/>
        </p:spPr>
        <p:txBody>
          <a:bodyPr wrap="square" lIns="0" tIns="0" rIns="0" bIns="0" rtlCol="0" anchor="ctr"/>
          <a:lstStyle/>
          <a:p>
            <a:pPr indent="0" marL="0">
              <a:buNone/>
            </a:pPr>
            <a:r>
              <a:rPr lang="en-US" sz="1450" i="1" dirty="0">
                <a:solidFill>
                  <a:srgbClr val="0E7C86"/>
                </a:solidFill>
                <a:latin typeface="Calibri" pitchFamily="34" charset="0"/>
                <a:ea typeface="Calibri" pitchFamily="34" charset="-122"/>
                <a:cs typeface="Calibri" pitchFamily="34" charset="-120"/>
              </a:rPr>
              <a:t>A rule written in terms of visit labels breaks the moment a parameter is collected on a different schedule.</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POPULATION FLAGS</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Different questions that happen to have the same answer</a:t>
            </a:r>
            <a:endParaRPr lang="en-US" sz="3000" dirty="0"/>
          </a:p>
        </p:txBody>
      </p:sp>
      <p:sp>
        <p:nvSpPr>
          <p:cNvPr id="4" name="Shape 2"/>
          <p:cNvSpPr/>
          <p:nvPr/>
        </p:nvSpPr>
        <p:spPr>
          <a:xfrm>
            <a:off x="640080" y="1645920"/>
            <a:ext cx="10972800" cy="1051560"/>
          </a:xfrm>
          <a:prstGeom prst="roundRect">
            <a:avLst>
              <a:gd name="adj" fmla="val 7826"/>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640080" y="1645920"/>
            <a:ext cx="82296" cy="1051560"/>
          </a:xfrm>
          <a:prstGeom prst="rect">
            <a:avLst/>
          </a:prstGeom>
          <a:solidFill>
            <a:srgbClr val="0E7C86"/>
          </a:solidFill>
          <a:ln/>
        </p:spPr>
      </p:sp>
      <p:sp>
        <p:nvSpPr>
          <p:cNvPr id="6" name="Text 4"/>
          <p:cNvSpPr/>
          <p:nvPr/>
        </p:nvSpPr>
        <p:spPr>
          <a:xfrm>
            <a:off x="960120" y="1773936"/>
            <a:ext cx="1828800" cy="411480"/>
          </a:xfrm>
          <a:prstGeom prst="rect">
            <a:avLst/>
          </a:prstGeom>
          <a:noFill/>
          <a:ln/>
        </p:spPr>
        <p:txBody>
          <a:bodyPr wrap="square" lIns="0" tIns="0" rIns="0" bIns="0" rtlCol="0" anchor="ctr"/>
          <a:lstStyle/>
          <a:p>
            <a:pPr indent="0" marL="0">
              <a:buNone/>
            </a:pPr>
            <a:r>
              <a:rPr lang="en-US" sz="1600" b="1" dirty="0">
                <a:solidFill>
                  <a:srgbClr val="0E7C86"/>
                </a:solidFill>
                <a:latin typeface="Courier New" pitchFamily="34" charset="0"/>
                <a:ea typeface="Courier New" pitchFamily="34" charset="-122"/>
                <a:cs typeface="Courier New" pitchFamily="34" charset="-120"/>
              </a:rPr>
              <a:t>SAFFL</a:t>
            </a:r>
            <a:endParaRPr lang="en-US" sz="1600" dirty="0"/>
          </a:p>
        </p:txBody>
      </p:sp>
      <p:sp>
        <p:nvSpPr>
          <p:cNvPr id="7" name="Text 5"/>
          <p:cNvSpPr/>
          <p:nvPr/>
        </p:nvSpPr>
        <p:spPr>
          <a:xfrm>
            <a:off x="960120" y="2194560"/>
            <a:ext cx="1828800" cy="320040"/>
          </a:xfrm>
          <a:prstGeom prst="rect">
            <a:avLst/>
          </a:prstGeom>
          <a:noFill/>
          <a:ln/>
        </p:spPr>
        <p:txBody>
          <a:bodyPr wrap="square" lIns="0" tIns="0" rIns="0" bIns="0" rtlCol="0" anchor="ctr"/>
          <a:lstStyle/>
          <a:p>
            <a:pPr indent="0" marL="0">
              <a:buNone/>
            </a:pPr>
            <a:r>
              <a:rPr lang="en-US" sz="1200" dirty="0">
                <a:solidFill>
                  <a:srgbClr val="5A7682"/>
                </a:solidFill>
                <a:latin typeface="Calibri" pitchFamily="34" charset="0"/>
                <a:ea typeface="Calibri" pitchFamily="34" charset="-122"/>
                <a:cs typeface="Calibri" pitchFamily="34" charset="-120"/>
              </a:rPr>
              <a:t>Safety</a:t>
            </a:r>
            <a:endParaRPr lang="en-US" sz="1200" dirty="0"/>
          </a:p>
        </p:txBody>
      </p:sp>
      <p:sp>
        <p:nvSpPr>
          <p:cNvPr id="8" name="Text 6"/>
          <p:cNvSpPr/>
          <p:nvPr/>
        </p:nvSpPr>
        <p:spPr>
          <a:xfrm>
            <a:off x="3017520" y="1773936"/>
            <a:ext cx="4937760" cy="457200"/>
          </a:xfrm>
          <a:prstGeom prst="rect">
            <a:avLst/>
          </a:prstGeom>
          <a:noFill/>
          <a:ln/>
        </p:spPr>
        <p:txBody>
          <a:bodyPr wrap="square" lIns="0" tIns="0" rIns="0" bIns="0" rtlCol="0" anchor="ctr"/>
          <a:lstStyle/>
          <a:p>
            <a:pPr indent="0" marL="0">
              <a:buNone/>
            </a:pPr>
            <a:r>
              <a:rPr lang="en-US" sz="1450" dirty="0">
                <a:solidFill>
                  <a:srgbClr val="0F2E3D"/>
                </a:solidFill>
                <a:latin typeface="Calibri" pitchFamily="34" charset="0"/>
                <a:ea typeface="Calibri" pitchFamily="34" charset="-122"/>
                <a:cs typeface="Calibri" pitchFamily="34" charset="-120"/>
              </a:rPr>
              <a:t>Did the subject take at least one dose?</a:t>
            </a:r>
            <a:endParaRPr lang="en-US" sz="1450" dirty="0"/>
          </a:p>
        </p:txBody>
      </p:sp>
      <p:sp>
        <p:nvSpPr>
          <p:cNvPr id="9" name="Text 7"/>
          <p:cNvSpPr/>
          <p:nvPr/>
        </p:nvSpPr>
        <p:spPr>
          <a:xfrm>
            <a:off x="3017520" y="2212848"/>
            <a:ext cx="4937760" cy="365760"/>
          </a:xfrm>
          <a:prstGeom prst="rect">
            <a:avLst/>
          </a:prstGeom>
          <a:noFill/>
          <a:ln/>
        </p:spPr>
        <p:txBody>
          <a:bodyPr wrap="square" lIns="0" tIns="0" rIns="0" bIns="0" rtlCol="0" anchor="ctr"/>
          <a:lstStyle/>
          <a:p>
            <a:pPr indent="0" marL="0">
              <a:buNone/>
            </a:pPr>
            <a:r>
              <a:rPr lang="en-US" sz="1200" dirty="0">
                <a:solidFill>
                  <a:srgbClr val="5A7682"/>
                </a:solidFill>
                <a:latin typeface="Courier New" pitchFamily="34" charset="0"/>
                <a:ea typeface="Courier New" pitchFamily="34" charset="-122"/>
                <a:cs typeface="Courier New" pitchFamily="34" charset="-120"/>
              </a:rPr>
              <a:t>TRTSDT is not missing</a:t>
            </a:r>
            <a:endParaRPr lang="en-US" sz="1200" dirty="0"/>
          </a:p>
        </p:txBody>
      </p:sp>
      <p:sp>
        <p:nvSpPr>
          <p:cNvPr id="10" name="Text 8"/>
          <p:cNvSpPr/>
          <p:nvPr/>
        </p:nvSpPr>
        <p:spPr>
          <a:xfrm>
            <a:off x="8229600" y="1920240"/>
            <a:ext cx="3108960" cy="457200"/>
          </a:xfrm>
          <a:prstGeom prst="rect">
            <a:avLst/>
          </a:prstGeom>
          <a:noFill/>
          <a:ln/>
        </p:spPr>
        <p:txBody>
          <a:bodyPr wrap="square" lIns="0" tIns="0" rIns="0" bIns="0" rtlCol="0" anchor="ctr"/>
          <a:lstStyle/>
          <a:p>
            <a:pPr indent="0" marL="0">
              <a:buNone/>
            </a:pPr>
            <a:r>
              <a:rPr lang="en-US" sz="1350" i="1" dirty="0">
                <a:solidFill>
                  <a:srgbClr val="5A7682"/>
                </a:solidFill>
                <a:latin typeface="Calibri" pitchFamily="34" charset="0"/>
                <a:ea typeface="Calibri" pitchFamily="34" charset="-122"/>
                <a:cs typeface="Calibri" pitchFamily="34" charset="-120"/>
              </a:rPr>
              <a:t>Y for all 8</a:t>
            </a:r>
            <a:endParaRPr lang="en-US" sz="1350" dirty="0"/>
          </a:p>
        </p:txBody>
      </p:sp>
      <p:sp>
        <p:nvSpPr>
          <p:cNvPr id="11" name="Shape 9"/>
          <p:cNvSpPr/>
          <p:nvPr/>
        </p:nvSpPr>
        <p:spPr>
          <a:xfrm>
            <a:off x="640080" y="2816352"/>
            <a:ext cx="10972800" cy="1051560"/>
          </a:xfrm>
          <a:prstGeom prst="roundRect">
            <a:avLst>
              <a:gd name="adj" fmla="val 7826"/>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2" name="Shape 10"/>
          <p:cNvSpPr/>
          <p:nvPr/>
        </p:nvSpPr>
        <p:spPr>
          <a:xfrm>
            <a:off x="640080" y="2816352"/>
            <a:ext cx="82296" cy="1051560"/>
          </a:xfrm>
          <a:prstGeom prst="rect">
            <a:avLst/>
          </a:prstGeom>
          <a:solidFill>
            <a:srgbClr val="1FA8A0"/>
          </a:solidFill>
          <a:ln/>
        </p:spPr>
      </p:sp>
      <p:sp>
        <p:nvSpPr>
          <p:cNvPr id="13" name="Text 11"/>
          <p:cNvSpPr/>
          <p:nvPr/>
        </p:nvSpPr>
        <p:spPr>
          <a:xfrm>
            <a:off x="960120" y="2944368"/>
            <a:ext cx="1828800" cy="411480"/>
          </a:xfrm>
          <a:prstGeom prst="rect">
            <a:avLst/>
          </a:prstGeom>
          <a:noFill/>
          <a:ln/>
        </p:spPr>
        <p:txBody>
          <a:bodyPr wrap="square" lIns="0" tIns="0" rIns="0" bIns="0" rtlCol="0" anchor="ctr"/>
          <a:lstStyle/>
          <a:p>
            <a:pPr indent="0" marL="0">
              <a:buNone/>
            </a:pPr>
            <a:r>
              <a:rPr lang="en-US" sz="1600" b="1" dirty="0">
                <a:solidFill>
                  <a:srgbClr val="1FA8A0"/>
                </a:solidFill>
                <a:latin typeface="Courier New" pitchFamily="34" charset="0"/>
                <a:ea typeface="Courier New" pitchFamily="34" charset="-122"/>
                <a:cs typeface="Courier New" pitchFamily="34" charset="-120"/>
              </a:rPr>
              <a:t>ITTFL</a:t>
            </a:r>
            <a:endParaRPr lang="en-US" sz="1600" dirty="0"/>
          </a:p>
        </p:txBody>
      </p:sp>
      <p:sp>
        <p:nvSpPr>
          <p:cNvPr id="14" name="Text 12"/>
          <p:cNvSpPr/>
          <p:nvPr/>
        </p:nvSpPr>
        <p:spPr>
          <a:xfrm>
            <a:off x="960120" y="3364992"/>
            <a:ext cx="1828800" cy="320040"/>
          </a:xfrm>
          <a:prstGeom prst="rect">
            <a:avLst/>
          </a:prstGeom>
          <a:noFill/>
          <a:ln/>
        </p:spPr>
        <p:txBody>
          <a:bodyPr wrap="square" lIns="0" tIns="0" rIns="0" bIns="0" rtlCol="0" anchor="ctr"/>
          <a:lstStyle/>
          <a:p>
            <a:pPr indent="0" marL="0">
              <a:buNone/>
            </a:pPr>
            <a:r>
              <a:rPr lang="en-US" sz="1200" dirty="0">
                <a:solidFill>
                  <a:srgbClr val="5A7682"/>
                </a:solidFill>
                <a:latin typeface="Calibri" pitchFamily="34" charset="0"/>
                <a:ea typeface="Calibri" pitchFamily="34" charset="-122"/>
                <a:cs typeface="Calibri" pitchFamily="34" charset="-120"/>
              </a:rPr>
              <a:t>Intent-to-treat</a:t>
            </a:r>
            <a:endParaRPr lang="en-US" sz="1200" dirty="0"/>
          </a:p>
        </p:txBody>
      </p:sp>
      <p:sp>
        <p:nvSpPr>
          <p:cNvPr id="15" name="Text 13"/>
          <p:cNvSpPr/>
          <p:nvPr/>
        </p:nvSpPr>
        <p:spPr>
          <a:xfrm>
            <a:off x="3017520" y="2944368"/>
            <a:ext cx="4937760" cy="457200"/>
          </a:xfrm>
          <a:prstGeom prst="rect">
            <a:avLst/>
          </a:prstGeom>
          <a:noFill/>
          <a:ln/>
        </p:spPr>
        <p:txBody>
          <a:bodyPr wrap="square" lIns="0" tIns="0" rIns="0" bIns="0" rtlCol="0" anchor="ctr"/>
          <a:lstStyle/>
          <a:p>
            <a:pPr indent="0" marL="0">
              <a:buNone/>
            </a:pPr>
            <a:r>
              <a:rPr lang="en-US" sz="1450" dirty="0">
                <a:solidFill>
                  <a:srgbClr val="0F2E3D"/>
                </a:solidFill>
                <a:latin typeface="Calibri" pitchFamily="34" charset="0"/>
                <a:ea typeface="Calibri" pitchFamily="34" charset="-122"/>
                <a:cs typeface="Calibri" pitchFamily="34" charset="-120"/>
              </a:rPr>
              <a:t>Was the subject randomised?</a:t>
            </a:r>
            <a:endParaRPr lang="en-US" sz="1450" dirty="0"/>
          </a:p>
        </p:txBody>
      </p:sp>
      <p:sp>
        <p:nvSpPr>
          <p:cNvPr id="16" name="Text 14"/>
          <p:cNvSpPr/>
          <p:nvPr/>
        </p:nvSpPr>
        <p:spPr>
          <a:xfrm>
            <a:off x="3017520" y="3383280"/>
            <a:ext cx="4937760" cy="365760"/>
          </a:xfrm>
          <a:prstGeom prst="rect">
            <a:avLst/>
          </a:prstGeom>
          <a:noFill/>
          <a:ln/>
        </p:spPr>
        <p:txBody>
          <a:bodyPr wrap="square" lIns="0" tIns="0" rIns="0" bIns="0" rtlCol="0" anchor="ctr"/>
          <a:lstStyle/>
          <a:p>
            <a:pPr indent="0" marL="0">
              <a:buNone/>
            </a:pPr>
            <a:r>
              <a:rPr lang="en-US" sz="1200" dirty="0">
                <a:solidFill>
                  <a:srgbClr val="5A7682"/>
                </a:solidFill>
                <a:latin typeface="Courier New" pitchFamily="34" charset="0"/>
                <a:ea typeface="Courier New" pitchFamily="34" charset="-122"/>
                <a:cs typeface="Courier New" pitchFamily="34" charset="-120"/>
              </a:rPr>
              <a:t>RANDDT is not missing</a:t>
            </a:r>
            <a:endParaRPr lang="en-US" sz="1200" dirty="0"/>
          </a:p>
        </p:txBody>
      </p:sp>
      <p:sp>
        <p:nvSpPr>
          <p:cNvPr id="17" name="Text 15"/>
          <p:cNvSpPr/>
          <p:nvPr/>
        </p:nvSpPr>
        <p:spPr>
          <a:xfrm>
            <a:off x="8229600" y="3090672"/>
            <a:ext cx="3108960" cy="457200"/>
          </a:xfrm>
          <a:prstGeom prst="rect">
            <a:avLst/>
          </a:prstGeom>
          <a:noFill/>
          <a:ln/>
        </p:spPr>
        <p:txBody>
          <a:bodyPr wrap="square" lIns="0" tIns="0" rIns="0" bIns="0" rtlCol="0" anchor="ctr"/>
          <a:lstStyle/>
          <a:p>
            <a:pPr indent="0" marL="0">
              <a:buNone/>
            </a:pPr>
            <a:r>
              <a:rPr lang="en-US" sz="1350" i="1" dirty="0">
                <a:solidFill>
                  <a:srgbClr val="5A7682"/>
                </a:solidFill>
                <a:latin typeface="Calibri" pitchFamily="34" charset="0"/>
                <a:ea typeface="Calibri" pitchFamily="34" charset="-122"/>
                <a:cs typeface="Calibri" pitchFamily="34" charset="-120"/>
              </a:rPr>
              <a:t>Y for all 8</a:t>
            </a:r>
            <a:endParaRPr lang="en-US" sz="1350" dirty="0"/>
          </a:p>
        </p:txBody>
      </p:sp>
      <p:sp>
        <p:nvSpPr>
          <p:cNvPr id="18" name="Shape 16"/>
          <p:cNvSpPr/>
          <p:nvPr/>
        </p:nvSpPr>
        <p:spPr>
          <a:xfrm>
            <a:off x="640080" y="3986784"/>
            <a:ext cx="10972800" cy="1051560"/>
          </a:xfrm>
          <a:prstGeom prst="roundRect">
            <a:avLst>
              <a:gd name="adj" fmla="val 7826"/>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9" name="Shape 17"/>
          <p:cNvSpPr/>
          <p:nvPr/>
        </p:nvSpPr>
        <p:spPr>
          <a:xfrm>
            <a:off x="640080" y="3986784"/>
            <a:ext cx="82296" cy="1051560"/>
          </a:xfrm>
          <a:prstGeom prst="rect">
            <a:avLst/>
          </a:prstGeom>
          <a:solidFill>
            <a:srgbClr val="E8833A"/>
          </a:solidFill>
          <a:ln/>
        </p:spPr>
      </p:sp>
      <p:sp>
        <p:nvSpPr>
          <p:cNvPr id="20" name="Text 18"/>
          <p:cNvSpPr/>
          <p:nvPr/>
        </p:nvSpPr>
        <p:spPr>
          <a:xfrm>
            <a:off x="960120" y="4114800"/>
            <a:ext cx="1828800" cy="411480"/>
          </a:xfrm>
          <a:prstGeom prst="rect">
            <a:avLst/>
          </a:prstGeom>
          <a:noFill/>
          <a:ln/>
        </p:spPr>
        <p:txBody>
          <a:bodyPr wrap="square" lIns="0" tIns="0" rIns="0" bIns="0" rtlCol="0" anchor="ctr"/>
          <a:lstStyle/>
          <a:p>
            <a:pPr indent="0" marL="0">
              <a:buNone/>
            </a:pPr>
            <a:r>
              <a:rPr lang="en-US" sz="1600" b="1" dirty="0">
                <a:solidFill>
                  <a:srgbClr val="E8833A"/>
                </a:solidFill>
                <a:latin typeface="Courier New" pitchFamily="34" charset="0"/>
                <a:ea typeface="Courier New" pitchFamily="34" charset="-122"/>
                <a:cs typeface="Courier New" pitchFamily="34" charset="-120"/>
              </a:rPr>
              <a:t>COMPLFL</a:t>
            </a:r>
            <a:endParaRPr lang="en-US" sz="1600" dirty="0"/>
          </a:p>
        </p:txBody>
      </p:sp>
      <p:sp>
        <p:nvSpPr>
          <p:cNvPr id="21" name="Text 19"/>
          <p:cNvSpPr/>
          <p:nvPr/>
        </p:nvSpPr>
        <p:spPr>
          <a:xfrm>
            <a:off x="960120" y="4535424"/>
            <a:ext cx="1828800" cy="320040"/>
          </a:xfrm>
          <a:prstGeom prst="rect">
            <a:avLst/>
          </a:prstGeom>
          <a:noFill/>
          <a:ln/>
        </p:spPr>
        <p:txBody>
          <a:bodyPr wrap="square" lIns="0" tIns="0" rIns="0" bIns="0" rtlCol="0" anchor="ctr"/>
          <a:lstStyle/>
          <a:p>
            <a:pPr indent="0" marL="0">
              <a:buNone/>
            </a:pPr>
            <a:r>
              <a:rPr lang="en-US" sz="1200" dirty="0">
                <a:solidFill>
                  <a:srgbClr val="5A7682"/>
                </a:solidFill>
                <a:latin typeface="Calibri" pitchFamily="34" charset="0"/>
                <a:ea typeface="Calibri" pitchFamily="34" charset="-122"/>
                <a:cs typeface="Calibri" pitchFamily="34" charset="-120"/>
              </a:rPr>
              <a:t>Completers</a:t>
            </a:r>
            <a:endParaRPr lang="en-US" sz="1200" dirty="0"/>
          </a:p>
        </p:txBody>
      </p:sp>
      <p:sp>
        <p:nvSpPr>
          <p:cNvPr id="22" name="Text 20"/>
          <p:cNvSpPr/>
          <p:nvPr/>
        </p:nvSpPr>
        <p:spPr>
          <a:xfrm>
            <a:off x="3017520" y="4114800"/>
            <a:ext cx="4937760" cy="457200"/>
          </a:xfrm>
          <a:prstGeom prst="rect">
            <a:avLst/>
          </a:prstGeom>
          <a:noFill/>
          <a:ln/>
        </p:spPr>
        <p:txBody>
          <a:bodyPr wrap="square" lIns="0" tIns="0" rIns="0" bIns="0" rtlCol="0" anchor="ctr"/>
          <a:lstStyle/>
          <a:p>
            <a:pPr indent="0" marL="0">
              <a:buNone/>
            </a:pPr>
            <a:r>
              <a:rPr lang="en-US" sz="1450" dirty="0">
                <a:solidFill>
                  <a:srgbClr val="0F2E3D"/>
                </a:solidFill>
                <a:latin typeface="Calibri" pitchFamily="34" charset="0"/>
                <a:ea typeface="Calibri" pitchFamily="34" charset="-122"/>
                <a:cs typeface="Calibri" pitchFamily="34" charset="-120"/>
              </a:rPr>
              <a:t>Did the subject finish the study?</a:t>
            </a:r>
            <a:endParaRPr lang="en-US" sz="1450" dirty="0"/>
          </a:p>
        </p:txBody>
      </p:sp>
      <p:sp>
        <p:nvSpPr>
          <p:cNvPr id="23" name="Text 21"/>
          <p:cNvSpPr/>
          <p:nvPr/>
        </p:nvSpPr>
        <p:spPr>
          <a:xfrm>
            <a:off x="3017520" y="4553712"/>
            <a:ext cx="4937760" cy="365760"/>
          </a:xfrm>
          <a:prstGeom prst="rect">
            <a:avLst/>
          </a:prstGeom>
          <a:noFill/>
          <a:ln/>
        </p:spPr>
        <p:txBody>
          <a:bodyPr wrap="square" lIns="0" tIns="0" rIns="0" bIns="0" rtlCol="0" anchor="ctr"/>
          <a:lstStyle/>
          <a:p>
            <a:pPr indent="0" marL="0">
              <a:buNone/>
            </a:pPr>
            <a:r>
              <a:rPr lang="en-US" sz="1200" dirty="0">
                <a:solidFill>
                  <a:srgbClr val="5A7682"/>
                </a:solidFill>
                <a:latin typeface="Courier New" pitchFamily="34" charset="0"/>
                <a:ea typeface="Courier New" pitchFamily="34" charset="-122"/>
                <a:cs typeface="Courier New" pitchFamily="34" charset="-120"/>
              </a:rPr>
              <a:t>DS disposition = COMPLETED</a:t>
            </a:r>
            <a:endParaRPr lang="en-US" sz="1200" dirty="0"/>
          </a:p>
        </p:txBody>
      </p:sp>
      <p:sp>
        <p:nvSpPr>
          <p:cNvPr id="24" name="Text 22"/>
          <p:cNvSpPr/>
          <p:nvPr/>
        </p:nvSpPr>
        <p:spPr>
          <a:xfrm>
            <a:off x="8229600" y="4261104"/>
            <a:ext cx="3108960" cy="457200"/>
          </a:xfrm>
          <a:prstGeom prst="rect">
            <a:avLst/>
          </a:prstGeom>
          <a:noFill/>
          <a:ln/>
        </p:spPr>
        <p:txBody>
          <a:bodyPr wrap="square" lIns="0" tIns="0" rIns="0" bIns="0" rtlCol="0" anchor="ctr"/>
          <a:lstStyle/>
          <a:p>
            <a:pPr indent="0" marL="0">
              <a:buNone/>
            </a:pPr>
            <a:r>
              <a:rPr lang="en-US" sz="1350" i="1" dirty="0">
                <a:solidFill>
                  <a:srgbClr val="5A7682"/>
                </a:solidFill>
                <a:latin typeface="Calibri" pitchFamily="34" charset="0"/>
                <a:ea typeface="Calibri" pitchFamily="34" charset="-122"/>
                <a:cs typeface="Calibri" pitchFamily="34" charset="-120"/>
              </a:rPr>
              <a:t>Y for all 8</a:t>
            </a:r>
            <a:endParaRPr lang="en-US" sz="1350" dirty="0"/>
          </a:p>
        </p:txBody>
      </p:sp>
      <p:sp>
        <p:nvSpPr>
          <p:cNvPr id="25" name="Text 23"/>
          <p:cNvSpPr/>
          <p:nvPr/>
        </p:nvSpPr>
        <p:spPr>
          <a:xfrm>
            <a:off x="640080" y="5349240"/>
            <a:ext cx="10972800" cy="365760"/>
          </a:xfrm>
          <a:prstGeom prst="rect">
            <a:avLst/>
          </a:prstGeom>
          <a:noFill/>
          <a:ln/>
        </p:spPr>
        <p:txBody>
          <a:bodyPr wrap="square" lIns="0" tIns="0" rIns="0" bIns="0" rtlCol="0" anchor="ctr"/>
          <a:lstStyle/>
          <a:p>
            <a:pPr indent="0" marL="0">
              <a:buNone/>
            </a:pPr>
            <a:r>
              <a:rPr lang="en-US" sz="1500" b="1" dirty="0">
                <a:solidFill>
                  <a:srgbClr val="0F2E3D"/>
                </a:solidFill>
                <a:latin typeface="Calibri" pitchFamily="34" charset="0"/>
                <a:ea typeface="Calibri" pitchFamily="34" charset="-122"/>
                <a:cs typeface="Calibri" pitchFamily="34" charset="-120"/>
              </a:rPr>
              <a:t>All three are 'Y' for every ABC-01 subject — and all three are still derived from different rules.</a:t>
            </a:r>
            <a:endParaRPr lang="en-US" sz="1500" dirty="0"/>
          </a:p>
        </p:txBody>
      </p:sp>
      <p:sp>
        <p:nvSpPr>
          <p:cNvPr id="26" name="Text 24"/>
          <p:cNvSpPr/>
          <p:nvPr/>
        </p:nvSpPr>
        <p:spPr>
          <a:xfrm>
            <a:off x="640080" y="5760720"/>
            <a:ext cx="10972800" cy="365760"/>
          </a:xfrm>
          <a:prstGeom prst="rect">
            <a:avLst/>
          </a:prstGeom>
          <a:noFill/>
          <a:ln/>
        </p:spPr>
        <p:txBody>
          <a:bodyPr wrap="square" lIns="0" tIns="0" rIns="0" bIns="0" rtlCol="0" anchor="ctr"/>
          <a:lstStyle/>
          <a:p>
            <a:pPr indent="0" marL="0">
              <a:buNone/>
            </a:pPr>
            <a:r>
              <a:rPr lang="en-US" sz="1400" i="1" dirty="0">
                <a:solidFill>
                  <a:srgbClr val="0E7C86"/>
                </a:solidFill>
                <a:latin typeface="Calibri" pitchFamily="34" charset="0"/>
                <a:ea typeface="Calibri" pitchFamily="34" charset="-122"/>
                <a:cs typeface="Calibri" pitchFamily="34" charset="-120"/>
              </a:rPr>
              <a:t>A screen failure, or a subject randomised but never dosed, separates them. Then the tables built on each separate too.</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7F8"/>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TRACEABILITY</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A regulator must get from a table back to a CRF page</a:t>
            </a:r>
            <a:endParaRPr lang="en-US" sz="3000" dirty="0"/>
          </a:p>
        </p:txBody>
      </p:sp>
      <p:sp>
        <p:nvSpPr>
          <p:cNvPr id="4" name="Shape 2"/>
          <p:cNvSpPr/>
          <p:nvPr/>
        </p:nvSpPr>
        <p:spPr>
          <a:xfrm>
            <a:off x="640080" y="1920240"/>
            <a:ext cx="2011680" cy="1737360"/>
          </a:xfrm>
          <a:prstGeom prst="roundRect">
            <a:avLst>
              <a:gd name="adj" fmla="val 473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640080" y="2103120"/>
            <a:ext cx="2011680" cy="365760"/>
          </a:xfrm>
          <a:prstGeom prst="rect">
            <a:avLst/>
          </a:prstGeom>
          <a:noFill/>
          <a:ln/>
        </p:spPr>
        <p:txBody>
          <a:bodyPr wrap="square" lIns="0" tIns="0" rIns="0" bIns="0" rtlCol="0" anchor="ctr"/>
          <a:lstStyle/>
          <a:p>
            <a:pPr algn="ctr" indent="0" marL="0">
              <a:buNone/>
            </a:pPr>
            <a:r>
              <a:rPr lang="en-US" sz="1700" b="1" dirty="0">
                <a:solidFill>
                  <a:srgbClr val="5A7682"/>
                </a:solidFill>
                <a:latin typeface="Cambria" pitchFamily="34" charset="0"/>
                <a:ea typeface="Cambria" pitchFamily="34" charset="-122"/>
                <a:cs typeface="Cambria" pitchFamily="34" charset="-120"/>
              </a:rPr>
              <a:t>Table</a:t>
            </a:r>
            <a:endParaRPr lang="en-US" sz="1700" dirty="0"/>
          </a:p>
        </p:txBody>
      </p:sp>
      <p:sp>
        <p:nvSpPr>
          <p:cNvPr id="6" name="Text 4"/>
          <p:cNvSpPr/>
          <p:nvPr/>
        </p:nvSpPr>
        <p:spPr>
          <a:xfrm>
            <a:off x="640080" y="2560320"/>
            <a:ext cx="2011680" cy="822960"/>
          </a:xfrm>
          <a:prstGeom prst="rect">
            <a:avLst/>
          </a:prstGeom>
          <a:noFill/>
          <a:ln/>
        </p:spPr>
        <p:txBody>
          <a:bodyPr wrap="square" lIns="0" tIns="0" rIns="0" bIns="0" rtlCol="0" anchor="ctr"/>
          <a:lstStyle/>
          <a:p>
            <a:pPr algn="ctr" indent="0" marL="0">
              <a:lnSpc>
                <a:spcPts val="1600"/>
              </a:lnSpc>
              <a:buNone/>
            </a:pPr>
            <a:r>
              <a:rPr lang="en-US" sz="1150" dirty="0">
                <a:solidFill>
                  <a:srgbClr val="5A7682"/>
                </a:solidFill>
                <a:latin typeface="Courier New" pitchFamily="34" charset="0"/>
                <a:ea typeface="Courier New" pitchFamily="34" charset="-122"/>
                <a:cs typeface="Courier New" pitchFamily="34" charset="-120"/>
              </a:rPr>
              <a:t>Mean duration</a:t>
            </a:r>
            <a:endParaRPr lang="en-US" sz="1150" dirty="0"/>
          </a:p>
          <a:p>
            <a:pPr algn="ctr" indent="0" marL="0">
              <a:lnSpc>
                <a:spcPts val="1600"/>
              </a:lnSpc>
              <a:buNone/>
            </a:pPr>
            <a:r>
              <a:rPr lang="en-US" sz="1150" dirty="0">
                <a:solidFill>
                  <a:srgbClr val="5A7682"/>
                </a:solidFill>
                <a:latin typeface="Courier New" pitchFamily="34" charset="0"/>
                <a:ea typeface="Courier New" pitchFamily="34" charset="-122"/>
                <a:cs typeface="Courier New" pitchFamily="34" charset="-120"/>
              </a:rPr>
              <a:t>by arm</a:t>
            </a:r>
            <a:endParaRPr lang="en-US" sz="1150" dirty="0"/>
          </a:p>
        </p:txBody>
      </p:sp>
      <p:sp>
        <p:nvSpPr>
          <p:cNvPr id="7" name="Shape 5"/>
          <p:cNvSpPr/>
          <p:nvPr/>
        </p:nvSpPr>
        <p:spPr>
          <a:xfrm>
            <a:off x="2953512" y="1920240"/>
            <a:ext cx="2011680" cy="1737360"/>
          </a:xfrm>
          <a:prstGeom prst="roundRect">
            <a:avLst>
              <a:gd name="adj" fmla="val 473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8" name="Text 6"/>
          <p:cNvSpPr/>
          <p:nvPr/>
        </p:nvSpPr>
        <p:spPr>
          <a:xfrm>
            <a:off x="2953512" y="2103120"/>
            <a:ext cx="2011680" cy="365760"/>
          </a:xfrm>
          <a:prstGeom prst="rect">
            <a:avLst/>
          </a:prstGeom>
          <a:noFill/>
          <a:ln/>
        </p:spPr>
        <p:txBody>
          <a:bodyPr wrap="square" lIns="0" tIns="0" rIns="0" bIns="0" rtlCol="0" anchor="ctr"/>
          <a:lstStyle/>
          <a:p>
            <a:pPr algn="ctr" indent="0" marL="0">
              <a:buNone/>
            </a:pPr>
            <a:r>
              <a:rPr lang="en-US" sz="1700" b="1" dirty="0">
                <a:solidFill>
                  <a:srgbClr val="E8833A"/>
                </a:solidFill>
                <a:latin typeface="Cambria" pitchFamily="34" charset="0"/>
                <a:ea typeface="Cambria" pitchFamily="34" charset="-122"/>
                <a:cs typeface="Cambria" pitchFamily="34" charset="-120"/>
              </a:rPr>
              <a:t>ADSL</a:t>
            </a:r>
            <a:endParaRPr lang="en-US" sz="1700" dirty="0"/>
          </a:p>
        </p:txBody>
      </p:sp>
      <p:sp>
        <p:nvSpPr>
          <p:cNvPr id="9" name="Text 7"/>
          <p:cNvSpPr/>
          <p:nvPr/>
        </p:nvSpPr>
        <p:spPr>
          <a:xfrm>
            <a:off x="2953512" y="2560320"/>
            <a:ext cx="2011680" cy="822960"/>
          </a:xfrm>
          <a:prstGeom prst="rect">
            <a:avLst/>
          </a:prstGeom>
          <a:noFill/>
          <a:ln/>
        </p:spPr>
        <p:txBody>
          <a:bodyPr wrap="square" lIns="0" tIns="0" rIns="0" bIns="0" rtlCol="0" anchor="ctr"/>
          <a:lstStyle/>
          <a:p>
            <a:pPr algn="ctr" indent="0" marL="0">
              <a:lnSpc>
                <a:spcPts val="1600"/>
              </a:lnSpc>
              <a:buNone/>
            </a:pPr>
            <a:r>
              <a:rPr lang="en-US" sz="1150" dirty="0">
                <a:solidFill>
                  <a:srgbClr val="5A7682"/>
                </a:solidFill>
                <a:latin typeface="Courier New" pitchFamily="34" charset="0"/>
                <a:ea typeface="Courier New" pitchFamily="34" charset="-122"/>
                <a:cs typeface="Courier New" pitchFamily="34" charset="-120"/>
              </a:rPr>
              <a:t>TRTDURD = 20</a:t>
            </a:r>
            <a:endParaRPr lang="en-US" sz="1150" dirty="0"/>
          </a:p>
        </p:txBody>
      </p:sp>
      <p:sp>
        <p:nvSpPr>
          <p:cNvPr id="10" name="Shape 8"/>
          <p:cNvSpPr/>
          <p:nvPr/>
        </p:nvSpPr>
        <p:spPr>
          <a:xfrm>
            <a:off x="5266944" y="1920240"/>
            <a:ext cx="2011680" cy="1737360"/>
          </a:xfrm>
          <a:prstGeom prst="roundRect">
            <a:avLst>
              <a:gd name="adj" fmla="val 473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1" name="Text 9"/>
          <p:cNvSpPr/>
          <p:nvPr/>
        </p:nvSpPr>
        <p:spPr>
          <a:xfrm>
            <a:off x="5266944" y="2103120"/>
            <a:ext cx="2011680" cy="365760"/>
          </a:xfrm>
          <a:prstGeom prst="rect">
            <a:avLst/>
          </a:prstGeom>
          <a:noFill/>
          <a:ln/>
        </p:spPr>
        <p:txBody>
          <a:bodyPr wrap="square" lIns="0" tIns="0" rIns="0" bIns="0" rtlCol="0" anchor="ctr"/>
          <a:lstStyle/>
          <a:p>
            <a:pPr algn="ctr" indent="0" marL="0">
              <a:buNone/>
            </a:pPr>
            <a:r>
              <a:rPr lang="en-US" sz="1700" b="1" dirty="0">
                <a:solidFill>
                  <a:srgbClr val="0E7C86"/>
                </a:solidFill>
                <a:latin typeface="Cambria" pitchFamily="34" charset="0"/>
                <a:ea typeface="Cambria" pitchFamily="34" charset="-122"/>
                <a:cs typeface="Cambria" pitchFamily="34" charset="-120"/>
              </a:rPr>
              <a:t>SDTM DM</a:t>
            </a:r>
            <a:endParaRPr lang="en-US" sz="1700" dirty="0"/>
          </a:p>
        </p:txBody>
      </p:sp>
      <p:sp>
        <p:nvSpPr>
          <p:cNvPr id="12" name="Text 10"/>
          <p:cNvSpPr/>
          <p:nvPr/>
        </p:nvSpPr>
        <p:spPr>
          <a:xfrm>
            <a:off x="5266944" y="2560320"/>
            <a:ext cx="2011680" cy="822960"/>
          </a:xfrm>
          <a:prstGeom prst="rect">
            <a:avLst/>
          </a:prstGeom>
          <a:noFill/>
          <a:ln/>
        </p:spPr>
        <p:txBody>
          <a:bodyPr wrap="square" lIns="0" tIns="0" rIns="0" bIns="0" rtlCol="0" anchor="ctr"/>
          <a:lstStyle/>
          <a:p>
            <a:pPr algn="ctr" indent="0" marL="0">
              <a:lnSpc>
                <a:spcPts val="1600"/>
              </a:lnSpc>
              <a:buNone/>
            </a:pPr>
            <a:r>
              <a:rPr lang="en-US" sz="1150" dirty="0">
                <a:solidFill>
                  <a:srgbClr val="5A7682"/>
                </a:solidFill>
                <a:latin typeface="Courier New" pitchFamily="34" charset="0"/>
                <a:ea typeface="Courier New" pitchFamily="34" charset="-122"/>
                <a:cs typeface="Courier New" pitchFamily="34" charset="-120"/>
              </a:rPr>
              <a:t>RFXSTDTC</a:t>
            </a:r>
            <a:endParaRPr lang="en-US" sz="1150" dirty="0"/>
          </a:p>
          <a:p>
            <a:pPr algn="ctr" indent="0" marL="0">
              <a:lnSpc>
                <a:spcPts val="1600"/>
              </a:lnSpc>
              <a:buNone/>
            </a:pPr>
            <a:r>
              <a:rPr lang="en-US" sz="1150" dirty="0">
                <a:solidFill>
                  <a:srgbClr val="5A7682"/>
                </a:solidFill>
                <a:latin typeface="Courier New" pitchFamily="34" charset="0"/>
                <a:ea typeface="Courier New" pitchFamily="34" charset="-122"/>
                <a:cs typeface="Courier New" pitchFamily="34" charset="-120"/>
              </a:rPr>
              <a:t>RFXENDTC</a:t>
            </a:r>
            <a:endParaRPr lang="en-US" sz="1150" dirty="0"/>
          </a:p>
        </p:txBody>
      </p:sp>
      <p:sp>
        <p:nvSpPr>
          <p:cNvPr id="13" name="Shape 11"/>
          <p:cNvSpPr/>
          <p:nvPr/>
        </p:nvSpPr>
        <p:spPr>
          <a:xfrm>
            <a:off x="7580376" y="1920240"/>
            <a:ext cx="2011680" cy="1737360"/>
          </a:xfrm>
          <a:prstGeom prst="roundRect">
            <a:avLst>
              <a:gd name="adj" fmla="val 473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4" name="Text 12"/>
          <p:cNvSpPr/>
          <p:nvPr/>
        </p:nvSpPr>
        <p:spPr>
          <a:xfrm>
            <a:off x="7580376" y="2103120"/>
            <a:ext cx="2011680" cy="365760"/>
          </a:xfrm>
          <a:prstGeom prst="rect">
            <a:avLst/>
          </a:prstGeom>
          <a:noFill/>
          <a:ln/>
        </p:spPr>
        <p:txBody>
          <a:bodyPr wrap="square" lIns="0" tIns="0" rIns="0" bIns="0" rtlCol="0" anchor="ctr"/>
          <a:lstStyle/>
          <a:p>
            <a:pPr algn="ctr" indent="0" marL="0">
              <a:buNone/>
            </a:pPr>
            <a:r>
              <a:rPr lang="en-US" sz="1700" b="1" dirty="0">
                <a:solidFill>
                  <a:srgbClr val="0E7C86"/>
                </a:solidFill>
                <a:latin typeface="Cambria" pitchFamily="34" charset="0"/>
                <a:ea typeface="Cambria" pitchFamily="34" charset="-122"/>
                <a:cs typeface="Cambria" pitchFamily="34" charset="-120"/>
              </a:rPr>
              <a:t>SDTM EX</a:t>
            </a:r>
            <a:endParaRPr lang="en-US" sz="1700" dirty="0"/>
          </a:p>
        </p:txBody>
      </p:sp>
      <p:sp>
        <p:nvSpPr>
          <p:cNvPr id="15" name="Text 13"/>
          <p:cNvSpPr/>
          <p:nvPr/>
        </p:nvSpPr>
        <p:spPr>
          <a:xfrm>
            <a:off x="7580376" y="2560320"/>
            <a:ext cx="2011680" cy="822960"/>
          </a:xfrm>
          <a:prstGeom prst="rect">
            <a:avLst/>
          </a:prstGeom>
          <a:noFill/>
          <a:ln/>
        </p:spPr>
        <p:txBody>
          <a:bodyPr wrap="square" lIns="0" tIns="0" rIns="0" bIns="0" rtlCol="0" anchor="ctr"/>
          <a:lstStyle/>
          <a:p>
            <a:pPr algn="ctr" indent="0" marL="0">
              <a:lnSpc>
                <a:spcPts val="1600"/>
              </a:lnSpc>
              <a:buNone/>
            </a:pPr>
            <a:r>
              <a:rPr lang="en-US" sz="1150" dirty="0">
                <a:solidFill>
                  <a:srgbClr val="5A7682"/>
                </a:solidFill>
                <a:latin typeface="Courier New" pitchFamily="34" charset="0"/>
                <a:ea typeface="Courier New" pitchFamily="34" charset="-122"/>
                <a:cs typeface="Courier New" pitchFamily="34" charset="-120"/>
              </a:rPr>
              <a:t>EXSTDTC</a:t>
            </a:r>
            <a:endParaRPr lang="en-US" sz="1150" dirty="0"/>
          </a:p>
          <a:p>
            <a:pPr algn="ctr" indent="0" marL="0">
              <a:lnSpc>
                <a:spcPts val="1600"/>
              </a:lnSpc>
              <a:buNone/>
            </a:pPr>
            <a:r>
              <a:rPr lang="en-US" sz="1150" dirty="0">
                <a:solidFill>
                  <a:srgbClr val="5A7682"/>
                </a:solidFill>
                <a:latin typeface="Courier New" pitchFamily="34" charset="0"/>
                <a:ea typeface="Courier New" pitchFamily="34" charset="-122"/>
                <a:cs typeface="Courier New" pitchFamily="34" charset="-120"/>
              </a:rPr>
              <a:t>EXENDTC</a:t>
            </a:r>
            <a:endParaRPr lang="en-US" sz="1150" dirty="0"/>
          </a:p>
        </p:txBody>
      </p:sp>
      <p:sp>
        <p:nvSpPr>
          <p:cNvPr id="16" name="Shape 14"/>
          <p:cNvSpPr/>
          <p:nvPr/>
        </p:nvSpPr>
        <p:spPr>
          <a:xfrm>
            <a:off x="9893808" y="1920240"/>
            <a:ext cx="2011680" cy="1737360"/>
          </a:xfrm>
          <a:prstGeom prst="roundRect">
            <a:avLst>
              <a:gd name="adj" fmla="val 473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Text 15"/>
          <p:cNvSpPr/>
          <p:nvPr/>
        </p:nvSpPr>
        <p:spPr>
          <a:xfrm>
            <a:off x="9893808" y="2103120"/>
            <a:ext cx="2011680" cy="365760"/>
          </a:xfrm>
          <a:prstGeom prst="rect">
            <a:avLst/>
          </a:prstGeom>
          <a:noFill/>
          <a:ln/>
        </p:spPr>
        <p:txBody>
          <a:bodyPr wrap="square" lIns="0" tIns="0" rIns="0" bIns="0" rtlCol="0" anchor="ctr"/>
          <a:lstStyle/>
          <a:p>
            <a:pPr algn="ctr" indent="0" marL="0">
              <a:buNone/>
            </a:pPr>
            <a:r>
              <a:rPr lang="en-US" sz="1700" b="1" dirty="0">
                <a:solidFill>
                  <a:srgbClr val="0F2E3D"/>
                </a:solidFill>
                <a:latin typeface="Cambria" pitchFamily="34" charset="0"/>
                <a:ea typeface="Cambria" pitchFamily="34" charset="-122"/>
                <a:cs typeface="Cambria" pitchFamily="34" charset="-120"/>
              </a:rPr>
              <a:t>aCRF</a:t>
            </a:r>
            <a:endParaRPr lang="en-US" sz="1700" dirty="0"/>
          </a:p>
        </p:txBody>
      </p:sp>
      <p:sp>
        <p:nvSpPr>
          <p:cNvPr id="18" name="Text 16"/>
          <p:cNvSpPr/>
          <p:nvPr/>
        </p:nvSpPr>
        <p:spPr>
          <a:xfrm>
            <a:off x="9893808" y="2560320"/>
            <a:ext cx="2011680" cy="822960"/>
          </a:xfrm>
          <a:prstGeom prst="rect">
            <a:avLst/>
          </a:prstGeom>
          <a:noFill/>
          <a:ln/>
        </p:spPr>
        <p:txBody>
          <a:bodyPr wrap="square" lIns="0" tIns="0" rIns="0" bIns="0" rtlCol="0" anchor="ctr"/>
          <a:lstStyle/>
          <a:p>
            <a:pPr algn="ctr" indent="0" marL="0">
              <a:lnSpc>
                <a:spcPts val="1600"/>
              </a:lnSpc>
              <a:buNone/>
            </a:pPr>
            <a:r>
              <a:rPr lang="en-US" sz="1150" dirty="0">
                <a:solidFill>
                  <a:srgbClr val="5A7682"/>
                </a:solidFill>
                <a:latin typeface="Courier New" pitchFamily="34" charset="0"/>
                <a:ea typeface="Courier New" pitchFamily="34" charset="-122"/>
                <a:cs typeface="Courier New" pitchFamily="34" charset="-120"/>
              </a:rPr>
              <a:t>Dosing page,</a:t>
            </a:r>
            <a:endParaRPr lang="en-US" sz="1150" dirty="0"/>
          </a:p>
          <a:p>
            <a:pPr algn="ctr" indent="0" marL="0">
              <a:lnSpc>
                <a:spcPts val="1600"/>
              </a:lnSpc>
              <a:buNone/>
            </a:pPr>
            <a:r>
              <a:rPr lang="en-US" sz="1150" dirty="0">
                <a:solidFill>
                  <a:srgbClr val="5A7682"/>
                </a:solidFill>
                <a:latin typeface="Courier New" pitchFamily="34" charset="0"/>
                <a:ea typeface="Courier New" pitchFamily="34" charset="-122"/>
                <a:cs typeface="Courier New" pitchFamily="34" charset="-120"/>
              </a:rPr>
              <a:t>annotated</a:t>
            </a:r>
            <a:endParaRPr lang="en-US" sz="1150" dirty="0"/>
          </a:p>
        </p:txBody>
      </p:sp>
      <p:sp>
        <p:nvSpPr>
          <p:cNvPr id="19" name="Text 17"/>
          <p:cNvSpPr/>
          <p:nvPr/>
        </p:nvSpPr>
        <p:spPr>
          <a:xfrm>
            <a:off x="2651760" y="2514600"/>
            <a:ext cx="301752" cy="457200"/>
          </a:xfrm>
          <a:prstGeom prst="rect">
            <a:avLst/>
          </a:prstGeom>
          <a:noFill/>
          <a:ln/>
        </p:spPr>
        <p:txBody>
          <a:bodyPr wrap="square" lIns="0" tIns="0" rIns="0" bIns="0" rtlCol="0" anchor="ctr"/>
          <a:lstStyle/>
          <a:p>
            <a:pPr algn="ctr" indent="0" marL="0">
              <a:buNone/>
            </a:pPr>
            <a:r>
              <a:rPr lang="en-US" sz="2000" dirty="0">
                <a:solidFill>
                  <a:srgbClr val="1FA8A0"/>
                </a:solidFill>
                <a:latin typeface="Calibri" pitchFamily="34" charset="0"/>
                <a:ea typeface="Calibri" pitchFamily="34" charset="-122"/>
                <a:cs typeface="Calibri" pitchFamily="34" charset="-120"/>
              </a:rPr>
              <a:t>←</a:t>
            </a:r>
            <a:endParaRPr lang="en-US" sz="2000" dirty="0"/>
          </a:p>
        </p:txBody>
      </p:sp>
      <p:sp>
        <p:nvSpPr>
          <p:cNvPr id="20" name="Text 18"/>
          <p:cNvSpPr/>
          <p:nvPr/>
        </p:nvSpPr>
        <p:spPr>
          <a:xfrm>
            <a:off x="4965192" y="2514600"/>
            <a:ext cx="301752" cy="457200"/>
          </a:xfrm>
          <a:prstGeom prst="rect">
            <a:avLst/>
          </a:prstGeom>
          <a:noFill/>
          <a:ln/>
        </p:spPr>
        <p:txBody>
          <a:bodyPr wrap="square" lIns="0" tIns="0" rIns="0" bIns="0" rtlCol="0" anchor="ctr"/>
          <a:lstStyle/>
          <a:p>
            <a:pPr algn="ctr" indent="0" marL="0">
              <a:buNone/>
            </a:pPr>
            <a:r>
              <a:rPr lang="en-US" sz="2000" dirty="0">
                <a:solidFill>
                  <a:srgbClr val="1FA8A0"/>
                </a:solidFill>
                <a:latin typeface="Calibri" pitchFamily="34" charset="0"/>
                <a:ea typeface="Calibri" pitchFamily="34" charset="-122"/>
                <a:cs typeface="Calibri" pitchFamily="34" charset="-120"/>
              </a:rPr>
              <a:t>←</a:t>
            </a:r>
            <a:endParaRPr lang="en-US" sz="2000" dirty="0"/>
          </a:p>
        </p:txBody>
      </p:sp>
      <p:sp>
        <p:nvSpPr>
          <p:cNvPr id="21" name="Text 19"/>
          <p:cNvSpPr/>
          <p:nvPr/>
        </p:nvSpPr>
        <p:spPr>
          <a:xfrm>
            <a:off x="7278624" y="2514600"/>
            <a:ext cx="301752" cy="457200"/>
          </a:xfrm>
          <a:prstGeom prst="rect">
            <a:avLst/>
          </a:prstGeom>
          <a:noFill/>
          <a:ln/>
        </p:spPr>
        <p:txBody>
          <a:bodyPr wrap="square" lIns="0" tIns="0" rIns="0" bIns="0" rtlCol="0" anchor="ctr"/>
          <a:lstStyle/>
          <a:p>
            <a:pPr algn="ctr" indent="0" marL="0">
              <a:buNone/>
            </a:pPr>
            <a:r>
              <a:rPr lang="en-US" sz="2000" dirty="0">
                <a:solidFill>
                  <a:srgbClr val="1FA8A0"/>
                </a:solidFill>
                <a:latin typeface="Calibri" pitchFamily="34" charset="0"/>
                <a:ea typeface="Calibri" pitchFamily="34" charset="-122"/>
                <a:cs typeface="Calibri" pitchFamily="34" charset="-120"/>
              </a:rPr>
              <a:t>←</a:t>
            </a:r>
            <a:endParaRPr lang="en-US" sz="2000" dirty="0"/>
          </a:p>
        </p:txBody>
      </p:sp>
      <p:sp>
        <p:nvSpPr>
          <p:cNvPr id="22" name="Text 20"/>
          <p:cNvSpPr/>
          <p:nvPr/>
        </p:nvSpPr>
        <p:spPr>
          <a:xfrm>
            <a:off x="9592056" y="2514600"/>
            <a:ext cx="301752" cy="457200"/>
          </a:xfrm>
          <a:prstGeom prst="rect">
            <a:avLst/>
          </a:prstGeom>
          <a:noFill/>
          <a:ln/>
        </p:spPr>
        <p:txBody>
          <a:bodyPr wrap="square" lIns="0" tIns="0" rIns="0" bIns="0" rtlCol="0" anchor="ctr"/>
          <a:lstStyle/>
          <a:p>
            <a:pPr algn="ctr" indent="0" marL="0">
              <a:buNone/>
            </a:pPr>
            <a:r>
              <a:rPr lang="en-US" sz="2000" dirty="0">
                <a:solidFill>
                  <a:srgbClr val="1FA8A0"/>
                </a:solidFill>
                <a:latin typeface="Calibri" pitchFamily="34" charset="0"/>
                <a:ea typeface="Calibri" pitchFamily="34" charset="-122"/>
                <a:cs typeface="Calibri" pitchFamily="34" charset="-120"/>
              </a:rPr>
              <a:t>←</a:t>
            </a:r>
            <a:endParaRPr lang="en-US" sz="2000" dirty="0"/>
          </a:p>
        </p:txBody>
      </p:sp>
      <p:sp>
        <p:nvSpPr>
          <p:cNvPr id="23" name="Text 21"/>
          <p:cNvSpPr/>
          <p:nvPr/>
        </p:nvSpPr>
        <p:spPr>
          <a:xfrm>
            <a:off x="640080" y="4023360"/>
            <a:ext cx="10972800" cy="365760"/>
          </a:xfrm>
          <a:prstGeom prst="rect">
            <a:avLst/>
          </a:prstGeom>
          <a:noFill/>
          <a:ln/>
        </p:spPr>
        <p:txBody>
          <a:bodyPr wrap="square" lIns="0" tIns="0" rIns="0" bIns="0" rtlCol="0" anchor="ctr"/>
          <a:lstStyle/>
          <a:p>
            <a:pPr indent="0" marL="0">
              <a:buNone/>
            </a:pPr>
            <a:r>
              <a:rPr lang="en-US" sz="1500" dirty="0">
                <a:solidFill>
                  <a:srgbClr val="0F2E3D"/>
                </a:solidFill>
                <a:latin typeface="Calibri" pitchFamily="34" charset="0"/>
                <a:ea typeface="Calibri" pitchFamily="34" charset="-122"/>
                <a:cs typeface="Calibri" pitchFamily="34" charset="-120"/>
              </a:rPr>
              <a:t>Every link must be documented, and every derivation must be reproducible from the link below it.</a:t>
            </a:r>
            <a:endParaRPr lang="en-US" sz="1500" dirty="0"/>
          </a:p>
        </p:txBody>
      </p:sp>
      <p:sp>
        <p:nvSpPr>
          <p:cNvPr id="24" name="Shape 22"/>
          <p:cNvSpPr/>
          <p:nvPr/>
        </p:nvSpPr>
        <p:spPr>
          <a:xfrm>
            <a:off x="640080" y="4572000"/>
            <a:ext cx="10972800" cy="1234440"/>
          </a:xfrm>
          <a:prstGeom prst="roundRect">
            <a:avLst>
              <a:gd name="adj" fmla="val 666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5" name="Text 23"/>
          <p:cNvSpPr/>
          <p:nvPr/>
        </p:nvSpPr>
        <p:spPr>
          <a:xfrm>
            <a:off x="914400" y="4754880"/>
            <a:ext cx="10424160" cy="914400"/>
          </a:xfrm>
          <a:prstGeom prst="rect">
            <a:avLst/>
          </a:prstGeom>
          <a:noFill/>
          <a:ln/>
        </p:spPr>
        <p:txBody>
          <a:bodyPr wrap="square" lIns="0" tIns="0" rIns="0" bIns="0" rtlCol="0" anchor="ctr"/>
          <a:lstStyle/>
          <a:p>
            <a:pPr indent="0" marL="0">
              <a:lnSpc>
                <a:spcPts val="2100"/>
              </a:lnSpc>
              <a:buNone/>
            </a:pPr>
            <a:r>
              <a:rPr lang="en-US" sz="1400" b="1" dirty="0">
                <a:solidFill>
                  <a:srgbClr val="0F2E3D"/>
                </a:solidFill>
                <a:latin typeface="Calibri" pitchFamily="34" charset="0"/>
                <a:ea typeface="Calibri" pitchFamily="34" charset="-122"/>
                <a:cs typeface="Calibri" pitchFamily="34" charset="-120"/>
              </a:rPr>
              <a:t>This is why ADaM carries SRCDOM / SRCVAR / SRCSEQ. </a:t>
            </a:r>
            <a:pPr indent="0" marL="0">
              <a:lnSpc>
                <a:spcPts val="2100"/>
              </a:lnSpc>
              <a:buNone/>
            </a:pPr>
            <a:r>
              <a:rPr lang="en-US" sz="1400" dirty="0">
                <a:solidFill>
                  <a:srgbClr val="5A7682"/>
                </a:solidFill>
                <a:latin typeface="Calibri" pitchFamily="34" charset="0"/>
                <a:ea typeface="Calibri" pitchFamily="34" charset="-122"/>
                <a:cs typeface="Calibri" pitchFamily="34" charset="-120"/>
              </a:rPr>
              <a:t>A record that names its source SDTM row can be checked. A derived record with no single source leaves them blank — and that blank is information, not an omission.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FAILURE MODES</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Six ADSL mistakes, and what each one costs</a:t>
            </a:r>
            <a:endParaRPr lang="en-US" sz="3000" dirty="0"/>
          </a:p>
        </p:txBody>
      </p:sp>
      <p:sp>
        <p:nvSpPr>
          <p:cNvPr id="4" name="Shape 2"/>
          <p:cNvSpPr/>
          <p:nvPr/>
        </p:nvSpPr>
        <p:spPr>
          <a:xfrm>
            <a:off x="640080" y="1600200"/>
            <a:ext cx="10972800" cy="713232"/>
          </a:xfrm>
          <a:prstGeom prst="roundRect">
            <a:avLst>
              <a:gd name="adj" fmla="val 11538"/>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640080" y="1600200"/>
            <a:ext cx="82296" cy="713232"/>
          </a:xfrm>
          <a:prstGeom prst="rect">
            <a:avLst/>
          </a:prstGeom>
          <a:solidFill>
            <a:srgbClr val="C4442E"/>
          </a:solidFill>
          <a:ln/>
        </p:spPr>
      </p:sp>
      <p:sp>
        <p:nvSpPr>
          <p:cNvPr id="6" name="Text 4"/>
          <p:cNvSpPr/>
          <p:nvPr/>
        </p:nvSpPr>
        <p:spPr>
          <a:xfrm>
            <a:off x="960120" y="1655064"/>
            <a:ext cx="4572000" cy="603504"/>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Copying VSBLFL as baseline</a:t>
            </a:r>
            <a:endParaRPr lang="en-US" sz="1400" dirty="0"/>
          </a:p>
        </p:txBody>
      </p:sp>
      <p:sp>
        <p:nvSpPr>
          <p:cNvPr id="7" name="Text 5"/>
          <p:cNvSpPr/>
          <p:nvPr/>
        </p:nvSpPr>
        <p:spPr>
          <a:xfrm>
            <a:off x="5669280" y="1655064"/>
            <a:ext cx="5760720" cy="603504"/>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Every subject loses baseline height and BMI. No error.</a:t>
            </a:r>
            <a:endParaRPr lang="en-US" sz="1300" dirty="0"/>
          </a:p>
        </p:txBody>
      </p:sp>
      <p:sp>
        <p:nvSpPr>
          <p:cNvPr id="8" name="Shape 6"/>
          <p:cNvSpPr/>
          <p:nvPr/>
        </p:nvSpPr>
        <p:spPr>
          <a:xfrm>
            <a:off x="640080" y="2386584"/>
            <a:ext cx="10972800" cy="713232"/>
          </a:xfrm>
          <a:prstGeom prst="roundRect">
            <a:avLst>
              <a:gd name="adj" fmla="val 11538"/>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Shape 7"/>
          <p:cNvSpPr/>
          <p:nvPr/>
        </p:nvSpPr>
        <p:spPr>
          <a:xfrm>
            <a:off x="640080" y="2386584"/>
            <a:ext cx="82296" cy="713232"/>
          </a:xfrm>
          <a:prstGeom prst="rect">
            <a:avLst/>
          </a:prstGeom>
          <a:solidFill>
            <a:srgbClr val="C4442E"/>
          </a:solidFill>
          <a:ln/>
        </p:spPr>
      </p:sp>
      <p:sp>
        <p:nvSpPr>
          <p:cNvPr id="10" name="Text 8"/>
          <p:cNvSpPr/>
          <p:nvPr/>
        </p:nvSpPr>
        <p:spPr>
          <a:xfrm>
            <a:off x="960120" y="2441448"/>
            <a:ext cx="4572000" cy="603504"/>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Re-deriving SAFFL downstream</a:t>
            </a:r>
            <a:endParaRPr lang="en-US" sz="1400" dirty="0"/>
          </a:p>
        </p:txBody>
      </p:sp>
      <p:sp>
        <p:nvSpPr>
          <p:cNvPr id="11" name="Text 9"/>
          <p:cNvSpPr/>
          <p:nvPr/>
        </p:nvSpPr>
        <p:spPr>
          <a:xfrm>
            <a:off x="5669280" y="2441448"/>
            <a:ext cx="5760720" cy="603504"/>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Two answers to 'who was dosed'. Neither defensible.</a:t>
            </a:r>
            <a:endParaRPr lang="en-US" sz="1300" dirty="0"/>
          </a:p>
        </p:txBody>
      </p:sp>
      <p:sp>
        <p:nvSpPr>
          <p:cNvPr id="12" name="Shape 10"/>
          <p:cNvSpPr/>
          <p:nvPr/>
        </p:nvSpPr>
        <p:spPr>
          <a:xfrm>
            <a:off x="640080" y="3172968"/>
            <a:ext cx="10972800" cy="713232"/>
          </a:xfrm>
          <a:prstGeom prst="roundRect">
            <a:avLst>
              <a:gd name="adj" fmla="val 11538"/>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Shape 11"/>
          <p:cNvSpPr/>
          <p:nvPr/>
        </p:nvSpPr>
        <p:spPr>
          <a:xfrm>
            <a:off x="640080" y="3172968"/>
            <a:ext cx="82296" cy="713232"/>
          </a:xfrm>
          <a:prstGeom prst="rect">
            <a:avLst/>
          </a:prstGeom>
          <a:solidFill>
            <a:srgbClr val="E8833A"/>
          </a:solidFill>
          <a:ln/>
        </p:spPr>
      </p:sp>
      <p:sp>
        <p:nvSpPr>
          <p:cNvPr id="14" name="Text 12"/>
          <p:cNvSpPr/>
          <p:nvPr/>
        </p:nvSpPr>
        <p:spPr>
          <a:xfrm>
            <a:off x="960120" y="3227832"/>
            <a:ext cx="4572000" cy="603504"/>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DCSREAS filled for completers</a:t>
            </a:r>
            <a:endParaRPr lang="en-US" sz="1400" dirty="0"/>
          </a:p>
        </p:txBody>
      </p:sp>
      <p:sp>
        <p:nvSpPr>
          <p:cNvPr id="15" name="Text 13"/>
          <p:cNvSpPr/>
          <p:nvPr/>
        </p:nvSpPr>
        <p:spPr>
          <a:xfrm>
            <a:off x="5669280" y="3227832"/>
            <a:ext cx="5760720" cy="603504"/>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'Discontinued for reason X' becomes uncountable.</a:t>
            </a:r>
            <a:endParaRPr lang="en-US" sz="1300" dirty="0"/>
          </a:p>
        </p:txBody>
      </p:sp>
      <p:sp>
        <p:nvSpPr>
          <p:cNvPr id="16" name="Shape 14"/>
          <p:cNvSpPr/>
          <p:nvPr/>
        </p:nvSpPr>
        <p:spPr>
          <a:xfrm>
            <a:off x="640080" y="3959352"/>
            <a:ext cx="10972800" cy="713232"/>
          </a:xfrm>
          <a:prstGeom prst="roundRect">
            <a:avLst>
              <a:gd name="adj" fmla="val 11538"/>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Shape 15"/>
          <p:cNvSpPr/>
          <p:nvPr/>
        </p:nvSpPr>
        <p:spPr>
          <a:xfrm>
            <a:off x="640080" y="3959352"/>
            <a:ext cx="82296" cy="713232"/>
          </a:xfrm>
          <a:prstGeom prst="rect">
            <a:avLst/>
          </a:prstGeom>
          <a:solidFill>
            <a:srgbClr val="E8833A"/>
          </a:solidFill>
          <a:ln/>
        </p:spPr>
      </p:sp>
      <p:sp>
        <p:nvSpPr>
          <p:cNvPr id="18" name="Text 16"/>
          <p:cNvSpPr/>
          <p:nvPr/>
        </p:nvSpPr>
        <p:spPr>
          <a:xfrm>
            <a:off x="960120" y="4014216"/>
            <a:ext cx="4572000" cy="603504"/>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TRTDURD without the +1</a:t>
            </a:r>
            <a:endParaRPr lang="en-US" sz="1400" dirty="0"/>
          </a:p>
        </p:txBody>
      </p:sp>
      <p:sp>
        <p:nvSpPr>
          <p:cNvPr id="19" name="Text 17"/>
          <p:cNvSpPr/>
          <p:nvPr/>
        </p:nvSpPr>
        <p:spPr>
          <a:xfrm>
            <a:off x="5669280" y="4014216"/>
            <a:ext cx="5760720" cy="603504"/>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Every duration off by one; a one-day subject reads as zero.</a:t>
            </a:r>
            <a:endParaRPr lang="en-US" sz="1300" dirty="0"/>
          </a:p>
        </p:txBody>
      </p:sp>
      <p:sp>
        <p:nvSpPr>
          <p:cNvPr id="20" name="Shape 18"/>
          <p:cNvSpPr/>
          <p:nvPr/>
        </p:nvSpPr>
        <p:spPr>
          <a:xfrm>
            <a:off x="640080" y="4745736"/>
            <a:ext cx="10972800" cy="713232"/>
          </a:xfrm>
          <a:prstGeom prst="roundRect">
            <a:avLst>
              <a:gd name="adj" fmla="val 11538"/>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1" name="Shape 19"/>
          <p:cNvSpPr/>
          <p:nvPr/>
        </p:nvSpPr>
        <p:spPr>
          <a:xfrm>
            <a:off x="640080" y="4745736"/>
            <a:ext cx="82296" cy="713232"/>
          </a:xfrm>
          <a:prstGeom prst="rect">
            <a:avLst/>
          </a:prstGeom>
          <a:solidFill>
            <a:srgbClr val="C4442E"/>
          </a:solidFill>
          <a:ln/>
        </p:spPr>
      </p:sp>
      <p:sp>
        <p:nvSpPr>
          <p:cNvPr id="22" name="Text 20"/>
          <p:cNvSpPr/>
          <p:nvPr/>
        </p:nvSpPr>
        <p:spPr>
          <a:xfrm>
            <a:off x="960120" y="4800600"/>
            <a:ext cx="4572000" cy="603504"/>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Duplicate USUBJID</a:t>
            </a:r>
            <a:endParaRPr lang="en-US" sz="1400" dirty="0"/>
          </a:p>
        </p:txBody>
      </p:sp>
      <p:sp>
        <p:nvSpPr>
          <p:cNvPr id="23" name="Text 21"/>
          <p:cNvSpPr/>
          <p:nvPr/>
        </p:nvSpPr>
        <p:spPr>
          <a:xfrm>
            <a:off x="5669280" y="4800600"/>
            <a:ext cx="5760720" cy="603504"/>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Silently multiplies rows in every downstream merge.</a:t>
            </a:r>
            <a:endParaRPr lang="en-US" sz="1300" dirty="0"/>
          </a:p>
        </p:txBody>
      </p:sp>
      <p:sp>
        <p:nvSpPr>
          <p:cNvPr id="24" name="Shape 22"/>
          <p:cNvSpPr/>
          <p:nvPr/>
        </p:nvSpPr>
        <p:spPr>
          <a:xfrm>
            <a:off x="640080" y="5532120"/>
            <a:ext cx="10972800" cy="713232"/>
          </a:xfrm>
          <a:prstGeom prst="roundRect">
            <a:avLst>
              <a:gd name="adj" fmla="val 11538"/>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5" name="Shape 23"/>
          <p:cNvSpPr/>
          <p:nvPr/>
        </p:nvSpPr>
        <p:spPr>
          <a:xfrm>
            <a:off x="640080" y="5532120"/>
            <a:ext cx="82296" cy="713232"/>
          </a:xfrm>
          <a:prstGeom prst="rect">
            <a:avLst/>
          </a:prstGeom>
          <a:solidFill>
            <a:srgbClr val="E8833A"/>
          </a:solidFill>
          <a:ln/>
        </p:spPr>
      </p:sp>
      <p:sp>
        <p:nvSpPr>
          <p:cNvPr id="26" name="Text 24"/>
          <p:cNvSpPr/>
          <p:nvPr/>
        </p:nvSpPr>
        <p:spPr>
          <a:xfrm>
            <a:off x="960120" y="5586984"/>
            <a:ext cx="4572000" cy="603504"/>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Dates left as character</a:t>
            </a:r>
            <a:endParaRPr lang="en-US" sz="1400" dirty="0"/>
          </a:p>
        </p:txBody>
      </p:sp>
      <p:sp>
        <p:nvSpPr>
          <p:cNvPr id="27" name="Text 25"/>
          <p:cNvSpPr/>
          <p:nvPr/>
        </p:nvSpPr>
        <p:spPr>
          <a:xfrm>
            <a:off x="5669280" y="5586984"/>
            <a:ext cx="5760720" cy="603504"/>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Arithmetic impossible; study day cannot be derived.</a:t>
            </a:r>
            <a:endParaRPr lang="en-US" sz="1300" dirty="0"/>
          </a:p>
        </p:txBody>
      </p:sp>
      <p:sp>
        <p:nvSpPr>
          <p:cNvPr id="28" name="Text 26"/>
          <p:cNvSpPr/>
          <p:nvPr/>
        </p:nvSpPr>
        <p:spPr>
          <a:xfrm>
            <a:off x="640080" y="6355080"/>
            <a:ext cx="10972800" cy="365760"/>
          </a:xfrm>
          <a:prstGeom prst="rect">
            <a:avLst/>
          </a:prstGeom>
          <a:noFill/>
          <a:ln/>
        </p:spPr>
        <p:txBody>
          <a:bodyPr wrap="square" lIns="0" tIns="0" rIns="0" bIns="0" rtlCol="0" anchor="ctr"/>
          <a:lstStyle/>
          <a:p>
            <a:pPr indent="0" marL="0">
              <a:buNone/>
            </a:pPr>
            <a:r>
              <a:rPr lang="en-US" sz="1400" i="1" dirty="0">
                <a:solidFill>
                  <a:srgbClr val="0E7C86"/>
                </a:solidFill>
                <a:latin typeface="Calibri" pitchFamily="34" charset="0"/>
                <a:ea typeface="Calibri" pitchFamily="34" charset="-122"/>
                <a:cs typeface="Calibri" pitchFamily="34" charset="-120"/>
              </a:rPr>
              <a:t>Five of these six produce no error message. That is the recurring lesson of this course.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E3D"/>
        </a:solidFill>
      </p:bgPr>
    </p:bg>
    <p:spTree>
      <p:nvGrpSpPr>
        <p:cNvPr id="1" name=""/>
        <p:cNvGrpSpPr/>
        <p:nvPr/>
      </p:nvGrpSpPr>
      <p:grpSpPr>
        <a:xfrm>
          <a:off x="0" y="0"/>
          <a:ext cx="0" cy="0"/>
          <a:chOff x="0" y="0"/>
          <a:chExt cx="0" cy="0"/>
        </a:xfrm>
      </p:grpSpPr>
      <p:sp>
        <p:nvSpPr>
          <p:cNvPr id="2" name="Shape 0"/>
          <p:cNvSpPr/>
          <p:nvPr/>
        </p:nvSpPr>
        <p:spPr>
          <a:xfrm>
            <a:off x="9326880" y="4206240"/>
            <a:ext cx="4572000" cy="4572000"/>
          </a:xfrm>
          <a:prstGeom prst="ellipse">
            <a:avLst/>
          </a:prstGeom>
          <a:solidFill>
            <a:srgbClr val="133B4C"/>
          </a:solidFill>
          <a:ln/>
        </p:spPr>
      </p:sp>
      <p:sp>
        <p:nvSpPr>
          <p:cNvPr id="3" name="Shape 1"/>
          <p:cNvSpPr/>
          <p:nvPr/>
        </p:nvSpPr>
        <p:spPr>
          <a:xfrm>
            <a:off x="10241280" y="5120640"/>
            <a:ext cx="2743200" cy="2743200"/>
          </a:xfrm>
          <a:prstGeom prst="ellipse">
            <a:avLst/>
          </a:prstGeom>
          <a:solidFill>
            <a:srgbClr val="0E7C86"/>
          </a:solidFill>
          <a:ln/>
        </p:spPr>
      </p:sp>
      <p:sp>
        <p:nvSpPr>
          <p:cNvPr id="4" name="Text 2"/>
          <p:cNvSpPr/>
          <p:nvPr/>
        </p:nvSpPr>
        <p:spPr>
          <a:xfrm>
            <a:off x="640080" y="1280160"/>
            <a:ext cx="10058400" cy="320040"/>
          </a:xfrm>
          <a:prstGeom prst="rect">
            <a:avLst/>
          </a:prstGeom>
          <a:noFill/>
          <a:ln/>
        </p:spPr>
        <p:txBody>
          <a:bodyPr wrap="square" lIns="0" tIns="0" rIns="0" bIns="0" rtlCol="0" anchor="ctr"/>
          <a:lstStyle/>
          <a:p>
            <a:pPr indent="0" marL="0">
              <a:buNone/>
            </a:pPr>
            <a:r>
              <a:rPr lang="en-US" sz="1300" b="1" spc="200" kern="0" dirty="0">
                <a:solidFill>
                  <a:srgbClr val="6FC8B4"/>
                </a:solidFill>
                <a:latin typeface="Calibri" pitchFamily="34" charset="0"/>
                <a:ea typeface="Calibri" pitchFamily="34" charset="-122"/>
                <a:cs typeface="Calibri" pitchFamily="34" charset="-120"/>
              </a:rPr>
              <a:t>WHAT'S NEXT</a:t>
            </a:r>
            <a:endParaRPr lang="en-US" sz="1300" dirty="0"/>
          </a:p>
        </p:txBody>
      </p:sp>
      <p:sp>
        <p:nvSpPr>
          <p:cNvPr id="5" name="Text 3"/>
          <p:cNvSpPr/>
          <p:nvPr/>
        </p:nvSpPr>
        <p:spPr>
          <a:xfrm>
            <a:off x="603504" y="1645920"/>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Build the spine first</a:t>
            </a:r>
            <a:endParaRPr lang="en-US" sz="3200" dirty="0"/>
          </a:p>
        </p:txBody>
      </p:sp>
      <p:sp>
        <p:nvSpPr>
          <p:cNvPr id="6" name="Shape 4"/>
          <p:cNvSpPr/>
          <p:nvPr/>
        </p:nvSpPr>
        <p:spPr>
          <a:xfrm>
            <a:off x="640080" y="2743200"/>
            <a:ext cx="566928" cy="566928"/>
          </a:xfrm>
          <a:prstGeom prst="ellipse">
            <a:avLst/>
          </a:prstGeom>
          <a:solidFill>
            <a:srgbClr val="E8833A"/>
          </a:solidFill>
          <a:ln/>
        </p:spPr>
      </p:sp>
      <p:sp>
        <p:nvSpPr>
          <p:cNvPr id="7" name="Text 5"/>
          <p:cNvSpPr/>
          <p:nvPr/>
        </p:nvSpPr>
        <p:spPr>
          <a:xfrm>
            <a:off x="640080" y="2743200"/>
            <a:ext cx="566928" cy="566928"/>
          </a:xfrm>
          <a:prstGeom prst="rect">
            <a:avLst/>
          </a:prstGeom>
          <a:noFill/>
          <a:ln/>
        </p:spPr>
        <p:txBody>
          <a:bodyPr wrap="square" lIns="0" tIns="0" rIns="0" bIns="0" rtlCol="0" anchor="ctr"/>
          <a:lstStyle/>
          <a:p>
            <a:pPr algn="ctr" indent="0" marL="0">
              <a:buNone/>
            </a:pPr>
            <a:r>
              <a:rPr lang="en-US" sz="1700" b="1" dirty="0">
                <a:solidFill>
                  <a:srgbClr val="0F2E3D"/>
                </a:solidFill>
                <a:latin typeface="Calibri" pitchFamily="34" charset="0"/>
                <a:ea typeface="Calibri" pitchFamily="34" charset="-122"/>
                <a:cs typeface="Calibri" pitchFamily="34" charset="-120"/>
              </a:rPr>
              <a:t>1</a:t>
            </a:r>
            <a:endParaRPr lang="en-US" sz="1700" dirty="0"/>
          </a:p>
        </p:txBody>
      </p:sp>
      <p:sp>
        <p:nvSpPr>
          <p:cNvPr id="8" name="Text 6"/>
          <p:cNvSpPr/>
          <p:nvPr/>
        </p:nvSpPr>
        <p:spPr>
          <a:xfrm>
            <a:off x="1417320" y="2724912"/>
            <a:ext cx="9875520" cy="7315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Step 1 · Notebook 14   </a:t>
            </a:r>
            <a:pPr indent="0" marL="0">
              <a:buNone/>
            </a:pPr>
            <a:r>
              <a:rPr lang="en-US" sz="1350" dirty="0">
                <a:solidFill>
                  <a:srgbClr val="C7DCE0"/>
                </a:solidFill>
                <a:latin typeface="Calibri" pitchFamily="34" charset="0"/>
                <a:ea typeface="Calibri" pitchFamily="34" charset="-122"/>
                <a:cs typeface="Calibri" pitchFamily="34" charset="-120"/>
              </a:rPr>
              <a:t>Build ADSL from DM, DS and VS. Eight rows, and one of them discontinued.</a:t>
            </a:r>
            <a:endParaRPr lang="en-US" sz="1700" dirty="0"/>
          </a:p>
        </p:txBody>
      </p:sp>
      <p:sp>
        <p:nvSpPr>
          <p:cNvPr id="9" name="Shape 7"/>
          <p:cNvSpPr/>
          <p:nvPr/>
        </p:nvSpPr>
        <p:spPr>
          <a:xfrm>
            <a:off x="640080" y="3703320"/>
            <a:ext cx="566928" cy="566928"/>
          </a:xfrm>
          <a:prstGeom prst="ellipse">
            <a:avLst/>
          </a:prstGeom>
          <a:solidFill>
            <a:srgbClr val="0E7C86"/>
          </a:solidFill>
          <a:ln/>
        </p:spPr>
      </p:sp>
      <p:sp>
        <p:nvSpPr>
          <p:cNvPr id="10" name="Text 8"/>
          <p:cNvSpPr/>
          <p:nvPr/>
        </p:nvSpPr>
        <p:spPr>
          <a:xfrm>
            <a:off x="640080" y="370332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1" name="Text 9"/>
          <p:cNvSpPr/>
          <p:nvPr/>
        </p:nvSpPr>
        <p:spPr>
          <a:xfrm>
            <a:off x="1417320" y="3685032"/>
            <a:ext cx="9875520" cy="7315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Step 2 · Exercise 1   </a:t>
            </a:r>
            <a:pPr indent="0" marL="0">
              <a:buNone/>
            </a:pPr>
            <a:r>
              <a:rPr lang="en-US" sz="1350" dirty="0">
                <a:solidFill>
                  <a:srgbClr val="C7DCE0"/>
                </a:solidFill>
                <a:latin typeface="Calibri" pitchFamily="34" charset="0"/>
                <a:ea typeface="Calibri" pitchFamily="34" charset="-122"/>
                <a:cs typeface="Calibri" pitchFamily="34" charset="-120"/>
              </a:rPr>
              <a:t>Do the baseline the WRONG way on purpose. Watch it fail silently.</a:t>
            </a:r>
            <a:endParaRPr lang="en-US" sz="1700" dirty="0"/>
          </a:p>
        </p:txBody>
      </p:sp>
      <p:sp>
        <p:nvSpPr>
          <p:cNvPr id="12" name="Shape 10"/>
          <p:cNvSpPr/>
          <p:nvPr/>
        </p:nvSpPr>
        <p:spPr>
          <a:xfrm>
            <a:off x="640080" y="4663440"/>
            <a:ext cx="566928" cy="566928"/>
          </a:xfrm>
          <a:prstGeom prst="ellipse">
            <a:avLst/>
          </a:prstGeom>
          <a:solidFill>
            <a:srgbClr val="6FC8B4"/>
          </a:solidFill>
          <a:ln/>
        </p:spPr>
      </p:sp>
      <p:sp>
        <p:nvSpPr>
          <p:cNvPr id="13" name="Text 11"/>
          <p:cNvSpPr/>
          <p:nvPr/>
        </p:nvSpPr>
        <p:spPr>
          <a:xfrm>
            <a:off x="640080" y="4663440"/>
            <a:ext cx="566928" cy="566928"/>
          </a:xfrm>
          <a:prstGeom prst="rect">
            <a:avLst/>
          </a:prstGeom>
          <a:noFill/>
          <a:ln/>
        </p:spPr>
        <p:txBody>
          <a:bodyPr wrap="square" lIns="0" tIns="0" rIns="0" bIns="0" rtlCol="0" anchor="ctr"/>
          <a:lstStyle/>
          <a:p>
            <a:pPr algn="ctr" indent="0" marL="0">
              <a:buNone/>
            </a:pPr>
            <a:r>
              <a:rPr lang="en-US" sz="1700" b="1" dirty="0">
                <a:solidFill>
                  <a:srgbClr val="0F2E3D"/>
                </a:solidFill>
                <a:latin typeface="Calibri" pitchFamily="34" charset="0"/>
                <a:ea typeface="Calibri" pitchFamily="34" charset="-122"/>
                <a:cs typeface="Calibri" pitchFamily="34" charset="-120"/>
              </a:rPr>
              <a:t>3</a:t>
            </a:r>
            <a:endParaRPr lang="en-US" sz="1700" dirty="0"/>
          </a:p>
        </p:txBody>
      </p:sp>
      <p:sp>
        <p:nvSpPr>
          <p:cNvPr id="14" name="Text 12"/>
          <p:cNvSpPr/>
          <p:nvPr/>
        </p:nvSpPr>
        <p:spPr>
          <a:xfrm>
            <a:off x="1417320" y="4645152"/>
            <a:ext cx="9875520" cy="7315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Step 3 · Check   </a:t>
            </a:r>
            <a:pPr indent="0" marL="0">
              <a:buNone/>
            </a:pPr>
            <a:r>
              <a:rPr lang="en-US" sz="1350" dirty="0">
                <a:solidFill>
                  <a:srgbClr val="C7DCE0"/>
                </a:solidFill>
                <a:latin typeface="Calibri" pitchFamily="34" charset="0"/>
                <a:ea typeface="Calibri" pitchFamily="34" charset="-122"/>
                <a:cs typeface="Calibri" pitchFamily="34" charset="-120"/>
              </a:rPr>
              <a:t>PROC COMPARE against data/adam/adsl.csv — the finished reference.</a:t>
            </a:r>
            <a:endParaRPr lang="en-US" sz="1700" dirty="0"/>
          </a:p>
        </p:txBody>
      </p:sp>
      <p:sp>
        <p:nvSpPr>
          <p:cNvPr id="15" name="Text 13"/>
          <p:cNvSpPr/>
          <p:nvPr/>
        </p:nvSpPr>
        <p:spPr>
          <a:xfrm>
            <a:off x="640080" y="5943600"/>
            <a:ext cx="10515600" cy="548640"/>
          </a:xfrm>
          <a:prstGeom prst="rect">
            <a:avLst/>
          </a:prstGeom>
          <a:noFill/>
          <a:ln/>
        </p:spPr>
        <p:txBody>
          <a:bodyPr wrap="square" lIns="0" tIns="0" rIns="0" bIns="0" rtlCol="0" anchor="ctr"/>
          <a:lstStyle/>
          <a:p>
            <a:pPr indent="0" marL="0">
              <a:buNone/>
            </a:pPr>
            <a:r>
              <a:rPr lang="en-US" sz="1400" i="1" dirty="0">
                <a:solidFill>
                  <a:srgbClr val="6FC8B4"/>
                </a:solidFill>
                <a:latin typeface="Calibri" pitchFamily="34" charset="0"/>
                <a:ea typeface="Calibri" pitchFamily="34" charset="-122"/>
                <a:cs typeface="Calibri" pitchFamily="34" charset="-120"/>
              </a:rPr>
              <a:t>Everything in the next four days copies from what you build today. Get ADSL right and the rest is bookkeeping.</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Tabulation to Analysis: Why ADaM Exists</dc:title>
  <dc:subject>PptxGenJS Presentation</dc:subject>
  <dc:creator>Clinical Programming Bootcamp</dc:creator>
  <cp:lastModifiedBy>Clinical Programming Bootcamp</cp:lastModifiedBy>
  <cp:revision>1</cp:revision>
  <dcterms:created xsi:type="dcterms:W3CDTF">2026-07-20T19:34:03Z</dcterms:created>
  <dcterms:modified xsi:type="dcterms:W3CDTF">2026-07-20T19:34:03Z</dcterms:modified>
</cp:coreProperties>
</file>