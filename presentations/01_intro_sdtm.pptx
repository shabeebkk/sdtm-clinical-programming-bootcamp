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module is the foundation for the whole bootcamp. Goal: by the end you can explain what CDISC and SDTM are, why regulators require them, and how raw collected data becomes a standardized submission dataset. No prior clinical or programming knowledge assumed — we define every acronym as we go. CDISC = Clinical Data Interchange Standards Consortium. SDTM = Study Data Tabulation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A pharma company runs dozens of studies over a drug's life; regulators receive submissions from hundreds of companies. Before standards, each dataset was shaped and named however the programmer chose. Reviewers wasted enormous time just understanding the data before they could review the science. FDA = US Food and Drug Administration. This is the pain CDISC was created to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of standards. PMDA = Pharmaceuticals and Medical Devices Agency, Japan's regulator — like FDA, it requires CDISC-standard data. Key message: standardization is not bureaucratic box-ticking; it makes data reusable by people and by software. Automated validation, analysis templates, and reviewer tools all depend on the data being in a predictable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CDISC the organization vs. CDISC the standards. Founded 1997, non-profit, consensus-based — sponsors, CROs, regulators and tool vendors all participate. CRO = Contract Research Organization, a company that runs trials on a sponsor's behalf. The standards are free to download from cdisc.org. Emphasize the four 'commons': structure, naming, codelists, metadata. Every downstream benefit flows from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CDISC family maps to the stages of a study. CDASH = Clinical Data Acquisition Standards Harmonization (collection). SDTM (tabulation). ADaM = Analysis Data Model (analysis). CRF = Case Report Form, the form used to record trial data for each subject. Two standards cut across all stages: Controlled Terminology (the shared codelists) and Define-XML (the metadata/data dictionary). This deck focuses on SDTM, but you must know where it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end-to-end pipeline. EDC = Electronic Data Capture, the software sites use to enter CRF data. eCTD = electronic Common Technical Document, the standardized submission format regulators require. Walk left to right. Emphasize SDTM's role as the bridge between raw collection and analysis. ADaM is always traceable back to SDTM — that traceability is a regulatory expectation.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to memorize: SDTM is a standard STRUCTURE for organizing observed clinical trial data. 'Tabulation' means the data as collected/observed — not analysis-derived results. The box analogy works well for freshers. Why it matters: it's a regulatory requirement (not optional), it makes data consistent and combinable, it enables automated checks, and it's the traceable source for 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distinction freshers must get right. The SDTM Model is the abstract framework (concepts, observation classes, variable roles). The SDTMIG — Implementation Guide — is the practical document that tells you exactly which variables belong in each domain and how to populate them. Analogy: model = grammar rules; IG = the phrasebook. We standardize on SDTMIG v3.3 (built on SDTM v1.7). Always cite the version — rules change between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concept in SDTM. Ask for each data point: was it DONE to the subject (Intervention), did it HAPPEN to the subject (Event), or was it MEASURED (Finding)? This three-way split determines which standard variables the domain gets. A fourth 'shape' — Special Purpose domains like DM — doesn't follow these classes; we cover that next. Give quick quiz examples: blood pressure? Finding. Headache? Event. Aspirin taken?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groupings. Three map directly to the observation classes (Interventions, Events, Findings). Special Purpose domains have their own fixed structure — DM (Demographics), CO (Comments), SE (Subject Elements), SV (Subject Visits). Trial Design domains describe the study skeleton itself (arms, elements, visits, summary) and have no subject-level observations in the usual sense. Relationship datasets — RELREC and SUPPQUAL — connect records and hold non-standard variables. Don't memorize all codes now; recognize the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keep-it-handy reference. Don't read every row aloud; highlight that domains are named with 2-letter codes and each belongs to a class. Note DM is special-purpose (one row per subject) while AE/LB/VS have many rows per subject. Students will build DM, AE, CM, EX, VS, and LB later in the course. Point out the color coding matches the observation classes from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real DM dataset. USUBJID (Unique Subject Identifier) must be unique across the WHOLE study — it typically concatenates study + site + subject. SUBJID is the site-local id. AGEU = Age Units. ARMCD is the short planned-arm code (&lt;=20 chars, no spaces), ARM is the long text. Note RACE 'BLACK OR AFRICAN AMERICAN' is the exact Controlled Terminology value. Three callouts: rows=observations, columns=variables, values obey CT. This 'one row = one observation' idea generalizes to every domain — only the definition of 'observation'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roles classify every variable by its job. Identifiers say who/which record. Topic is the subject of the observation (the term, the test code, the treatment). Timing is when. Qualifiers describe the topic — and there are several sub-types (grouping, result, variable, record, synonym, variable qualifiers) which we'll meet later. The '--' prefix (e.g., --SEQ) is a placeholder for the 2-letter domain code: AESEQ in AE, VSSEQ in VS. Point out most columns are qualifiers.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designation tells you whether a variable is mandatory. Required = must exist AND be populated (a value on every row). Expected = the column must exist, but individual values can be null if not collected. Permissible = optional; include only when relevant. Common beginner mistake: dropping an Expected variable because some values are blank — the column must still be there. The SDTMIG domain tables have a 'Core' column with Req/Exp/Perm for each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appear in essentially every domain. STUDYID and DOMAIN are constants within a dataset. USUBJID is the critical join key — it must be globally unique in the study and identical for the same person in every domain; that's how you assemble a subject's full record. --SEQ (AESEQ, VSSEQ…) uniquely numbers records within subject+domain, since a subject has many AEs or vital signs. Together USUBJID + --SEQ uniquely identify any observation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Findings 'vertical' or 'normalized' structure is the hardest shape for beginners. Instead of a column per measurement, each measurement is its own ROW, identified by VSTESTCD (short code, e.g. SYSBP) and VSTEST (label). The result is in VSORRES. Note the same subject has 5 rows here — 4 tests at baseline plus a repeat SYSBP at Week 2. Key qualifier pairs: --ORRES/--ORRESU (original result + unit) vs --STRESC/--STRESN/--STRESU (standardized). LB and EG follow the identical pattern. This normalized shape is why Findings domains scale to any number of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Controlled Terminology is what makes coded values consistent. It's maintained jointly by CDISC and NCI-EVS (National Cancer Institute — Enterprise Vocabulary Services) and published quarterly, so always work from a specific CT version. Coded variables must draw from their assigned codelist. The right panel shows the core job of a mapping programmer: collapse messy source values into the one approved term. Note some codelists are 'extensible' (you may add terms) and some are not — we'll cover that in the CT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doesn't travel alone. Define-XML (currently v2.x) is a standardized XML metadata document — it tells the reviewer what every dataset and variable means, which codelists apply, and how derived values were computed. Without it, standardized data is far less useful. The package also includes the datasets as SAS Transport (.xpt) files, the cSDRG (clinical Study Data Reviewer's Guide, a human-readable narrative), and the annotated CRF (aCRF) that shows where each SDTM variable came from on the form. Pinnacle 21 and similar tools validate this whole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for the mapping. Show that raw data is readable but non-standard. Walk through each problem: date formats vary and SDTM requires ISO 8601 character dates; AE terms are free text and must be coded with MedDRA (Medical Dictionary for Regulatory Activities) yielding a reported term (AETERM) and a dictionary-derived preferred term (AEDECOD); severity and seriousness need CT; and the local subject number must be expanded to a study-unique USUBJID. Next slide shows the mapped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slide. Same two events, now standardized: STUDYID/DOMAIN/USUBJID/AESEQ identifiers added; AETERM keeps the verbatim ('bad headache') while AEDECOD carries the MedDRA-coded term ('Headache'); dates are ISO 8601; AESEV and AESER use CT. Emphasize SDTM preserves the original AND adds the standardized version — nothing collected is thrown away. This raw-to-SDTM mapping is exactly what students will do by hand for DM, AE, VS, and LB in later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mistakes graders see most. (1) Don't invent names — the IG is prescriptive; non-standard variables go to SUPPQUAL (Supplemental Qualifiers). (2) ISO 8601 character dates always. (3) Keep Expected variables even when partly blank. (4) CT values must match exactly. (5) USUBJID uniqueness and consistency. (6) ORRES vs STRESN. We'll reinforce each of these in the hands-on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as a reference during Q&amp;A. These are the acronyms students will hear constantly. Encourage them to screenshot it. Every term here was defined in context on an earlier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mapping the road ahead so students see how today's concepts become skills. Reiterate the dual-language promise: SAS and R are equal-weight; every domain is built in both. Then open the floor for questions using the glossary slide. End of Module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0E7C86"/>
          </a:solidFill>
          <a:ln/>
        </p:spPr>
      </p:sp>
      <p:sp>
        <p:nvSpPr>
          <p:cNvPr id="4" name="Shape 2"/>
          <p:cNvSpPr/>
          <p:nvPr/>
        </p:nvSpPr>
        <p:spPr>
          <a:xfrm>
            <a:off x="10469880" y="137160"/>
            <a:ext cx="1554480" cy="1554480"/>
          </a:xfrm>
          <a:prstGeom prst="ellipse">
            <a:avLst/>
          </a:prstGeom>
          <a:solidFill>
            <a:srgbClr val="E8833A"/>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01</a:t>
            </a:r>
            <a:endParaRPr lang="en-US" sz="1400" dirty="0"/>
          </a:p>
        </p:txBody>
      </p:sp>
      <p:sp>
        <p:nvSpPr>
          <p:cNvPr id="6" name="Text 4"/>
          <p:cNvSpPr/>
          <p:nvPr/>
        </p:nvSpPr>
        <p:spPr>
          <a:xfrm>
            <a:off x="603504" y="2286000"/>
            <a:ext cx="8778240" cy="201168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Introduction to CDISC</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&amp; SDTM Foundations</a:t>
            </a:r>
            <a:endParaRPr lang="en-US" sz="4600" dirty="0"/>
          </a:p>
        </p:txBody>
      </p:sp>
      <p:sp>
        <p:nvSpPr>
          <p:cNvPr id="7" name="Text 5"/>
          <p:cNvSpPr/>
          <p:nvPr/>
        </p:nvSpPr>
        <p:spPr>
          <a:xfrm>
            <a:off x="640080" y="4343400"/>
            <a:ext cx="8412480" cy="82296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How clinical trial data becomes a standardized, submission-ready dataset — from raw case report forms to a regulatory package.</a:t>
            </a:r>
            <a:endParaRPr lang="en-US" sz="1600" dirty="0"/>
          </a:p>
        </p:txBody>
      </p:sp>
      <p:sp>
        <p:nvSpPr>
          <p:cNvPr id="8" name="Text 6"/>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8FAEB8"/>
                </a:solidFill>
                <a:latin typeface="Calibri" pitchFamily="34" charset="0"/>
                <a:ea typeface="Calibri" pitchFamily="34" charset="-122"/>
                <a:cs typeface="Calibri" pitchFamily="34" charset="-120"/>
              </a:rPr>
              <a:t>CDISC · CDASH · SDTM · ADaM · Controlled Terminology · Define-XML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WHY STANDARDS EXIST</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Before standards: every study spoke a different language</a:t>
            </a:r>
            <a:endParaRPr lang="en-US" sz="3000" dirty="0"/>
          </a:p>
        </p:txBody>
      </p:sp>
      <p:sp>
        <p:nvSpPr>
          <p:cNvPr id="4" name="Shape 2"/>
          <p:cNvSpPr/>
          <p:nvPr/>
        </p:nvSpPr>
        <p:spPr>
          <a:xfrm>
            <a:off x="640080" y="1600200"/>
            <a:ext cx="457200" cy="457200"/>
          </a:xfrm>
          <a:prstGeom prst="ellipse">
            <a:avLst/>
          </a:prstGeom>
          <a:solidFill>
            <a:srgbClr val="0E7C86"/>
          </a:solidFill>
          <a:ln/>
        </p:spPr>
      </p:sp>
      <p:sp>
        <p:nvSpPr>
          <p:cNvPr id="5" name="Text 3"/>
          <p:cNvSpPr/>
          <p:nvPr/>
        </p:nvSpPr>
        <p:spPr>
          <a:xfrm>
            <a:off x="640080" y="1600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280160" y="1545336"/>
            <a:ext cx="5029200" cy="868680"/>
          </a:xfrm>
          <a:prstGeom prst="rect">
            <a:avLst/>
          </a:prstGeom>
          <a:noFill/>
          <a:ln/>
        </p:spPr>
        <p:txBody>
          <a:bodyPr wrap="square" lIns="0" tIns="0" rIns="0" bIns="0" rtlCol="0" anchor="t"/>
          <a:lstStyle/>
          <a:p>
            <a:pPr indent="0" marL="0">
              <a:buNone/>
            </a:pPr>
            <a:r>
              <a:rPr lang="en-US" sz="1500" b="1" dirty="0">
                <a:solidFill>
                  <a:srgbClr val="0F2E3D"/>
                </a:solidFill>
                <a:latin typeface="Calibri" pitchFamily="34" charset="0"/>
                <a:ea typeface="Calibri" pitchFamily="34" charset="-122"/>
                <a:cs typeface="Calibri" pitchFamily="34" charset="-120"/>
              </a:rPr>
              <a:t>Same idea, different names
</a:t>
            </a:r>
            <a:pPr indent="0" marL="0">
              <a:buNone/>
            </a:pPr>
            <a:r>
              <a:rPr lang="en-US" sz="1250" dirty="0">
                <a:solidFill>
                  <a:srgbClr val="5A7682"/>
                </a:solidFill>
                <a:latin typeface="Calibri" pitchFamily="34" charset="0"/>
                <a:ea typeface="Calibri" pitchFamily="34" charset="-122"/>
                <a:cs typeface="Calibri" pitchFamily="34" charset="-120"/>
              </a:rPr>
              <a:t>One study calls a subject SUBJID, another PATIENT, another PT_NO — for the exact same thing.</a:t>
            </a:r>
            <a:endParaRPr lang="en-US" sz="1500" dirty="0"/>
          </a:p>
        </p:txBody>
      </p:sp>
      <p:sp>
        <p:nvSpPr>
          <p:cNvPr id="7" name="Shape 5"/>
          <p:cNvSpPr/>
          <p:nvPr/>
        </p:nvSpPr>
        <p:spPr>
          <a:xfrm>
            <a:off x="640080" y="2660904"/>
            <a:ext cx="457200" cy="457200"/>
          </a:xfrm>
          <a:prstGeom prst="ellipse">
            <a:avLst/>
          </a:prstGeom>
          <a:solidFill>
            <a:srgbClr val="1FA8A0"/>
          </a:solidFill>
          <a:ln/>
        </p:spPr>
      </p:sp>
      <p:sp>
        <p:nvSpPr>
          <p:cNvPr id="8" name="Text 6"/>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280160" y="2606040"/>
            <a:ext cx="5029200" cy="868680"/>
          </a:xfrm>
          <a:prstGeom prst="rect">
            <a:avLst/>
          </a:prstGeom>
          <a:noFill/>
          <a:ln/>
        </p:spPr>
        <p:txBody>
          <a:bodyPr wrap="square" lIns="0" tIns="0" rIns="0" bIns="0" rtlCol="0" anchor="t"/>
          <a:lstStyle/>
          <a:p>
            <a:pPr indent="0" marL="0">
              <a:buNone/>
            </a:pPr>
            <a:r>
              <a:rPr lang="en-US" sz="1500" b="1" dirty="0">
                <a:solidFill>
                  <a:srgbClr val="0F2E3D"/>
                </a:solidFill>
                <a:latin typeface="Calibri" pitchFamily="34" charset="0"/>
                <a:ea typeface="Calibri" pitchFamily="34" charset="-122"/>
                <a:cs typeface="Calibri" pitchFamily="34" charset="-120"/>
              </a:rPr>
              <a:t>Different structures
</a:t>
            </a:r>
            <a:pPr indent="0" marL="0">
              <a:buNone/>
            </a:pPr>
            <a:r>
              <a:rPr lang="en-US" sz="1250" dirty="0">
                <a:solidFill>
                  <a:srgbClr val="5A7682"/>
                </a:solidFill>
                <a:latin typeface="Calibri" pitchFamily="34" charset="0"/>
                <a:ea typeface="Calibri" pitchFamily="34" charset="-122"/>
                <a:cs typeface="Calibri" pitchFamily="34" charset="-120"/>
              </a:rPr>
              <a:t>Adverse events stored one-row-per-event here, one-column-per-event there.</a:t>
            </a:r>
            <a:endParaRPr lang="en-US" sz="1500" dirty="0"/>
          </a:p>
        </p:txBody>
      </p:sp>
      <p:sp>
        <p:nvSpPr>
          <p:cNvPr id="10" name="Shape 8"/>
          <p:cNvSpPr/>
          <p:nvPr/>
        </p:nvSpPr>
        <p:spPr>
          <a:xfrm>
            <a:off x="640080" y="3721608"/>
            <a:ext cx="457200" cy="457200"/>
          </a:xfrm>
          <a:prstGeom prst="ellipse">
            <a:avLst/>
          </a:prstGeom>
          <a:solidFill>
            <a:srgbClr val="0E7C86"/>
          </a:solidFill>
          <a:ln/>
        </p:spPr>
      </p:sp>
      <p:sp>
        <p:nvSpPr>
          <p:cNvPr id="11" name="Text 9"/>
          <p:cNvSpPr/>
          <p:nvPr/>
        </p:nvSpPr>
        <p:spPr>
          <a:xfrm>
            <a:off x="640080" y="37216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280160" y="3666744"/>
            <a:ext cx="5029200" cy="868680"/>
          </a:xfrm>
          <a:prstGeom prst="rect">
            <a:avLst/>
          </a:prstGeom>
          <a:noFill/>
          <a:ln/>
        </p:spPr>
        <p:txBody>
          <a:bodyPr wrap="square" lIns="0" tIns="0" rIns="0" bIns="0" rtlCol="0" anchor="t"/>
          <a:lstStyle/>
          <a:p>
            <a:pPr indent="0" marL="0">
              <a:buNone/>
            </a:pPr>
            <a:r>
              <a:rPr lang="en-US" sz="1500" b="1" dirty="0">
                <a:solidFill>
                  <a:srgbClr val="0F2E3D"/>
                </a:solidFill>
                <a:latin typeface="Calibri" pitchFamily="34" charset="0"/>
                <a:ea typeface="Calibri" pitchFamily="34" charset="-122"/>
                <a:cs typeface="Calibri" pitchFamily="34" charset="-120"/>
              </a:rPr>
              <a:t>Different codes
</a:t>
            </a:r>
            <a:pPr indent="0" marL="0">
              <a:buNone/>
            </a:pPr>
            <a:r>
              <a:rPr lang="en-US" sz="1250" dirty="0">
                <a:solidFill>
                  <a:srgbClr val="5A7682"/>
                </a:solidFill>
                <a:latin typeface="Calibri" pitchFamily="34" charset="0"/>
                <a:ea typeface="Calibri" pitchFamily="34" charset="-122"/>
                <a:cs typeface="Calibri" pitchFamily="34" charset="-120"/>
              </a:rPr>
              <a:t>Sex recorded as M/F, 1/2, Male/Female, or Homme/Femme across studies.</a:t>
            </a:r>
            <a:endParaRPr lang="en-US" sz="1500" dirty="0"/>
          </a:p>
        </p:txBody>
      </p:sp>
      <p:sp>
        <p:nvSpPr>
          <p:cNvPr id="13" name="Shape 11"/>
          <p:cNvSpPr/>
          <p:nvPr/>
        </p:nvSpPr>
        <p:spPr>
          <a:xfrm>
            <a:off x="640080" y="4782312"/>
            <a:ext cx="457200" cy="457200"/>
          </a:xfrm>
          <a:prstGeom prst="ellipse">
            <a:avLst/>
          </a:prstGeom>
          <a:solidFill>
            <a:srgbClr val="1FA8A0"/>
          </a:solidFill>
          <a:ln/>
        </p:spPr>
      </p:sp>
      <p:sp>
        <p:nvSpPr>
          <p:cNvPr id="14" name="Text 12"/>
          <p:cNvSpPr/>
          <p:nvPr/>
        </p:nvSpPr>
        <p:spPr>
          <a:xfrm>
            <a:off x="640080" y="47823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280160" y="4727448"/>
            <a:ext cx="5029200" cy="868680"/>
          </a:xfrm>
          <a:prstGeom prst="rect">
            <a:avLst/>
          </a:prstGeom>
          <a:noFill/>
          <a:ln/>
        </p:spPr>
        <p:txBody>
          <a:bodyPr wrap="square" lIns="0" tIns="0" rIns="0" bIns="0" rtlCol="0" anchor="t"/>
          <a:lstStyle/>
          <a:p>
            <a:pPr indent="0" marL="0">
              <a:buNone/>
            </a:pPr>
            <a:r>
              <a:rPr lang="en-US" sz="1500" b="1" dirty="0">
                <a:solidFill>
                  <a:srgbClr val="0F2E3D"/>
                </a:solidFill>
                <a:latin typeface="Calibri" pitchFamily="34" charset="0"/>
                <a:ea typeface="Calibri" pitchFamily="34" charset="-122"/>
                <a:cs typeface="Calibri" pitchFamily="34" charset="-120"/>
              </a:rPr>
              <a:t>Re-learning every time
</a:t>
            </a:r>
            <a:pPr indent="0" marL="0">
              <a:buNone/>
            </a:pPr>
            <a:r>
              <a:rPr lang="en-US" sz="1250" dirty="0">
                <a:solidFill>
                  <a:srgbClr val="5A7682"/>
                </a:solidFill>
                <a:latin typeface="Calibri" pitchFamily="34" charset="0"/>
                <a:ea typeface="Calibri" pitchFamily="34" charset="-122"/>
                <a:cs typeface="Calibri" pitchFamily="34" charset="-120"/>
              </a:rPr>
              <a:t>A reviewer opening a new submission had to decode the data from scratch.</a:t>
            </a:r>
            <a:endParaRPr lang="en-US" sz="1500" dirty="0"/>
          </a:p>
        </p:txBody>
      </p:sp>
      <p:sp>
        <p:nvSpPr>
          <p:cNvPr id="16" name="Shape 14"/>
          <p:cNvSpPr/>
          <p:nvPr/>
        </p:nvSpPr>
        <p:spPr>
          <a:xfrm>
            <a:off x="6675120" y="1554480"/>
            <a:ext cx="4937760" cy="4480560"/>
          </a:xfrm>
          <a:prstGeom prst="roundRect">
            <a:avLst>
              <a:gd name="adj" fmla="val 183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6949440" y="1737360"/>
            <a:ext cx="4389120" cy="36576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The reviewer's nightmare</a:t>
            </a:r>
            <a:endParaRPr lang="en-US" sz="1400" dirty="0"/>
          </a:p>
        </p:txBody>
      </p:sp>
      <p:sp>
        <p:nvSpPr>
          <p:cNvPr id="18" name="Shape 16"/>
          <p:cNvSpPr/>
          <p:nvPr/>
        </p:nvSpPr>
        <p:spPr>
          <a:xfrm>
            <a:off x="6949440" y="2194560"/>
            <a:ext cx="4389120" cy="841248"/>
          </a:xfrm>
          <a:prstGeom prst="roundRect">
            <a:avLst>
              <a:gd name="adj" fmla="val 9783"/>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9" name="Text 17"/>
          <p:cNvSpPr/>
          <p:nvPr/>
        </p:nvSpPr>
        <p:spPr>
          <a:xfrm>
            <a:off x="7132320" y="2304288"/>
            <a:ext cx="4114800" cy="64008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Study A  </a:t>
            </a:r>
            <a:pPr indent="0" marL="0">
              <a:buNone/>
            </a:pPr>
            <a:r>
              <a:rPr lang="en-US" sz="1150" dirty="0">
                <a:solidFill>
                  <a:srgbClr val="5A7682"/>
                </a:solidFill>
                <a:latin typeface="Courier New" pitchFamily="34" charset="0"/>
                <a:ea typeface="Courier New" pitchFamily="34" charset="-122"/>
                <a:cs typeface="Courier New" pitchFamily="34" charset="-120"/>
              </a:rPr>
              <a:t>SUBJID | SEX=1 | AE in wide format</a:t>
            </a:r>
            <a:endParaRPr lang="en-US" sz="1300" dirty="0"/>
          </a:p>
        </p:txBody>
      </p:sp>
      <p:sp>
        <p:nvSpPr>
          <p:cNvPr id="20" name="Shape 18"/>
          <p:cNvSpPr/>
          <p:nvPr/>
        </p:nvSpPr>
        <p:spPr>
          <a:xfrm>
            <a:off x="6949440" y="3182112"/>
            <a:ext cx="4389120" cy="841248"/>
          </a:xfrm>
          <a:prstGeom prst="roundRect">
            <a:avLst>
              <a:gd name="adj" fmla="val 9783"/>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Text 19"/>
          <p:cNvSpPr/>
          <p:nvPr/>
        </p:nvSpPr>
        <p:spPr>
          <a:xfrm>
            <a:off x="7132320" y="3291840"/>
            <a:ext cx="4114800" cy="64008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Study B  </a:t>
            </a:r>
            <a:pPr indent="0" marL="0">
              <a:buNone/>
            </a:pPr>
            <a:r>
              <a:rPr lang="en-US" sz="1150" dirty="0">
                <a:solidFill>
                  <a:srgbClr val="5A7682"/>
                </a:solidFill>
                <a:latin typeface="Courier New" pitchFamily="34" charset="0"/>
                <a:ea typeface="Courier New" pitchFamily="34" charset="-122"/>
                <a:cs typeface="Courier New" pitchFamily="34" charset="-120"/>
              </a:rPr>
              <a:t>PATIENT | SEX=M | AE one row per event</a:t>
            </a:r>
            <a:endParaRPr lang="en-US" sz="1300" dirty="0"/>
          </a:p>
        </p:txBody>
      </p:sp>
      <p:sp>
        <p:nvSpPr>
          <p:cNvPr id="22" name="Shape 20"/>
          <p:cNvSpPr/>
          <p:nvPr/>
        </p:nvSpPr>
        <p:spPr>
          <a:xfrm>
            <a:off x="6949440" y="4169664"/>
            <a:ext cx="4389120" cy="841248"/>
          </a:xfrm>
          <a:prstGeom prst="roundRect">
            <a:avLst>
              <a:gd name="adj" fmla="val 9783"/>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Text 21"/>
          <p:cNvSpPr/>
          <p:nvPr/>
        </p:nvSpPr>
        <p:spPr>
          <a:xfrm>
            <a:off x="7132320" y="4279392"/>
            <a:ext cx="4114800" cy="64008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Study C  </a:t>
            </a:r>
            <a:pPr indent="0" marL="0">
              <a:buNone/>
            </a:pPr>
            <a:r>
              <a:rPr lang="en-US" sz="1150" dirty="0">
                <a:solidFill>
                  <a:srgbClr val="5A7682"/>
                </a:solidFill>
                <a:latin typeface="Courier New" pitchFamily="34" charset="0"/>
                <a:ea typeface="Courier New" pitchFamily="34" charset="-122"/>
                <a:cs typeface="Courier New" pitchFamily="34" charset="-120"/>
              </a:rPr>
              <a:t>PT_NO | SEX=Male | AE free-text notes</a:t>
            </a:r>
            <a:endParaRPr lang="en-US" sz="1300" dirty="0"/>
          </a:p>
        </p:txBody>
      </p:sp>
      <p:sp>
        <p:nvSpPr>
          <p:cNvPr id="24" name="Text 22"/>
          <p:cNvSpPr/>
          <p:nvPr/>
        </p:nvSpPr>
        <p:spPr>
          <a:xfrm>
            <a:off x="6949440" y="5257800"/>
            <a:ext cx="4389120" cy="548640"/>
          </a:xfrm>
          <a:prstGeom prst="rect">
            <a:avLst/>
          </a:prstGeom>
          <a:noFill/>
          <a:ln/>
        </p:spPr>
        <p:txBody>
          <a:bodyPr wrap="square" lIns="0" tIns="0" rIns="0" bIns="0" rtlCol="0" anchor="ctr"/>
          <a:lstStyle/>
          <a:p>
            <a:pPr indent="0" marL="0">
              <a:buNone/>
            </a:pPr>
            <a:r>
              <a:rPr lang="en-US" sz="1250" i="1" dirty="0">
                <a:solidFill>
                  <a:srgbClr val="0F2E3D"/>
                </a:solidFill>
                <a:latin typeface="Calibri" pitchFamily="34" charset="0"/>
                <a:ea typeface="Calibri" pitchFamily="34" charset="-122"/>
                <a:cs typeface="Calibri" pitchFamily="34" charset="-120"/>
              </a:rPr>
              <a:t>Every submission = a new puzzle for the FDA reviewer.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WHY STANDARDS EXIST</a:t>
            </a:r>
            <a:endParaRPr lang="en-US" sz="1200" dirty="0"/>
          </a:p>
        </p:txBody>
      </p:sp>
      <p:sp>
        <p:nvSpPr>
          <p:cNvPr id="3" name="Text 1"/>
          <p:cNvSpPr/>
          <p:nvPr/>
        </p:nvSpPr>
        <p:spPr>
          <a:xfrm>
            <a:off x="603504" y="82296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Standards turn re-work into re-use</a:t>
            </a:r>
            <a:endParaRPr lang="en-US" sz="3000" dirty="0"/>
          </a:p>
        </p:txBody>
      </p:sp>
      <p:sp>
        <p:nvSpPr>
          <p:cNvPr id="4" name="Shape 2"/>
          <p:cNvSpPr/>
          <p:nvPr/>
        </p:nvSpPr>
        <p:spPr>
          <a:xfrm>
            <a:off x="640080" y="1920240"/>
            <a:ext cx="3566160" cy="3566160"/>
          </a:xfrm>
          <a:prstGeom prst="roundRect">
            <a:avLst>
              <a:gd name="adj" fmla="val 230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640080" y="2240280"/>
            <a:ext cx="3566160" cy="1005840"/>
          </a:xfrm>
          <a:prstGeom prst="rect">
            <a:avLst/>
          </a:prstGeom>
          <a:noFill/>
          <a:ln/>
        </p:spPr>
        <p:txBody>
          <a:bodyPr wrap="square" lIns="0" tIns="0" rIns="0" bIns="0" rtlCol="0" anchor="ctr"/>
          <a:lstStyle/>
          <a:p>
            <a:pPr algn="ctr" indent="0" marL="0">
              <a:buNone/>
            </a:pPr>
            <a:r>
              <a:rPr lang="en-US" sz="5400" b="1" dirty="0">
                <a:solidFill>
                  <a:srgbClr val="E8833A"/>
                </a:solidFill>
                <a:latin typeface="Cambria" pitchFamily="34" charset="0"/>
                <a:ea typeface="Cambria" pitchFamily="34" charset="-122"/>
                <a:cs typeface="Cambria" pitchFamily="34" charset="-120"/>
              </a:rPr>
              <a:t>1</a:t>
            </a:r>
            <a:endParaRPr lang="en-US" sz="5400" dirty="0"/>
          </a:p>
        </p:txBody>
      </p:sp>
      <p:sp>
        <p:nvSpPr>
          <p:cNvPr id="6" name="Text 4"/>
          <p:cNvSpPr/>
          <p:nvPr/>
        </p:nvSpPr>
        <p:spPr>
          <a:xfrm>
            <a:off x="914400" y="3337560"/>
            <a:ext cx="3017520" cy="365760"/>
          </a:xfrm>
          <a:prstGeom prst="rect">
            <a:avLst/>
          </a:prstGeom>
          <a:noFill/>
          <a:ln/>
        </p:spPr>
        <p:txBody>
          <a:bodyPr wrap="square" lIns="0" tIns="0" rIns="0" bIns="0" rtlCol="0" anchor="ctr"/>
          <a:lstStyle/>
          <a:p>
            <a:pPr algn="ctr" indent="0" marL="0">
              <a:buNone/>
            </a:pPr>
            <a:r>
              <a:rPr lang="en-US" sz="1400" b="1" spc="100" kern="0" dirty="0">
                <a:solidFill>
                  <a:srgbClr val="6FC8B4"/>
                </a:solidFill>
                <a:latin typeface="Calibri" pitchFamily="34" charset="0"/>
                <a:ea typeface="Calibri" pitchFamily="34" charset="-122"/>
                <a:cs typeface="Calibri" pitchFamily="34" charset="-120"/>
              </a:rPr>
              <a:t>SHARED STRUCTURE</a:t>
            </a:r>
            <a:endParaRPr lang="en-US" sz="1400" dirty="0"/>
          </a:p>
        </p:txBody>
      </p:sp>
      <p:sp>
        <p:nvSpPr>
          <p:cNvPr id="7" name="Text 5"/>
          <p:cNvSpPr/>
          <p:nvPr/>
        </p:nvSpPr>
        <p:spPr>
          <a:xfrm>
            <a:off x="960120" y="3794760"/>
            <a:ext cx="2926080" cy="1371600"/>
          </a:xfrm>
          <a:prstGeom prst="rect">
            <a:avLst/>
          </a:prstGeom>
          <a:noFill/>
          <a:ln/>
        </p:spPr>
        <p:txBody>
          <a:bodyPr wrap="square" lIns="0" tIns="0" rIns="0" bIns="0" rtlCol="0" anchor="ctr"/>
          <a:lstStyle/>
          <a:p>
            <a:pPr algn="ctr" indent="0" marL="0">
              <a:buNone/>
            </a:pPr>
            <a:r>
              <a:rPr lang="en-US" sz="1300" dirty="0">
                <a:solidFill>
                  <a:srgbClr val="C7DCE0"/>
                </a:solidFill>
                <a:latin typeface="Calibri" pitchFamily="34" charset="0"/>
                <a:ea typeface="Calibri" pitchFamily="34" charset="-122"/>
                <a:cs typeface="Calibri" pitchFamily="34" charset="-120"/>
              </a:rPr>
              <a:t>Learn the data model once, apply it to every study and every sponsor.</a:t>
            </a:r>
            <a:endParaRPr lang="en-US" sz="1300" dirty="0"/>
          </a:p>
        </p:txBody>
      </p:sp>
      <p:sp>
        <p:nvSpPr>
          <p:cNvPr id="8" name="Shape 6"/>
          <p:cNvSpPr/>
          <p:nvPr/>
        </p:nvSpPr>
        <p:spPr>
          <a:xfrm>
            <a:off x="4416552" y="1920240"/>
            <a:ext cx="3566160" cy="3566160"/>
          </a:xfrm>
          <a:prstGeom prst="roundRect">
            <a:avLst>
              <a:gd name="adj" fmla="val 230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4416552" y="2240280"/>
            <a:ext cx="3566160" cy="1005840"/>
          </a:xfrm>
          <a:prstGeom prst="rect">
            <a:avLst/>
          </a:prstGeom>
          <a:noFill/>
          <a:ln/>
        </p:spPr>
        <p:txBody>
          <a:bodyPr wrap="square" lIns="0" tIns="0" rIns="0" bIns="0" rtlCol="0" anchor="ctr"/>
          <a:lstStyle/>
          <a:p>
            <a:pPr algn="ctr" indent="0" marL="0">
              <a:buNone/>
            </a:pPr>
            <a:r>
              <a:rPr lang="en-US" sz="5400" b="1" dirty="0">
                <a:solidFill>
                  <a:srgbClr val="E8833A"/>
                </a:solidFill>
                <a:latin typeface="Cambria" pitchFamily="34" charset="0"/>
                <a:ea typeface="Cambria" pitchFamily="34" charset="-122"/>
                <a:cs typeface="Cambria" pitchFamily="34" charset="-120"/>
              </a:rPr>
              <a:t>100%</a:t>
            </a:r>
            <a:endParaRPr lang="en-US" sz="5400" dirty="0"/>
          </a:p>
        </p:txBody>
      </p:sp>
      <p:sp>
        <p:nvSpPr>
          <p:cNvPr id="10" name="Text 8"/>
          <p:cNvSpPr/>
          <p:nvPr/>
        </p:nvSpPr>
        <p:spPr>
          <a:xfrm>
            <a:off x="4690872" y="3337560"/>
            <a:ext cx="3017520" cy="365760"/>
          </a:xfrm>
          <a:prstGeom prst="rect">
            <a:avLst/>
          </a:prstGeom>
          <a:noFill/>
          <a:ln/>
        </p:spPr>
        <p:txBody>
          <a:bodyPr wrap="square" lIns="0" tIns="0" rIns="0" bIns="0" rtlCol="0" anchor="ctr"/>
          <a:lstStyle/>
          <a:p>
            <a:pPr algn="ctr" indent="0" marL="0">
              <a:buNone/>
            </a:pPr>
            <a:r>
              <a:rPr lang="en-US" sz="1400" b="1" spc="100" kern="0" dirty="0">
                <a:solidFill>
                  <a:srgbClr val="6FC8B4"/>
                </a:solidFill>
                <a:latin typeface="Calibri" pitchFamily="34" charset="0"/>
                <a:ea typeface="Calibri" pitchFamily="34" charset="-122"/>
                <a:cs typeface="Calibri" pitchFamily="34" charset="-120"/>
              </a:rPr>
              <a:t>REQUIRED BY FDA &amp; PMDA</a:t>
            </a:r>
            <a:endParaRPr lang="en-US" sz="1400" dirty="0"/>
          </a:p>
        </p:txBody>
      </p:sp>
      <p:sp>
        <p:nvSpPr>
          <p:cNvPr id="11" name="Text 9"/>
          <p:cNvSpPr/>
          <p:nvPr/>
        </p:nvSpPr>
        <p:spPr>
          <a:xfrm>
            <a:off x="4736592" y="3794760"/>
            <a:ext cx="2926080" cy="1371600"/>
          </a:xfrm>
          <a:prstGeom prst="rect">
            <a:avLst/>
          </a:prstGeom>
          <a:noFill/>
          <a:ln/>
        </p:spPr>
        <p:txBody>
          <a:bodyPr wrap="square" lIns="0" tIns="0" rIns="0" bIns="0" rtlCol="0" anchor="ctr"/>
          <a:lstStyle/>
          <a:p>
            <a:pPr algn="ctr" indent="0" marL="0">
              <a:buNone/>
            </a:pPr>
            <a:r>
              <a:rPr lang="en-US" sz="1300" dirty="0">
                <a:solidFill>
                  <a:srgbClr val="C7DCE0"/>
                </a:solidFill>
                <a:latin typeface="Calibri" pitchFamily="34" charset="0"/>
                <a:ea typeface="Calibri" pitchFamily="34" charset="-122"/>
                <a:cs typeface="Calibri" pitchFamily="34" charset="-120"/>
              </a:rPr>
              <a:t>Standardized study data is mandatory for regulatory submissions.</a:t>
            </a:r>
            <a:endParaRPr lang="en-US" sz="1300" dirty="0"/>
          </a:p>
        </p:txBody>
      </p:sp>
      <p:sp>
        <p:nvSpPr>
          <p:cNvPr id="12" name="Shape 10"/>
          <p:cNvSpPr/>
          <p:nvPr/>
        </p:nvSpPr>
        <p:spPr>
          <a:xfrm>
            <a:off x="8193024" y="1920240"/>
            <a:ext cx="3566160" cy="3566160"/>
          </a:xfrm>
          <a:prstGeom prst="roundRect">
            <a:avLst>
              <a:gd name="adj" fmla="val 230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8193024" y="2240280"/>
            <a:ext cx="3566160" cy="1005840"/>
          </a:xfrm>
          <a:prstGeom prst="rect">
            <a:avLst/>
          </a:prstGeom>
          <a:noFill/>
          <a:ln/>
        </p:spPr>
        <p:txBody>
          <a:bodyPr wrap="square" lIns="0" tIns="0" rIns="0" bIns="0" rtlCol="0" anchor="ctr"/>
          <a:lstStyle/>
          <a:p>
            <a:pPr algn="ctr" indent="0" marL="0">
              <a:buNone/>
            </a:pPr>
            <a:r>
              <a:rPr lang="en-US" sz="5400" b="1" dirty="0">
                <a:solidFill>
                  <a:srgbClr val="E8833A"/>
                </a:solidFill>
                <a:latin typeface="Cambria" pitchFamily="34" charset="0"/>
                <a:ea typeface="Cambria" pitchFamily="34" charset="-122"/>
                <a:cs typeface="Cambria" pitchFamily="34" charset="-120"/>
              </a:rPr>
              <a:t>Faster</a:t>
            </a:r>
            <a:endParaRPr lang="en-US" sz="5400" dirty="0"/>
          </a:p>
        </p:txBody>
      </p:sp>
      <p:sp>
        <p:nvSpPr>
          <p:cNvPr id="14" name="Text 12"/>
          <p:cNvSpPr/>
          <p:nvPr/>
        </p:nvSpPr>
        <p:spPr>
          <a:xfrm>
            <a:off x="8467344" y="3337560"/>
            <a:ext cx="3017520" cy="365760"/>
          </a:xfrm>
          <a:prstGeom prst="rect">
            <a:avLst/>
          </a:prstGeom>
          <a:noFill/>
          <a:ln/>
        </p:spPr>
        <p:txBody>
          <a:bodyPr wrap="square" lIns="0" tIns="0" rIns="0" bIns="0" rtlCol="0" anchor="ctr"/>
          <a:lstStyle/>
          <a:p>
            <a:pPr algn="ctr" indent="0" marL="0">
              <a:buNone/>
            </a:pPr>
            <a:r>
              <a:rPr lang="en-US" sz="1400" b="1" spc="100" kern="0" dirty="0">
                <a:solidFill>
                  <a:srgbClr val="6FC8B4"/>
                </a:solidFill>
                <a:latin typeface="Calibri" pitchFamily="34" charset="0"/>
                <a:ea typeface="Calibri" pitchFamily="34" charset="-122"/>
                <a:cs typeface="Calibri" pitchFamily="34" charset="-120"/>
              </a:rPr>
              <a:t>REVIEW &amp; REUSE</a:t>
            </a:r>
            <a:endParaRPr lang="en-US" sz="1400" dirty="0"/>
          </a:p>
        </p:txBody>
      </p:sp>
      <p:sp>
        <p:nvSpPr>
          <p:cNvPr id="15" name="Text 13"/>
          <p:cNvSpPr/>
          <p:nvPr/>
        </p:nvSpPr>
        <p:spPr>
          <a:xfrm>
            <a:off x="8513064" y="3794760"/>
            <a:ext cx="2926080" cy="1371600"/>
          </a:xfrm>
          <a:prstGeom prst="rect">
            <a:avLst/>
          </a:prstGeom>
          <a:noFill/>
          <a:ln/>
        </p:spPr>
        <p:txBody>
          <a:bodyPr wrap="square" lIns="0" tIns="0" rIns="0" bIns="0" rtlCol="0" anchor="ctr"/>
          <a:lstStyle/>
          <a:p>
            <a:pPr algn="ctr" indent="0" marL="0">
              <a:buNone/>
            </a:pPr>
            <a:r>
              <a:rPr lang="en-US" sz="1300" dirty="0">
                <a:solidFill>
                  <a:srgbClr val="C7DCE0"/>
                </a:solidFill>
                <a:latin typeface="Calibri" pitchFamily="34" charset="0"/>
                <a:ea typeface="Calibri" pitchFamily="34" charset="-122"/>
                <a:cs typeface="Calibri" pitchFamily="34" charset="-120"/>
              </a:rPr>
              <a:t>Reviewers, tools, and analysis programs all know what to expect.</a:t>
            </a:r>
            <a:endParaRPr lang="en-US" sz="1300" dirty="0"/>
          </a:p>
        </p:txBody>
      </p:sp>
      <p:sp>
        <p:nvSpPr>
          <p:cNvPr id="16" name="Text 14"/>
          <p:cNvSpPr/>
          <p:nvPr/>
        </p:nvSpPr>
        <p:spPr>
          <a:xfrm>
            <a:off x="640080" y="5852160"/>
            <a:ext cx="10972800" cy="457200"/>
          </a:xfrm>
          <a:prstGeom prst="rect">
            <a:avLst/>
          </a:prstGeom>
          <a:noFill/>
          <a:ln/>
        </p:spPr>
        <p:txBody>
          <a:bodyPr wrap="square" lIns="0" tIns="0" rIns="0" bIns="0" rtlCol="0" anchor="ctr"/>
          <a:lstStyle/>
          <a:p>
            <a:pPr indent="0" marL="0">
              <a:buNone/>
            </a:pPr>
            <a:r>
              <a:rPr lang="en-US" sz="1400" i="1" dirty="0">
                <a:solidFill>
                  <a:srgbClr val="9FC0C6"/>
                </a:solidFill>
                <a:latin typeface="Calibri" pitchFamily="34" charset="0"/>
                <a:ea typeface="Calibri" pitchFamily="34" charset="-122"/>
                <a:cs typeface="Calibri" pitchFamily="34" charset="-120"/>
              </a:rPr>
              <a:t>A data standard is a shared agreement on structure, names, and codes — so data means the same thing everywhere.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ORGANIZATION</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What is CDISC?</a:t>
            </a:r>
            <a:endParaRPr lang="en-US" sz="3000" dirty="0"/>
          </a:p>
        </p:txBody>
      </p:sp>
      <p:sp>
        <p:nvSpPr>
          <p:cNvPr id="4" name="Shape 2"/>
          <p:cNvSpPr/>
          <p:nvPr/>
        </p:nvSpPr>
        <p:spPr>
          <a:xfrm>
            <a:off x="640080" y="1645920"/>
            <a:ext cx="5486400" cy="4297680"/>
          </a:xfrm>
          <a:prstGeom prst="roundRect">
            <a:avLst>
              <a:gd name="adj" fmla="val 191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4937760" cy="914400"/>
          </a:xfrm>
          <a:prstGeom prst="rect">
            <a:avLst/>
          </a:prstGeom>
          <a:noFill/>
          <a:ln/>
        </p:spPr>
        <p:txBody>
          <a:bodyPr wrap="square" lIns="0" tIns="0" rIns="0" bIns="0" rtlCol="0" anchor="ctr"/>
          <a:lstStyle/>
          <a:p>
            <a:pPr indent="0" marL="0">
              <a:lnSpc>
                <a:spcPts val="2400"/>
              </a:lnSpc>
              <a:buNone/>
            </a:pPr>
            <a:r>
              <a:rPr lang="en-US" sz="2200" b="1" dirty="0">
                <a:solidFill>
                  <a:srgbClr val="0E7C86"/>
                </a:solidFill>
                <a:latin typeface="Cambria" pitchFamily="34" charset="0"/>
                <a:ea typeface="Cambria" pitchFamily="34" charset="-122"/>
                <a:cs typeface="Cambria" pitchFamily="34" charset="-120"/>
              </a:rPr>
              <a:t>Clinical Data Interchange</a:t>
            </a:r>
            <a:endParaRPr lang="en-US" sz="2200" dirty="0"/>
          </a:p>
          <a:p>
            <a:pPr indent="0" marL="0">
              <a:lnSpc>
                <a:spcPts val="2400"/>
              </a:lnSpc>
              <a:buNone/>
            </a:pPr>
            <a:r>
              <a:rPr lang="en-US" sz="2200" b="1" dirty="0">
                <a:solidFill>
                  <a:srgbClr val="0E7C86"/>
                </a:solidFill>
                <a:latin typeface="Cambria" pitchFamily="34" charset="0"/>
                <a:ea typeface="Cambria" pitchFamily="34" charset="-122"/>
                <a:cs typeface="Cambria" pitchFamily="34" charset="-120"/>
              </a:rPr>
              <a:t>Standards Consortium</a:t>
            </a:r>
            <a:endParaRPr lang="en-US" sz="2200" dirty="0"/>
          </a:p>
        </p:txBody>
      </p:sp>
      <p:sp>
        <p:nvSpPr>
          <p:cNvPr id="6" name="Text 4"/>
          <p:cNvSpPr/>
          <p:nvPr/>
        </p:nvSpPr>
        <p:spPr>
          <a:xfrm>
            <a:off x="914400" y="2971800"/>
            <a:ext cx="4937760" cy="1188720"/>
          </a:xfrm>
          <a:prstGeom prst="rect">
            <a:avLst/>
          </a:prstGeom>
          <a:noFill/>
          <a:ln/>
        </p:spPr>
        <p:txBody>
          <a:bodyPr wrap="square" lIns="0" tIns="0" rIns="0" bIns="0" rtlCol="0" anchor="t"/>
          <a:lstStyle/>
          <a:p>
            <a:pPr indent="0" marL="0">
              <a:buNone/>
            </a:pPr>
            <a:r>
              <a:rPr lang="en-US" sz="1400" b="1" dirty="0">
                <a:solidFill>
                  <a:srgbClr val="0F2E3D"/>
                </a:solidFill>
                <a:latin typeface="Calibri" pitchFamily="34" charset="0"/>
                <a:ea typeface="Calibri" pitchFamily="34" charset="-122"/>
                <a:cs typeface="Calibri" pitchFamily="34" charset="-120"/>
              </a:rPr>
              <a:t>A global, non-profit organization
</a:t>
            </a:r>
            <a:pPr indent="0" marL="0">
              <a:buNone/>
            </a:pPr>
            <a:r>
              <a:rPr lang="en-US" sz="1400" dirty="0">
                <a:solidFill>
                  <a:srgbClr val="5A7682"/>
                </a:solidFill>
                <a:latin typeface="Calibri" pitchFamily="34" charset="0"/>
                <a:ea typeface="Calibri" pitchFamily="34" charset="-122"/>
                <a:cs typeface="Calibri" pitchFamily="34" charset="-120"/>
              </a:rPr>
              <a:t>founded in 1997. It brings together industry, regulators, and technology providers to develop and maintain open data standards for clinical research.</a:t>
            </a:r>
            <a:endParaRPr lang="en-US" sz="1400" dirty="0"/>
          </a:p>
        </p:txBody>
      </p:sp>
      <p:sp>
        <p:nvSpPr>
          <p:cNvPr id="7" name="Text 5"/>
          <p:cNvSpPr/>
          <p:nvPr/>
        </p:nvSpPr>
        <p:spPr>
          <a:xfrm>
            <a:off x="914400" y="4343400"/>
            <a:ext cx="4937760" cy="1280160"/>
          </a:xfrm>
          <a:prstGeom prst="rect">
            <a:avLst/>
          </a:prstGeom>
          <a:noFill/>
          <a:ln/>
        </p:spPr>
        <p:txBody>
          <a:bodyPr wrap="square" lIns="0" tIns="0" rIns="0" bIns="0" rtlCol="0" anchor="ctr"/>
          <a:lstStyle/>
          <a:p>
            <a:pPr indent="0" marL="0">
              <a:buNone/>
            </a:pPr>
            <a:r>
              <a:rPr lang="en-US" sz="1400" i="1" dirty="0">
                <a:solidFill>
                  <a:srgbClr val="0F2E3D"/>
                </a:solidFill>
                <a:latin typeface="Calibri" pitchFamily="34" charset="0"/>
                <a:ea typeface="Calibri" pitchFamily="34" charset="-122"/>
                <a:cs typeface="Calibri" pitchFamily="34" charset="-120"/>
              </a:rPr>
              <a:t>Its standards are vendor-neutral, freely published, and used worldwide across the drug-development lifecycle.</a:t>
            </a:r>
            <a:endParaRPr lang="en-US" sz="1400" dirty="0"/>
          </a:p>
        </p:txBody>
      </p:sp>
      <p:sp>
        <p:nvSpPr>
          <p:cNvPr id="8" name="Shape 6"/>
          <p:cNvSpPr/>
          <p:nvPr/>
        </p:nvSpPr>
        <p:spPr>
          <a:xfrm>
            <a:off x="6400800" y="1737360"/>
            <a:ext cx="5212080" cy="960120"/>
          </a:xfrm>
          <a:prstGeom prst="roundRect">
            <a:avLst>
              <a:gd name="adj" fmla="val 8571"/>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629400" y="1938528"/>
            <a:ext cx="548640" cy="548640"/>
          </a:xfrm>
          <a:prstGeom prst="ellipse">
            <a:avLst/>
          </a:prstGeom>
          <a:solidFill>
            <a:srgbClr val="0E7C86"/>
          </a:solidFill>
          <a:ln/>
        </p:spPr>
      </p:sp>
      <p:sp>
        <p:nvSpPr>
          <p:cNvPr id="10" name="Text 8"/>
          <p:cNvSpPr/>
          <p:nvPr/>
        </p:nvSpPr>
        <p:spPr>
          <a:xfrm>
            <a:off x="6629400" y="193852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7315200" y="1865376"/>
            <a:ext cx="4114800" cy="73152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Common structure
</a:t>
            </a:r>
            <a:pPr indent="0" marL="0">
              <a:buNone/>
            </a:pPr>
            <a:r>
              <a:rPr lang="en-US" sz="1250" dirty="0">
                <a:solidFill>
                  <a:srgbClr val="5A7682"/>
                </a:solidFill>
                <a:latin typeface="Calibri" pitchFamily="34" charset="0"/>
                <a:ea typeface="Calibri" pitchFamily="34" charset="-122"/>
                <a:cs typeface="Calibri" pitchFamily="34" charset="-120"/>
              </a:rPr>
              <a:t>How datasets and variables are organized</a:t>
            </a:r>
            <a:endParaRPr lang="en-US" sz="1500" dirty="0"/>
          </a:p>
        </p:txBody>
      </p:sp>
      <p:sp>
        <p:nvSpPr>
          <p:cNvPr id="12" name="Shape 10"/>
          <p:cNvSpPr/>
          <p:nvPr/>
        </p:nvSpPr>
        <p:spPr>
          <a:xfrm>
            <a:off x="6400800" y="2798064"/>
            <a:ext cx="5212080" cy="960120"/>
          </a:xfrm>
          <a:prstGeom prst="roundRect">
            <a:avLst>
              <a:gd name="adj" fmla="val 8571"/>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6629400" y="2999232"/>
            <a:ext cx="548640" cy="548640"/>
          </a:xfrm>
          <a:prstGeom prst="ellipse">
            <a:avLst/>
          </a:prstGeom>
          <a:solidFill>
            <a:srgbClr val="1FA8A0"/>
          </a:solidFill>
          <a:ln/>
        </p:spPr>
      </p:sp>
      <p:sp>
        <p:nvSpPr>
          <p:cNvPr id="14" name="Text 12"/>
          <p:cNvSpPr/>
          <p:nvPr/>
        </p:nvSpPr>
        <p:spPr>
          <a:xfrm>
            <a:off x="6629400" y="299923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7315200" y="2926080"/>
            <a:ext cx="4114800" cy="73152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Common naming
</a:t>
            </a:r>
            <a:pPr indent="0" marL="0">
              <a:buNone/>
            </a:pPr>
            <a:r>
              <a:rPr lang="en-US" sz="1250" dirty="0">
                <a:solidFill>
                  <a:srgbClr val="5A7682"/>
                </a:solidFill>
                <a:latin typeface="Calibri" pitchFamily="34" charset="0"/>
                <a:ea typeface="Calibri" pitchFamily="34" charset="-122"/>
                <a:cs typeface="Calibri" pitchFamily="34" charset="-120"/>
              </a:rPr>
              <a:t>What each variable is called</a:t>
            </a:r>
            <a:endParaRPr lang="en-US" sz="1500" dirty="0"/>
          </a:p>
        </p:txBody>
      </p:sp>
      <p:sp>
        <p:nvSpPr>
          <p:cNvPr id="16" name="Shape 14"/>
          <p:cNvSpPr/>
          <p:nvPr/>
        </p:nvSpPr>
        <p:spPr>
          <a:xfrm>
            <a:off x="6400800" y="3858768"/>
            <a:ext cx="5212080" cy="960120"/>
          </a:xfrm>
          <a:prstGeom prst="roundRect">
            <a:avLst>
              <a:gd name="adj" fmla="val 8571"/>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629400" y="4059936"/>
            <a:ext cx="548640" cy="548640"/>
          </a:xfrm>
          <a:prstGeom prst="ellipse">
            <a:avLst/>
          </a:prstGeom>
          <a:solidFill>
            <a:srgbClr val="E8833A"/>
          </a:solidFill>
          <a:ln/>
        </p:spPr>
      </p:sp>
      <p:sp>
        <p:nvSpPr>
          <p:cNvPr id="18" name="Text 16"/>
          <p:cNvSpPr/>
          <p:nvPr/>
        </p:nvSpPr>
        <p:spPr>
          <a:xfrm>
            <a:off x="6629400" y="405993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7315200" y="3986784"/>
            <a:ext cx="4114800" cy="73152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Common codelists
</a:t>
            </a:r>
            <a:pPr indent="0" marL="0">
              <a:buNone/>
            </a:pPr>
            <a:r>
              <a:rPr lang="en-US" sz="1250" dirty="0">
                <a:solidFill>
                  <a:srgbClr val="5A7682"/>
                </a:solidFill>
                <a:latin typeface="Calibri" pitchFamily="34" charset="0"/>
                <a:ea typeface="Calibri" pitchFamily="34" charset="-122"/>
                <a:cs typeface="Calibri" pitchFamily="34" charset="-120"/>
              </a:rPr>
              <a:t>The allowed values (Controlled Terminology)</a:t>
            </a:r>
            <a:endParaRPr lang="en-US" sz="1500" dirty="0"/>
          </a:p>
        </p:txBody>
      </p:sp>
      <p:sp>
        <p:nvSpPr>
          <p:cNvPr id="20" name="Shape 18"/>
          <p:cNvSpPr/>
          <p:nvPr/>
        </p:nvSpPr>
        <p:spPr>
          <a:xfrm>
            <a:off x="6400800" y="4919472"/>
            <a:ext cx="5212080" cy="960120"/>
          </a:xfrm>
          <a:prstGeom prst="roundRect">
            <a:avLst>
              <a:gd name="adj" fmla="val 8571"/>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6629400" y="5120640"/>
            <a:ext cx="548640" cy="548640"/>
          </a:xfrm>
          <a:prstGeom prst="ellipse">
            <a:avLst/>
          </a:prstGeom>
          <a:solidFill>
            <a:srgbClr val="0F2E3D"/>
          </a:solidFill>
          <a:ln/>
        </p:spPr>
      </p:sp>
      <p:sp>
        <p:nvSpPr>
          <p:cNvPr id="22" name="Text 20"/>
          <p:cNvSpPr/>
          <p:nvPr/>
        </p:nvSpPr>
        <p:spPr>
          <a:xfrm>
            <a:off x="6629400" y="5120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7315200" y="5047488"/>
            <a:ext cx="4114800" cy="73152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Common metadata
</a:t>
            </a:r>
            <a:pPr indent="0" marL="0">
              <a:buNone/>
            </a:pPr>
            <a:r>
              <a:rPr lang="en-US" sz="1250" dirty="0">
                <a:solidFill>
                  <a:srgbClr val="5A7682"/>
                </a:solidFill>
                <a:latin typeface="Calibri" pitchFamily="34" charset="0"/>
                <a:ea typeface="Calibri" pitchFamily="34" charset="-122"/>
                <a:cs typeface="Calibri" pitchFamily="34" charset="-120"/>
              </a:rPr>
              <a:t>How the data is described to reviewers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STANDARDS FAMILY</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One family, one lifecycle</a:t>
            </a:r>
            <a:endParaRPr lang="en-US" sz="3000" dirty="0"/>
          </a:p>
        </p:txBody>
      </p:sp>
      <p:sp>
        <p:nvSpPr>
          <p:cNvPr id="4" name="Shape 2"/>
          <p:cNvSpPr/>
          <p:nvPr/>
        </p:nvSpPr>
        <p:spPr>
          <a:xfrm>
            <a:off x="640080" y="1691640"/>
            <a:ext cx="3383280" cy="3017520"/>
          </a:xfrm>
          <a:prstGeom prst="roundRect">
            <a:avLst>
              <a:gd name="adj" fmla="val 272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868680" y="1920240"/>
            <a:ext cx="2926080" cy="274320"/>
          </a:xfrm>
          <a:prstGeom prst="rect">
            <a:avLst/>
          </a:prstGeom>
          <a:noFill/>
          <a:ln/>
        </p:spPr>
        <p:txBody>
          <a:bodyPr wrap="square" lIns="0" tIns="0" rIns="0" bIns="0" rtlCol="0" anchor="ctr"/>
          <a:lstStyle/>
          <a:p>
            <a:pPr indent="0" marL="0">
              <a:buNone/>
            </a:pPr>
            <a:r>
              <a:rPr lang="en-US" sz="1200" b="1" spc="100" kern="0" dirty="0">
                <a:solidFill>
                  <a:srgbClr val="5A7682"/>
                </a:solidFill>
                <a:latin typeface="Calibri" pitchFamily="34" charset="0"/>
                <a:ea typeface="Calibri" pitchFamily="34" charset="-122"/>
                <a:cs typeface="Calibri" pitchFamily="34" charset="-120"/>
              </a:rPr>
              <a:t>COLLECTION</a:t>
            </a:r>
            <a:endParaRPr lang="en-US" sz="1200" dirty="0"/>
          </a:p>
        </p:txBody>
      </p:sp>
      <p:sp>
        <p:nvSpPr>
          <p:cNvPr id="6" name="Text 4"/>
          <p:cNvSpPr/>
          <p:nvPr/>
        </p:nvSpPr>
        <p:spPr>
          <a:xfrm>
            <a:off x="868680" y="2212848"/>
            <a:ext cx="2926080" cy="548640"/>
          </a:xfrm>
          <a:prstGeom prst="rect">
            <a:avLst/>
          </a:prstGeom>
          <a:noFill/>
          <a:ln/>
        </p:spPr>
        <p:txBody>
          <a:bodyPr wrap="square" lIns="0" tIns="0" rIns="0" bIns="0" rtlCol="0" anchor="ctr"/>
          <a:lstStyle/>
          <a:p>
            <a:pPr indent="0" marL="0">
              <a:buNone/>
            </a:pPr>
            <a:r>
              <a:rPr lang="en-US" sz="2600" b="1" dirty="0">
                <a:solidFill>
                  <a:srgbClr val="0E7C86"/>
                </a:solidFill>
                <a:latin typeface="Cambria" pitchFamily="34" charset="0"/>
                <a:ea typeface="Cambria" pitchFamily="34" charset="-122"/>
                <a:cs typeface="Cambria" pitchFamily="34" charset="-120"/>
              </a:rPr>
              <a:t>CDASH</a:t>
            </a:r>
            <a:endParaRPr lang="en-US" sz="2600" dirty="0"/>
          </a:p>
        </p:txBody>
      </p:sp>
      <p:sp>
        <p:nvSpPr>
          <p:cNvPr id="7" name="Text 5"/>
          <p:cNvSpPr/>
          <p:nvPr/>
        </p:nvSpPr>
        <p:spPr>
          <a:xfrm>
            <a:off x="868680" y="2926080"/>
            <a:ext cx="2971800" cy="155448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Standard for how data is captured on case report forms (CRFs).</a:t>
            </a:r>
            <a:endParaRPr lang="en-US" sz="1350" dirty="0"/>
          </a:p>
        </p:txBody>
      </p:sp>
      <p:sp>
        <p:nvSpPr>
          <p:cNvPr id="8" name="Shape 6"/>
          <p:cNvSpPr/>
          <p:nvPr/>
        </p:nvSpPr>
        <p:spPr>
          <a:xfrm>
            <a:off x="4233672" y="1691640"/>
            <a:ext cx="3383280" cy="3017520"/>
          </a:xfrm>
          <a:prstGeom prst="roundRect">
            <a:avLst>
              <a:gd name="adj" fmla="val 272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4462272" y="1920240"/>
            <a:ext cx="2926080" cy="274320"/>
          </a:xfrm>
          <a:prstGeom prst="rect">
            <a:avLst/>
          </a:prstGeom>
          <a:noFill/>
          <a:ln/>
        </p:spPr>
        <p:txBody>
          <a:bodyPr wrap="square" lIns="0" tIns="0" rIns="0" bIns="0" rtlCol="0" anchor="ctr"/>
          <a:lstStyle/>
          <a:p>
            <a:pPr indent="0" marL="0">
              <a:buNone/>
            </a:pPr>
            <a:r>
              <a:rPr lang="en-US" sz="1200" b="1" spc="100" kern="0" dirty="0">
                <a:solidFill>
                  <a:srgbClr val="5A7682"/>
                </a:solidFill>
                <a:latin typeface="Calibri" pitchFamily="34" charset="0"/>
                <a:ea typeface="Calibri" pitchFamily="34" charset="-122"/>
                <a:cs typeface="Calibri" pitchFamily="34" charset="-120"/>
              </a:rPr>
              <a:t>TABULATION</a:t>
            </a:r>
            <a:endParaRPr lang="en-US" sz="1200" dirty="0"/>
          </a:p>
        </p:txBody>
      </p:sp>
      <p:sp>
        <p:nvSpPr>
          <p:cNvPr id="10" name="Text 8"/>
          <p:cNvSpPr/>
          <p:nvPr/>
        </p:nvSpPr>
        <p:spPr>
          <a:xfrm>
            <a:off x="4462272" y="2212848"/>
            <a:ext cx="2926080" cy="548640"/>
          </a:xfrm>
          <a:prstGeom prst="rect">
            <a:avLst/>
          </a:prstGeom>
          <a:noFill/>
          <a:ln/>
        </p:spPr>
        <p:txBody>
          <a:bodyPr wrap="square" lIns="0" tIns="0" rIns="0" bIns="0" rtlCol="0" anchor="ctr"/>
          <a:lstStyle/>
          <a:p>
            <a:pPr indent="0" marL="0">
              <a:buNone/>
            </a:pPr>
            <a:r>
              <a:rPr lang="en-US" sz="2600" b="1" dirty="0">
                <a:solidFill>
                  <a:srgbClr val="1FA8A0"/>
                </a:solidFill>
                <a:latin typeface="Cambria" pitchFamily="34" charset="0"/>
                <a:ea typeface="Cambria" pitchFamily="34" charset="-122"/>
                <a:cs typeface="Cambria" pitchFamily="34" charset="-120"/>
              </a:rPr>
              <a:t>SDTM</a:t>
            </a:r>
            <a:endParaRPr lang="en-US" sz="2600" dirty="0"/>
          </a:p>
        </p:txBody>
      </p:sp>
      <p:sp>
        <p:nvSpPr>
          <p:cNvPr id="11" name="Text 9"/>
          <p:cNvSpPr/>
          <p:nvPr/>
        </p:nvSpPr>
        <p:spPr>
          <a:xfrm>
            <a:off x="4462272" y="2926080"/>
            <a:ext cx="2971800" cy="155448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Organizes collected data into standard domains for submission.</a:t>
            </a:r>
            <a:endParaRPr lang="en-US" sz="1350" dirty="0"/>
          </a:p>
        </p:txBody>
      </p:sp>
      <p:sp>
        <p:nvSpPr>
          <p:cNvPr id="12" name="Shape 10"/>
          <p:cNvSpPr/>
          <p:nvPr/>
        </p:nvSpPr>
        <p:spPr>
          <a:xfrm>
            <a:off x="7827264" y="1691640"/>
            <a:ext cx="3383280" cy="3017520"/>
          </a:xfrm>
          <a:prstGeom prst="roundRect">
            <a:avLst>
              <a:gd name="adj" fmla="val 272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8055864" y="1920240"/>
            <a:ext cx="2926080" cy="274320"/>
          </a:xfrm>
          <a:prstGeom prst="rect">
            <a:avLst/>
          </a:prstGeom>
          <a:noFill/>
          <a:ln/>
        </p:spPr>
        <p:txBody>
          <a:bodyPr wrap="square" lIns="0" tIns="0" rIns="0" bIns="0" rtlCol="0" anchor="ctr"/>
          <a:lstStyle/>
          <a:p>
            <a:pPr indent="0" marL="0">
              <a:buNone/>
            </a:pPr>
            <a:r>
              <a:rPr lang="en-US" sz="1200" b="1" spc="100" kern="0" dirty="0">
                <a:solidFill>
                  <a:srgbClr val="5A7682"/>
                </a:solidFill>
                <a:latin typeface="Calibri" pitchFamily="34" charset="0"/>
                <a:ea typeface="Calibri" pitchFamily="34" charset="-122"/>
                <a:cs typeface="Calibri" pitchFamily="34" charset="-120"/>
              </a:rPr>
              <a:t>ANALYSIS</a:t>
            </a:r>
            <a:endParaRPr lang="en-US" sz="1200" dirty="0"/>
          </a:p>
        </p:txBody>
      </p:sp>
      <p:sp>
        <p:nvSpPr>
          <p:cNvPr id="14" name="Text 12"/>
          <p:cNvSpPr/>
          <p:nvPr/>
        </p:nvSpPr>
        <p:spPr>
          <a:xfrm>
            <a:off x="8055864" y="2212848"/>
            <a:ext cx="2926080" cy="548640"/>
          </a:xfrm>
          <a:prstGeom prst="rect">
            <a:avLst/>
          </a:prstGeom>
          <a:noFill/>
          <a:ln/>
        </p:spPr>
        <p:txBody>
          <a:bodyPr wrap="square" lIns="0" tIns="0" rIns="0" bIns="0" rtlCol="0" anchor="ctr"/>
          <a:lstStyle/>
          <a:p>
            <a:pPr indent="0" marL="0">
              <a:buNone/>
            </a:pPr>
            <a:r>
              <a:rPr lang="en-US" sz="2600" b="1" dirty="0">
                <a:solidFill>
                  <a:srgbClr val="E8833A"/>
                </a:solidFill>
                <a:latin typeface="Cambria" pitchFamily="34" charset="0"/>
                <a:ea typeface="Cambria" pitchFamily="34" charset="-122"/>
                <a:cs typeface="Cambria" pitchFamily="34" charset="-120"/>
              </a:rPr>
              <a:t>ADaM</a:t>
            </a:r>
            <a:endParaRPr lang="en-US" sz="2600" dirty="0"/>
          </a:p>
        </p:txBody>
      </p:sp>
      <p:sp>
        <p:nvSpPr>
          <p:cNvPr id="15" name="Text 13"/>
          <p:cNvSpPr/>
          <p:nvPr/>
        </p:nvSpPr>
        <p:spPr>
          <a:xfrm>
            <a:off x="8055864" y="2926080"/>
            <a:ext cx="2971800" cy="155448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Analysis-ready datasets derived from SDTM, traceable to it.</a:t>
            </a:r>
            <a:endParaRPr lang="en-US" sz="1350" dirty="0"/>
          </a:p>
        </p:txBody>
      </p:sp>
      <p:sp>
        <p:nvSpPr>
          <p:cNvPr id="16" name="Text 14"/>
          <p:cNvSpPr/>
          <p:nvPr/>
        </p:nvSpPr>
        <p:spPr>
          <a:xfrm>
            <a:off x="4041648" y="2971800"/>
            <a:ext cx="365760" cy="457200"/>
          </a:xfrm>
          <a:prstGeom prst="rect">
            <a:avLst/>
          </a:prstGeom>
          <a:noFill/>
          <a:ln/>
        </p:spPr>
        <p:txBody>
          <a:bodyPr wrap="square" lIns="0" tIns="0" rIns="0" bIns="0" rtlCol="0" anchor="ctr"/>
          <a:lstStyle/>
          <a:p>
            <a:pPr algn="ctr" indent="0" marL="0">
              <a:buNone/>
            </a:pPr>
            <a:r>
              <a:rPr lang="en-US" sz="2000" dirty="0">
                <a:solidFill>
                  <a:srgbClr val="5A7682"/>
                </a:solidFill>
              </a:rPr>
              <a:t>▶</a:t>
            </a:r>
            <a:endParaRPr lang="en-US" sz="2000" dirty="0"/>
          </a:p>
        </p:txBody>
      </p:sp>
      <p:sp>
        <p:nvSpPr>
          <p:cNvPr id="17" name="Text 15"/>
          <p:cNvSpPr/>
          <p:nvPr/>
        </p:nvSpPr>
        <p:spPr>
          <a:xfrm>
            <a:off x="7635240" y="2971800"/>
            <a:ext cx="365760" cy="457200"/>
          </a:xfrm>
          <a:prstGeom prst="rect">
            <a:avLst/>
          </a:prstGeom>
          <a:noFill/>
          <a:ln/>
        </p:spPr>
        <p:txBody>
          <a:bodyPr wrap="square" lIns="0" tIns="0" rIns="0" bIns="0" rtlCol="0" anchor="ctr"/>
          <a:lstStyle/>
          <a:p>
            <a:pPr algn="ctr" indent="0" marL="0">
              <a:buNone/>
            </a:pPr>
            <a:r>
              <a:rPr lang="en-US" sz="2000" dirty="0">
                <a:solidFill>
                  <a:srgbClr val="5A7682"/>
                </a:solidFill>
              </a:rPr>
              <a:t>▶</a:t>
            </a:r>
            <a:endParaRPr lang="en-US" sz="2000" dirty="0"/>
          </a:p>
        </p:txBody>
      </p:sp>
      <p:sp>
        <p:nvSpPr>
          <p:cNvPr id="18" name="Shape 16"/>
          <p:cNvSpPr/>
          <p:nvPr/>
        </p:nvSpPr>
        <p:spPr>
          <a:xfrm>
            <a:off x="640080" y="4983480"/>
            <a:ext cx="10972800" cy="1234440"/>
          </a:xfrm>
          <a:prstGeom prst="roundRect">
            <a:avLst>
              <a:gd name="adj" fmla="val 6667"/>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9" name="Text 17"/>
          <p:cNvSpPr/>
          <p:nvPr/>
        </p:nvSpPr>
        <p:spPr>
          <a:xfrm>
            <a:off x="914400" y="5120640"/>
            <a:ext cx="10424160" cy="960120"/>
          </a:xfrm>
          <a:prstGeom prst="rect">
            <a:avLst/>
          </a:prstGeom>
          <a:noFill/>
          <a:ln/>
        </p:spPr>
        <p:txBody>
          <a:bodyPr wrap="square" lIns="0" tIns="0" rIns="0" bIns="0" rtlCol="0" anchor="ctr"/>
          <a:lstStyle/>
          <a:p>
            <a:pPr indent="0" marL="0">
              <a:lnSpc>
                <a:spcPts val="2000"/>
              </a:lnSpc>
              <a:buNone/>
            </a:pPr>
            <a:r>
              <a:rPr lang="en-US" sz="1500" b="1" dirty="0">
                <a:solidFill>
                  <a:srgbClr val="6FC8B4"/>
                </a:solidFill>
                <a:latin typeface="Calibri" pitchFamily="34" charset="0"/>
                <a:ea typeface="Calibri" pitchFamily="34" charset="-122"/>
                <a:cs typeface="Calibri" pitchFamily="34" charset="-120"/>
              </a:rPr>
              <a:t>Controlled Terminology  </a:t>
            </a:r>
            <a:pPr indent="0" marL="0">
              <a:lnSpc>
                <a:spcPts val="2000"/>
              </a:lnSpc>
              <a:buNone/>
            </a:pPr>
            <a:r>
              <a:rPr lang="en-US" sz="1300" dirty="0">
                <a:solidFill>
                  <a:srgbClr val="C7DCE0"/>
                </a:solidFill>
                <a:latin typeface="Calibri" pitchFamily="34" charset="0"/>
                <a:ea typeface="Calibri" pitchFamily="34" charset="-122"/>
                <a:cs typeface="Calibri" pitchFamily="34" charset="-120"/>
              </a:rPr>
              <a:t>— the standardized codelists (allowed values) used across all of the above.
</a:t>
            </a:r>
            <a:pPr indent="0" marL="0">
              <a:lnSpc>
                <a:spcPts val="2000"/>
              </a:lnSpc>
              <a:buNone/>
            </a:pPr>
            <a:r>
              <a:rPr lang="en-US" sz="1500" b="1" dirty="0">
                <a:solidFill>
                  <a:srgbClr val="6FC8B4"/>
                </a:solidFill>
                <a:latin typeface="Calibri" pitchFamily="34" charset="0"/>
                <a:ea typeface="Calibri" pitchFamily="34" charset="-122"/>
                <a:cs typeface="Calibri" pitchFamily="34" charset="-120"/>
              </a:rPr>
              <a:t>Define-XML  </a:t>
            </a:r>
            <a:pPr indent="0" marL="0">
              <a:lnSpc>
                <a:spcPts val="2000"/>
              </a:lnSpc>
              <a:buNone/>
            </a:pPr>
            <a:r>
              <a:rPr lang="en-US" sz="1300" dirty="0">
                <a:solidFill>
                  <a:srgbClr val="C7DCE0"/>
                </a:solidFill>
                <a:latin typeface="Calibri" pitchFamily="34" charset="0"/>
                <a:ea typeface="Calibri" pitchFamily="34" charset="-122"/>
                <a:cs typeface="Calibri" pitchFamily="34" charset="-120"/>
              </a:rPr>
              <a:t>— the machine-readable “data dictionary” that describes every dataset and variable to the regulator.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CLINICAL DATA JOURNEY</a:t>
            </a:r>
            <a:endParaRPr lang="en-US" sz="1200" dirty="0"/>
          </a:p>
        </p:txBody>
      </p:sp>
      <p:sp>
        <p:nvSpPr>
          <p:cNvPr id="3" name="Text 1"/>
          <p:cNvSpPr/>
          <p:nvPr/>
        </p:nvSpPr>
        <p:spPr>
          <a:xfrm>
            <a:off x="603504" y="82296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From patient visit to regulatory submission</a:t>
            </a:r>
            <a:endParaRPr lang="en-US" sz="3000" dirty="0"/>
          </a:p>
        </p:txBody>
      </p:sp>
      <p:sp>
        <p:nvSpPr>
          <p:cNvPr id="4" name="Shape 2"/>
          <p:cNvSpPr/>
          <p:nvPr/>
        </p:nvSpPr>
        <p:spPr>
          <a:xfrm>
            <a:off x="640080" y="1965960"/>
            <a:ext cx="2606040" cy="3566160"/>
          </a:xfrm>
          <a:prstGeom prst="roundRect">
            <a:avLst>
              <a:gd name="adj" fmla="val 315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1572768" y="2240280"/>
            <a:ext cx="731520" cy="731520"/>
          </a:xfrm>
          <a:prstGeom prst="ellipse">
            <a:avLst/>
          </a:prstGeom>
          <a:solidFill>
            <a:srgbClr val="0E7C86"/>
          </a:solidFill>
          <a:ln/>
        </p:spPr>
      </p:sp>
      <p:sp>
        <p:nvSpPr>
          <p:cNvPr id="6" name="Text 4"/>
          <p:cNvSpPr/>
          <p:nvPr/>
        </p:nvSpPr>
        <p:spPr>
          <a:xfrm>
            <a:off x="1572768" y="224028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731520" y="3108960"/>
            <a:ext cx="2423160" cy="32004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COLLECTION</a:t>
            </a:r>
            <a:endParaRPr lang="en-US" sz="1400" dirty="0"/>
          </a:p>
        </p:txBody>
      </p:sp>
      <p:sp>
        <p:nvSpPr>
          <p:cNvPr id="8" name="Text 6"/>
          <p:cNvSpPr/>
          <p:nvPr/>
        </p:nvSpPr>
        <p:spPr>
          <a:xfrm>
            <a:off x="731520" y="3456432"/>
            <a:ext cx="2423160" cy="457200"/>
          </a:xfrm>
          <a:prstGeom prst="rect">
            <a:avLst/>
          </a:prstGeom>
          <a:noFill/>
          <a:ln/>
        </p:spPr>
        <p:txBody>
          <a:bodyPr wrap="square" lIns="0" tIns="0" rIns="0" bIns="0" rtlCol="0" anchor="ctr"/>
          <a:lstStyle/>
          <a:p>
            <a:pPr algn="ctr" indent="0" marL="0">
              <a:buNone/>
            </a:pPr>
            <a:r>
              <a:rPr lang="en-US" sz="2000" b="1" dirty="0">
                <a:solidFill>
                  <a:srgbClr val="0E7C86"/>
                </a:solidFill>
                <a:latin typeface="Cambria" pitchFamily="34" charset="0"/>
                <a:ea typeface="Cambria" pitchFamily="34" charset="-122"/>
                <a:cs typeface="Cambria" pitchFamily="34" charset="-120"/>
              </a:rPr>
              <a:t>CDASH</a:t>
            </a:r>
            <a:endParaRPr lang="en-US" sz="2000" dirty="0"/>
          </a:p>
        </p:txBody>
      </p:sp>
      <p:sp>
        <p:nvSpPr>
          <p:cNvPr id="9" name="Text 7"/>
          <p:cNvSpPr/>
          <p:nvPr/>
        </p:nvSpPr>
        <p:spPr>
          <a:xfrm>
            <a:off x="868680" y="4069080"/>
            <a:ext cx="2148840" cy="128016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Data captured at sites on CRFs / EDC systems.</a:t>
            </a:r>
            <a:endParaRPr lang="en-US" sz="1200" dirty="0"/>
          </a:p>
        </p:txBody>
      </p:sp>
      <p:sp>
        <p:nvSpPr>
          <p:cNvPr id="10" name="Shape 8"/>
          <p:cNvSpPr/>
          <p:nvPr/>
        </p:nvSpPr>
        <p:spPr>
          <a:xfrm>
            <a:off x="3429000" y="1965960"/>
            <a:ext cx="2606040" cy="3566160"/>
          </a:xfrm>
          <a:prstGeom prst="roundRect">
            <a:avLst>
              <a:gd name="adj" fmla="val 315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4361688" y="2240280"/>
            <a:ext cx="731520" cy="731520"/>
          </a:xfrm>
          <a:prstGeom prst="ellipse">
            <a:avLst/>
          </a:prstGeom>
          <a:solidFill>
            <a:srgbClr val="1FA8A0"/>
          </a:solidFill>
          <a:ln/>
        </p:spPr>
      </p:sp>
      <p:sp>
        <p:nvSpPr>
          <p:cNvPr id="12" name="Text 10"/>
          <p:cNvSpPr/>
          <p:nvPr/>
        </p:nvSpPr>
        <p:spPr>
          <a:xfrm>
            <a:off x="4361688" y="224028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3" name="Text 11"/>
          <p:cNvSpPr/>
          <p:nvPr/>
        </p:nvSpPr>
        <p:spPr>
          <a:xfrm>
            <a:off x="3520440" y="3108960"/>
            <a:ext cx="2423160" cy="32004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TABULATION</a:t>
            </a:r>
            <a:endParaRPr lang="en-US" sz="1400" dirty="0"/>
          </a:p>
        </p:txBody>
      </p:sp>
      <p:sp>
        <p:nvSpPr>
          <p:cNvPr id="14" name="Text 12"/>
          <p:cNvSpPr/>
          <p:nvPr/>
        </p:nvSpPr>
        <p:spPr>
          <a:xfrm>
            <a:off x="3520440" y="3456432"/>
            <a:ext cx="2423160" cy="457200"/>
          </a:xfrm>
          <a:prstGeom prst="rect">
            <a:avLst/>
          </a:prstGeom>
          <a:noFill/>
          <a:ln/>
        </p:spPr>
        <p:txBody>
          <a:bodyPr wrap="square" lIns="0" tIns="0" rIns="0" bIns="0" rtlCol="0" anchor="ctr"/>
          <a:lstStyle/>
          <a:p>
            <a:pPr algn="ctr" indent="0" marL="0">
              <a:buNone/>
            </a:pPr>
            <a:r>
              <a:rPr lang="en-US" sz="2000" b="1" dirty="0">
                <a:solidFill>
                  <a:srgbClr val="1FA8A0"/>
                </a:solidFill>
                <a:latin typeface="Cambria" pitchFamily="34" charset="0"/>
                <a:ea typeface="Cambria" pitchFamily="34" charset="-122"/>
                <a:cs typeface="Cambria" pitchFamily="34" charset="-120"/>
              </a:rPr>
              <a:t>SDTM</a:t>
            </a:r>
            <a:endParaRPr lang="en-US" sz="2000" dirty="0"/>
          </a:p>
        </p:txBody>
      </p:sp>
      <p:sp>
        <p:nvSpPr>
          <p:cNvPr id="15" name="Text 13"/>
          <p:cNvSpPr/>
          <p:nvPr/>
        </p:nvSpPr>
        <p:spPr>
          <a:xfrm>
            <a:off x="3657600" y="4069080"/>
            <a:ext cx="2148840" cy="128016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Raw data mapped into standard submission domains.</a:t>
            </a:r>
            <a:endParaRPr lang="en-US" sz="1200" dirty="0"/>
          </a:p>
        </p:txBody>
      </p:sp>
      <p:sp>
        <p:nvSpPr>
          <p:cNvPr id="16" name="Shape 14"/>
          <p:cNvSpPr/>
          <p:nvPr/>
        </p:nvSpPr>
        <p:spPr>
          <a:xfrm>
            <a:off x="6217920" y="1965960"/>
            <a:ext cx="2606040" cy="3566160"/>
          </a:xfrm>
          <a:prstGeom prst="roundRect">
            <a:avLst>
              <a:gd name="adj" fmla="val 315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7150608" y="2240280"/>
            <a:ext cx="731520" cy="731520"/>
          </a:xfrm>
          <a:prstGeom prst="ellipse">
            <a:avLst/>
          </a:prstGeom>
          <a:solidFill>
            <a:srgbClr val="6FC8B4"/>
          </a:solidFill>
          <a:ln/>
        </p:spPr>
      </p:sp>
      <p:sp>
        <p:nvSpPr>
          <p:cNvPr id="18" name="Text 16"/>
          <p:cNvSpPr/>
          <p:nvPr/>
        </p:nvSpPr>
        <p:spPr>
          <a:xfrm>
            <a:off x="7150608" y="2240280"/>
            <a:ext cx="731520" cy="731520"/>
          </a:xfrm>
          <a:prstGeom prst="rect">
            <a:avLst/>
          </a:prstGeom>
          <a:noFill/>
          <a:ln/>
        </p:spPr>
        <p:txBody>
          <a:bodyPr wrap="square" lIns="0" tIns="0" rIns="0" bIns="0" rtlCol="0" anchor="ctr"/>
          <a:lstStyle/>
          <a:p>
            <a:pPr algn="ctr" indent="0" marL="0">
              <a:buNone/>
            </a:pPr>
            <a:r>
              <a:rPr lang="en-US" sz="2000" b="1" dirty="0">
                <a:solidFill>
                  <a:srgbClr val="0F2E3D"/>
                </a:solidFill>
                <a:latin typeface="Calibri" pitchFamily="34" charset="0"/>
                <a:ea typeface="Calibri" pitchFamily="34" charset="-122"/>
                <a:cs typeface="Calibri" pitchFamily="34" charset="-120"/>
              </a:rPr>
              <a:t>03</a:t>
            </a:r>
            <a:endParaRPr lang="en-US" sz="2000" dirty="0"/>
          </a:p>
        </p:txBody>
      </p:sp>
      <p:sp>
        <p:nvSpPr>
          <p:cNvPr id="19" name="Text 17"/>
          <p:cNvSpPr/>
          <p:nvPr/>
        </p:nvSpPr>
        <p:spPr>
          <a:xfrm>
            <a:off x="6309360" y="3108960"/>
            <a:ext cx="2423160" cy="32004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ANALYSIS</a:t>
            </a:r>
            <a:endParaRPr lang="en-US" sz="1400" dirty="0"/>
          </a:p>
        </p:txBody>
      </p:sp>
      <p:sp>
        <p:nvSpPr>
          <p:cNvPr id="20" name="Text 18"/>
          <p:cNvSpPr/>
          <p:nvPr/>
        </p:nvSpPr>
        <p:spPr>
          <a:xfrm>
            <a:off x="6309360" y="3456432"/>
            <a:ext cx="2423160" cy="457200"/>
          </a:xfrm>
          <a:prstGeom prst="rect">
            <a:avLst/>
          </a:prstGeom>
          <a:noFill/>
          <a:ln/>
        </p:spPr>
        <p:txBody>
          <a:bodyPr wrap="square" lIns="0" tIns="0" rIns="0" bIns="0" rtlCol="0" anchor="ctr"/>
          <a:lstStyle/>
          <a:p>
            <a:pPr algn="ctr" indent="0" marL="0">
              <a:buNone/>
            </a:pPr>
            <a:r>
              <a:rPr lang="en-US" sz="2000" b="1" dirty="0">
                <a:solidFill>
                  <a:srgbClr val="6FC8B4"/>
                </a:solidFill>
                <a:latin typeface="Cambria" pitchFamily="34" charset="0"/>
                <a:ea typeface="Cambria" pitchFamily="34" charset="-122"/>
                <a:cs typeface="Cambria" pitchFamily="34" charset="-120"/>
              </a:rPr>
              <a:t>ADaM</a:t>
            </a:r>
            <a:endParaRPr lang="en-US" sz="2000" dirty="0"/>
          </a:p>
        </p:txBody>
      </p:sp>
      <p:sp>
        <p:nvSpPr>
          <p:cNvPr id="21" name="Text 19"/>
          <p:cNvSpPr/>
          <p:nvPr/>
        </p:nvSpPr>
        <p:spPr>
          <a:xfrm>
            <a:off x="6446520" y="4069080"/>
            <a:ext cx="2148840" cy="128016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Analysis datasets derived; tables &amp; figures produced.</a:t>
            </a:r>
            <a:endParaRPr lang="en-US" sz="1200" dirty="0"/>
          </a:p>
        </p:txBody>
      </p:sp>
      <p:sp>
        <p:nvSpPr>
          <p:cNvPr id="22" name="Shape 20"/>
          <p:cNvSpPr/>
          <p:nvPr/>
        </p:nvSpPr>
        <p:spPr>
          <a:xfrm>
            <a:off x="9006840" y="1965960"/>
            <a:ext cx="2606040" cy="3566160"/>
          </a:xfrm>
          <a:prstGeom prst="roundRect">
            <a:avLst>
              <a:gd name="adj" fmla="val 315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Shape 21"/>
          <p:cNvSpPr/>
          <p:nvPr/>
        </p:nvSpPr>
        <p:spPr>
          <a:xfrm>
            <a:off x="9939528" y="2240280"/>
            <a:ext cx="731520" cy="731520"/>
          </a:xfrm>
          <a:prstGeom prst="ellipse">
            <a:avLst/>
          </a:prstGeom>
          <a:solidFill>
            <a:srgbClr val="E8833A"/>
          </a:solidFill>
          <a:ln/>
        </p:spPr>
      </p:sp>
      <p:sp>
        <p:nvSpPr>
          <p:cNvPr id="24" name="Text 22"/>
          <p:cNvSpPr/>
          <p:nvPr/>
        </p:nvSpPr>
        <p:spPr>
          <a:xfrm>
            <a:off x="9939528" y="224028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25" name="Text 23"/>
          <p:cNvSpPr/>
          <p:nvPr/>
        </p:nvSpPr>
        <p:spPr>
          <a:xfrm>
            <a:off x="9098280" y="3108960"/>
            <a:ext cx="2423160" cy="32004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Calibri" pitchFamily="34" charset="0"/>
                <a:ea typeface="Calibri" pitchFamily="34" charset="-122"/>
                <a:cs typeface="Calibri" pitchFamily="34" charset="-120"/>
              </a:rPr>
              <a:t>SUBMISSION</a:t>
            </a:r>
            <a:endParaRPr lang="en-US" sz="1400" dirty="0"/>
          </a:p>
        </p:txBody>
      </p:sp>
      <p:sp>
        <p:nvSpPr>
          <p:cNvPr id="26" name="Text 24"/>
          <p:cNvSpPr/>
          <p:nvPr/>
        </p:nvSpPr>
        <p:spPr>
          <a:xfrm>
            <a:off x="9098280" y="3456432"/>
            <a:ext cx="2423160" cy="457200"/>
          </a:xfrm>
          <a:prstGeom prst="rect">
            <a:avLst/>
          </a:prstGeom>
          <a:noFill/>
          <a:ln/>
        </p:spPr>
        <p:txBody>
          <a:bodyPr wrap="square" lIns="0" tIns="0" rIns="0" bIns="0" rtlCol="0" anchor="ctr"/>
          <a:lstStyle/>
          <a:p>
            <a:pPr algn="ctr" indent="0" marL="0">
              <a:buNone/>
            </a:pPr>
            <a:r>
              <a:rPr lang="en-US" sz="2000" b="1" dirty="0">
                <a:solidFill>
                  <a:srgbClr val="E8833A"/>
                </a:solidFill>
                <a:latin typeface="Cambria" pitchFamily="34" charset="0"/>
                <a:ea typeface="Cambria" pitchFamily="34" charset="-122"/>
                <a:cs typeface="Cambria" pitchFamily="34" charset="-120"/>
              </a:rPr>
              <a:t>eCTD</a:t>
            </a:r>
            <a:endParaRPr lang="en-US" sz="2000" dirty="0"/>
          </a:p>
        </p:txBody>
      </p:sp>
      <p:sp>
        <p:nvSpPr>
          <p:cNvPr id="27" name="Text 25"/>
          <p:cNvSpPr/>
          <p:nvPr/>
        </p:nvSpPr>
        <p:spPr>
          <a:xfrm>
            <a:off x="9235440" y="4069080"/>
            <a:ext cx="2148840" cy="128016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Package sent to regulators (FDA / PMDA) for review.</a:t>
            </a:r>
            <a:endParaRPr lang="en-US" sz="1200" dirty="0"/>
          </a:p>
        </p:txBody>
      </p:sp>
      <p:sp>
        <p:nvSpPr>
          <p:cNvPr id="28" name="Text 26"/>
          <p:cNvSpPr/>
          <p:nvPr/>
        </p:nvSpPr>
        <p:spPr>
          <a:xfrm>
            <a:off x="3310128" y="3520440"/>
            <a:ext cx="320040" cy="457200"/>
          </a:xfrm>
          <a:prstGeom prst="rect">
            <a:avLst/>
          </a:prstGeom>
          <a:noFill/>
          <a:ln/>
        </p:spPr>
        <p:txBody>
          <a:bodyPr wrap="square" lIns="0" tIns="0" rIns="0" bIns="0" rtlCol="0" anchor="ctr"/>
          <a:lstStyle/>
          <a:p>
            <a:pPr algn="ctr" indent="0" marL="0">
              <a:buNone/>
            </a:pPr>
            <a:r>
              <a:rPr lang="en-US" sz="1800" dirty="0">
                <a:solidFill>
                  <a:srgbClr val="6FC8B4"/>
                </a:solidFill>
              </a:rPr>
              <a:t>▶</a:t>
            </a:r>
            <a:endParaRPr lang="en-US" sz="1800" dirty="0"/>
          </a:p>
        </p:txBody>
      </p:sp>
      <p:sp>
        <p:nvSpPr>
          <p:cNvPr id="29" name="Text 27"/>
          <p:cNvSpPr/>
          <p:nvPr/>
        </p:nvSpPr>
        <p:spPr>
          <a:xfrm>
            <a:off x="6099048" y="3520440"/>
            <a:ext cx="320040" cy="457200"/>
          </a:xfrm>
          <a:prstGeom prst="rect">
            <a:avLst/>
          </a:prstGeom>
          <a:noFill/>
          <a:ln/>
        </p:spPr>
        <p:txBody>
          <a:bodyPr wrap="square" lIns="0" tIns="0" rIns="0" bIns="0" rtlCol="0" anchor="ctr"/>
          <a:lstStyle/>
          <a:p>
            <a:pPr algn="ctr" indent="0" marL="0">
              <a:buNone/>
            </a:pPr>
            <a:r>
              <a:rPr lang="en-US" sz="1800" dirty="0">
                <a:solidFill>
                  <a:srgbClr val="6FC8B4"/>
                </a:solidFill>
              </a:rPr>
              <a:t>▶</a:t>
            </a:r>
            <a:endParaRPr lang="en-US" sz="1800" dirty="0"/>
          </a:p>
        </p:txBody>
      </p:sp>
      <p:sp>
        <p:nvSpPr>
          <p:cNvPr id="30" name="Text 28"/>
          <p:cNvSpPr/>
          <p:nvPr/>
        </p:nvSpPr>
        <p:spPr>
          <a:xfrm>
            <a:off x="8887968" y="3520440"/>
            <a:ext cx="320040" cy="457200"/>
          </a:xfrm>
          <a:prstGeom prst="rect">
            <a:avLst/>
          </a:prstGeom>
          <a:noFill/>
          <a:ln/>
        </p:spPr>
        <p:txBody>
          <a:bodyPr wrap="square" lIns="0" tIns="0" rIns="0" bIns="0" rtlCol="0" anchor="ctr"/>
          <a:lstStyle/>
          <a:p>
            <a:pPr algn="ctr" indent="0" marL="0">
              <a:buNone/>
            </a:pPr>
            <a:r>
              <a:rPr lang="en-US" sz="1800" dirty="0">
                <a:solidFill>
                  <a:srgbClr val="6FC8B4"/>
                </a:solidFill>
              </a:rPr>
              <a:t>▶</a:t>
            </a:r>
            <a:endParaRPr lang="en-US" sz="1800" dirty="0"/>
          </a:p>
        </p:txBody>
      </p:sp>
      <p:sp>
        <p:nvSpPr>
          <p:cNvPr id="31" name="Text 29"/>
          <p:cNvSpPr/>
          <p:nvPr/>
        </p:nvSpPr>
        <p:spPr>
          <a:xfrm>
            <a:off x="640080" y="5806440"/>
            <a:ext cx="10972800" cy="457200"/>
          </a:xfrm>
          <a:prstGeom prst="rect">
            <a:avLst/>
          </a:prstGeom>
          <a:noFill/>
          <a:ln/>
        </p:spPr>
        <p:txBody>
          <a:bodyPr wrap="square" lIns="0" tIns="0" rIns="0" bIns="0" rtlCol="0" anchor="ctr"/>
          <a:lstStyle/>
          <a:p>
            <a:pPr indent="0" marL="0">
              <a:buNone/>
            </a:pPr>
            <a:r>
              <a:rPr lang="en-US" sz="1400" i="1" dirty="0">
                <a:solidFill>
                  <a:srgbClr val="9FC0C6"/>
                </a:solidFill>
                <a:latin typeface="Calibri" pitchFamily="34" charset="0"/>
                <a:ea typeface="Calibri" pitchFamily="34" charset="-122"/>
                <a:cs typeface="Calibri" pitchFamily="34" charset="-120"/>
              </a:rPr>
              <a:t>SDTM is the bridge: it standardizes collected data so analysis and regulatory review can build on a common foundation.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STANDARD IN FOCUS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What is SDTM — and why it matters</a:t>
            </a:r>
            <a:endParaRPr lang="en-US" sz="3000" dirty="0"/>
          </a:p>
        </p:txBody>
      </p:sp>
      <p:sp>
        <p:nvSpPr>
          <p:cNvPr id="4" name="Shape 2"/>
          <p:cNvSpPr/>
          <p:nvPr/>
        </p:nvSpPr>
        <p:spPr>
          <a:xfrm>
            <a:off x="640080" y="1691640"/>
            <a:ext cx="5669280" cy="4343400"/>
          </a:xfrm>
          <a:prstGeom prst="roundRect">
            <a:avLst>
              <a:gd name="adj" fmla="val 189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5120640" cy="457200"/>
          </a:xfrm>
          <a:prstGeom prst="rect">
            <a:avLst/>
          </a:prstGeom>
          <a:noFill/>
          <a:ln/>
        </p:spPr>
        <p:txBody>
          <a:bodyPr wrap="square" lIns="0" tIns="0" rIns="0" bIns="0" rtlCol="0" anchor="ctr"/>
          <a:lstStyle/>
          <a:p>
            <a:pPr indent="0" marL="0">
              <a:buNone/>
            </a:pPr>
            <a:r>
              <a:rPr lang="en-US" sz="2200" b="1" dirty="0">
                <a:solidFill>
                  <a:srgbClr val="0E7C86"/>
                </a:solidFill>
                <a:latin typeface="Cambria" pitchFamily="34" charset="0"/>
                <a:ea typeface="Cambria" pitchFamily="34" charset="-122"/>
                <a:cs typeface="Cambria" pitchFamily="34" charset="-120"/>
              </a:rPr>
              <a:t>Study Data Tabulation Model</a:t>
            </a:r>
            <a:endParaRPr lang="en-US" sz="2200" dirty="0"/>
          </a:p>
        </p:txBody>
      </p:sp>
      <p:sp>
        <p:nvSpPr>
          <p:cNvPr id="6" name="Text 4"/>
          <p:cNvSpPr/>
          <p:nvPr/>
        </p:nvSpPr>
        <p:spPr>
          <a:xfrm>
            <a:off x="914400" y="2514600"/>
            <a:ext cx="5120640" cy="1371600"/>
          </a:xfrm>
          <a:prstGeom prst="rect">
            <a:avLst/>
          </a:prstGeom>
          <a:noFill/>
          <a:ln/>
        </p:spPr>
        <p:txBody>
          <a:bodyPr wrap="square" lIns="0" tIns="0" rIns="0" bIns="0" rtlCol="0" anchor="t"/>
          <a:lstStyle/>
          <a:p>
            <a:pPr indent="0" marL="0">
              <a:lnSpc>
                <a:spcPts val="2200"/>
              </a:lnSpc>
              <a:buNone/>
            </a:pPr>
            <a:r>
              <a:rPr lang="en-US" sz="1500" b="1" dirty="0">
                <a:solidFill>
                  <a:srgbClr val="0F2E3D"/>
                </a:solidFill>
                <a:latin typeface="Calibri" pitchFamily="34" charset="0"/>
                <a:ea typeface="Calibri" pitchFamily="34" charset="-122"/>
                <a:cs typeface="Calibri" pitchFamily="34" charset="-120"/>
              </a:rPr>
              <a:t>SDTM defines a standard structure for organizing and formatting the data collected in a clinical trial</a:t>
            </a:r>
            <a:pPr indent="0" marL="0">
              <a:lnSpc>
                <a:spcPts val="2200"/>
              </a:lnSpc>
              <a:buNone/>
            </a:pPr>
            <a:r>
              <a:rPr lang="en-US" sz="1500" dirty="0">
                <a:solidFill>
                  <a:srgbClr val="5A7682"/>
                </a:solidFill>
                <a:latin typeface="Calibri" pitchFamily="34" charset="0"/>
                <a:ea typeface="Calibri" pitchFamily="34" charset="-122"/>
                <a:cs typeface="Calibri" pitchFamily="34" charset="-120"/>
              </a:rPr>
              <a:t> — so that the </a:t>
            </a:r>
            <a:pPr indent="0" marL="0">
              <a:lnSpc>
                <a:spcPts val="2200"/>
              </a:lnSpc>
              <a:buNone/>
            </a:pPr>
            <a:r>
              <a:rPr lang="en-US" sz="1500" i="1" dirty="0">
                <a:solidFill>
                  <a:srgbClr val="0F2E3D"/>
                </a:solidFill>
                <a:latin typeface="Calibri" pitchFamily="34" charset="0"/>
                <a:ea typeface="Calibri" pitchFamily="34" charset="-122"/>
                <a:cs typeface="Calibri" pitchFamily="34" charset="-120"/>
              </a:rPr>
              <a:t>tabulations</a:t>
            </a:r>
            <a:pPr indent="0" marL="0">
              <a:lnSpc>
                <a:spcPts val="2200"/>
              </a:lnSpc>
              <a:buNone/>
            </a:pPr>
            <a:r>
              <a:rPr lang="en-US" sz="1500" dirty="0">
                <a:solidFill>
                  <a:srgbClr val="5A7682"/>
                </a:solidFill>
                <a:latin typeface="Calibri" pitchFamily="34" charset="0"/>
                <a:ea typeface="Calibri" pitchFamily="34" charset="-122"/>
                <a:cs typeface="Calibri" pitchFamily="34" charset="-120"/>
              </a:rPr>
              <a:t> (the observed, as-collected data) are consistent across studies and sponsors.</a:t>
            </a:r>
            <a:endParaRPr lang="en-US" sz="1500" dirty="0"/>
          </a:p>
        </p:txBody>
      </p:sp>
      <p:sp>
        <p:nvSpPr>
          <p:cNvPr id="7" name="Text 5"/>
          <p:cNvSpPr/>
          <p:nvPr/>
        </p:nvSpPr>
        <p:spPr>
          <a:xfrm>
            <a:off x="914400" y="4160520"/>
            <a:ext cx="5120640" cy="1737360"/>
          </a:xfrm>
          <a:prstGeom prst="rect">
            <a:avLst/>
          </a:prstGeom>
          <a:noFill/>
          <a:ln/>
        </p:spPr>
        <p:txBody>
          <a:bodyPr wrap="square" lIns="0" tIns="0" rIns="0" bIns="0" rtlCol="0" anchor="ctr"/>
          <a:lstStyle/>
          <a:p>
            <a:pPr indent="0" marL="0">
              <a:lnSpc>
                <a:spcPts val="2200"/>
              </a:lnSpc>
              <a:buNone/>
            </a:pPr>
            <a:r>
              <a:rPr lang="en-US" sz="1500" i="1" dirty="0">
                <a:solidFill>
                  <a:srgbClr val="0F2E3D"/>
                </a:solidFill>
                <a:latin typeface="Calibri" pitchFamily="34" charset="0"/>
                <a:ea typeface="Calibri" pitchFamily="34" charset="-122"/>
                <a:cs typeface="Calibri" pitchFamily="34" charset="-120"/>
              </a:rPr>
              <a:t>Think of SDTM as a set of labeled, standard-shaped boxes. Whatever the study, the same kind of data goes in the same box, with the same label.</a:t>
            </a:r>
            <a:endParaRPr lang="en-US" sz="1500" dirty="0"/>
          </a:p>
        </p:txBody>
      </p:sp>
      <p:sp>
        <p:nvSpPr>
          <p:cNvPr id="8" name="Shape 6"/>
          <p:cNvSpPr/>
          <p:nvPr/>
        </p:nvSpPr>
        <p:spPr>
          <a:xfrm>
            <a:off x="6537960" y="1737360"/>
            <a:ext cx="5074920" cy="996696"/>
          </a:xfrm>
          <a:prstGeom prst="roundRect">
            <a:avLst>
              <a:gd name="adj" fmla="val 825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766560" y="1956816"/>
            <a:ext cx="548640" cy="548640"/>
          </a:xfrm>
          <a:prstGeom prst="ellipse">
            <a:avLst/>
          </a:prstGeom>
          <a:solidFill>
            <a:srgbClr val="0E7C86"/>
          </a:solidFill>
          <a:ln/>
        </p:spPr>
      </p:sp>
      <p:sp>
        <p:nvSpPr>
          <p:cNvPr id="10" name="Text 8"/>
          <p:cNvSpPr/>
          <p:nvPr/>
        </p:nvSpPr>
        <p:spPr>
          <a:xfrm>
            <a:off x="6766560" y="195681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7452360" y="1865376"/>
            <a:ext cx="4023360" cy="77724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Required for submission
</a:t>
            </a:r>
            <a:pPr indent="0" marL="0">
              <a:buNone/>
            </a:pPr>
            <a:r>
              <a:rPr lang="en-US" sz="1250" dirty="0">
                <a:solidFill>
                  <a:srgbClr val="5A7682"/>
                </a:solidFill>
                <a:latin typeface="Calibri" pitchFamily="34" charset="0"/>
                <a:ea typeface="Calibri" pitchFamily="34" charset="-122"/>
                <a:cs typeface="Calibri" pitchFamily="34" charset="-120"/>
              </a:rPr>
              <a:t>FDA and Japan's PMDA mandate SDTM-formatted study data.</a:t>
            </a:r>
            <a:endParaRPr lang="en-US" sz="1500" dirty="0"/>
          </a:p>
        </p:txBody>
      </p:sp>
      <p:sp>
        <p:nvSpPr>
          <p:cNvPr id="12" name="Shape 10"/>
          <p:cNvSpPr/>
          <p:nvPr/>
        </p:nvSpPr>
        <p:spPr>
          <a:xfrm>
            <a:off x="6537960" y="2834640"/>
            <a:ext cx="5074920" cy="996696"/>
          </a:xfrm>
          <a:prstGeom prst="roundRect">
            <a:avLst>
              <a:gd name="adj" fmla="val 825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6766560" y="3054096"/>
            <a:ext cx="548640" cy="548640"/>
          </a:xfrm>
          <a:prstGeom prst="ellipse">
            <a:avLst/>
          </a:prstGeom>
          <a:solidFill>
            <a:srgbClr val="1FA8A0"/>
          </a:solidFill>
          <a:ln/>
        </p:spPr>
      </p:sp>
      <p:sp>
        <p:nvSpPr>
          <p:cNvPr id="14" name="Text 12"/>
          <p:cNvSpPr/>
          <p:nvPr/>
        </p:nvSpPr>
        <p:spPr>
          <a:xfrm>
            <a:off x="6766560" y="305409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7452360" y="2962656"/>
            <a:ext cx="4023360" cy="77724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Consistency
</a:t>
            </a:r>
            <a:pPr indent="0" marL="0">
              <a:buNone/>
            </a:pPr>
            <a:r>
              <a:rPr lang="en-US" sz="1250" dirty="0">
                <a:solidFill>
                  <a:srgbClr val="5A7682"/>
                </a:solidFill>
                <a:latin typeface="Calibri" pitchFamily="34" charset="0"/>
                <a:ea typeface="Calibri" pitchFamily="34" charset="-122"/>
                <a:cs typeface="Calibri" pitchFamily="34" charset="-120"/>
              </a:rPr>
              <a:t>Every study is organized the same way — easy to combine and compare.</a:t>
            </a:r>
            <a:endParaRPr lang="en-US" sz="1500" dirty="0"/>
          </a:p>
        </p:txBody>
      </p:sp>
      <p:sp>
        <p:nvSpPr>
          <p:cNvPr id="16" name="Shape 14"/>
          <p:cNvSpPr/>
          <p:nvPr/>
        </p:nvSpPr>
        <p:spPr>
          <a:xfrm>
            <a:off x="6537960" y="3931920"/>
            <a:ext cx="5074920" cy="996696"/>
          </a:xfrm>
          <a:prstGeom prst="roundRect">
            <a:avLst>
              <a:gd name="adj" fmla="val 825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766560" y="4151376"/>
            <a:ext cx="548640" cy="548640"/>
          </a:xfrm>
          <a:prstGeom prst="ellipse">
            <a:avLst/>
          </a:prstGeom>
          <a:solidFill>
            <a:srgbClr val="E8833A"/>
          </a:solidFill>
          <a:ln/>
        </p:spPr>
      </p:sp>
      <p:sp>
        <p:nvSpPr>
          <p:cNvPr id="18" name="Text 16"/>
          <p:cNvSpPr/>
          <p:nvPr/>
        </p:nvSpPr>
        <p:spPr>
          <a:xfrm>
            <a:off x="6766560" y="415137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7452360" y="4059936"/>
            <a:ext cx="4023360" cy="77724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Enables automation
</a:t>
            </a:r>
            <a:pPr indent="0" marL="0">
              <a:buNone/>
            </a:pPr>
            <a:r>
              <a:rPr lang="en-US" sz="1250" dirty="0">
                <a:solidFill>
                  <a:srgbClr val="5A7682"/>
                </a:solidFill>
                <a:latin typeface="Calibri" pitchFamily="34" charset="0"/>
                <a:ea typeface="Calibri" pitchFamily="34" charset="-122"/>
                <a:cs typeface="Calibri" pitchFamily="34" charset="-120"/>
              </a:rPr>
              <a:t>Validation tools and review software rely on the predictable structure.</a:t>
            </a:r>
            <a:endParaRPr lang="en-US" sz="1500" dirty="0"/>
          </a:p>
        </p:txBody>
      </p:sp>
      <p:sp>
        <p:nvSpPr>
          <p:cNvPr id="20" name="Shape 18"/>
          <p:cNvSpPr/>
          <p:nvPr/>
        </p:nvSpPr>
        <p:spPr>
          <a:xfrm>
            <a:off x="6537960" y="5029200"/>
            <a:ext cx="5074920" cy="996696"/>
          </a:xfrm>
          <a:prstGeom prst="roundRect">
            <a:avLst>
              <a:gd name="adj" fmla="val 825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6766560" y="5248656"/>
            <a:ext cx="548640" cy="548640"/>
          </a:xfrm>
          <a:prstGeom prst="ellipse">
            <a:avLst/>
          </a:prstGeom>
          <a:solidFill>
            <a:srgbClr val="0F2E3D"/>
          </a:solidFill>
          <a:ln/>
        </p:spPr>
      </p:sp>
      <p:sp>
        <p:nvSpPr>
          <p:cNvPr id="22" name="Text 20"/>
          <p:cNvSpPr/>
          <p:nvPr/>
        </p:nvSpPr>
        <p:spPr>
          <a:xfrm>
            <a:off x="6766560" y="524865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7452360" y="5157216"/>
            <a:ext cx="4023360" cy="77724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Traceability
</a:t>
            </a:r>
            <a:pPr indent="0" marL="0">
              <a:buNone/>
            </a:pPr>
            <a:r>
              <a:rPr lang="en-US" sz="1250" dirty="0">
                <a:solidFill>
                  <a:srgbClr val="5A7682"/>
                </a:solidFill>
                <a:latin typeface="Calibri" pitchFamily="34" charset="0"/>
                <a:ea typeface="Calibri" pitchFamily="34" charset="-122"/>
                <a:cs typeface="Calibri" pitchFamily="34" charset="-120"/>
              </a:rPr>
              <a:t>A clear starting point that analysis (ADaM) datasets trace back to.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FOUNDATIONAL DOCUMENTS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SDTM Model vs. SDTMIG</a:t>
            </a:r>
            <a:endParaRPr lang="en-US" sz="3000" dirty="0"/>
          </a:p>
        </p:txBody>
      </p:sp>
      <p:sp>
        <p:nvSpPr>
          <p:cNvPr id="4" name="Shape 2"/>
          <p:cNvSpPr/>
          <p:nvPr/>
        </p:nvSpPr>
        <p:spPr>
          <a:xfrm>
            <a:off x="640080" y="1737360"/>
            <a:ext cx="5349240" cy="4114800"/>
          </a:xfrm>
          <a:prstGeom prst="roundRect">
            <a:avLst>
              <a:gd name="adj" fmla="val 2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65960"/>
            <a:ext cx="4754880" cy="457200"/>
          </a:xfrm>
          <a:prstGeom prst="rect">
            <a:avLst/>
          </a:prstGeom>
          <a:noFill/>
          <a:ln/>
        </p:spPr>
        <p:txBody>
          <a:bodyPr wrap="square" lIns="0" tIns="0" rIns="0" bIns="0" rtlCol="0" anchor="ctr"/>
          <a:lstStyle/>
          <a:p>
            <a:pPr indent="0" marL="0">
              <a:buNone/>
            </a:pPr>
            <a:r>
              <a:rPr lang="en-US" sz="2200" b="1" dirty="0">
                <a:solidFill>
                  <a:srgbClr val="0E7C86"/>
                </a:solidFill>
                <a:latin typeface="Cambria" pitchFamily="34" charset="0"/>
                <a:ea typeface="Cambria" pitchFamily="34" charset="-122"/>
                <a:cs typeface="Cambria" pitchFamily="34" charset="-120"/>
              </a:rPr>
              <a:t>SDTM (the Model)</a:t>
            </a:r>
            <a:endParaRPr lang="en-US" sz="2200" dirty="0"/>
          </a:p>
        </p:txBody>
      </p:sp>
      <p:sp>
        <p:nvSpPr>
          <p:cNvPr id="6" name="Text 4"/>
          <p:cNvSpPr/>
          <p:nvPr/>
        </p:nvSpPr>
        <p:spPr>
          <a:xfrm>
            <a:off x="914400" y="2450592"/>
            <a:ext cx="4754880" cy="274320"/>
          </a:xfrm>
          <a:prstGeom prst="rect">
            <a:avLst/>
          </a:prstGeom>
          <a:noFill/>
          <a:ln/>
        </p:spPr>
        <p:txBody>
          <a:bodyPr wrap="square" lIns="0" tIns="0" rIns="0" bIns="0" rtlCol="0" anchor="ctr"/>
          <a:lstStyle/>
          <a:p>
            <a:pPr indent="0" marL="0">
              <a:buNone/>
            </a:pPr>
            <a:r>
              <a:rPr lang="en-US" sz="1300" b="1" i="1" dirty="0">
                <a:solidFill>
                  <a:srgbClr val="5A7682"/>
                </a:solidFill>
                <a:latin typeface="Calibri" pitchFamily="34" charset="0"/>
                <a:ea typeface="Calibri" pitchFamily="34" charset="-122"/>
                <a:cs typeface="Calibri" pitchFamily="34" charset="-120"/>
              </a:rPr>
              <a:t>The general framework</a:t>
            </a:r>
            <a:endParaRPr lang="en-US" sz="1300" dirty="0"/>
          </a:p>
        </p:txBody>
      </p:sp>
      <p:sp>
        <p:nvSpPr>
          <p:cNvPr id="7" name="Text 5"/>
          <p:cNvSpPr/>
          <p:nvPr/>
        </p:nvSpPr>
        <p:spPr>
          <a:xfrm>
            <a:off x="1051560" y="2880360"/>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0F2E3D"/>
                </a:solidFill>
                <a:latin typeface="Calibri" pitchFamily="34" charset="0"/>
                <a:ea typeface="Calibri" pitchFamily="34" charset="-122"/>
                <a:cs typeface="Calibri" pitchFamily="34" charset="-120"/>
              </a:rPr>
              <a:t>Defines the underlying concepts and rules</a:t>
            </a:r>
            <a:endParaRPr lang="en-US" sz="1350" dirty="0"/>
          </a:p>
        </p:txBody>
      </p:sp>
      <p:sp>
        <p:nvSpPr>
          <p:cNvPr id="8" name="Text 6"/>
          <p:cNvSpPr/>
          <p:nvPr/>
        </p:nvSpPr>
        <p:spPr>
          <a:xfrm>
            <a:off x="1051560" y="3538728"/>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0F2E3D"/>
                </a:solidFill>
                <a:latin typeface="Calibri" pitchFamily="34" charset="0"/>
                <a:ea typeface="Calibri" pitchFamily="34" charset="-122"/>
                <a:cs typeface="Calibri" pitchFamily="34" charset="-120"/>
              </a:rPr>
              <a:t>Introduces the General Observation Classes</a:t>
            </a:r>
            <a:endParaRPr lang="en-US" sz="1350" dirty="0"/>
          </a:p>
        </p:txBody>
      </p:sp>
      <p:sp>
        <p:nvSpPr>
          <p:cNvPr id="9" name="Text 7"/>
          <p:cNvSpPr/>
          <p:nvPr/>
        </p:nvSpPr>
        <p:spPr>
          <a:xfrm>
            <a:off x="1051560" y="4197096"/>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0F2E3D"/>
                </a:solidFill>
                <a:latin typeface="Calibri" pitchFamily="34" charset="0"/>
                <a:ea typeface="Calibri" pitchFamily="34" charset="-122"/>
                <a:cs typeface="Calibri" pitchFamily="34" charset="-120"/>
              </a:rPr>
              <a:t>Lists the variable roles (Identifier, Topic, Timing, Qualifier)</a:t>
            </a:r>
            <a:endParaRPr lang="en-US" sz="1350" dirty="0"/>
          </a:p>
        </p:txBody>
      </p:sp>
      <p:sp>
        <p:nvSpPr>
          <p:cNvPr id="10" name="Text 8"/>
          <p:cNvSpPr/>
          <p:nvPr/>
        </p:nvSpPr>
        <p:spPr>
          <a:xfrm>
            <a:off x="1051560" y="4855464"/>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0F2E3D"/>
                </a:solidFill>
                <a:latin typeface="Calibri" pitchFamily="34" charset="0"/>
                <a:ea typeface="Calibri" pitchFamily="34" charset="-122"/>
                <a:cs typeface="Calibri" pitchFamily="34" charset="-120"/>
              </a:rPr>
              <a:t>Standard-wide — not tied to any one domain</a:t>
            </a:r>
            <a:endParaRPr lang="en-US" sz="1350" dirty="0"/>
          </a:p>
        </p:txBody>
      </p:sp>
      <p:sp>
        <p:nvSpPr>
          <p:cNvPr id="11" name="Shape 9"/>
          <p:cNvSpPr/>
          <p:nvPr/>
        </p:nvSpPr>
        <p:spPr>
          <a:xfrm>
            <a:off x="6217920" y="1737360"/>
            <a:ext cx="5349240" cy="4114800"/>
          </a:xfrm>
          <a:prstGeom prst="roundRect">
            <a:avLst>
              <a:gd name="adj" fmla="val 2000"/>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6492240" y="1965960"/>
            <a:ext cx="4754880" cy="457200"/>
          </a:xfrm>
          <a:prstGeom prst="rect">
            <a:avLst/>
          </a:prstGeom>
          <a:noFill/>
          <a:ln/>
        </p:spPr>
        <p:txBody>
          <a:bodyPr wrap="square" lIns="0" tIns="0" rIns="0" bIns="0" rtlCol="0" anchor="ctr"/>
          <a:lstStyle/>
          <a:p>
            <a:pPr indent="0" marL="0">
              <a:buNone/>
            </a:pPr>
            <a:r>
              <a:rPr lang="en-US" sz="2200" b="1" dirty="0">
                <a:solidFill>
                  <a:srgbClr val="6FC8B4"/>
                </a:solidFill>
                <a:latin typeface="Cambria" pitchFamily="34" charset="0"/>
                <a:ea typeface="Cambria" pitchFamily="34" charset="-122"/>
                <a:cs typeface="Cambria" pitchFamily="34" charset="-120"/>
              </a:rPr>
              <a:t>SDTMIG (the Guide)</a:t>
            </a:r>
            <a:endParaRPr lang="en-US" sz="2200" dirty="0"/>
          </a:p>
        </p:txBody>
      </p:sp>
      <p:sp>
        <p:nvSpPr>
          <p:cNvPr id="13" name="Text 11"/>
          <p:cNvSpPr/>
          <p:nvPr/>
        </p:nvSpPr>
        <p:spPr>
          <a:xfrm>
            <a:off x="6492240" y="2450592"/>
            <a:ext cx="4754880" cy="274320"/>
          </a:xfrm>
          <a:prstGeom prst="rect">
            <a:avLst/>
          </a:prstGeom>
          <a:noFill/>
          <a:ln/>
        </p:spPr>
        <p:txBody>
          <a:bodyPr wrap="square" lIns="0" tIns="0" rIns="0" bIns="0" rtlCol="0" anchor="ctr"/>
          <a:lstStyle/>
          <a:p>
            <a:pPr indent="0" marL="0">
              <a:buNone/>
            </a:pPr>
            <a:r>
              <a:rPr lang="en-US" sz="1300" b="1" i="1" dirty="0">
                <a:solidFill>
                  <a:srgbClr val="9FC0C6"/>
                </a:solidFill>
                <a:latin typeface="Calibri" pitchFamily="34" charset="0"/>
                <a:ea typeface="Calibri" pitchFamily="34" charset="-122"/>
                <a:cs typeface="Calibri" pitchFamily="34" charset="-120"/>
              </a:rPr>
              <a:t>Implementation Guide — how to actually do it</a:t>
            </a:r>
            <a:endParaRPr lang="en-US" sz="1300" dirty="0"/>
          </a:p>
        </p:txBody>
      </p:sp>
      <p:sp>
        <p:nvSpPr>
          <p:cNvPr id="14" name="Text 12"/>
          <p:cNvSpPr/>
          <p:nvPr/>
        </p:nvSpPr>
        <p:spPr>
          <a:xfrm>
            <a:off x="6629400" y="2880360"/>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E7F0F1"/>
                </a:solidFill>
                <a:latin typeface="Calibri" pitchFamily="34" charset="0"/>
                <a:ea typeface="Calibri" pitchFamily="34" charset="-122"/>
                <a:cs typeface="Calibri" pitchFamily="34" charset="-120"/>
              </a:rPr>
              <a:t>Turns the model into concrete, buildable domains</a:t>
            </a:r>
            <a:endParaRPr lang="en-US" sz="1350" dirty="0"/>
          </a:p>
        </p:txBody>
      </p:sp>
      <p:sp>
        <p:nvSpPr>
          <p:cNvPr id="15" name="Text 13"/>
          <p:cNvSpPr/>
          <p:nvPr/>
        </p:nvSpPr>
        <p:spPr>
          <a:xfrm>
            <a:off x="6629400" y="3538728"/>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E7F0F1"/>
                </a:solidFill>
                <a:latin typeface="Calibri" pitchFamily="34" charset="0"/>
                <a:ea typeface="Calibri" pitchFamily="34" charset="-122"/>
                <a:cs typeface="Calibri" pitchFamily="34" charset="-120"/>
              </a:rPr>
              <a:t>Specifies exact variables for DM, AE, VS, LB, …</a:t>
            </a:r>
            <a:endParaRPr lang="en-US" sz="1350" dirty="0"/>
          </a:p>
        </p:txBody>
      </p:sp>
      <p:sp>
        <p:nvSpPr>
          <p:cNvPr id="16" name="Text 14"/>
          <p:cNvSpPr/>
          <p:nvPr/>
        </p:nvSpPr>
        <p:spPr>
          <a:xfrm>
            <a:off x="6629400" y="4197096"/>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E7F0F1"/>
                </a:solidFill>
                <a:latin typeface="Calibri" pitchFamily="34" charset="0"/>
                <a:ea typeface="Calibri" pitchFamily="34" charset="-122"/>
                <a:cs typeface="Calibri" pitchFamily="34" charset="-120"/>
              </a:rPr>
              <a:t>Gives assumptions, examples, and business rules</a:t>
            </a:r>
            <a:endParaRPr lang="en-US" sz="1350" dirty="0"/>
          </a:p>
        </p:txBody>
      </p:sp>
      <p:sp>
        <p:nvSpPr>
          <p:cNvPr id="17" name="Text 15"/>
          <p:cNvSpPr/>
          <p:nvPr/>
        </p:nvSpPr>
        <p:spPr>
          <a:xfrm>
            <a:off x="6629400" y="4855464"/>
            <a:ext cx="4663440" cy="594360"/>
          </a:xfrm>
          <a:prstGeom prst="rect">
            <a:avLst/>
          </a:prstGeom>
          <a:noFill/>
          <a:ln/>
        </p:spPr>
        <p:txBody>
          <a:bodyPr wrap="square" lIns="0" tIns="0" rIns="0" bIns="0" rtlCol="0" anchor="ctr"/>
          <a:lstStyle/>
          <a:p>
            <a:pPr marL="177800" indent="-177800">
              <a:buSzPct val="100000"/>
              <a:buChar char="•"/>
            </a:pPr>
            <a:r>
              <a:rPr lang="en-US" sz="1350" dirty="0">
                <a:solidFill>
                  <a:srgbClr val="E7F0F1"/>
                </a:solidFill>
                <a:latin typeface="Calibri" pitchFamily="34" charset="0"/>
                <a:ea typeface="Calibri" pitchFamily="34" charset="-122"/>
                <a:cs typeface="Calibri" pitchFamily="34" charset="-120"/>
              </a:rPr>
              <a:t>This is the book programmers open every day</a:t>
            </a:r>
            <a:endParaRPr lang="en-US" sz="1350" dirty="0"/>
          </a:p>
        </p:txBody>
      </p:sp>
      <p:sp>
        <p:nvSpPr>
          <p:cNvPr id="18" name="Text 16"/>
          <p:cNvSpPr/>
          <p:nvPr/>
        </p:nvSpPr>
        <p:spPr>
          <a:xfrm>
            <a:off x="640080" y="6035040"/>
            <a:ext cx="10972800" cy="365760"/>
          </a:xfrm>
          <a:prstGeom prst="rect">
            <a:avLst/>
          </a:prstGeom>
          <a:noFill/>
          <a:ln/>
        </p:spPr>
        <p:txBody>
          <a:bodyPr wrap="square" lIns="0" tIns="0" rIns="0" bIns="0" rtlCol="0" anchor="ctr"/>
          <a:lstStyle/>
          <a:p>
            <a:pPr algn="ctr" indent="0" marL="0">
              <a:buNone/>
            </a:pPr>
            <a:r>
              <a:rPr lang="en-US" sz="1350" i="1" dirty="0">
                <a:solidFill>
                  <a:srgbClr val="0E7C86"/>
                </a:solidFill>
                <a:latin typeface="Calibri" pitchFamily="34" charset="0"/>
                <a:ea typeface="Calibri" pitchFamily="34" charset="-122"/>
                <a:cs typeface="Calibri" pitchFamily="34" charset="-120"/>
              </a:rPr>
              <a:t>Model = the rules of the game.   SDTMIG = the detailed playbook.   We use SDTMIG v3.3 throughout this bootcamp.</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CORE IDEA</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Everything is an observation</a:t>
            </a:r>
            <a:endParaRPr lang="en-US" sz="3000" dirty="0"/>
          </a:p>
        </p:txBody>
      </p:sp>
      <p:sp>
        <p:nvSpPr>
          <p:cNvPr id="4" name="Text 2"/>
          <p:cNvSpPr/>
          <p:nvPr/>
        </p:nvSpPr>
        <p:spPr>
          <a:xfrm>
            <a:off x="548640" y="1371600"/>
            <a:ext cx="10972800" cy="457200"/>
          </a:xfrm>
          <a:prstGeom prst="rect">
            <a:avLst/>
          </a:prstGeom>
          <a:noFill/>
          <a:ln/>
        </p:spPr>
        <p:txBody>
          <a:bodyPr wrap="square" lIns="0" tIns="0" rIns="0" bIns="0" rtlCol="0" anchor="ctr"/>
          <a:lstStyle/>
          <a:p>
            <a:pPr indent="0" marL="0">
              <a:buNone/>
            </a:pPr>
            <a:r>
              <a:rPr lang="en-US" sz="1450" dirty="0">
                <a:solidFill>
                  <a:srgbClr val="5A7682"/>
                </a:solidFill>
                <a:latin typeface="Calibri" pitchFamily="34" charset="0"/>
                <a:ea typeface="Calibri" pitchFamily="34" charset="-122"/>
                <a:cs typeface="Calibri" pitchFamily="34" charset="-120"/>
              </a:rPr>
              <a:t>Almost all trial data fits one of three General Observation Classes. The class determines the shape of the domain.</a:t>
            </a:r>
            <a:endParaRPr lang="en-US" sz="1450" dirty="0"/>
          </a:p>
        </p:txBody>
      </p:sp>
      <p:sp>
        <p:nvSpPr>
          <p:cNvPr id="5" name="Shape 3"/>
          <p:cNvSpPr/>
          <p:nvPr/>
        </p:nvSpPr>
        <p:spPr>
          <a:xfrm>
            <a:off x="640080" y="1965960"/>
            <a:ext cx="3611880" cy="3977640"/>
          </a:xfrm>
          <a:prstGeom prst="roundRect">
            <a:avLst>
              <a:gd name="adj" fmla="val 2278"/>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Shape 4"/>
          <p:cNvSpPr/>
          <p:nvPr/>
        </p:nvSpPr>
        <p:spPr>
          <a:xfrm>
            <a:off x="640080" y="1965960"/>
            <a:ext cx="3611880" cy="777240"/>
          </a:xfrm>
          <a:prstGeom prst="roundRect">
            <a:avLst>
              <a:gd name="adj" fmla="val 10588"/>
            </a:avLst>
          </a:prstGeom>
          <a:solidFill>
            <a:srgbClr val="0E7C86"/>
          </a:solidFill>
          <a:ln/>
        </p:spPr>
      </p:sp>
      <p:sp>
        <p:nvSpPr>
          <p:cNvPr id="7" name="Text 5"/>
          <p:cNvSpPr/>
          <p:nvPr/>
        </p:nvSpPr>
        <p:spPr>
          <a:xfrm>
            <a:off x="640080" y="2103120"/>
            <a:ext cx="361188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INTERVENTIONS</a:t>
            </a:r>
            <a:endParaRPr lang="en-US" sz="2000" dirty="0"/>
          </a:p>
        </p:txBody>
      </p:sp>
      <p:sp>
        <p:nvSpPr>
          <p:cNvPr id="8" name="Text 6"/>
          <p:cNvSpPr/>
          <p:nvPr/>
        </p:nvSpPr>
        <p:spPr>
          <a:xfrm>
            <a:off x="896112" y="2926080"/>
            <a:ext cx="3108960" cy="64008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Something given to or done to the subject</a:t>
            </a:r>
            <a:endParaRPr lang="en-US" sz="1400" dirty="0"/>
          </a:p>
        </p:txBody>
      </p:sp>
      <p:sp>
        <p:nvSpPr>
          <p:cNvPr id="9" name="Text 7"/>
          <p:cNvSpPr/>
          <p:nvPr/>
        </p:nvSpPr>
        <p:spPr>
          <a:xfrm>
            <a:off x="896112" y="3611880"/>
            <a:ext cx="3108960" cy="9144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Treatments, therapies, procedures — investigational or not.</a:t>
            </a:r>
            <a:endParaRPr lang="en-US" sz="1250" dirty="0"/>
          </a:p>
        </p:txBody>
      </p:sp>
      <p:sp>
        <p:nvSpPr>
          <p:cNvPr id="10" name="Text 8"/>
          <p:cNvSpPr/>
          <p:nvPr/>
        </p:nvSpPr>
        <p:spPr>
          <a:xfrm>
            <a:off x="896112" y="5074920"/>
            <a:ext cx="3108960" cy="777240"/>
          </a:xfrm>
          <a:prstGeom prst="rect">
            <a:avLst/>
          </a:prstGeom>
          <a:noFill/>
          <a:ln/>
        </p:spPr>
        <p:txBody>
          <a:bodyPr wrap="square" lIns="0" tIns="0" rIns="0" bIns="0" rtlCol="0" anchor="ctr"/>
          <a:lstStyle/>
          <a:p>
            <a:pPr indent="0" marL="0">
              <a:buNone/>
            </a:pPr>
            <a:r>
              <a:rPr lang="en-US" sz="1200" i="1" dirty="0">
                <a:solidFill>
                  <a:srgbClr val="0E7C86"/>
                </a:solidFill>
                <a:latin typeface="Calibri" pitchFamily="34" charset="0"/>
                <a:ea typeface="Calibri" pitchFamily="34" charset="-122"/>
                <a:cs typeface="Calibri" pitchFamily="34" charset="-120"/>
              </a:rPr>
              <a:t>Examples: CM (concomitant meds), EX (exposure)</a:t>
            </a:r>
            <a:endParaRPr lang="en-US" sz="1200" dirty="0"/>
          </a:p>
        </p:txBody>
      </p:sp>
      <p:sp>
        <p:nvSpPr>
          <p:cNvPr id="11" name="Shape 9"/>
          <p:cNvSpPr/>
          <p:nvPr/>
        </p:nvSpPr>
        <p:spPr>
          <a:xfrm>
            <a:off x="4389120" y="1965960"/>
            <a:ext cx="3611880" cy="3977640"/>
          </a:xfrm>
          <a:prstGeom prst="roundRect">
            <a:avLst>
              <a:gd name="adj" fmla="val 2278"/>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Shape 10"/>
          <p:cNvSpPr/>
          <p:nvPr/>
        </p:nvSpPr>
        <p:spPr>
          <a:xfrm>
            <a:off x="4389120" y="1965960"/>
            <a:ext cx="3611880" cy="777240"/>
          </a:xfrm>
          <a:prstGeom prst="roundRect">
            <a:avLst>
              <a:gd name="adj" fmla="val 10588"/>
            </a:avLst>
          </a:prstGeom>
          <a:solidFill>
            <a:srgbClr val="1FA8A0"/>
          </a:solidFill>
          <a:ln/>
        </p:spPr>
      </p:sp>
      <p:sp>
        <p:nvSpPr>
          <p:cNvPr id="13" name="Text 11"/>
          <p:cNvSpPr/>
          <p:nvPr/>
        </p:nvSpPr>
        <p:spPr>
          <a:xfrm>
            <a:off x="4389120" y="2103120"/>
            <a:ext cx="361188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EVENTS</a:t>
            </a:r>
            <a:endParaRPr lang="en-US" sz="2000" dirty="0"/>
          </a:p>
        </p:txBody>
      </p:sp>
      <p:sp>
        <p:nvSpPr>
          <p:cNvPr id="14" name="Text 12"/>
          <p:cNvSpPr/>
          <p:nvPr/>
        </p:nvSpPr>
        <p:spPr>
          <a:xfrm>
            <a:off x="4645152" y="2926080"/>
            <a:ext cx="3108960" cy="64008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Something that happened to the subject</a:t>
            </a:r>
            <a:endParaRPr lang="en-US" sz="1400" dirty="0"/>
          </a:p>
        </p:txBody>
      </p:sp>
      <p:sp>
        <p:nvSpPr>
          <p:cNvPr id="15" name="Text 13"/>
          <p:cNvSpPr/>
          <p:nvPr/>
        </p:nvSpPr>
        <p:spPr>
          <a:xfrm>
            <a:off x="4645152" y="3611880"/>
            <a:ext cx="3108960" cy="9144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Occurrences and milestones during the trial.</a:t>
            </a:r>
            <a:endParaRPr lang="en-US" sz="1250" dirty="0"/>
          </a:p>
        </p:txBody>
      </p:sp>
      <p:sp>
        <p:nvSpPr>
          <p:cNvPr id="16" name="Text 14"/>
          <p:cNvSpPr/>
          <p:nvPr/>
        </p:nvSpPr>
        <p:spPr>
          <a:xfrm>
            <a:off x="4645152" y="5074920"/>
            <a:ext cx="3108960" cy="777240"/>
          </a:xfrm>
          <a:prstGeom prst="rect">
            <a:avLst/>
          </a:prstGeom>
          <a:noFill/>
          <a:ln/>
        </p:spPr>
        <p:txBody>
          <a:bodyPr wrap="square" lIns="0" tIns="0" rIns="0" bIns="0" rtlCol="0" anchor="ctr"/>
          <a:lstStyle/>
          <a:p>
            <a:pPr indent="0" marL="0">
              <a:buNone/>
            </a:pPr>
            <a:r>
              <a:rPr lang="en-US" sz="1200" i="1" dirty="0">
                <a:solidFill>
                  <a:srgbClr val="1FA8A0"/>
                </a:solidFill>
                <a:latin typeface="Calibri" pitchFamily="34" charset="0"/>
                <a:ea typeface="Calibri" pitchFamily="34" charset="-122"/>
                <a:cs typeface="Calibri" pitchFamily="34" charset="-120"/>
              </a:rPr>
              <a:t>Examples: AE (adverse events), MH (medical history), DS (disposition)</a:t>
            </a:r>
            <a:endParaRPr lang="en-US" sz="1200" dirty="0"/>
          </a:p>
        </p:txBody>
      </p:sp>
      <p:sp>
        <p:nvSpPr>
          <p:cNvPr id="17" name="Shape 15"/>
          <p:cNvSpPr/>
          <p:nvPr/>
        </p:nvSpPr>
        <p:spPr>
          <a:xfrm>
            <a:off x="8138160" y="1965960"/>
            <a:ext cx="3611880" cy="3977640"/>
          </a:xfrm>
          <a:prstGeom prst="roundRect">
            <a:avLst>
              <a:gd name="adj" fmla="val 2278"/>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Shape 16"/>
          <p:cNvSpPr/>
          <p:nvPr/>
        </p:nvSpPr>
        <p:spPr>
          <a:xfrm>
            <a:off x="8138160" y="1965960"/>
            <a:ext cx="3611880" cy="777240"/>
          </a:xfrm>
          <a:prstGeom prst="roundRect">
            <a:avLst>
              <a:gd name="adj" fmla="val 10588"/>
            </a:avLst>
          </a:prstGeom>
          <a:solidFill>
            <a:srgbClr val="E8833A"/>
          </a:solidFill>
          <a:ln/>
        </p:spPr>
      </p:sp>
      <p:sp>
        <p:nvSpPr>
          <p:cNvPr id="19" name="Text 17"/>
          <p:cNvSpPr/>
          <p:nvPr/>
        </p:nvSpPr>
        <p:spPr>
          <a:xfrm>
            <a:off x="8138160" y="2103120"/>
            <a:ext cx="3611880" cy="502920"/>
          </a:xfrm>
          <a:prstGeom prst="rect">
            <a:avLst/>
          </a:prstGeom>
          <a:noFill/>
          <a:ln/>
        </p:spPr>
        <p:txBody>
          <a:bodyPr wrap="square" lIns="0" tIns="0" rIns="0" bIns="0" rtlCol="0" anchor="ctr"/>
          <a:lstStyle/>
          <a:p>
            <a:pPr algn="ctr" indent="0" marL="0">
              <a:buNone/>
            </a:pPr>
            <a:r>
              <a:rPr lang="en-US" sz="2000" b="1" dirty="0">
                <a:solidFill>
                  <a:srgbClr val="0F2E3D"/>
                </a:solidFill>
                <a:latin typeface="Cambria" pitchFamily="34" charset="0"/>
                <a:ea typeface="Cambria" pitchFamily="34" charset="-122"/>
                <a:cs typeface="Cambria" pitchFamily="34" charset="-120"/>
              </a:rPr>
              <a:t>FINDINGS</a:t>
            </a:r>
            <a:endParaRPr lang="en-US" sz="2000" dirty="0"/>
          </a:p>
        </p:txBody>
      </p:sp>
      <p:sp>
        <p:nvSpPr>
          <p:cNvPr id="20" name="Text 18"/>
          <p:cNvSpPr/>
          <p:nvPr/>
        </p:nvSpPr>
        <p:spPr>
          <a:xfrm>
            <a:off x="8394192" y="2926080"/>
            <a:ext cx="3108960" cy="64008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Something measured or assessed</a:t>
            </a:r>
            <a:endParaRPr lang="en-US" sz="1400" dirty="0"/>
          </a:p>
        </p:txBody>
      </p:sp>
      <p:sp>
        <p:nvSpPr>
          <p:cNvPr id="21" name="Text 19"/>
          <p:cNvSpPr/>
          <p:nvPr/>
        </p:nvSpPr>
        <p:spPr>
          <a:xfrm>
            <a:off x="8394192" y="3611880"/>
            <a:ext cx="3108960" cy="9144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The result of an observation or test.</a:t>
            </a:r>
            <a:endParaRPr lang="en-US" sz="1250" dirty="0"/>
          </a:p>
        </p:txBody>
      </p:sp>
      <p:sp>
        <p:nvSpPr>
          <p:cNvPr id="22" name="Text 20"/>
          <p:cNvSpPr/>
          <p:nvPr/>
        </p:nvSpPr>
        <p:spPr>
          <a:xfrm>
            <a:off x="8394192" y="5074920"/>
            <a:ext cx="3108960" cy="777240"/>
          </a:xfrm>
          <a:prstGeom prst="rect">
            <a:avLst/>
          </a:prstGeom>
          <a:noFill/>
          <a:ln/>
        </p:spPr>
        <p:txBody>
          <a:bodyPr wrap="square" lIns="0" tIns="0" rIns="0" bIns="0" rtlCol="0" anchor="ctr"/>
          <a:lstStyle/>
          <a:p>
            <a:pPr indent="0" marL="0">
              <a:buNone/>
            </a:pPr>
            <a:r>
              <a:rPr lang="en-US" sz="1200" i="1" dirty="0">
                <a:solidFill>
                  <a:srgbClr val="B5651A"/>
                </a:solidFill>
                <a:latin typeface="Calibri" pitchFamily="34" charset="0"/>
                <a:ea typeface="Calibri" pitchFamily="34" charset="-122"/>
                <a:cs typeface="Calibri" pitchFamily="34" charset="-120"/>
              </a:rPr>
              <a:t>Examples: VS (vital signs), LB (labs), EG (ECG)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HOW DOMAINS ARE GROUPED</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domain categories</a:t>
            </a:r>
            <a:endParaRPr lang="en-US" sz="3000" dirty="0"/>
          </a:p>
        </p:txBody>
      </p:sp>
      <p:sp>
        <p:nvSpPr>
          <p:cNvPr id="4" name="Shape 2"/>
          <p:cNvSpPr/>
          <p:nvPr/>
        </p:nvSpPr>
        <p:spPr>
          <a:xfrm>
            <a:off x="640080" y="1691640"/>
            <a:ext cx="3566160" cy="2057400"/>
          </a:xfrm>
          <a:prstGeom prst="roundRect">
            <a:avLst>
              <a:gd name="adj" fmla="val 40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1920240"/>
            <a:ext cx="502920" cy="502920"/>
          </a:xfrm>
          <a:prstGeom prst="ellipse">
            <a:avLst/>
          </a:prstGeom>
          <a:solidFill>
            <a:srgbClr val="0E7C86"/>
          </a:solidFill>
          <a:ln/>
        </p:spPr>
      </p:sp>
      <p:sp>
        <p:nvSpPr>
          <p:cNvPr id="6" name="Text 4"/>
          <p:cNvSpPr/>
          <p:nvPr/>
        </p:nvSpPr>
        <p:spPr>
          <a:xfrm>
            <a:off x="868680"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08760" y="1947672"/>
            <a:ext cx="2606040" cy="502920"/>
          </a:xfrm>
          <a:prstGeom prst="rect">
            <a:avLst/>
          </a:prstGeom>
          <a:noFill/>
          <a:ln/>
        </p:spPr>
        <p:txBody>
          <a:bodyPr wrap="square" lIns="0" tIns="0" rIns="0" bIns="0" rtlCol="0" anchor="ctr"/>
          <a:lstStyle/>
          <a:p>
            <a:pPr indent="0" marL="0">
              <a:buNone/>
            </a:pPr>
            <a:r>
              <a:rPr lang="en-US" sz="1650" b="1" dirty="0">
                <a:solidFill>
                  <a:srgbClr val="0F2E3D"/>
                </a:solidFill>
                <a:latin typeface="Cambria" pitchFamily="34" charset="0"/>
                <a:ea typeface="Cambria" pitchFamily="34" charset="-122"/>
                <a:cs typeface="Cambria" pitchFamily="34" charset="-120"/>
              </a:rPr>
              <a:t>Special Purpose</a:t>
            </a:r>
            <a:endParaRPr lang="en-US" sz="1650" dirty="0"/>
          </a:p>
        </p:txBody>
      </p:sp>
      <p:sp>
        <p:nvSpPr>
          <p:cNvPr id="8" name="Text 6"/>
          <p:cNvSpPr/>
          <p:nvPr/>
        </p:nvSpPr>
        <p:spPr>
          <a:xfrm>
            <a:off x="896112" y="2560320"/>
            <a:ext cx="3108960" cy="6858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Unique structure, don't follow the 3 classes.</a:t>
            </a:r>
            <a:endParaRPr lang="en-US" sz="1250" dirty="0"/>
          </a:p>
        </p:txBody>
      </p:sp>
      <p:sp>
        <p:nvSpPr>
          <p:cNvPr id="9" name="Text 7"/>
          <p:cNvSpPr/>
          <p:nvPr/>
        </p:nvSpPr>
        <p:spPr>
          <a:xfrm>
            <a:off x="896112" y="3227832"/>
            <a:ext cx="3108960" cy="365760"/>
          </a:xfrm>
          <a:prstGeom prst="rect">
            <a:avLst/>
          </a:prstGeom>
          <a:noFill/>
          <a:ln/>
        </p:spPr>
        <p:txBody>
          <a:bodyPr wrap="square" lIns="0" tIns="0" rIns="0" bIns="0" rtlCol="0" anchor="ctr"/>
          <a:lstStyle/>
          <a:p>
            <a:pPr indent="0" marL="0">
              <a:buNone/>
            </a:pPr>
            <a:r>
              <a:rPr lang="en-US" sz="1250" b="1" dirty="0">
                <a:solidFill>
                  <a:srgbClr val="0E7C86"/>
                </a:solidFill>
                <a:latin typeface="Courier New" pitchFamily="34" charset="0"/>
                <a:ea typeface="Courier New" pitchFamily="34" charset="-122"/>
                <a:cs typeface="Courier New" pitchFamily="34" charset="-120"/>
              </a:rPr>
              <a:t>DM · CO · SE · SV</a:t>
            </a:r>
            <a:endParaRPr lang="en-US" sz="1250" dirty="0"/>
          </a:p>
        </p:txBody>
      </p:sp>
      <p:sp>
        <p:nvSpPr>
          <p:cNvPr id="10" name="Shape 8"/>
          <p:cNvSpPr/>
          <p:nvPr/>
        </p:nvSpPr>
        <p:spPr>
          <a:xfrm>
            <a:off x="4389120" y="1691640"/>
            <a:ext cx="3566160" cy="2057400"/>
          </a:xfrm>
          <a:prstGeom prst="roundRect">
            <a:avLst>
              <a:gd name="adj" fmla="val 4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4617720" y="1920240"/>
            <a:ext cx="502920" cy="502920"/>
          </a:xfrm>
          <a:prstGeom prst="ellipse">
            <a:avLst/>
          </a:prstGeom>
          <a:solidFill>
            <a:srgbClr val="1FA8A0"/>
          </a:solidFill>
          <a:ln/>
        </p:spPr>
      </p:sp>
      <p:sp>
        <p:nvSpPr>
          <p:cNvPr id="12" name="Text 10"/>
          <p:cNvSpPr/>
          <p:nvPr/>
        </p:nvSpPr>
        <p:spPr>
          <a:xfrm>
            <a:off x="4617720"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5257800" y="1947672"/>
            <a:ext cx="2606040" cy="502920"/>
          </a:xfrm>
          <a:prstGeom prst="rect">
            <a:avLst/>
          </a:prstGeom>
          <a:noFill/>
          <a:ln/>
        </p:spPr>
        <p:txBody>
          <a:bodyPr wrap="square" lIns="0" tIns="0" rIns="0" bIns="0" rtlCol="0" anchor="ctr"/>
          <a:lstStyle/>
          <a:p>
            <a:pPr indent="0" marL="0">
              <a:buNone/>
            </a:pPr>
            <a:r>
              <a:rPr lang="en-US" sz="1650" b="1" dirty="0">
                <a:solidFill>
                  <a:srgbClr val="0F2E3D"/>
                </a:solidFill>
                <a:latin typeface="Cambria" pitchFamily="34" charset="0"/>
                <a:ea typeface="Cambria" pitchFamily="34" charset="-122"/>
                <a:cs typeface="Cambria" pitchFamily="34" charset="-120"/>
              </a:rPr>
              <a:t>Interventions</a:t>
            </a:r>
            <a:endParaRPr lang="en-US" sz="1650" dirty="0"/>
          </a:p>
        </p:txBody>
      </p:sp>
      <p:sp>
        <p:nvSpPr>
          <p:cNvPr id="14" name="Text 12"/>
          <p:cNvSpPr/>
          <p:nvPr/>
        </p:nvSpPr>
        <p:spPr>
          <a:xfrm>
            <a:off x="4645152" y="2560320"/>
            <a:ext cx="3108960" cy="6858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Treatments &amp; procedures given to the subject.</a:t>
            </a:r>
            <a:endParaRPr lang="en-US" sz="1250" dirty="0"/>
          </a:p>
        </p:txBody>
      </p:sp>
      <p:sp>
        <p:nvSpPr>
          <p:cNvPr id="15" name="Text 13"/>
          <p:cNvSpPr/>
          <p:nvPr/>
        </p:nvSpPr>
        <p:spPr>
          <a:xfrm>
            <a:off x="4645152" y="3227832"/>
            <a:ext cx="3108960" cy="365760"/>
          </a:xfrm>
          <a:prstGeom prst="rect">
            <a:avLst/>
          </a:prstGeom>
          <a:noFill/>
          <a:ln/>
        </p:spPr>
        <p:txBody>
          <a:bodyPr wrap="square" lIns="0" tIns="0" rIns="0" bIns="0" rtlCol="0" anchor="ctr"/>
          <a:lstStyle/>
          <a:p>
            <a:pPr indent="0" marL="0">
              <a:buNone/>
            </a:pPr>
            <a:r>
              <a:rPr lang="en-US" sz="1250" b="1" dirty="0">
                <a:solidFill>
                  <a:srgbClr val="1FA8A0"/>
                </a:solidFill>
                <a:latin typeface="Courier New" pitchFamily="34" charset="0"/>
                <a:ea typeface="Courier New" pitchFamily="34" charset="-122"/>
                <a:cs typeface="Courier New" pitchFamily="34" charset="-120"/>
              </a:rPr>
              <a:t>CM · EX · EC · PR · SU</a:t>
            </a:r>
            <a:endParaRPr lang="en-US" sz="1250" dirty="0"/>
          </a:p>
        </p:txBody>
      </p:sp>
      <p:sp>
        <p:nvSpPr>
          <p:cNvPr id="16" name="Shape 14"/>
          <p:cNvSpPr/>
          <p:nvPr/>
        </p:nvSpPr>
        <p:spPr>
          <a:xfrm>
            <a:off x="8138160" y="1691640"/>
            <a:ext cx="3566160" cy="2057400"/>
          </a:xfrm>
          <a:prstGeom prst="roundRect">
            <a:avLst>
              <a:gd name="adj" fmla="val 40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366760" y="1920240"/>
            <a:ext cx="502920" cy="502920"/>
          </a:xfrm>
          <a:prstGeom prst="ellipse">
            <a:avLst/>
          </a:prstGeom>
          <a:solidFill>
            <a:srgbClr val="E8833A"/>
          </a:solidFill>
          <a:ln/>
        </p:spPr>
      </p:sp>
      <p:sp>
        <p:nvSpPr>
          <p:cNvPr id="18" name="Text 16"/>
          <p:cNvSpPr/>
          <p:nvPr/>
        </p:nvSpPr>
        <p:spPr>
          <a:xfrm>
            <a:off x="8366760"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9006840" y="1947672"/>
            <a:ext cx="2606040" cy="502920"/>
          </a:xfrm>
          <a:prstGeom prst="rect">
            <a:avLst/>
          </a:prstGeom>
          <a:noFill/>
          <a:ln/>
        </p:spPr>
        <p:txBody>
          <a:bodyPr wrap="square" lIns="0" tIns="0" rIns="0" bIns="0" rtlCol="0" anchor="ctr"/>
          <a:lstStyle/>
          <a:p>
            <a:pPr indent="0" marL="0">
              <a:buNone/>
            </a:pPr>
            <a:r>
              <a:rPr lang="en-US" sz="1650" b="1" dirty="0">
                <a:solidFill>
                  <a:srgbClr val="0F2E3D"/>
                </a:solidFill>
                <a:latin typeface="Cambria" pitchFamily="34" charset="0"/>
                <a:ea typeface="Cambria" pitchFamily="34" charset="-122"/>
                <a:cs typeface="Cambria" pitchFamily="34" charset="-120"/>
              </a:rPr>
              <a:t>Events</a:t>
            </a:r>
            <a:endParaRPr lang="en-US" sz="1650" dirty="0"/>
          </a:p>
        </p:txBody>
      </p:sp>
      <p:sp>
        <p:nvSpPr>
          <p:cNvPr id="20" name="Text 18"/>
          <p:cNvSpPr/>
          <p:nvPr/>
        </p:nvSpPr>
        <p:spPr>
          <a:xfrm>
            <a:off x="8394192" y="2560320"/>
            <a:ext cx="3108960" cy="6858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Things that happened to the subject.</a:t>
            </a:r>
            <a:endParaRPr lang="en-US" sz="1250" dirty="0"/>
          </a:p>
        </p:txBody>
      </p:sp>
      <p:sp>
        <p:nvSpPr>
          <p:cNvPr id="21" name="Text 19"/>
          <p:cNvSpPr/>
          <p:nvPr/>
        </p:nvSpPr>
        <p:spPr>
          <a:xfrm>
            <a:off x="8394192" y="3227832"/>
            <a:ext cx="3108960" cy="365760"/>
          </a:xfrm>
          <a:prstGeom prst="rect">
            <a:avLst/>
          </a:prstGeom>
          <a:noFill/>
          <a:ln/>
        </p:spPr>
        <p:txBody>
          <a:bodyPr wrap="square" lIns="0" tIns="0" rIns="0" bIns="0" rtlCol="0" anchor="ctr"/>
          <a:lstStyle/>
          <a:p>
            <a:pPr indent="0" marL="0">
              <a:buNone/>
            </a:pPr>
            <a:r>
              <a:rPr lang="en-US" sz="1250" b="1" dirty="0">
                <a:solidFill>
                  <a:srgbClr val="E8833A"/>
                </a:solidFill>
                <a:latin typeface="Courier New" pitchFamily="34" charset="0"/>
                <a:ea typeface="Courier New" pitchFamily="34" charset="-122"/>
                <a:cs typeface="Courier New" pitchFamily="34" charset="-120"/>
              </a:rPr>
              <a:t>AE · MH · DS · CE</a:t>
            </a:r>
            <a:endParaRPr lang="en-US" sz="1250" dirty="0"/>
          </a:p>
        </p:txBody>
      </p:sp>
      <p:sp>
        <p:nvSpPr>
          <p:cNvPr id="22" name="Shape 20"/>
          <p:cNvSpPr/>
          <p:nvPr/>
        </p:nvSpPr>
        <p:spPr>
          <a:xfrm>
            <a:off x="640080" y="3931920"/>
            <a:ext cx="3566160" cy="2057400"/>
          </a:xfrm>
          <a:prstGeom prst="roundRect">
            <a:avLst>
              <a:gd name="adj" fmla="val 4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Shape 21"/>
          <p:cNvSpPr/>
          <p:nvPr/>
        </p:nvSpPr>
        <p:spPr>
          <a:xfrm>
            <a:off x="868680" y="4160520"/>
            <a:ext cx="502920" cy="502920"/>
          </a:xfrm>
          <a:prstGeom prst="ellipse">
            <a:avLst/>
          </a:prstGeom>
          <a:solidFill>
            <a:srgbClr val="0F2E3D"/>
          </a:solidFill>
          <a:ln/>
        </p:spPr>
      </p:sp>
      <p:sp>
        <p:nvSpPr>
          <p:cNvPr id="24" name="Text 22"/>
          <p:cNvSpPr/>
          <p:nvPr/>
        </p:nvSpPr>
        <p:spPr>
          <a:xfrm>
            <a:off x="868680" y="4160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508760" y="4187952"/>
            <a:ext cx="2606040" cy="502920"/>
          </a:xfrm>
          <a:prstGeom prst="rect">
            <a:avLst/>
          </a:prstGeom>
          <a:noFill/>
          <a:ln/>
        </p:spPr>
        <p:txBody>
          <a:bodyPr wrap="square" lIns="0" tIns="0" rIns="0" bIns="0" rtlCol="0" anchor="ctr"/>
          <a:lstStyle/>
          <a:p>
            <a:pPr indent="0" marL="0">
              <a:buNone/>
            </a:pPr>
            <a:r>
              <a:rPr lang="en-US" sz="1650" b="1" dirty="0">
                <a:solidFill>
                  <a:srgbClr val="0F2E3D"/>
                </a:solidFill>
                <a:latin typeface="Cambria" pitchFamily="34" charset="0"/>
                <a:ea typeface="Cambria" pitchFamily="34" charset="-122"/>
                <a:cs typeface="Cambria" pitchFamily="34" charset="-120"/>
              </a:rPr>
              <a:t>Findings</a:t>
            </a:r>
            <a:endParaRPr lang="en-US" sz="1650" dirty="0"/>
          </a:p>
        </p:txBody>
      </p:sp>
      <p:sp>
        <p:nvSpPr>
          <p:cNvPr id="26" name="Text 24"/>
          <p:cNvSpPr/>
          <p:nvPr/>
        </p:nvSpPr>
        <p:spPr>
          <a:xfrm>
            <a:off x="896112" y="4800600"/>
            <a:ext cx="3108960" cy="6858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Measurements &amp; assessments.</a:t>
            </a:r>
            <a:endParaRPr lang="en-US" sz="1250" dirty="0"/>
          </a:p>
        </p:txBody>
      </p:sp>
      <p:sp>
        <p:nvSpPr>
          <p:cNvPr id="27" name="Text 25"/>
          <p:cNvSpPr/>
          <p:nvPr/>
        </p:nvSpPr>
        <p:spPr>
          <a:xfrm>
            <a:off x="896112" y="5468112"/>
            <a:ext cx="3108960" cy="365760"/>
          </a:xfrm>
          <a:prstGeom prst="rect">
            <a:avLst/>
          </a:prstGeom>
          <a:noFill/>
          <a:ln/>
        </p:spPr>
        <p:txBody>
          <a:bodyPr wrap="square" lIns="0" tIns="0" rIns="0" bIns="0" rtlCol="0" anchor="ctr"/>
          <a:lstStyle/>
          <a:p>
            <a:pPr indent="0" marL="0">
              <a:buNone/>
            </a:pPr>
            <a:r>
              <a:rPr lang="en-US" sz="1250" b="1" dirty="0">
                <a:solidFill>
                  <a:srgbClr val="0F2E3D"/>
                </a:solidFill>
                <a:latin typeface="Courier New" pitchFamily="34" charset="0"/>
                <a:ea typeface="Courier New" pitchFamily="34" charset="-122"/>
                <a:cs typeface="Courier New" pitchFamily="34" charset="-120"/>
              </a:rPr>
              <a:t>VS · LB · EG · PE · QS</a:t>
            </a:r>
            <a:endParaRPr lang="en-US" sz="1250" dirty="0"/>
          </a:p>
        </p:txBody>
      </p:sp>
      <p:sp>
        <p:nvSpPr>
          <p:cNvPr id="28" name="Shape 26"/>
          <p:cNvSpPr/>
          <p:nvPr/>
        </p:nvSpPr>
        <p:spPr>
          <a:xfrm>
            <a:off x="4389120" y="3931920"/>
            <a:ext cx="3566160" cy="2057400"/>
          </a:xfrm>
          <a:prstGeom prst="roundRect">
            <a:avLst>
              <a:gd name="adj" fmla="val 400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9" name="Shape 27"/>
          <p:cNvSpPr/>
          <p:nvPr/>
        </p:nvSpPr>
        <p:spPr>
          <a:xfrm>
            <a:off x="4617720" y="4160520"/>
            <a:ext cx="502920" cy="502920"/>
          </a:xfrm>
          <a:prstGeom prst="ellipse">
            <a:avLst/>
          </a:prstGeom>
          <a:solidFill>
            <a:srgbClr val="0E7C86"/>
          </a:solidFill>
          <a:ln/>
        </p:spPr>
      </p:sp>
      <p:sp>
        <p:nvSpPr>
          <p:cNvPr id="30" name="Text 28"/>
          <p:cNvSpPr/>
          <p:nvPr/>
        </p:nvSpPr>
        <p:spPr>
          <a:xfrm>
            <a:off x="4617720" y="4160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p:nvPr/>
        </p:nvSpPr>
        <p:spPr>
          <a:xfrm>
            <a:off x="5257800" y="4187952"/>
            <a:ext cx="2606040" cy="502920"/>
          </a:xfrm>
          <a:prstGeom prst="rect">
            <a:avLst/>
          </a:prstGeom>
          <a:noFill/>
          <a:ln/>
        </p:spPr>
        <p:txBody>
          <a:bodyPr wrap="square" lIns="0" tIns="0" rIns="0" bIns="0" rtlCol="0" anchor="ctr"/>
          <a:lstStyle/>
          <a:p>
            <a:pPr indent="0" marL="0">
              <a:buNone/>
            </a:pPr>
            <a:r>
              <a:rPr lang="en-US" sz="1650" b="1" dirty="0">
                <a:solidFill>
                  <a:srgbClr val="0F2E3D"/>
                </a:solidFill>
                <a:latin typeface="Cambria" pitchFamily="34" charset="0"/>
                <a:ea typeface="Cambria" pitchFamily="34" charset="-122"/>
                <a:cs typeface="Cambria" pitchFamily="34" charset="-120"/>
              </a:rPr>
              <a:t>Trial Design</a:t>
            </a:r>
            <a:endParaRPr lang="en-US" sz="1650" dirty="0"/>
          </a:p>
        </p:txBody>
      </p:sp>
      <p:sp>
        <p:nvSpPr>
          <p:cNvPr id="32" name="Text 30"/>
          <p:cNvSpPr/>
          <p:nvPr/>
        </p:nvSpPr>
        <p:spPr>
          <a:xfrm>
            <a:off x="4645152" y="4800600"/>
            <a:ext cx="3108960" cy="6858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Describe the study itself, not subjects.</a:t>
            </a:r>
            <a:endParaRPr lang="en-US" sz="1250" dirty="0"/>
          </a:p>
        </p:txBody>
      </p:sp>
      <p:sp>
        <p:nvSpPr>
          <p:cNvPr id="33" name="Text 31"/>
          <p:cNvSpPr/>
          <p:nvPr/>
        </p:nvSpPr>
        <p:spPr>
          <a:xfrm>
            <a:off x="4645152" y="5468112"/>
            <a:ext cx="3108960" cy="365760"/>
          </a:xfrm>
          <a:prstGeom prst="rect">
            <a:avLst/>
          </a:prstGeom>
          <a:noFill/>
          <a:ln/>
        </p:spPr>
        <p:txBody>
          <a:bodyPr wrap="square" lIns="0" tIns="0" rIns="0" bIns="0" rtlCol="0" anchor="ctr"/>
          <a:lstStyle/>
          <a:p>
            <a:pPr indent="0" marL="0">
              <a:buNone/>
            </a:pPr>
            <a:r>
              <a:rPr lang="en-US" sz="1250" b="1" dirty="0">
                <a:solidFill>
                  <a:srgbClr val="0E7C86"/>
                </a:solidFill>
                <a:latin typeface="Courier New" pitchFamily="34" charset="0"/>
                <a:ea typeface="Courier New" pitchFamily="34" charset="-122"/>
                <a:cs typeface="Courier New" pitchFamily="34" charset="-120"/>
              </a:rPr>
              <a:t>TA · TE · TS · TV</a:t>
            </a:r>
            <a:endParaRPr lang="en-US" sz="1250" dirty="0"/>
          </a:p>
        </p:txBody>
      </p:sp>
      <p:sp>
        <p:nvSpPr>
          <p:cNvPr id="34" name="Shape 32"/>
          <p:cNvSpPr/>
          <p:nvPr/>
        </p:nvSpPr>
        <p:spPr>
          <a:xfrm>
            <a:off x="8138160" y="3931920"/>
            <a:ext cx="3566160" cy="2057400"/>
          </a:xfrm>
          <a:prstGeom prst="roundRect">
            <a:avLst>
              <a:gd name="adj" fmla="val 4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5" name="Shape 33"/>
          <p:cNvSpPr/>
          <p:nvPr/>
        </p:nvSpPr>
        <p:spPr>
          <a:xfrm>
            <a:off x="8366760" y="4160520"/>
            <a:ext cx="502920" cy="502920"/>
          </a:xfrm>
          <a:prstGeom prst="ellipse">
            <a:avLst/>
          </a:prstGeom>
          <a:solidFill>
            <a:srgbClr val="5A7682"/>
          </a:solidFill>
          <a:ln/>
        </p:spPr>
      </p:sp>
      <p:sp>
        <p:nvSpPr>
          <p:cNvPr id="36" name="Text 34"/>
          <p:cNvSpPr/>
          <p:nvPr/>
        </p:nvSpPr>
        <p:spPr>
          <a:xfrm>
            <a:off x="8366760" y="4160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7" name="Text 35"/>
          <p:cNvSpPr/>
          <p:nvPr/>
        </p:nvSpPr>
        <p:spPr>
          <a:xfrm>
            <a:off x="9006840" y="4187952"/>
            <a:ext cx="2606040" cy="502920"/>
          </a:xfrm>
          <a:prstGeom prst="rect">
            <a:avLst/>
          </a:prstGeom>
          <a:noFill/>
          <a:ln/>
        </p:spPr>
        <p:txBody>
          <a:bodyPr wrap="square" lIns="0" tIns="0" rIns="0" bIns="0" rtlCol="0" anchor="ctr"/>
          <a:lstStyle/>
          <a:p>
            <a:pPr indent="0" marL="0">
              <a:buNone/>
            </a:pPr>
            <a:r>
              <a:rPr lang="en-US" sz="1650" b="1" dirty="0">
                <a:solidFill>
                  <a:srgbClr val="0F2E3D"/>
                </a:solidFill>
                <a:latin typeface="Cambria" pitchFamily="34" charset="0"/>
                <a:ea typeface="Cambria" pitchFamily="34" charset="-122"/>
                <a:cs typeface="Cambria" pitchFamily="34" charset="-120"/>
              </a:rPr>
              <a:t>Relationships</a:t>
            </a:r>
            <a:endParaRPr lang="en-US" sz="1650" dirty="0"/>
          </a:p>
        </p:txBody>
      </p:sp>
      <p:sp>
        <p:nvSpPr>
          <p:cNvPr id="38" name="Text 36"/>
          <p:cNvSpPr/>
          <p:nvPr/>
        </p:nvSpPr>
        <p:spPr>
          <a:xfrm>
            <a:off x="8394192" y="4800600"/>
            <a:ext cx="3108960" cy="6858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Link records across domains.</a:t>
            </a:r>
            <a:endParaRPr lang="en-US" sz="1250" dirty="0"/>
          </a:p>
        </p:txBody>
      </p:sp>
      <p:sp>
        <p:nvSpPr>
          <p:cNvPr id="39" name="Text 37"/>
          <p:cNvSpPr/>
          <p:nvPr/>
        </p:nvSpPr>
        <p:spPr>
          <a:xfrm>
            <a:off x="8394192" y="5468112"/>
            <a:ext cx="3108960" cy="365760"/>
          </a:xfrm>
          <a:prstGeom prst="rect">
            <a:avLst/>
          </a:prstGeom>
          <a:noFill/>
          <a:ln/>
        </p:spPr>
        <p:txBody>
          <a:bodyPr wrap="square" lIns="0" tIns="0" rIns="0" bIns="0" rtlCol="0" anchor="ctr"/>
          <a:lstStyle/>
          <a:p>
            <a:pPr indent="0" marL="0">
              <a:buNone/>
            </a:pPr>
            <a:r>
              <a:rPr lang="en-US" sz="1250" b="1" dirty="0">
                <a:solidFill>
                  <a:srgbClr val="0F2E3D"/>
                </a:solidFill>
                <a:latin typeface="Courier New" pitchFamily="34" charset="0"/>
                <a:ea typeface="Courier New" pitchFamily="34" charset="-122"/>
                <a:cs typeface="Courier New" pitchFamily="34" charset="-120"/>
              </a:rPr>
              <a:t>RELREC · SUPPQUAL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Common domains cheat sheet</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72800" cy="914400"/>
        </p:xfrm>
        <a:graphic>
          <a:graphicData uri="http://schemas.openxmlformats.org/drawingml/2006/table">
            <a:tbl>
              <a:tblPr/>
              <a:tblGrid>
                <a:gridCol w="1280160"/>
                <a:gridCol w="2468880"/>
                <a:gridCol w="2377440"/>
                <a:gridCol w="4846320"/>
              </a:tblGrid>
              <a:tr h="402336">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Domain</a:t>
                      </a:r>
                      <a:endParaRPr lang="en-US" sz="13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Class / Category</a:t>
                      </a:r>
                      <a:endParaRPr lang="en-US" sz="13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holds</a:t>
                      </a:r>
                      <a:endParaRPr lang="en-US" sz="13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r>
              <a:tr h="402336">
                <a:tc>
                  <a:txBody>
                    <a:bodyPr/>
                    <a:lstStyle/>
                    <a:p>
                      <a:pPr algn="ctr" indent="0" marL="0">
                        <a:buNone/>
                      </a:pPr>
                      <a:r>
                        <a:rPr lang="en-US" sz="1300" b="1" dirty="0">
                          <a:solidFill>
                            <a:srgbClr val="0E7C86"/>
                          </a:solidFill>
                          <a:latin typeface="Courier New" pitchFamily="34" charset="0"/>
                          <a:ea typeface="Courier New" pitchFamily="34" charset="-122"/>
                          <a:cs typeface="Courier New" pitchFamily="34" charset="-120"/>
                        </a:rPr>
                        <a:t>DM</a:t>
                      </a:r>
                      <a:endParaRPr lang="en-US" sz="13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Demographics</a:t>
                      </a:r>
                      <a:endParaRPr lang="en-US" sz="125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86"/>
                          </a:solidFill>
                          <a:latin typeface="Calibri" pitchFamily="34" charset="0"/>
                          <a:ea typeface="Calibri" pitchFamily="34" charset="-122"/>
                          <a:cs typeface="Calibri" pitchFamily="34" charset="-120"/>
                        </a:rPr>
                        <a:t>Special Purpose</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5A7682"/>
                          </a:solidFill>
                          <a:latin typeface="Calibri" pitchFamily="34" charset="0"/>
                          <a:ea typeface="Calibri" pitchFamily="34" charset="-122"/>
                          <a:cs typeface="Calibri" pitchFamily="34" charset="-120"/>
                        </a:rPr>
                        <a:t>One row per subject: age, sex, race, arm</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0E7C86"/>
                          </a:solidFill>
                          <a:latin typeface="Courier New" pitchFamily="34" charset="0"/>
                          <a:ea typeface="Courier New" pitchFamily="34" charset="-122"/>
                          <a:cs typeface="Courier New" pitchFamily="34" charset="-120"/>
                        </a:rPr>
                        <a:t>AE</a:t>
                      </a:r>
                      <a:endParaRPr lang="en-US" sz="13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Adverse Events</a:t>
                      </a:r>
                      <a:endParaRPr lang="en-US" sz="125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b="1" dirty="0">
                          <a:solidFill>
                            <a:srgbClr val="E8833A"/>
                          </a:solidFill>
                          <a:latin typeface="Calibri" pitchFamily="34" charset="0"/>
                          <a:ea typeface="Calibri" pitchFamily="34" charset="-122"/>
                          <a:cs typeface="Calibri" pitchFamily="34" charset="-120"/>
                        </a:rPr>
                        <a:t>Events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5A7682"/>
                          </a:solidFill>
                          <a:latin typeface="Calibri" pitchFamily="34" charset="0"/>
                          <a:ea typeface="Calibri" pitchFamily="34" charset="-122"/>
                          <a:cs typeface="Calibri" pitchFamily="34" charset="-120"/>
                        </a:rPr>
                        <a:t>Untoward medical occurrences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402336">
                <a:tc>
                  <a:txBody>
                    <a:bodyPr/>
                    <a:lstStyle/>
                    <a:p>
                      <a:pPr algn="ctr" indent="0" marL="0">
                        <a:buNone/>
                      </a:pPr>
                      <a:r>
                        <a:rPr lang="en-US" sz="1300" b="1" dirty="0">
                          <a:solidFill>
                            <a:srgbClr val="0E7C86"/>
                          </a:solidFill>
                          <a:latin typeface="Courier New" pitchFamily="34" charset="0"/>
                          <a:ea typeface="Courier New" pitchFamily="34" charset="-122"/>
                          <a:cs typeface="Courier New" pitchFamily="34" charset="-120"/>
                        </a:rPr>
                        <a:t>CM</a:t>
                      </a:r>
                      <a:endParaRPr lang="en-US" sz="13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Concomitant Meds</a:t>
                      </a:r>
                      <a:endParaRPr lang="en-US" sz="125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A8A0"/>
                          </a:solidFill>
                          <a:latin typeface="Calibri" pitchFamily="34" charset="0"/>
                          <a:ea typeface="Calibri" pitchFamily="34" charset="-122"/>
                          <a:cs typeface="Calibri" pitchFamily="34" charset="-120"/>
                        </a:rPr>
                        <a:t>Interventions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5A7682"/>
                          </a:solidFill>
                          <a:latin typeface="Calibri" pitchFamily="34" charset="0"/>
                          <a:ea typeface="Calibri" pitchFamily="34" charset="-122"/>
                          <a:cs typeface="Calibri" pitchFamily="34" charset="-120"/>
                        </a:rPr>
                        <a:t>Other medications the subject took</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0E7C86"/>
                          </a:solidFill>
                          <a:latin typeface="Courier New" pitchFamily="34" charset="0"/>
                          <a:ea typeface="Courier New" pitchFamily="34" charset="-122"/>
                          <a:cs typeface="Courier New" pitchFamily="34" charset="-120"/>
                        </a:rPr>
                        <a:t>EX</a:t>
                      </a:r>
                      <a:endParaRPr lang="en-US" sz="13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Exposure</a:t>
                      </a:r>
                      <a:endParaRPr lang="en-US" sz="125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b="1" dirty="0">
                          <a:solidFill>
                            <a:srgbClr val="1FA8A0"/>
                          </a:solidFill>
                          <a:latin typeface="Calibri" pitchFamily="34" charset="0"/>
                          <a:ea typeface="Calibri" pitchFamily="34" charset="-122"/>
                          <a:cs typeface="Calibri" pitchFamily="34" charset="-120"/>
                        </a:rPr>
                        <a:t>Interventions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5A7682"/>
                          </a:solidFill>
                          <a:latin typeface="Calibri" pitchFamily="34" charset="0"/>
                          <a:ea typeface="Calibri" pitchFamily="34" charset="-122"/>
                          <a:cs typeface="Calibri" pitchFamily="34" charset="-120"/>
                        </a:rPr>
                        <a:t>Study treatment actually administered</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402336">
                <a:tc>
                  <a:txBody>
                    <a:bodyPr/>
                    <a:lstStyle/>
                    <a:p>
                      <a:pPr algn="ctr" indent="0" marL="0">
                        <a:buNone/>
                      </a:pPr>
                      <a:r>
                        <a:rPr lang="en-US" sz="1300" b="1" dirty="0">
                          <a:solidFill>
                            <a:srgbClr val="0E7C86"/>
                          </a:solidFill>
                          <a:latin typeface="Courier New" pitchFamily="34" charset="0"/>
                          <a:ea typeface="Courier New" pitchFamily="34" charset="-122"/>
                          <a:cs typeface="Courier New" pitchFamily="34" charset="-120"/>
                        </a:rPr>
                        <a:t>LB</a:t>
                      </a:r>
                      <a:endParaRPr lang="en-US" sz="13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Laboratory</a:t>
                      </a:r>
                      <a:endParaRPr lang="en-US" sz="125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2E3D"/>
                          </a:solidFill>
                          <a:latin typeface="Calibri" pitchFamily="34" charset="0"/>
                          <a:ea typeface="Calibri" pitchFamily="34" charset="-122"/>
                          <a:cs typeface="Calibri" pitchFamily="34" charset="-120"/>
                        </a:rPr>
                        <a:t>Findings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5A7682"/>
                          </a:solidFill>
                          <a:latin typeface="Calibri" pitchFamily="34" charset="0"/>
                          <a:ea typeface="Calibri" pitchFamily="34" charset="-122"/>
                          <a:cs typeface="Calibri" pitchFamily="34" charset="-120"/>
                        </a:rPr>
                        <a:t>Lab test results (chemistry, hematology…)</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0E7C86"/>
                          </a:solidFill>
                          <a:latin typeface="Courier New" pitchFamily="34" charset="0"/>
                          <a:ea typeface="Courier New" pitchFamily="34" charset="-122"/>
                          <a:cs typeface="Courier New" pitchFamily="34" charset="-120"/>
                        </a:rPr>
                        <a:t>VS</a:t>
                      </a:r>
                      <a:endParaRPr lang="en-US" sz="13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Vital Signs</a:t>
                      </a:r>
                      <a:endParaRPr lang="en-US" sz="125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b="1" dirty="0">
                          <a:solidFill>
                            <a:srgbClr val="0F2E3D"/>
                          </a:solidFill>
                          <a:latin typeface="Calibri" pitchFamily="34" charset="0"/>
                          <a:ea typeface="Calibri" pitchFamily="34" charset="-122"/>
                          <a:cs typeface="Calibri" pitchFamily="34" charset="-120"/>
                        </a:rPr>
                        <a:t>Findings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5A7682"/>
                          </a:solidFill>
                          <a:latin typeface="Calibri" pitchFamily="34" charset="0"/>
                          <a:ea typeface="Calibri" pitchFamily="34" charset="-122"/>
                          <a:cs typeface="Calibri" pitchFamily="34" charset="-120"/>
                        </a:rPr>
                        <a:t>BP, pulse, temperature, weight, height</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402336">
                <a:tc>
                  <a:txBody>
                    <a:bodyPr/>
                    <a:lstStyle/>
                    <a:p>
                      <a:pPr algn="ctr" indent="0" marL="0">
                        <a:buNone/>
                      </a:pPr>
                      <a:r>
                        <a:rPr lang="en-US" sz="1300" b="1" dirty="0">
                          <a:solidFill>
                            <a:srgbClr val="0E7C86"/>
                          </a:solidFill>
                          <a:latin typeface="Courier New" pitchFamily="34" charset="0"/>
                          <a:ea typeface="Courier New" pitchFamily="34" charset="-122"/>
                          <a:cs typeface="Courier New" pitchFamily="34" charset="-120"/>
                        </a:rPr>
                        <a:t>MH</a:t>
                      </a:r>
                      <a:endParaRPr lang="en-US" sz="13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Medical History</a:t>
                      </a:r>
                      <a:endParaRPr lang="en-US" sz="125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b="1" dirty="0">
                          <a:solidFill>
                            <a:srgbClr val="E8833A"/>
                          </a:solidFill>
                          <a:latin typeface="Calibri" pitchFamily="34" charset="0"/>
                          <a:ea typeface="Calibri" pitchFamily="34" charset="-122"/>
                          <a:cs typeface="Calibri" pitchFamily="34" charset="-120"/>
                        </a:rPr>
                        <a:t>Events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5A7682"/>
                          </a:solidFill>
                          <a:latin typeface="Calibri" pitchFamily="34" charset="0"/>
                          <a:ea typeface="Calibri" pitchFamily="34" charset="-122"/>
                          <a:cs typeface="Calibri" pitchFamily="34" charset="-120"/>
                        </a:rPr>
                        <a:t>Relevant prior/ongoing conditions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0E7C86"/>
                          </a:solidFill>
                          <a:latin typeface="Courier New" pitchFamily="34" charset="0"/>
                          <a:ea typeface="Courier New" pitchFamily="34" charset="-122"/>
                          <a:cs typeface="Courier New" pitchFamily="34" charset="-120"/>
                        </a:rPr>
                        <a:t>DS</a:t>
                      </a:r>
                      <a:endParaRPr lang="en-US" sz="13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Disposition</a:t>
                      </a:r>
                      <a:endParaRPr lang="en-US" sz="125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b="1" dirty="0">
                          <a:solidFill>
                            <a:srgbClr val="E8833A"/>
                          </a:solidFill>
                          <a:latin typeface="Calibri" pitchFamily="34" charset="0"/>
                          <a:ea typeface="Calibri" pitchFamily="34" charset="-122"/>
                          <a:cs typeface="Calibri" pitchFamily="34" charset="-120"/>
                        </a:rPr>
                        <a:t>Events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5A7682"/>
                          </a:solidFill>
                          <a:latin typeface="Calibri" pitchFamily="34" charset="0"/>
                          <a:ea typeface="Calibri" pitchFamily="34" charset="-122"/>
                          <a:cs typeface="Calibri" pitchFamily="34" charset="-120"/>
                        </a:rPr>
                        <a:t>Subject's status / completion / withdrawal</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402336">
                <a:tc>
                  <a:txBody>
                    <a:bodyPr/>
                    <a:lstStyle/>
                    <a:p>
                      <a:pPr algn="ctr" indent="0" marL="0">
                        <a:buNone/>
                      </a:pPr>
                      <a:r>
                        <a:rPr lang="en-US" sz="1300" b="1" dirty="0">
                          <a:solidFill>
                            <a:srgbClr val="0E7C86"/>
                          </a:solidFill>
                          <a:latin typeface="Courier New" pitchFamily="34" charset="0"/>
                          <a:ea typeface="Courier New" pitchFamily="34" charset="-122"/>
                          <a:cs typeface="Courier New" pitchFamily="34" charset="-120"/>
                        </a:rPr>
                        <a:t>EG</a:t>
                      </a:r>
                      <a:endParaRPr lang="en-US" sz="13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ECG</a:t>
                      </a:r>
                      <a:endParaRPr lang="en-US" sz="125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2E3D"/>
                          </a:solidFill>
                          <a:latin typeface="Calibri" pitchFamily="34" charset="0"/>
                          <a:ea typeface="Calibri" pitchFamily="34" charset="-122"/>
                          <a:cs typeface="Calibri" pitchFamily="34" charset="-120"/>
                        </a:rPr>
                        <a:t>Findings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indent="0" marL="0">
                        <a:buNone/>
                      </a:pPr>
                      <a:r>
                        <a:rPr lang="en-US" sz="1200" dirty="0">
                          <a:solidFill>
                            <a:srgbClr val="5A7682"/>
                          </a:solidFill>
                          <a:latin typeface="Calibri" pitchFamily="34" charset="0"/>
                          <a:ea typeface="Calibri" pitchFamily="34" charset="-122"/>
                          <a:cs typeface="Calibri" pitchFamily="34" charset="-120"/>
                        </a:rPr>
                        <a:t>Electrocardiogram results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402336">
                <a:tc>
                  <a:txBody>
                    <a:bodyPr/>
                    <a:lstStyle/>
                    <a:p>
                      <a:pPr algn="ctr" indent="0" marL="0">
                        <a:buNone/>
                      </a:pPr>
                      <a:r>
                        <a:rPr lang="en-US" sz="1300" b="1" dirty="0">
                          <a:solidFill>
                            <a:srgbClr val="0E7C86"/>
                          </a:solidFill>
                          <a:latin typeface="Courier New" pitchFamily="34" charset="0"/>
                          <a:ea typeface="Courier New" pitchFamily="34" charset="-122"/>
                          <a:cs typeface="Courier New" pitchFamily="34" charset="-120"/>
                        </a:rPr>
                        <a:t>PE</a:t>
                      </a:r>
                      <a:endParaRPr lang="en-US" sz="13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Physical Exam</a:t>
                      </a:r>
                      <a:endParaRPr lang="en-US" sz="125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b="1" dirty="0">
                          <a:solidFill>
                            <a:srgbClr val="0F2E3D"/>
                          </a:solidFill>
                          <a:latin typeface="Calibri" pitchFamily="34" charset="0"/>
                          <a:ea typeface="Calibri" pitchFamily="34" charset="-122"/>
                          <a:cs typeface="Calibri" pitchFamily="34" charset="-120"/>
                        </a:rPr>
                        <a:t>Findings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indent="0" marL="0">
                        <a:buNone/>
                      </a:pPr>
                      <a:r>
                        <a:rPr lang="en-US" sz="1200" dirty="0">
                          <a:solidFill>
                            <a:srgbClr val="5A7682"/>
                          </a:solidFill>
                          <a:latin typeface="Calibri" pitchFamily="34" charset="0"/>
                          <a:ea typeface="Calibri" pitchFamily="34" charset="-122"/>
                          <a:cs typeface="Calibri" pitchFamily="34" charset="-120"/>
                        </a:rPr>
                        <a:t>Physical examination findings</a:t>
                      </a:r>
                      <a:endParaRPr lang="en-US" sz="1200" dirty="0">
                        <a:latin typeface="Calibri" charset="0"/>
                        <a:ea typeface="Calibri" charset="0"/>
                        <a:cs typeface="Calibri"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bl>
          </a:graphicData>
        </a:graphic>
      </p:graphicFrame>
      <p:sp>
        <p:nvSpPr>
          <p:cNvPr id="5" name="Text 2"/>
          <p:cNvSpPr/>
          <p:nvPr/>
        </p:nvSpPr>
        <p:spPr>
          <a:xfrm>
            <a:off x="640080" y="6355080"/>
            <a:ext cx="10972800" cy="320040"/>
          </a:xfrm>
          <a:prstGeom prst="rect">
            <a:avLst/>
          </a:prstGeom>
          <a:noFill/>
          <a:ln/>
        </p:spPr>
        <p:txBody>
          <a:bodyPr wrap="square" lIns="0" tIns="0" rIns="0" bIns="0" rtlCol="0" anchor="ctr"/>
          <a:lstStyle/>
          <a:p>
            <a:pPr indent="0" marL="0">
              <a:buNone/>
            </a:pPr>
            <a:r>
              <a:rPr lang="en-US" sz="1250" i="1" dirty="0">
                <a:solidFill>
                  <a:srgbClr val="0E7C86"/>
                </a:solidFill>
                <a:latin typeface="Calibri" pitchFamily="34" charset="0"/>
                <a:ea typeface="Calibri" pitchFamily="34" charset="-122"/>
                <a:cs typeface="Calibri" pitchFamily="34" charset="-120"/>
              </a:rPr>
              <a:t>These 10 cover the backbone of most studies — you'll build several of them by hand in this bootcamp.</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ANATOMY OF A DATASET</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One row = one observation (DM example)</a:t>
            </a:r>
            <a:endParaRPr lang="en-US" sz="3000" dirty="0"/>
          </a:p>
        </p:txBody>
      </p:sp>
      <p:sp>
        <p:nvSpPr>
          <p:cNvPr id="4" name="Text 2"/>
          <p:cNvSpPr/>
          <p:nvPr/>
        </p:nvSpPr>
        <p:spPr>
          <a:xfrm>
            <a:off x="548640" y="1371600"/>
            <a:ext cx="10972800" cy="365760"/>
          </a:xfrm>
          <a:prstGeom prst="rect">
            <a:avLst/>
          </a:prstGeom>
          <a:noFill/>
          <a:ln/>
        </p:spPr>
        <p:txBody>
          <a:bodyPr wrap="square" lIns="0" tIns="0" rIns="0" bIns="0" rtlCol="0" anchor="ctr"/>
          <a:lstStyle/>
          <a:p>
            <a:pPr indent="0" marL="0">
              <a:buNone/>
            </a:pPr>
            <a:r>
              <a:rPr lang="en-US" sz="1400" dirty="0">
                <a:solidFill>
                  <a:srgbClr val="5A7682"/>
                </a:solidFill>
                <a:latin typeface="Calibri" pitchFamily="34" charset="0"/>
                <a:ea typeface="Calibri" pitchFamily="34" charset="-122"/>
                <a:cs typeface="Calibri" pitchFamily="34" charset="-120"/>
              </a:rPr>
              <a:t>In Demographics (DM), the observation is the subject — so there is exactly one row per subject.</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92840" cy="914400"/>
        </p:xfrm>
        <a:graphic>
          <a:graphicData uri="http://schemas.openxmlformats.org/drawingml/2006/table">
            <a:tbl>
              <a:tblPr/>
              <a:tblGrid>
                <a:gridCol w="960120"/>
                <a:gridCol w="777240"/>
                <a:gridCol w="1691640"/>
                <a:gridCol w="731520"/>
                <a:gridCol w="548640"/>
                <a:gridCol w="822960"/>
                <a:gridCol w="548640"/>
                <a:gridCol w="1600200"/>
                <a:gridCol w="777240"/>
                <a:gridCol w="1005840"/>
                <a:gridCol w="914400"/>
              </a:tblGrid>
              <a:tr h="475488">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STUDYID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DOMAIN</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USUBJID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SUBJID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AGE</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AGEU</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SEX</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RACE</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ARMCD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ARM</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COUNTRY</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r>
              <a:tr h="475488">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ABC-01</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DM</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ABC-01-01-001</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001</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54</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YEARS</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F</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WHITE</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Drug A</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USA</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475488">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ABC-01</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DM</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ABC-01-01-002</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002</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60</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YEARS</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M</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ASIAN</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P</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Placebo</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JPN</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475488">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ABC-01</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DM</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ABC-01-01-003</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003</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46</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YEARS</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F</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BLACK OR AFRICAN AMERICAN</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Drug A</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USA</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297680"/>
            <a:ext cx="3520440" cy="1783080"/>
          </a:xfrm>
          <a:prstGeom prst="roundRect">
            <a:avLst>
              <a:gd name="adj" fmla="val 461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7" name="Text 4"/>
          <p:cNvSpPr/>
          <p:nvPr/>
        </p:nvSpPr>
        <p:spPr>
          <a:xfrm>
            <a:off x="868680" y="4480560"/>
            <a:ext cx="3108960" cy="36576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Rows = observations</a:t>
            </a:r>
            <a:endParaRPr lang="en-US" sz="1500" dirty="0"/>
          </a:p>
        </p:txBody>
      </p:sp>
      <p:sp>
        <p:nvSpPr>
          <p:cNvPr id="8" name="Text 5"/>
          <p:cNvSpPr/>
          <p:nvPr/>
        </p:nvSpPr>
        <p:spPr>
          <a:xfrm>
            <a:off x="868680" y="4846320"/>
            <a:ext cx="3108960" cy="10972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Each row is one subject. Three subjects → three rows. No subject appears twice in DM.</a:t>
            </a:r>
            <a:endParaRPr lang="en-US" sz="1300" dirty="0"/>
          </a:p>
        </p:txBody>
      </p:sp>
      <p:sp>
        <p:nvSpPr>
          <p:cNvPr id="9" name="Shape 6"/>
          <p:cNvSpPr/>
          <p:nvPr/>
        </p:nvSpPr>
        <p:spPr>
          <a:xfrm>
            <a:off x="4343400" y="4297680"/>
            <a:ext cx="3520440" cy="1783080"/>
          </a:xfrm>
          <a:prstGeom prst="roundRect">
            <a:avLst>
              <a:gd name="adj" fmla="val 461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Text 7"/>
          <p:cNvSpPr/>
          <p:nvPr/>
        </p:nvSpPr>
        <p:spPr>
          <a:xfrm>
            <a:off x="4572000" y="4480560"/>
            <a:ext cx="3108960" cy="365760"/>
          </a:xfrm>
          <a:prstGeom prst="rect">
            <a:avLst/>
          </a:prstGeom>
          <a:noFill/>
          <a:ln/>
        </p:spPr>
        <p:txBody>
          <a:bodyPr wrap="square" lIns="0" tIns="0" rIns="0" bIns="0" rtlCol="0" anchor="ctr"/>
          <a:lstStyle/>
          <a:p>
            <a:pPr indent="0" marL="0">
              <a:buNone/>
            </a:pPr>
            <a:r>
              <a:rPr lang="en-US" sz="1500" b="1" dirty="0">
                <a:solidFill>
                  <a:srgbClr val="1FA8A0"/>
                </a:solidFill>
                <a:latin typeface="Calibri" pitchFamily="34" charset="0"/>
                <a:ea typeface="Calibri" pitchFamily="34" charset="-122"/>
                <a:cs typeface="Calibri" pitchFamily="34" charset="-120"/>
              </a:rPr>
              <a:t>Columns = variables</a:t>
            </a:r>
            <a:endParaRPr lang="en-US" sz="1500" dirty="0"/>
          </a:p>
        </p:txBody>
      </p:sp>
      <p:sp>
        <p:nvSpPr>
          <p:cNvPr id="11" name="Text 8"/>
          <p:cNvSpPr/>
          <p:nvPr/>
        </p:nvSpPr>
        <p:spPr>
          <a:xfrm>
            <a:off x="4572000" y="4846320"/>
            <a:ext cx="3108960" cy="10972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Each column is one standardized variable with a fixed name (STUDYID, AGE, SEX…).</a:t>
            </a:r>
            <a:endParaRPr lang="en-US" sz="1300" dirty="0"/>
          </a:p>
        </p:txBody>
      </p:sp>
      <p:sp>
        <p:nvSpPr>
          <p:cNvPr id="12" name="Shape 9"/>
          <p:cNvSpPr/>
          <p:nvPr/>
        </p:nvSpPr>
        <p:spPr>
          <a:xfrm>
            <a:off x="8046720" y="4297680"/>
            <a:ext cx="3566160" cy="1783080"/>
          </a:xfrm>
          <a:prstGeom prst="roundRect">
            <a:avLst>
              <a:gd name="adj" fmla="val 461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0"/>
          <p:cNvSpPr/>
          <p:nvPr/>
        </p:nvSpPr>
        <p:spPr>
          <a:xfrm>
            <a:off x="8275320" y="4480560"/>
            <a:ext cx="3108960" cy="365760"/>
          </a:xfrm>
          <a:prstGeom prst="rect">
            <a:avLst/>
          </a:prstGeom>
          <a:noFill/>
          <a:ln/>
        </p:spPr>
        <p:txBody>
          <a:bodyPr wrap="square" lIns="0" tIns="0" rIns="0" bIns="0" rtlCol="0" anchor="ctr"/>
          <a:lstStyle/>
          <a:p>
            <a:pPr indent="0" marL="0">
              <a:buNone/>
            </a:pPr>
            <a:r>
              <a:rPr lang="en-US" sz="1500" b="1" dirty="0">
                <a:solidFill>
                  <a:srgbClr val="E8833A"/>
                </a:solidFill>
                <a:latin typeface="Calibri" pitchFamily="34" charset="0"/>
                <a:ea typeface="Calibri" pitchFamily="34" charset="-122"/>
                <a:cs typeface="Calibri" pitchFamily="34" charset="-120"/>
              </a:rPr>
              <a:t>Values follow rules</a:t>
            </a:r>
            <a:endParaRPr lang="en-US" sz="1500" dirty="0"/>
          </a:p>
        </p:txBody>
      </p:sp>
      <p:sp>
        <p:nvSpPr>
          <p:cNvPr id="14" name="Text 11"/>
          <p:cNvSpPr/>
          <p:nvPr/>
        </p:nvSpPr>
        <p:spPr>
          <a:xfrm>
            <a:off x="8275320" y="4846320"/>
            <a:ext cx="3200400" cy="109728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SEX = F/M and RACE values come from Controlled Terminology — not free text.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STRUCTURE OF A DOMAIN</a:t>
            </a:r>
            <a:endParaRPr lang="en-US" sz="1200" dirty="0"/>
          </a:p>
        </p:txBody>
      </p:sp>
      <p:sp>
        <p:nvSpPr>
          <p:cNvPr id="3" name="Text 1"/>
          <p:cNvSpPr/>
          <p:nvPr/>
        </p:nvSpPr>
        <p:spPr>
          <a:xfrm>
            <a:off x="603504" y="82296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variable roles</a:t>
            </a:r>
            <a:endParaRPr lang="en-US" sz="3000" dirty="0"/>
          </a:p>
        </p:txBody>
      </p:sp>
      <p:sp>
        <p:nvSpPr>
          <p:cNvPr id="4" name="Shape 2"/>
          <p:cNvSpPr/>
          <p:nvPr/>
        </p:nvSpPr>
        <p:spPr>
          <a:xfrm>
            <a:off x="640080" y="1920240"/>
            <a:ext cx="2697480" cy="3977640"/>
          </a:xfrm>
          <a:prstGeom prst="roundRect">
            <a:avLst>
              <a:gd name="adj" fmla="val 3051"/>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731520" y="2148840"/>
            <a:ext cx="2514600" cy="411480"/>
          </a:xfrm>
          <a:prstGeom prst="rect">
            <a:avLst/>
          </a:prstGeom>
          <a:noFill/>
          <a:ln/>
        </p:spPr>
        <p:txBody>
          <a:bodyPr wrap="square" lIns="0" tIns="0" rIns="0" bIns="0" rtlCol="0" anchor="ctr"/>
          <a:lstStyle/>
          <a:p>
            <a:pPr algn="ctr" indent="0" marL="0">
              <a:buNone/>
            </a:pPr>
            <a:r>
              <a:rPr lang="en-US" sz="1800" b="1" dirty="0">
                <a:solidFill>
                  <a:srgbClr val="0E7C86"/>
                </a:solidFill>
                <a:latin typeface="Cambria" pitchFamily="34" charset="0"/>
                <a:ea typeface="Cambria" pitchFamily="34" charset="-122"/>
                <a:cs typeface="Cambria" pitchFamily="34" charset="-120"/>
              </a:rPr>
              <a:t>IDENTIFIER</a:t>
            </a:r>
            <a:endParaRPr lang="en-US" sz="1800" dirty="0"/>
          </a:p>
        </p:txBody>
      </p:sp>
      <p:sp>
        <p:nvSpPr>
          <p:cNvPr id="6" name="Shape 4"/>
          <p:cNvSpPr/>
          <p:nvPr/>
        </p:nvSpPr>
        <p:spPr>
          <a:xfrm>
            <a:off x="1188720" y="2697480"/>
            <a:ext cx="1600200" cy="0"/>
          </a:xfrm>
          <a:prstGeom prst="line">
            <a:avLst/>
          </a:prstGeom>
          <a:noFill/>
          <a:ln w="12700">
            <a:solidFill>
              <a:srgbClr val="2A5566"/>
            </a:solidFill>
            <a:prstDash val="solid"/>
          </a:ln>
        </p:spPr>
      </p:sp>
      <p:sp>
        <p:nvSpPr>
          <p:cNvPr id="7" name="Text 5"/>
          <p:cNvSpPr/>
          <p:nvPr/>
        </p:nvSpPr>
        <p:spPr>
          <a:xfrm>
            <a:off x="841248" y="2834640"/>
            <a:ext cx="2286000"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Who &amp; which record</a:t>
            </a:r>
            <a:endParaRPr lang="en-US" sz="1350" dirty="0"/>
          </a:p>
        </p:txBody>
      </p:sp>
      <p:sp>
        <p:nvSpPr>
          <p:cNvPr id="8" name="Text 6"/>
          <p:cNvSpPr/>
          <p:nvPr/>
        </p:nvSpPr>
        <p:spPr>
          <a:xfrm>
            <a:off x="841248" y="3520440"/>
            <a:ext cx="2286000" cy="118872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Identifies the study, domain, subject, and record.</a:t>
            </a:r>
            <a:endParaRPr lang="en-US" sz="1200" dirty="0"/>
          </a:p>
        </p:txBody>
      </p:sp>
      <p:sp>
        <p:nvSpPr>
          <p:cNvPr id="9" name="Text 7"/>
          <p:cNvSpPr/>
          <p:nvPr/>
        </p:nvSpPr>
        <p:spPr>
          <a:xfrm>
            <a:off x="822960" y="5029200"/>
            <a:ext cx="2331720" cy="777240"/>
          </a:xfrm>
          <a:prstGeom prst="rect">
            <a:avLst/>
          </a:prstGeom>
          <a:noFill/>
          <a:ln/>
        </p:spPr>
        <p:txBody>
          <a:bodyPr wrap="square" lIns="0" tIns="0" rIns="0" bIns="0" rtlCol="0" anchor="ctr"/>
          <a:lstStyle/>
          <a:p>
            <a:pPr algn="ctr" indent="0" marL="0">
              <a:buNone/>
            </a:pPr>
            <a:r>
              <a:rPr lang="en-US" sz="1050" dirty="0">
                <a:solidFill>
                  <a:srgbClr val="0E7C86"/>
                </a:solidFill>
                <a:latin typeface="Courier New" pitchFamily="34" charset="0"/>
                <a:ea typeface="Courier New" pitchFamily="34" charset="-122"/>
                <a:cs typeface="Courier New" pitchFamily="34" charset="-120"/>
              </a:rPr>
              <a:t>STUDYID · DOMAIN · USUBJID · AESEQ</a:t>
            </a:r>
            <a:endParaRPr lang="en-US" sz="1050" dirty="0"/>
          </a:p>
        </p:txBody>
      </p:sp>
      <p:sp>
        <p:nvSpPr>
          <p:cNvPr id="10" name="Shape 8"/>
          <p:cNvSpPr/>
          <p:nvPr/>
        </p:nvSpPr>
        <p:spPr>
          <a:xfrm>
            <a:off x="3429000" y="1920240"/>
            <a:ext cx="2697480" cy="3977640"/>
          </a:xfrm>
          <a:prstGeom prst="roundRect">
            <a:avLst>
              <a:gd name="adj" fmla="val 3051"/>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3520440" y="2148840"/>
            <a:ext cx="2514600" cy="411480"/>
          </a:xfrm>
          <a:prstGeom prst="rect">
            <a:avLst/>
          </a:prstGeom>
          <a:noFill/>
          <a:ln/>
        </p:spPr>
        <p:txBody>
          <a:bodyPr wrap="square" lIns="0" tIns="0" rIns="0" bIns="0" rtlCol="0" anchor="ctr"/>
          <a:lstStyle/>
          <a:p>
            <a:pPr algn="ctr" indent="0" marL="0">
              <a:buNone/>
            </a:pPr>
            <a:r>
              <a:rPr lang="en-US" sz="1800" b="1" dirty="0">
                <a:solidFill>
                  <a:srgbClr val="1FA8A0"/>
                </a:solidFill>
                <a:latin typeface="Cambria" pitchFamily="34" charset="0"/>
                <a:ea typeface="Cambria" pitchFamily="34" charset="-122"/>
                <a:cs typeface="Cambria" pitchFamily="34" charset="-120"/>
              </a:rPr>
              <a:t>TOPIC</a:t>
            </a:r>
            <a:endParaRPr lang="en-US" sz="1800" dirty="0"/>
          </a:p>
        </p:txBody>
      </p:sp>
      <p:sp>
        <p:nvSpPr>
          <p:cNvPr id="12" name="Shape 10"/>
          <p:cNvSpPr/>
          <p:nvPr/>
        </p:nvSpPr>
        <p:spPr>
          <a:xfrm>
            <a:off x="3977640" y="2697480"/>
            <a:ext cx="1600200" cy="0"/>
          </a:xfrm>
          <a:prstGeom prst="line">
            <a:avLst/>
          </a:prstGeom>
          <a:noFill/>
          <a:ln w="12700">
            <a:solidFill>
              <a:srgbClr val="2A5566"/>
            </a:solidFill>
            <a:prstDash val="solid"/>
          </a:ln>
        </p:spPr>
      </p:sp>
      <p:sp>
        <p:nvSpPr>
          <p:cNvPr id="13" name="Text 11"/>
          <p:cNvSpPr/>
          <p:nvPr/>
        </p:nvSpPr>
        <p:spPr>
          <a:xfrm>
            <a:off x="3630168" y="2834640"/>
            <a:ext cx="2286000"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What the observation is about</a:t>
            </a:r>
            <a:endParaRPr lang="en-US" sz="1350" dirty="0"/>
          </a:p>
        </p:txBody>
      </p:sp>
      <p:sp>
        <p:nvSpPr>
          <p:cNvPr id="14" name="Text 12"/>
          <p:cNvSpPr/>
          <p:nvPr/>
        </p:nvSpPr>
        <p:spPr>
          <a:xfrm>
            <a:off x="3630168" y="3520440"/>
            <a:ext cx="2286000" cy="118872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The focus of the row — the thing observed.</a:t>
            </a:r>
            <a:endParaRPr lang="en-US" sz="1200" dirty="0"/>
          </a:p>
        </p:txBody>
      </p:sp>
      <p:sp>
        <p:nvSpPr>
          <p:cNvPr id="15" name="Text 13"/>
          <p:cNvSpPr/>
          <p:nvPr/>
        </p:nvSpPr>
        <p:spPr>
          <a:xfrm>
            <a:off x="3611880" y="5029200"/>
            <a:ext cx="2331720" cy="777240"/>
          </a:xfrm>
          <a:prstGeom prst="rect">
            <a:avLst/>
          </a:prstGeom>
          <a:noFill/>
          <a:ln/>
        </p:spPr>
        <p:txBody>
          <a:bodyPr wrap="square" lIns="0" tIns="0" rIns="0" bIns="0" rtlCol="0" anchor="ctr"/>
          <a:lstStyle/>
          <a:p>
            <a:pPr algn="ctr" indent="0" marL="0">
              <a:buNone/>
            </a:pPr>
            <a:r>
              <a:rPr lang="en-US" sz="1050" dirty="0">
                <a:solidFill>
                  <a:srgbClr val="1FA8A0"/>
                </a:solidFill>
                <a:latin typeface="Courier New" pitchFamily="34" charset="0"/>
                <a:ea typeface="Courier New" pitchFamily="34" charset="-122"/>
                <a:cs typeface="Courier New" pitchFamily="34" charset="-120"/>
              </a:rPr>
              <a:t>AETERM · LBTESTCD · CMTRT</a:t>
            </a:r>
            <a:endParaRPr lang="en-US" sz="1050" dirty="0"/>
          </a:p>
        </p:txBody>
      </p:sp>
      <p:sp>
        <p:nvSpPr>
          <p:cNvPr id="16" name="Shape 14"/>
          <p:cNvSpPr/>
          <p:nvPr/>
        </p:nvSpPr>
        <p:spPr>
          <a:xfrm>
            <a:off x="6217920" y="1920240"/>
            <a:ext cx="2697480" cy="3977640"/>
          </a:xfrm>
          <a:prstGeom prst="roundRect">
            <a:avLst>
              <a:gd name="adj" fmla="val 3051"/>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6309360" y="2148840"/>
            <a:ext cx="2514600" cy="411480"/>
          </a:xfrm>
          <a:prstGeom prst="rect">
            <a:avLst/>
          </a:prstGeom>
          <a:noFill/>
          <a:ln/>
        </p:spPr>
        <p:txBody>
          <a:bodyPr wrap="square" lIns="0" tIns="0" rIns="0" bIns="0" rtlCol="0" anchor="ctr"/>
          <a:lstStyle/>
          <a:p>
            <a:pPr algn="ctr" indent="0" marL="0">
              <a:buNone/>
            </a:pPr>
            <a:r>
              <a:rPr lang="en-US" sz="1800" b="1" dirty="0">
                <a:solidFill>
                  <a:srgbClr val="6FC8B4"/>
                </a:solidFill>
                <a:latin typeface="Cambria" pitchFamily="34" charset="0"/>
                <a:ea typeface="Cambria" pitchFamily="34" charset="-122"/>
                <a:cs typeface="Cambria" pitchFamily="34" charset="-120"/>
              </a:rPr>
              <a:t>TIMING</a:t>
            </a:r>
            <a:endParaRPr lang="en-US" sz="1800" dirty="0"/>
          </a:p>
        </p:txBody>
      </p:sp>
      <p:sp>
        <p:nvSpPr>
          <p:cNvPr id="18" name="Shape 16"/>
          <p:cNvSpPr/>
          <p:nvPr/>
        </p:nvSpPr>
        <p:spPr>
          <a:xfrm>
            <a:off x="6766560" y="2697480"/>
            <a:ext cx="1600200" cy="0"/>
          </a:xfrm>
          <a:prstGeom prst="line">
            <a:avLst/>
          </a:prstGeom>
          <a:noFill/>
          <a:ln w="12700">
            <a:solidFill>
              <a:srgbClr val="2A5566"/>
            </a:solidFill>
            <a:prstDash val="solid"/>
          </a:ln>
        </p:spPr>
      </p:sp>
      <p:sp>
        <p:nvSpPr>
          <p:cNvPr id="19" name="Text 17"/>
          <p:cNvSpPr/>
          <p:nvPr/>
        </p:nvSpPr>
        <p:spPr>
          <a:xfrm>
            <a:off x="6419088" y="2834640"/>
            <a:ext cx="2286000"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When it happened</a:t>
            </a:r>
            <a:endParaRPr lang="en-US" sz="1350" dirty="0"/>
          </a:p>
        </p:txBody>
      </p:sp>
      <p:sp>
        <p:nvSpPr>
          <p:cNvPr id="20" name="Text 18"/>
          <p:cNvSpPr/>
          <p:nvPr/>
        </p:nvSpPr>
        <p:spPr>
          <a:xfrm>
            <a:off x="6419088" y="3520440"/>
            <a:ext cx="2286000" cy="118872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Dates, times, and study day of the observation.</a:t>
            </a:r>
            <a:endParaRPr lang="en-US" sz="1200" dirty="0"/>
          </a:p>
        </p:txBody>
      </p:sp>
      <p:sp>
        <p:nvSpPr>
          <p:cNvPr id="21" name="Text 19"/>
          <p:cNvSpPr/>
          <p:nvPr/>
        </p:nvSpPr>
        <p:spPr>
          <a:xfrm>
            <a:off x="6400800" y="5029200"/>
            <a:ext cx="2331720" cy="777240"/>
          </a:xfrm>
          <a:prstGeom prst="rect">
            <a:avLst/>
          </a:prstGeom>
          <a:noFill/>
          <a:ln/>
        </p:spPr>
        <p:txBody>
          <a:bodyPr wrap="square" lIns="0" tIns="0" rIns="0" bIns="0" rtlCol="0" anchor="ctr"/>
          <a:lstStyle/>
          <a:p>
            <a:pPr algn="ctr" indent="0" marL="0">
              <a:buNone/>
            </a:pPr>
            <a:r>
              <a:rPr lang="en-US" sz="1050" dirty="0">
                <a:solidFill>
                  <a:srgbClr val="6FC8B4"/>
                </a:solidFill>
                <a:latin typeface="Courier New" pitchFamily="34" charset="0"/>
                <a:ea typeface="Courier New" pitchFamily="34" charset="-122"/>
                <a:cs typeface="Courier New" pitchFamily="34" charset="-120"/>
              </a:rPr>
              <a:t>AESTDTC · VSDY · VISIT</a:t>
            </a:r>
            <a:endParaRPr lang="en-US" sz="1050" dirty="0"/>
          </a:p>
        </p:txBody>
      </p:sp>
      <p:sp>
        <p:nvSpPr>
          <p:cNvPr id="22" name="Shape 20"/>
          <p:cNvSpPr/>
          <p:nvPr/>
        </p:nvSpPr>
        <p:spPr>
          <a:xfrm>
            <a:off x="9006840" y="1920240"/>
            <a:ext cx="2697480" cy="3977640"/>
          </a:xfrm>
          <a:prstGeom prst="roundRect">
            <a:avLst>
              <a:gd name="adj" fmla="val 3051"/>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Text 21"/>
          <p:cNvSpPr/>
          <p:nvPr/>
        </p:nvSpPr>
        <p:spPr>
          <a:xfrm>
            <a:off x="9098280" y="2148840"/>
            <a:ext cx="2514600" cy="411480"/>
          </a:xfrm>
          <a:prstGeom prst="rect">
            <a:avLst/>
          </a:prstGeom>
          <a:noFill/>
          <a:ln/>
        </p:spPr>
        <p:txBody>
          <a:bodyPr wrap="square" lIns="0" tIns="0" rIns="0" bIns="0" rtlCol="0" anchor="ctr"/>
          <a:lstStyle/>
          <a:p>
            <a:pPr algn="ctr" indent="0" marL="0">
              <a:buNone/>
            </a:pPr>
            <a:r>
              <a:rPr lang="en-US" sz="1800" b="1" dirty="0">
                <a:solidFill>
                  <a:srgbClr val="E8833A"/>
                </a:solidFill>
                <a:latin typeface="Cambria" pitchFamily="34" charset="0"/>
                <a:ea typeface="Cambria" pitchFamily="34" charset="-122"/>
                <a:cs typeface="Cambria" pitchFamily="34" charset="-120"/>
              </a:rPr>
              <a:t>QUALIFIER</a:t>
            </a:r>
            <a:endParaRPr lang="en-US" sz="1800" dirty="0"/>
          </a:p>
        </p:txBody>
      </p:sp>
      <p:sp>
        <p:nvSpPr>
          <p:cNvPr id="24" name="Shape 22"/>
          <p:cNvSpPr/>
          <p:nvPr/>
        </p:nvSpPr>
        <p:spPr>
          <a:xfrm>
            <a:off x="9555480" y="2697480"/>
            <a:ext cx="1600200" cy="0"/>
          </a:xfrm>
          <a:prstGeom prst="line">
            <a:avLst/>
          </a:prstGeom>
          <a:noFill/>
          <a:ln w="12700">
            <a:solidFill>
              <a:srgbClr val="2A5566"/>
            </a:solidFill>
            <a:prstDash val="solid"/>
          </a:ln>
        </p:spPr>
      </p:sp>
      <p:sp>
        <p:nvSpPr>
          <p:cNvPr id="25" name="Text 23"/>
          <p:cNvSpPr/>
          <p:nvPr/>
        </p:nvSpPr>
        <p:spPr>
          <a:xfrm>
            <a:off x="9208008" y="2834640"/>
            <a:ext cx="2286000" cy="6400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Describes / adds detail</a:t>
            </a:r>
            <a:endParaRPr lang="en-US" sz="1350" dirty="0"/>
          </a:p>
        </p:txBody>
      </p:sp>
      <p:sp>
        <p:nvSpPr>
          <p:cNvPr id="26" name="Text 24"/>
          <p:cNvSpPr/>
          <p:nvPr/>
        </p:nvSpPr>
        <p:spPr>
          <a:xfrm>
            <a:off x="9208008" y="3520440"/>
            <a:ext cx="2286000" cy="118872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Everything that characterizes the topic value.</a:t>
            </a:r>
            <a:endParaRPr lang="en-US" sz="1200" dirty="0"/>
          </a:p>
        </p:txBody>
      </p:sp>
      <p:sp>
        <p:nvSpPr>
          <p:cNvPr id="27" name="Text 25"/>
          <p:cNvSpPr/>
          <p:nvPr/>
        </p:nvSpPr>
        <p:spPr>
          <a:xfrm>
            <a:off x="9189720" y="5029200"/>
            <a:ext cx="2331720" cy="777240"/>
          </a:xfrm>
          <a:prstGeom prst="rect">
            <a:avLst/>
          </a:prstGeom>
          <a:noFill/>
          <a:ln/>
        </p:spPr>
        <p:txBody>
          <a:bodyPr wrap="square" lIns="0" tIns="0" rIns="0" bIns="0" rtlCol="0" anchor="ctr"/>
          <a:lstStyle/>
          <a:p>
            <a:pPr algn="ctr" indent="0" marL="0">
              <a:buNone/>
            </a:pPr>
            <a:r>
              <a:rPr lang="en-US" sz="1050" dirty="0">
                <a:solidFill>
                  <a:srgbClr val="E8833A"/>
                </a:solidFill>
                <a:latin typeface="Courier New" pitchFamily="34" charset="0"/>
                <a:ea typeface="Courier New" pitchFamily="34" charset="-122"/>
                <a:cs typeface="Courier New" pitchFamily="34" charset="-120"/>
              </a:rPr>
              <a:t>AESEV · LBORRES · VSORRESU</a:t>
            </a:r>
            <a:endParaRPr lang="en-US" sz="1050" dirty="0"/>
          </a:p>
        </p:txBody>
      </p:sp>
      <p:sp>
        <p:nvSpPr>
          <p:cNvPr id="28" name="Text 26"/>
          <p:cNvSpPr/>
          <p:nvPr/>
        </p:nvSpPr>
        <p:spPr>
          <a:xfrm>
            <a:off x="640080" y="6080760"/>
            <a:ext cx="10972800" cy="365760"/>
          </a:xfrm>
          <a:prstGeom prst="rect">
            <a:avLst/>
          </a:prstGeom>
          <a:noFill/>
          <a:ln/>
        </p:spPr>
        <p:txBody>
          <a:bodyPr wrap="square" lIns="0" tIns="0" rIns="0" bIns="0" rtlCol="0" anchor="ctr"/>
          <a:lstStyle/>
          <a:p>
            <a:pPr indent="0" marL="0">
              <a:buNone/>
            </a:pPr>
            <a:r>
              <a:rPr lang="en-US" sz="1350" i="1" dirty="0">
                <a:solidFill>
                  <a:srgbClr val="9FC0C6"/>
                </a:solidFill>
                <a:latin typeface="Calibri" pitchFamily="34" charset="0"/>
                <a:ea typeface="Calibri" pitchFamily="34" charset="-122"/>
                <a:cs typeface="Calibri" pitchFamily="34" charset="-120"/>
              </a:rPr>
              <a:t>Every SDTM variable plays exactly one role. Most variables are Qualifiers.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WHICH VARIABLES MUST YOU INCLUDE?</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Core: Required / Expected / Permissible</a:t>
            </a:r>
            <a:endParaRPr lang="en-US" sz="3000" dirty="0"/>
          </a:p>
        </p:txBody>
      </p:sp>
      <p:sp>
        <p:nvSpPr>
          <p:cNvPr id="4" name="Shape 2"/>
          <p:cNvSpPr/>
          <p:nvPr/>
        </p:nvSpPr>
        <p:spPr>
          <a:xfrm>
            <a:off x="640080" y="1737360"/>
            <a:ext cx="10972800" cy="1371600"/>
          </a:xfrm>
          <a:prstGeom prst="roundRect">
            <a:avLst>
              <a:gd name="adj" fmla="val 6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914400" y="2057400"/>
            <a:ext cx="731520" cy="731520"/>
          </a:xfrm>
          <a:prstGeom prst="ellipse">
            <a:avLst/>
          </a:prstGeom>
          <a:solidFill>
            <a:srgbClr val="0E7C86"/>
          </a:solidFill>
          <a:ln/>
        </p:spPr>
      </p:sp>
      <p:sp>
        <p:nvSpPr>
          <p:cNvPr id="6" name="Text 4"/>
          <p:cNvSpPr/>
          <p:nvPr/>
        </p:nvSpPr>
        <p:spPr>
          <a:xfrm>
            <a:off x="914400" y="2057400"/>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Req</a:t>
            </a:r>
            <a:endParaRPr lang="en-US" sz="1500" dirty="0"/>
          </a:p>
        </p:txBody>
      </p:sp>
      <p:sp>
        <p:nvSpPr>
          <p:cNvPr id="7" name="Text 5"/>
          <p:cNvSpPr/>
          <p:nvPr/>
        </p:nvSpPr>
        <p:spPr>
          <a:xfrm>
            <a:off x="1920240" y="1938528"/>
            <a:ext cx="2743200" cy="457200"/>
          </a:xfrm>
          <a:prstGeom prst="rect">
            <a:avLst/>
          </a:prstGeom>
          <a:noFill/>
          <a:ln/>
        </p:spPr>
        <p:txBody>
          <a:bodyPr wrap="square" lIns="0" tIns="0" rIns="0" bIns="0" rtlCol="0" anchor="ctr"/>
          <a:lstStyle/>
          <a:p>
            <a:pPr indent="0" marL="0">
              <a:buNone/>
            </a:pPr>
            <a:r>
              <a:rPr lang="en-US" sz="2200" b="1" dirty="0">
                <a:solidFill>
                  <a:srgbClr val="0E7C86"/>
                </a:solidFill>
                <a:latin typeface="Cambria" pitchFamily="34" charset="0"/>
                <a:ea typeface="Cambria" pitchFamily="34" charset="-122"/>
                <a:cs typeface="Cambria" pitchFamily="34" charset="-120"/>
              </a:rPr>
              <a:t>Required</a:t>
            </a:r>
            <a:endParaRPr lang="en-US" sz="2200" dirty="0"/>
          </a:p>
        </p:txBody>
      </p:sp>
      <p:sp>
        <p:nvSpPr>
          <p:cNvPr id="8" name="Text 6"/>
          <p:cNvSpPr/>
          <p:nvPr/>
        </p:nvSpPr>
        <p:spPr>
          <a:xfrm>
            <a:off x="1920240" y="2450592"/>
            <a:ext cx="5943600" cy="54864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Must always be present, and must be populated — never left blank.</a:t>
            </a:r>
            <a:endParaRPr lang="en-US" sz="1300" dirty="0"/>
          </a:p>
        </p:txBody>
      </p:sp>
      <p:sp>
        <p:nvSpPr>
          <p:cNvPr id="9" name="Shape 7"/>
          <p:cNvSpPr/>
          <p:nvPr/>
        </p:nvSpPr>
        <p:spPr>
          <a:xfrm>
            <a:off x="8229600" y="1965960"/>
            <a:ext cx="0" cy="914400"/>
          </a:xfrm>
          <a:prstGeom prst="line">
            <a:avLst/>
          </a:prstGeom>
          <a:noFill/>
          <a:ln w="12700">
            <a:solidFill>
              <a:srgbClr val="CFDEE1"/>
            </a:solidFill>
            <a:prstDash val="solid"/>
          </a:ln>
        </p:spPr>
      </p:sp>
      <p:sp>
        <p:nvSpPr>
          <p:cNvPr id="10" name="Text 8"/>
          <p:cNvSpPr/>
          <p:nvPr/>
        </p:nvSpPr>
        <p:spPr>
          <a:xfrm>
            <a:off x="8458200" y="2011680"/>
            <a:ext cx="2971800" cy="8229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e.g.  </a:t>
            </a:r>
            <a:pPr indent="0" marL="0">
              <a:buNone/>
            </a:pPr>
            <a:r>
              <a:rPr lang="en-US" sz="1200" dirty="0">
                <a:solidFill>
                  <a:srgbClr val="0F2E3D"/>
                </a:solidFill>
                <a:latin typeface="Calibri" pitchFamily="34" charset="0"/>
                <a:ea typeface="Calibri" pitchFamily="34" charset="-122"/>
                <a:cs typeface="Calibri" pitchFamily="34" charset="-120"/>
              </a:rPr>
              <a:t>STUDYID, DOMAIN, USUBJID, --SEQ, and the topic variable.</a:t>
            </a:r>
            <a:endParaRPr lang="en-US" sz="1200" dirty="0"/>
          </a:p>
        </p:txBody>
      </p:sp>
      <p:sp>
        <p:nvSpPr>
          <p:cNvPr id="11" name="Shape 9"/>
          <p:cNvSpPr/>
          <p:nvPr/>
        </p:nvSpPr>
        <p:spPr>
          <a:xfrm>
            <a:off x="640080" y="3200400"/>
            <a:ext cx="10972800" cy="1371600"/>
          </a:xfrm>
          <a:prstGeom prst="roundRect">
            <a:avLst>
              <a:gd name="adj" fmla="val 6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Shape 10"/>
          <p:cNvSpPr/>
          <p:nvPr/>
        </p:nvSpPr>
        <p:spPr>
          <a:xfrm>
            <a:off x="914400" y="3520440"/>
            <a:ext cx="731520" cy="731520"/>
          </a:xfrm>
          <a:prstGeom prst="ellipse">
            <a:avLst/>
          </a:prstGeom>
          <a:solidFill>
            <a:srgbClr val="1FA8A0"/>
          </a:solidFill>
          <a:ln/>
        </p:spPr>
      </p:sp>
      <p:sp>
        <p:nvSpPr>
          <p:cNvPr id="13" name="Text 11"/>
          <p:cNvSpPr/>
          <p:nvPr/>
        </p:nvSpPr>
        <p:spPr>
          <a:xfrm>
            <a:off x="914400" y="3520440"/>
            <a:ext cx="7315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Exp</a:t>
            </a:r>
            <a:endParaRPr lang="en-US" sz="1500" dirty="0"/>
          </a:p>
        </p:txBody>
      </p:sp>
      <p:sp>
        <p:nvSpPr>
          <p:cNvPr id="14" name="Text 12"/>
          <p:cNvSpPr/>
          <p:nvPr/>
        </p:nvSpPr>
        <p:spPr>
          <a:xfrm>
            <a:off x="1920240" y="3401568"/>
            <a:ext cx="2743200" cy="457200"/>
          </a:xfrm>
          <a:prstGeom prst="rect">
            <a:avLst/>
          </a:prstGeom>
          <a:noFill/>
          <a:ln/>
        </p:spPr>
        <p:txBody>
          <a:bodyPr wrap="square" lIns="0" tIns="0" rIns="0" bIns="0" rtlCol="0" anchor="ctr"/>
          <a:lstStyle/>
          <a:p>
            <a:pPr indent="0" marL="0">
              <a:buNone/>
            </a:pPr>
            <a:r>
              <a:rPr lang="en-US" sz="2200" b="1" dirty="0">
                <a:solidFill>
                  <a:srgbClr val="1FA8A0"/>
                </a:solidFill>
                <a:latin typeface="Cambria" pitchFamily="34" charset="0"/>
                <a:ea typeface="Cambria" pitchFamily="34" charset="-122"/>
                <a:cs typeface="Cambria" pitchFamily="34" charset="-120"/>
              </a:rPr>
              <a:t>Expected</a:t>
            </a:r>
            <a:endParaRPr lang="en-US" sz="2200" dirty="0"/>
          </a:p>
        </p:txBody>
      </p:sp>
      <p:sp>
        <p:nvSpPr>
          <p:cNvPr id="15" name="Text 13"/>
          <p:cNvSpPr/>
          <p:nvPr/>
        </p:nvSpPr>
        <p:spPr>
          <a:xfrm>
            <a:off x="1920240" y="3913632"/>
            <a:ext cx="5943600" cy="54864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Must be present, but a value may be missing if genuinely not collected.</a:t>
            </a:r>
            <a:endParaRPr lang="en-US" sz="1300" dirty="0"/>
          </a:p>
        </p:txBody>
      </p:sp>
      <p:sp>
        <p:nvSpPr>
          <p:cNvPr id="16" name="Shape 14"/>
          <p:cNvSpPr/>
          <p:nvPr/>
        </p:nvSpPr>
        <p:spPr>
          <a:xfrm>
            <a:off x="8229600" y="3429000"/>
            <a:ext cx="0" cy="914400"/>
          </a:xfrm>
          <a:prstGeom prst="line">
            <a:avLst/>
          </a:prstGeom>
          <a:noFill/>
          <a:ln w="12700">
            <a:solidFill>
              <a:srgbClr val="CFDEE1"/>
            </a:solidFill>
            <a:prstDash val="solid"/>
          </a:ln>
        </p:spPr>
      </p:sp>
      <p:sp>
        <p:nvSpPr>
          <p:cNvPr id="17" name="Text 15"/>
          <p:cNvSpPr/>
          <p:nvPr/>
        </p:nvSpPr>
        <p:spPr>
          <a:xfrm>
            <a:off x="8458200" y="3474720"/>
            <a:ext cx="2971800" cy="8229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e.g.  </a:t>
            </a:r>
            <a:pPr indent="0" marL="0">
              <a:buNone/>
            </a:pPr>
            <a:r>
              <a:rPr lang="en-US" sz="1200" dirty="0">
                <a:solidFill>
                  <a:srgbClr val="0F2E3D"/>
                </a:solidFill>
                <a:latin typeface="Calibri" pitchFamily="34" charset="0"/>
                <a:ea typeface="Calibri" pitchFamily="34" charset="-122"/>
                <a:cs typeface="Calibri" pitchFamily="34" charset="-120"/>
              </a:rPr>
              <a:t>AETERM's timing (AESTDTC), VSORRES, etc.</a:t>
            </a:r>
            <a:endParaRPr lang="en-US" sz="1200" dirty="0"/>
          </a:p>
        </p:txBody>
      </p:sp>
      <p:sp>
        <p:nvSpPr>
          <p:cNvPr id="18" name="Shape 16"/>
          <p:cNvSpPr/>
          <p:nvPr/>
        </p:nvSpPr>
        <p:spPr>
          <a:xfrm>
            <a:off x="640080" y="4663440"/>
            <a:ext cx="10972800" cy="1371600"/>
          </a:xfrm>
          <a:prstGeom prst="roundRect">
            <a:avLst>
              <a:gd name="adj" fmla="val 6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9" name="Shape 17"/>
          <p:cNvSpPr/>
          <p:nvPr/>
        </p:nvSpPr>
        <p:spPr>
          <a:xfrm>
            <a:off x="914400" y="4983480"/>
            <a:ext cx="731520" cy="731520"/>
          </a:xfrm>
          <a:prstGeom prst="ellipse">
            <a:avLst/>
          </a:prstGeom>
          <a:solidFill>
            <a:srgbClr val="E8833A"/>
          </a:solidFill>
          <a:ln/>
        </p:spPr>
      </p:sp>
      <p:sp>
        <p:nvSpPr>
          <p:cNvPr id="20" name="Text 18"/>
          <p:cNvSpPr/>
          <p:nvPr/>
        </p:nvSpPr>
        <p:spPr>
          <a:xfrm>
            <a:off x="914400" y="4983480"/>
            <a:ext cx="731520" cy="731520"/>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Perm</a:t>
            </a:r>
            <a:endParaRPr lang="en-US" sz="1500" dirty="0"/>
          </a:p>
        </p:txBody>
      </p:sp>
      <p:sp>
        <p:nvSpPr>
          <p:cNvPr id="21" name="Text 19"/>
          <p:cNvSpPr/>
          <p:nvPr/>
        </p:nvSpPr>
        <p:spPr>
          <a:xfrm>
            <a:off x="1920240" y="4864608"/>
            <a:ext cx="2743200" cy="457200"/>
          </a:xfrm>
          <a:prstGeom prst="rect">
            <a:avLst/>
          </a:prstGeom>
          <a:noFill/>
          <a:ln/>
        </p:spPr>
        <p:txBody>
          <a:bodyPr wrap="square" lIns="0" tIns="0" rIns="0" bIns="0" rtlCol="0" anchor="ctr"/>
          <a:lstStyle/>
          <a:p>
            <a:pPr indent="0" marL="0">
              <a:buNone/>
            </a:pPr>
            <a:r>
              <a:rPr lang="en-US" sz="2200" b="1" dirty="0">
                <a:solidFill>
                  <a:srgbClr val="B5651A"/>
                </a:solidFill>
                <a:latin typeface="Cambria" pitchFamily="34" charset="0"/>
                <a:ea typeface="Cambria" pitchFamily="34" charset="-122"/>
                <a:cs typeface="Cambria" pitchFamily="34" charset="-120"/>
              </a:rPr>
              <a:t>Permissible</a:t>
            </a:r>
            <a:endParaRPr lang="en-US" sz="2200" dirty="0"/>
          </a:p>
        </p:txBody>
      </p:sp>
      <p:sp>
        <p:nvSpPr>
          <p:cNvPr id="22" name="Text 20"/>
          <p:cNvSpPr/>
          <p:nvPr/>
        </p:nvSpPr>
        <p:spPr>
          <a:xfrm>
            <a:off x="1920240" y="5376672"/>
            <a:ext cx="5943600" cy="54864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Include only if collected / relevant to the study. Optional.</a:t>
            </a:r>
            <a:endParaRPr lang="en-US" sz="1300" dirty="0"/>
          </a:p>
        </p:txBody>
      </p:sp>
      <p:sp>
        <p:nvSpPr>
          <p:cNvPr id="23" name="Shape 21"/>
          <p:cNvSpPr/>
          <p:nvPr/>
        </p:nvSpPr>
        <p:spPr>
          <a:xfrm>
            <a:off x="8229600" y="4892040"/>
            <a:ext cx="0" cy="914400"/>
          </a:xfrm>
          <a:prstGeom prst="line">
            <a:avLst/>
          </a:prstGeom>
          <a:noFill/>
          <a:ln w="12700">
            <a:solidFill>
              <a:srgbClr val="CFDEE1"/>
            </a:solidFill>
            <a:prstDash val="solid"/>
          </a:ln>
        </p:spPr>
      </p:sp>
      <p:sp>
        <p:nvSpPr>
          <p:cNvPr id="24" name="Text 22"/>
          <p:cNvSpPr/>
          <p:nvPr/>
        </p:nvSpPr>
        <p:spPr>
          <a:xfrm>
            <a:off x="8458200" y="4937760"/>
            <a:ext cx="2971800" cy="8229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e.g.  </a:t>
            </a:r>
            <a:pPr indent="0" marL="0">
              <a:buNone/>
            </a:pPr>
            <a:r>
              <a:rPr lang="en-US" sz="1200" dirty="0">
                <a:solidFill>
                  <a:srgbClr val="0F2E3D"/>
                </a:solidFill>
                <a:latin typeface="Calibri" pitchFamily="34" charset="0"/>
                <a:ea typeface="Calibri" pitchFamily="34" charset="-122"/>
                <a:cs typeface="Calibri" pitchFamily="34" charset="-120"/>
              </a:rPr>
              <a:t>Extra qualifiers like AESER, VSPOS.</a:t>
            </a:r>
            <a:endParaRPr lang="en-US" sz="1200" dirty="0"/>
          </a:p>
        </p:txBody>
      </p:sp>
      <p:sp>
        <p:nvSpPr>
          <p:cNvPr id="25" name="Text 23"/>
          <p:cNvSpPr/>
          <p:nvPr/>
        </p:nvSpPr>
        <p:spPr>
          <a:xfrm>
            <a:off x="640080" y="6172200"/>
            <a:ext cx="10972800" cy="365760"/>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The SDTMIG marks every variable Req / Exp / Perm. Start every domain by including all Required and Expected variables.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FOUR YOU'LL USE CONSTANTLY</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Key identifier variables</a:t>
            </a:r>
            <a:endParaRPr lang="en-US" sz="3000" dirty="0"/>
          </a:p>
        </p:txBody>
      </p:sp>
      <p:sp>
        <p:nvSpPr>
          <p:cNvPr id="4" name="Shape 2"/>
          <p:cNvSpPr/>
          <p:nvPr/>
        </p:nvSpPr>
        <p:spPr>
          <a:xfrm>
            <a:off x="640080" y="1737360"/>
            <a:ext cx="5394960" cy="1965960"/>
          </a:xfrm>
          <a:prstGeom prst="roundRect">
            <a:avLst>
              <a:gd name="adj" fmla="val 418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65960"/>
            <a:ext cx="3291840" cy="502920"/>
          </a:xfrm>
          <a:prstGeom prst="rect">
            <a:avLst/>
          </a:prstGeom>
          <a:noFill/>
          <a:ln/>
        </p:spPr>
        <p:txBody>
          <a:bodyPr wrap="square" lIns="0" tIns="0" rIns="0" bIns="0" rtlCol="0" anchor="ctr"/>
          <a:lstStyle/>
          <a:p>
            <a:pPr indent="0" marL="0">
              <a:buNone/>
            </a:pPr>
            <a:r>
              <a:rPr lang="en-US" sz="2200" b="1" dirty="0">
                <a:solidFill>
                  <a:srgbClr val="0E7C86"/>
                </a:solidFill>
                <a:latin typeface="Courier New" pitchFamily="34" charset="0"/>
                <a:ea typeface="Courier New" pitchFamily="34" charset="-122"/>
                <a:cs typeface="Courier New" pitchFamily="34" charset="-120"/>
              </a:rPr>
              <a:t>STUDYID</a:t>
            </a:r>
            <a:endParaRPr lang="en-US" sz="2200" dirty="0"/>
          </a:p>
        </p:txBody>
      </p:sp>
      <p:sp>
        <p:nvSpPr>
          <p:cNvPr id="6" name="Text 4"/>
          <p:cNvSpPr/>
          <p:nvPr/>
        </p:nvSpPr>
        <p:spPr>
          <a:xfrm>
            <a:off x="914400" y="2514600"/>
            <a:ext cx="4846320" cy="320040"/>
          </a:xfrm>
          <a:prstGeom prst="rect">
            <a:avLst/>
          </a:prstGeom>
          <a:noFill/>
          <a:ln/>
        </p:spPr>
        <p:txBody>
          <a:bodyPr wrap="square" lIns="0" tIns="0" rIns="0" bIns="0" rtlCol="0" anchor="ctr"/>
          <a:lstStyle/>
          <a:p>
            <a:pPr indent="0" marL="0">
              <a:buNone/>
            </a:pPr>
            <a:r>
              <a:rPr lang="en-US" sz="1300" b="1" i="1" dirty="0">
                <a:solidFill>
                  <a:srgbClr val="5A7682"/>
                </a:solidFill>
                <a:latin typeface="Calibri" pitchFamily="34" charset="0"/>
                <a:ea typeface="Calibri" pitchFamily="34" charset="-122"/>
                <a:cs typeface="Calibri" pitchFamily="34" charset="-120"/>
              </a:rPr>
              <a:t>Study Identifier</a:t>
            </a:r>
            <a:endParaRPr lang="en-US" sz="1300" dirty="0"/>
          </a:p>
        </p:txBody>
      </p:sp>
      <p:sp>
        <p:nvSpPr>
          <p:cNvPr id="7" name="Text 5"/>
          <p:cNvSpPr/>
          <p:nvPr/>
        </p:nvSpPr>
        <p:spPr>
          <a:xfrm>
            <a:off x="914400" y="2852928"/>
            <a:ext cx="4846320" cy="640080"/>
          </a:xfrm>
          <a:prstGeom prst="rect">
            <a:avLst/>
          </a:prstGeom>
          <a:noFill/>
          <a:ln/>
        </p:spPr>
        <p:txBody>
          <a:bodyPr wrap="square" lIns="0" tIns="0" rIns="0" bIns="0" rtlCol="0" anchor="ctr"/>
          <a:lstStyle/>
          <a:p>
            <a:pPr indent="0" marL="0">
              <a:buNone/>
            </a:pPr>
            <a:r>
              <a:rPr lang="en-US" sz="1250" dirty="0">
                <a:solidFill>
                  <a:srgbClr val="0F2E3D"/>
                </a:solidFill>
                <a:latin typeface="Calibri" pitchFamily="34" charset="0"/>
                <a:ea typeface="Calibri" pitchFamily="34" charset="-122"/>
                <a:cs typeface="Calibri" pitchFamily="34" charset="-120"/>
              </a:rPr>
              <a:t>The unique id of the study. Same value on every row of every domain.</a:t>
            </a:r>
            <a:endParaRPr lang="en-US" sz="1250" dirty="0"/>
          </a:p>
        </p:txBody>
      </p:sp>
      <p:sp>
        <p:nvSpPr>
          <p:cNvPr id="8" name="Shape 6"/>
          <p:cNvSpPr/>
          <p:nvPr/>
        </p:nvSpPr>
        <p:spPr>
          <a:xfrm>
            <a:off x="4389120" y="1965960"/>
            <a:ext cx="1371600" cy="457200"/>
          </a:xfrm>
          <a:prstGeom prst="roundRect">
            <a:avLst>
              <a:gd name="adj" fmla="val 12000"/>
            </a:avLst>
          </a:prstGeom>
          <a:solidFill>
            <a:srgbClr val="0E7C86"/>
          </a:solidFill>
          <a:ln/>
        </p:spPr>
      </p:sp>
      <p:sp>
        <p:nvSpPr>
          <p:cNvPr id="9" name="Text 7"/>
          <p:cNvSpPr/>
          <p:nvPr/>
        </p:nvSpPr>
        <p:spPr>
          <a:xfrm>
            <a:off x="4389120" y="1965960"/>
            <a:ext cx="13716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ABC-01</a:t>
            </a:r>
            <a:endParaRPr lang="en-US" sz="1100" dirty="0"/>
          </a:p>
        </p:txBody>
      </p:sp>
      <p:sp>
        <p:nvSpPr>
          <p:cNvPr id="10" name="Shape 8"/>
          <p:cNvSpPr/>
          <p:nvPr/>
        </p:nvSpPr>
        <p:spPr>
          <a:xfrm>
            <a:off x="6217920" y="1737360"/>
            <a:ext cx="5394960" cy="1965960"/>
          </a:xfrm>
          <a:prstGeom prst="roundRect">
            <a:avLst>
              <a:gd name="adj" fmla="val 418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6492240" y="1965960"/>
            <a:ext cx="3291840" cy="502920"/>
          </a:xfrm>
          <a:prstGeom prst="rect">
            <a:avLst/>
          </a:prstGeom>
          <a:noFill/>
          <a:ln/>
        </p:spPr>
        <p:txBody>
          <a:bodyPr wrap="square" lIns="0" tIns="0" rIns="0" bIns="0" rtlCol="0" anchor="ctr"/>
          <a:lstStyle/>
          <a:p>
            <a:pPr indent="0" marL="0">
              <a:buNone/>
            </a:pPr>
            <a:r>
              <a:rPr lang="en-US" sz="2200" b="1" dirty="0">
                <a:solidFill>
                  <a:srgbClr val="1FA8A0"/>
                </a:solidFill>
                <a:latin typeface="Courier New" pitchFamily="34" charset="0"/>
                <a:ea typeface="Courier New" pitchFamily="34" charset="-122"/>
                <a:cs typeface="Courier New" pitchFamily="34" charset="-120"/>
              </a:rPr>
              <a:t>DOMAIN</a:t>
            </a:r>
            <a:endParaRPr lang="en-US" sz="2200" dirty="0"/>
          </a:p>
        </p:txBody>
      </p:sp>
      <p:sp>
        <p:nvSpPr>
          <p:cNvPr id="12" name="Text 10"/>
          <p:cNvSpPr/>
          <p:nvPr/>
        </p:nvSpPr>
        <p:spPr>
          <a:xfrm>
            <a:off x="6492240" y="2514600"/>
            <a:ext cx="4846320" cy="320040"/>
          </a:xfrm>
          <a:prstGeom prst="rect">
            <a:avLst/>
          </a:prstGeom>
          <a:noFill/>
          <a:ln/>
        </p:spPr>
        <p:txBody>
          <a:bodyPr wrap="square" lIns="0" tIns="0" rIns="0" bIns="0" rtlCol="0" anchor="ctr"/>
          <a:lstStyle/>
          <a:p>
            <a:pPr indent="0" marL="0">
              <a:buNone/>
            </a:pPr>
            <a:r>
              <a:rPr lang="en-US" sz="1300" b="1" i="1" dirty="0">
                <a:solidFill>
                  <a:srgbClr val="5A7682"/>
                </a:solidFill>
                <a:latin typeface="Calibri" pitchFamily="34" charset="0"/>
                <a:ea typeface="Calibri" pitchFamily="34" charset="-122"/>
                <a:cs typeface="Calibri" pitchFamily="34" charset="-120"/>
              </a:rPr>
              <a:t>Domain Abbreviation</a:t>
            </a:r>
            <a:endParaRPr lang="en-US" sz="1300" dirty="0"/>
          </a:p>
        </p:txBody>
      </p:sp>
      <p:sp>
        <p:nvSpPr>
          <p:cNvPr id="13" name="Text 11"/>
          <p:cNvSpPr/>
          <p:nvPr/>
        </p:nvSpPr>
        <p:spPr>
          <a:xfrm>
            <a:off x="6492240" y="2852928"/>
            <a:ext cx="4846320" cy="640080"/>
          </a:xfrm>
          <a:prstGeom prst="rect">
            <a:avLst/>
          </a:prstGeom>
          <a:noFill/>
          <a:ln/>
        </p:spPr>
        <p:txBody>
          <a:bodyPr wrap="square" lIns="0" tIns="0" rIns="0" bIns="0" rtlCol="0" anchor="ctr"/>
          <a:lstStyle/>
          <a:p>
            <a:pPr indent="0" marL="0">
              <a:buNone/>
            </a:pPr>
            <a:r>
              <a:rPr lang="en-US" sz="1250" dirty="0">
                <a:solidFill>
                  <a:srgbClr val="0F2E3D"/>
                </a:solidFill>
                <a:latin typeface="Calibri" pitchFamily="34" charset="0"/>
                <a:ea typeface="Calibri" pitchFamily="34" charset="-122"/>
                <a:cs typeface="Calibri" pitchFamily="34" charset="-120"/>
              </a:rPr>
              <a:t>The 2-letter domain code. Constant within a dataset.</a:t>
            </a:r>
            <a:endParaRPr lang="en-US" sz="1250" dirty="0"/>
          </a:p>
        </p:txBody>
      </p:sp>
      <p:sp>
        <p:nvSpPr>
          <p:cNvPr id="14" name="Shape 12"/>
          <p:cNvSpPr/>
          <p:nvPr/>
        </p:nvSpPr>
        <p:spPr>
          <a:xfrm>
            <a:off x="9966960" y="1965960"/>
            <a:ext cx="1371600" cy="457200"/>
          </a:xfrm>
          <a:prstGeom prst="roundRect">
            <a:avLst>
              <a:gd name="adj" fmla="val 12000"/>
            </a:avLst>
          </a:prstGeom>
          <a:solidFill>
            <a:srgbClr val="1FA8A0"/>
          </a:solidFill>
          <a:ln/>
        </p:spPr>
      </p:sp>
      <p:sp>
        <p:nvSpPr>
          <p:cNvPr id="15" name="Text 13"/>
          <p:cNvSpPr/>
          <p:nvPr/>
        </p:nvSpPr>
        <p:spPr>
          <a:xfrm>
            <a:off x="9966960" y="1965960"/>
            <a:ext cx="13716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DM</a:t>
            </a:r>
            <a:endParaRPr lang="en-US" sz="1100" dirty="0"/>
          </a:p>
        </p:txBody>
      </p:sp>
      <p:sp>
        <p:nvSpPr>
          <p:cNvPr id="16" name="Shape 14"/>
          <p:cNvSpPr/>
          <p:nvPr/>
        </p:nvSpPr>
        <p:spPr>
          <a:xfrm>
            <a:off x="640080" y="3886200"/>
            <a:ext cx="5394960" cy="1965960"/>
          </a:xfrm>
          <a:prstGeom prst="roundRect">
            <a:avLst>
              <a:gd name="adj" fmla="val 418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914400" y="4114800"/>
            <a:ext cx="3291840" cy="502920"/>
          </a:xfrm>
          <a:prstGeom prst="rect">
            <a:avLst/>
          </a:prstGeom>
          <a:noFill/>
          <a:ln/>
        </p:spPr>
        <p:txBody>
          <a:bodyPr wrap="square" lIns="0" tIns="0" rIns="0" bIns="0" rtlCol="0" anchor="ctr"/>
          <a:lstStyle/>
          <a:p>
            <a:pPr indent="0" marL="0">
              <a:buNone/>
            </a:pPr>
            <a:r>
              <a:rPr lang="en-US" sz="2200" b="1" dirty="0">
                <a:solidFill>
                  <a:srgbClr val="E8833A"/>
                </a:solidFill>
                <a:latin typeface="Courier New" pitchFamily="34" charset="0"/>
                <a:ea typeface="Courier New" pitchFamily="34" charset="-122"/>
                <a:cs typeface="Courier New" pitchFamily="34" charset="-120"/>
              </a:rPr>
              <a:t>USUBJID</a:t>
            </a:r>
            <a:endParaRPr lang="en-US" sz="2200" dirty="0"/>
          </a:p>
        </p:txBody>
      </p:sp>
      <p:sp>
        <p:nvSpPr>
          <p:cNvPr id="18" name="Text 16"/>
          <p:cNvSpPr/>
          <p:nvPr/>
        </p:nvSpPr>
        <p:spPr>
          <a:xfrm>
            <a:off x="914400" y="4663440"/>
            <a:ext cx="4846320" cy="320040"/>
          </a:xfrm>
          <a:prstGeom prst="rect">
            <a:avLst/>
          </a:prstGeom>
          <a:noFill/>
          <a:ln/>
        </p:spPr>
        <p:txBody>
          <a:bodyPr wrap="square" lIns="0" tIns="0" rIns="0" bIns="0" rtlCol="0" anchor="ctr"/>
          <a:lstStyle/>
          <a:p>
            <a:pPr indent="0" marL="0">
              <a:buNone/>
            </a:pPr>
            <a:r>
              <a:rPr lang="en-US" sz="1300" b="1" i="1" dirty="0">
                <a:solidFill>
                  <a:srgbClr val="5A7682"/>
                </a:solidFill>
                <a:latin typeface="Calibri" pitchFamily="34" charset="0"/>
                <a:ea typeface="Calibri" pitchFamily="34" charset="-122"/>
                <a:cs typeface="Calibri" pitchFamily="34" charset="-120"/>
              </a:rPr>
              <a:t>Unique Subject Identifier</a:t>
            </a:r>
            <a:endParaRPr lang="en-US" sz="1300" dirty="0"/>
          </a:p>
        </p:txBody>
      </p:sp>
      <p:sp>
        <p:nvSpPr>
          <p:cNvPr id="19" name="Text 17"/>
          <p:cNvSpPr/>
          <p:nvPr/>
        </p:nvSpPr>
        <p:spPr>
          <a:xfrm>
            <a:off x="914400" y="5001768"/>
            <a:ext cx="4846320" cy="640080"/>
          </a:xfrm>
          <a:prstGeom prst="rect">
            <a:avLst/>
          </a:prstGeom>
          <a:noFill/>
          <a:ln/>
        </p:spPr>
        <p:txBody>
          <a:bodyPr wrap="square" lIns="0" tIns="0" rIns="0" bIns="0" rtlCol="0" anchor="ctr"/>
          <a:lstStyle/>
          <a:p>
            <a:pPr indent="0" marL="0">
              <a:buNone/>
            </a:pPr>
            <a:r>
              <a:rPr lang="en-US" sz="1250" dirty="0">
                <a:solidFill>
                  <a:srgbClr val="0F2E3D"/>
                </a:solidFill>
                <a:latin typeface="Calibri" pitchFamily="34" charset="0"/>
                <a:ea typeface="Calibri" pitchFamily="34" charset="-122"/>
                <a:cs typeface="Calibri" pitchFamily="34" charset="-120"/>
              </a:rPr>
              <a:t>Unique per subject across the WHOLE study. Links a subject across all domains.</a:t>
            </a:r>
            <a:endParaRPr lang="en-US" sz="1250" dirty="0"/>
          </a:p>
        </p:txBody>
      </p:sp>
      <p:sp>
        <p:nvSpPr>
          <p:cNvPr id="20" name="Shape 18"/>
          <p:cNvSpPr/>
          <p:nvPr/>
        </p:nvSpPr>
        <p:spPr>
          <a:xfrm>
            <a:off x="4389120" y="4114800"/>
            <a:ext cx="1371600" cy="457200"/>
          </a:xfrm>
          <a:prstGeom prst="roundRect">
            <a:avLst>
              <a:gd name="adj" fmla="val 12000"/>
            </a:avLst>
          </a:prstGeom>
          <a:solidFill>
            <a:srgbClr val="E8833A"/>
          </a:solidFill>
          <a:ln/>
        </p:spPr>
      </p:sp>
      <p:sp>
        <p:nvSpPr>
          <p:cNvPr id="21" name="Text 19"/>
          <p:cNvSpPr/>
          <p:nvPr/>
        </p:nvSpPr>
        <p:spPr>
          <a:xfrm>
            <a:off x="4389120" y="4114800"/>
            <a:ext cx="1371600" cy="457200"/>
          </a:xfrm>
          <a:prstGeom prst="rect">
            <a:avLst/>
          </a:prstGeom>
          <a:noFill/>
          <a:ln/>
        </p:spPr>
        <p:txBody>
          <a:bodyPr wrap="square" lIns="0" tIns="0" rIns="0" bIns="0" rtlCol="0" anchor="ctr"/>
          <a:lstStyle/>
          <a:p>
            <a:pPr algn="ctr" indent="0" marL="0">
              <a:buNone/>
            </a:pPr>
            <a:r>
              <a:rPr lang="en-US" sz="1100" b="1" dirty="0">
                <a:solidFill>
                  <a:srgbClr val="0F2E3D"/>
                </a:solidFill>
                <a:latin typeface="Courier New" pitchFamily="34" charset="0"/>
                <a:ea typeface="Courier New" pitchFamily="34" charset="-122"/>
                <a:cs typeface="Courier New" pitchFamily="34" charset="-120"/>
              </a:rPr>
              <a:t>ABC-01-01-001</a:t>
            </a:r>
            <a:endParaRPr lang="en-US" sz="1100" dirty="0"/>
          </a:p>
        </p:txBody>
      </p:sp>
      <p:sp>
        <p:nvSpPr>
          <p:cNvPr id="22" name="Shape 20"/>
          <p:cNvSpPr/>
          <p:nvPr/>
        </p:nvSpPr>
        <p:spPr>
          <a:xfrm>
            <a:off x="6217920" y="3886200"/>
            <a:ext cx="5394960" cy="1965960"/>
          </a:xfrm>
          <a:prstGeom prst="roundRect">
            <a:avLst>
              <a:gd name="adj" fmla="val 418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Text 21"/>
          <p:cNvSpPr/>
          <p:nvPr/>
        </p:nvSpPr>
        <p:spPr>
          <a:xfrm>
            <a:off x="6492240" y="4114800"/>
            <a:ext cx="3291840" cy="502920"/>
          </a:xfrm>
          <a:prstGeom prst="rect">
            <a:avLst/>
          </a:prstGeom>
          <a:noFill/>
          <a:ln/>
        </p:spPr>
        <p:txBody>
          <a:bodyPr wrap="square" lIns="0" tIns="0" rIns="0" bIns="0" rtlCol="0" anchor="ctr"/>
          <a:lstStyle/>
          <a:p>
            <a:pPr indent="0" marL="0">
              <a:buNone/>
            </a:pPr>
            <a:r>
              <a:rPr lang="en-US" sz="2200" b="1" dirty="0">
                <a:solidFill>
                  <a:srgbClr val="0F2E3D"/>
                </a:solidFill>
                <a:latin typeface="Courier New" pitchFamily="34" charset="0"/>
                <a:ea typeface="Courier New" pitchFamily="34" charset="-122"/>
                <a:cs typeface="Courier New" pitchFamily="34" charset="-120"/>
              </a:rPr>
              <a:t>--SEQ</a:t>
            </a:r>
            <a:endParaRPr lang="en-US" sz="2200" dirty="0"/>
          </a:p>
        </p:txBody>
      </p:sp>
      <p:sp>
        <p:nvSpPr>
          <p:cNvPr id="24" name="Text 22"/>
          <p:cNvSpPr/>
          <p:nvPr/>
        </p:nvSpPr>
        <p:spPr>
          <a:xfrm>
            <a:off x="6492240" y="4663440"/>
            <a:ext cx="4846320" cy="320040"/>
          </a:xfrm>
          <a:prstGeom prst="rect">
            <a:avLst/>
          </a:prstGeom>
          <a:noFill/>
          <a:ln/>
        </p:spPr>
        <p:txBody>
          <a:bodyPr wrap="square" lIns="0" tIns="0" rIns="0" bIns="0" rtlCol="0" anchor="ctr"/>
          <a:lstStyle/>
          <a:p>
            <a:pPr indent="0" marL="0">
              <a:buNone/>
            </a:pPr>
            <a:r>
              <a:rPr lang="en-US" sz="1300" b="1" i="1" dirty="0">
                <a:solidFill>
                  <a:srgbClr val="5A7682"/>
                </a:solidFill>
                <a:latin typeface="Calibri" pitchFamily="34" charset="0"/>
                <a:ea typeface="Calibri" pitchFamily="34" charset="-122"/>
                <a:cs typeface="Calibri" pitchFamily="34" charset="-120"/>
              </a:rPr>
              <a:t>Sequence Number</a:t>
            </a:r>
            <a:endParaRPr lang="en-US" sz="1300" dirty="0"/>
          </a:p>
        </p:txBody>
      </p:sp>
      <p:sp>
        <p:nvSpPr>
          <p:cNvPr id="25" name="Text 23"/>
          <p:cNvSpPr/>
          <p:nvPr/>
        </p:nvSpPr>
        <p:spPr>
          <a:xfrm>
            <a:off x="6492240" y="5001768"/>
            <a:ext cx="4846320" cy="640080"/>
          </a:xfrm>
          <a:prstGeom prst="rect">
            <a:avLst/>
          </a:prstGeom>
          <a:noFill/>
          <a:ln/>
        </p:spPr>
        <p:txBody>
          <a:bodyPr wrap="square" lIns="0" tIns="0" rIns="0" bIns="0" rtlCol="0" anchor="ctr"/>
          <a:lstStyle/>
          <a:p>
            <a:pPr indent="0" marL="0">
              <a:buNone/>
            </a:pPr>
            <a:r>
              <a:rPr lang="en-US" sz="1250" dirty="0">
                <a:solidFill>
                  <a:srgbClr val="0F2E3D"/>
                </a:solidFill>
                <a:latin typeface="Calibri" pitchFamily="34" charset="0"/>
                <a:ea typeface="Calibri" pitchFamily="34" charset="-122"/>
                <a:cs typeface="Calibri" pitchFamily="34" charset="-120"/>
              </a:rPr>
              <a:t>Numbers a subject's records within a domain so each row is uniquely identifiable.</a:t>
            </a:r>
            <a:endParaRPr lang="en-US" sz="1250" dirty="0"/>
          </a:p>
        </p:txBody>
      </p:sp>
      <p:sp>
        <p:nvSpPr>
          <p:cNvPr id="26" name="Shape 24"/>
          <p:cNvSpPr/>
          <p:nvPr/>
        </p:nvSpPr>
        <p:spPr>
          <a:xfrm>
            <a:off x="9966960" y="4114800"/>
            <a:ext cx="1371600" cy="457200"/>
          </a:xfrm>
          <a:prstGeom prst="roundRect">
            <a:avLst>
              <a:gd name="adj" fmla="val 12000"/>
            </a:avLst>
          </a:prstGeom>
          <a:solidFill>
            <a:srgbClr val="0F2E3D"/>
          </a:solidFill>
          <a:ln/>
        </p:spPr>
      </p:sp>
      <p:sp>
        <p:nvSpPr>
          <p:cNvPr id="27" name="Text 25"/>
          <p:cNvSpPr/>
          <p:nvPr/>
        </p:nvSpPr>
        <p:spPr>
          <a:xfrm>
            <a:off x="9966960" y="4114800"/>
            <a:ext cx="13716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AESEQ = 1, 2, 3 …</a:t>
            </a:r>
            <a:endParaRPr lang="en-US" sz="1100" dirty="0"/>
          </a:p>
        </p:txBody>
      </p:sp>
      <p:sp>
        <p:nvSpPr>
          <p:cNvPr id="28" name="Text 26"/>
          <p:cNvSpPr/>
          <p:nvPr/>
        </p:nvSpPr>
        <p:spPr>
          <a:xfrm>
            <a:off x="640080" y="6126480"/>
            <a:ext cx="10972800" cy="365760"/>
          </a:xfrm>
          <a:prstGeom prst="rect">
            <a:avLst/>
          </a:prstGeom>
          <a:noFill/>
          <a:ln/>
        </p:spPr>
        <p:txBody>
          <a:bodyPr wrap="square" lIns="0" tIns="0" rIns="0" bIns="0" rtlCol="0" anchor="ctr"/>
          <a:lstStyle/>
          <a:p>
            <a:pPr algn="ctr" indent="0" marL="0">
              <a:buNone/>
            </a:pPr>
            <a:r>
              <a:rPr lang="en-US" sz="1350" i="1" dirty="0">
                <a:solidFill>
                  <a:srgbClr val="0E7C86"/>
                </a:solidFill>
                <a:latin typeface="Calibri" pitchFamily="34" charset="0"/>
                <a:ea typeface="Calibri" pitchFamily="34" charset="-122"/>
                <a:cs typeface="Calibri" pitchFamily="34" charset="-120"/>
              </a:rPr>
              <a:t>USUBJID is the thread that stitches a subject's data together across DM, AE, VS, LB and every other domain.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FINDINGS SHAPE</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--TESTCD / --TEST: the vertical structure</a:t>
            </a:r>
            <a:endParaRPr lang="en-US" sz="3000" dirty="0"/>
          </a:p>
        </p:txBody>
      </p:sp>
      <p:sp>
        <p:nvSpPr>
          <p:cNvPr id="4" name="Text 2"/>
          <p:cNvSpPr/>
          <p:nvPr/>
        </p:nvSpPr>
        <p:spPr>
          <a:xfrm>
            <a:off x="548640" y="1371600"/>
            <a:ext cx="11155680" cy="502920"/>
          </a:xfrm>
          <a:prstGeom prst="rect">
            <a:avLst/>
          </a:prstGeom>
          <a:noFill/>
          <a:ln/>
        </p:spPr>
        <p:txBody>
          <a:bodyPr wrap="square" lIns="0" tIns="0" rIns="0" bIns="0" rtlCol="0" anchor="ctr"/>
          <a:lstStyle/>
          <a:p>
            <a:pPr indent="0" marL="0">
              <a:buNone/>
            </a:pPr>
            <a:r>
              <a:rPr lang="en-US" sz="1400" dirty="0">
                <a:solidFill>
                  <a:srgbClr val="5A7682"/>
                </a:solidFill>
                <a:latin typeface="Calibri" pitchFamily="34" charset="0"/>
                <a:ea typeface="Calibri" pitchFamily="34" charset="-122"/>
                <a:cs typeface="Calibri" pitchFamily="34" charset="-120"/>
              </a:rPr>
              <a:t>Findings domains are tall &amp; narrow: one row per test result. The test is named in --TESTCD/--TEST; the result goes in --ORRES.</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11201400" cy="914400"/>
        </p:xfrm>
        <a:graphic>
          <a:graphicData uri="http://schemas.openxmlformats.org/drawingml/2006/table">
            <a:tbl>
              <a:tblPr/>
              <a:tblGrid>
                <a:gridCol w="1737360"/>
                <a:gridCol w="731520"/>
                <a:gridCol w="1188720"/>
                <a:gridCol w="2514600"/>
                <a:gridCol w="1005840"/>
                <a:gridCol w="1097280"/>
                <a:gridCol w="1188720"/>
                <a:gridCol w="1554480"/>
              </a:tblGrid>
              <a:tr h="457200">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USUBJID</a:t>
                      </a:r>
                      <a:endParaRPr lang="en-US" sz="100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VSSEQ</a:t>
                      </a:r>
                      <a:endParaRPr lang="en-US" sz="100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VSTESTCD</a:t>
                      </a:r>
                      <a:endParaRPr lang="en-US" sz="100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VSTEST</a:t>
                      </a:r>
                      <a:endParaRPr lang="en-US" sz="100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VSORRES</a:t>
                      </a:r>
                      <a:endParaRPr lang="en-US" sz="100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VSORRESU</a:t>
                      </a:r>
                      <a:endParaRPr lang="en-US" sz="100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VSSTRESN</a:t>
                      </a:r>
                      <a:endParaRPr lang="en-US" sz="100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VISIT</a:t>
                      </a:r>
                      <a:endParaRPr lang="en-US" sz="100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E7C86"/>
                    </a:solidFill>
                  </a:tcPr>
                </a:tc>
              </a:tr>
              <a:tr h="457200">
                <a:tc>
                  <a:txBody>
                    <a:bodyPr/>
                    <a:lstStyle/>
                    <a:p>
                      <a:pPr algn="ctr" indent="0" marL="0">
                        <a:buNone/>
                      </a:pPr>
                      <a:r>
                        <a:rPr lang="en-US" sz="950" dirty="0">
                          <a:solidFill>
                            <a:srgbClr val="5A7682"/>
                          </a:solidFill>
                          <a:latin typeface="Courier New" pitchFamily="34" charset="0"/>
                          <a:ea typeface="Courier New" pitchFamily="34" charset="-122"/>
                          <a:cs typeface="Courier New" pitchFamily="34" charset="-120"/>
                        </a:rPr>
                        <a:t>ABC-01-01-001</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A7682"/>
                          </a:solidFill>
                          <a:latin typeface="Courier New" pitchFamily="34" charset="0"/>
                          <a:ea typeface="Courier New" pitchFamily="34" charset="-122"/>
                          <a:cs typeface="Courier New" pitchFamily="34" charset="-120"/>
                        </a:rPr>
                        <a:t>1</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F2E3D"/>
                          </a:solidFill>
                          <a:latin typeface="Courier New" pitchFamily="34" charset="0"/>
                          <a:ea typeface="Courier New" pitchFamily="34" charset="-122"/>
                          <a:cs typeface="Courier New" pitchFamily="34" charset="-120"/>
                        </a:rPr>
                        <a:t>SYSBP</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2E3D"/>
                          </a:solidFill>
                          <a:latin typeface="Courier New" pitchFamily="34" charset="0"/>
                          <a:ea typeface="Courier New" pitchFamily="34" charset="-122"/>
                          <a:cs typeface="Courier New" pitchFamily="34" charset="-120"/>
                        </a:rPr>
                        <a:t>Systolic Blood Pressure</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B5651A"/>
                          </a:solidFill>
                          <a:latin typeface="Courier New" pitchFamily="34" charset="0"/>
                          <a:ea typeface="Courier New" pitchFamily="34" charset="-122"/>
                          <a:cs typeface="Courier New" pitchFamily="34" charset="-120"/>
                        </a:rPr>
                        <a:t>120</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mmHg</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120</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BASELINE</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457200">
                <a:tc>
                  <a:txBody>
                    <a:bodyPr/>
                    <a:lstStyle/>
                    <a:p>
                      <a:pPr algn="ctr" indent="0" marL="0">
                        <a:buNone/>
                      </a:pPr>
                      <a:r>
                        <a:rPr lang="en-US" sz="950" dirty="0">
                          <a:solidFill>
                            <a:srgbClr val="5A7682"/>
                          </a:solidFill>
                          <a:latin typeface="Courier New" pitchFamily="34" charset="0"/>
                          <a:ea typeface="Courier New" pitchFamily="34" charset="-122"/>
                          <a:cs typeface="Courier New" pitchFamily="34" charset="-120"/>
                        </a:rPr>
                        <a:t>ABC-01-01-001</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5A7682"/>
                          </a:solidFill>
                          <a:latin typeface="Courier New" pitchFamily="34" charset="0"/>
                          <a:ea typeface="Courier New" pitchFamily="34" charset="-122"/>
                          <a:cs typeface="Courier New" pitchFamily="34" charset="-120"/>
                        </a:rPr>
                        <a:t>2</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b="1" dirty="0">
                          <a:solidFill>
                            <a:srgbClr val="0F2E3D"/>
                          </a:solidFill>
                          <a:latin typeface="Courier New" pitchFamily="34" charset="0"/>
                          <a:ea typeface="Courier New" pitchFamily="34" charset="-122"/>
                          <a:cs typeface="Courier New" pitchFamily="34" charset="-120"/>
                        </a:rPr>
                        <a:t>DIABP</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dirty="0">
                          <a:solidFill>
                            <a:srgbClr val="0F2E3D"/>
                          </a:solidFill>
                          <a:latin typeface="Courier New" pitchFamily="34" charset="0"/>
                          <a:ea typeface="Courier New" pitchFamily="34" charset="-122"/>
                          <a:cs typeface="Courier New" pitchFamily="34" charset="-120"/>
                        </a:rPr>
                        <a:t>Diastolic Blood Pressure</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b="1" dirty="0">
                          <a:solidFill>
                            <a:srgbClr val="B5651A"/>
                          </a:solidFill>
                          <a:latin typeface="Courier New" pitchFamily="34" charset="0"/>
                          <a:ea typeface="Courier New" pitchFamily="34" charset="-122"/>
                          <a:cs typeface="Courier New" pitchFamily="34" charset="-120"/>
                        </a:rPr>
                        <a:t>78</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mmHg</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78</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BASELINE</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457200">
                <a:tc>
                  <a:txBody>
                    <a:bodyPr/>
                    <a:lstStyle/>
                    <a:p>
                      <a:pPr algn="ctr" indent="0" marL="0">
                        <a:buNone/>
                      </a:pPr>
                      <a:r>
                        <a:rPr lang="en-US" sz="950" dirty="0">
                          <a:solidFill>
                            <a:srgbClr val="5A7682"/>
                          </a:solidFill>
                          <a:latin typeface="Courier New" pitchFamily="34" charset="0"/>
                          <a:ea typeface="Courier New" pitchFamily="34" charset="-122"/>
                          <a:cs typeface="Courier New" pitchFamily="34" charset="-120"/>
                        </a:rPr>
                        <a:t>ABC-01-01-001</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A7682"/>
                          </a:solidFill>
                          <a:latin typeface="Courier New" pitchFamily="34" charset="0"/>
                          <a:ea typeface="Courier New" pitchFamily="34" charset="-122"/>
                          <a:cs typeface="Courier New" pitchFamily="34" charset="-120"/>
                        </a:rPr>
                        <a:t>3</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F2E3D"/>
                          </a:solidFill>
                          <a:latin typeface="Courier New" pitchFamily="34" charset="0"/>
                          <a:ea typeface="Courier New" pitchFamily="34" charset="-122"/>
                          <a:cs typeface="Courier New" pitchFamily="34" charset="-120"/>
                        </a:rPr>
                        <a:t>PULSE</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2E3D"/>
                          </a:solidFill>
                          <a:latin typeface="Courier New" pitchFamily="34" charset="0"/>
                          <a:ea typeface="Courier New" pitchFamily="34" charset="-122"/>
                          <a:cs typeface="Courier New" pitchFamily="34" charset="-120"/>
                        </a:rPr>
                        <a:t>Pulse Rate</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B5651A"/>
                          </a:solidFill>
                          <a:latin typeface="Courier New" pitchFamily="34" charset="0"/>
                          <a:ea typeface="Courier New" pitchFamily="34" charset="-122"/>
                          <a:cs typeface="Courier New" pitchFamily="34" charset="-120"/>
                        </a:rPr>
                        <a:t>66</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beats/min</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66</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BASELINE</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457200">
                <a:tc>
                  <a:txBody>
                    <a:bodyPr/>
                    <a:lstStyle/>
                    <a:p>
                      <a:pPr algn="ctr" indent="0" marL="0">
                        <a:buNone/>
                      </a:pPr>
                      <a:r>
                        <a:rPr lang="en-US" sz="950" dirty="0">
                          <a:solidFill>
                            <a:srgbClr val="5A7682"/>
                          </a:solidFill>
                          <a:latin typeface="Courier New" pitchFamily="34" charset="0"/>
                          <a:ea typeface="Courier New" pitchFamily="34" charset="-122"/>
                          <a:cs typeface="Courier New" pitchFamily="34" charset="-120"/>
                        </a:rPr>
                        <a:t>ABC-01-01-001</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5A7682"/>
                          </a:solidFill>
                          <a:latin typeface="Courier New" pitchFamily="34" charset="0"/>
                          <a:ea typeface="Courier New" pitchFamily="34" charset="-122"/>
                          <a:cs typeface="Courier New" pitchFamily="34" charset="-120"/>
                        </a:rPr>
                        <a:t>4</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b="1" dirty="0">
                          <a:solidFill>
                            <a:srgbClr val="0F2E3D"/>
                          </a:solidFill>
                          <a:latin typeface="Courier New" pitchFamily="34" charset="0"/>
                          <a:ea typeface="Courier New" pitchFamily="34" charset="-122"/>
                          <a:cs typeface="Courier New" pitchFamily="34" charset="-120"/>
                        </a:rPr>
                        <a:t>TEMP</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dirty="0">
                          <a:solidFill>
                            <a:srgbClr val="0F2E3D"/>
                          </a:solidFill>
                          <a:latin typeface="Courier New" pitchFamily="34" charset="0"/>
                          <a:ea typeface="Courier New" pitchFamily="34" charset="-122"/>
                          <a:cs typeface="Courier New" pitchFamily="34" charset="-120"/>
                        </a:rPr>
                        <a:t>Temperature</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b="1" dirty="0">
                          <a:solidFill>
                            <a:srgbClr val="B5651A"/>
                          </a:solidFill>
                          <a:latin typeface="Courier New" pitchFamily="34" charset="0"/>
                          <a:ea typeface="Courier New" pitchFamily="34" charset="-122"/>
                          <a:cs typeface="Courier New" pitchFamily="34" charset="-120"/>
                        </a:rPr>
                        <a:t>36.8</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C</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36.8</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BASELINE</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457200">
                <a:tc>
                  <a:txBody>
                    <a:bodyPr/>
                    <a:lstStyle/>
                    <a:p>
                      <a:pPr algn="ctr" indent="0" marL="0">
                        <a:buNone/>
                      </a:pPr>
                      <a:r>
                        <a:rPr lang="en-US" sz="950" dirty="0">
                          <a:solidFill>
                            <a:srgbClr val="5A7682"/>
                          </a:solidFill>
                          <a:latin typeface="Courier New" pitchFamily="34" charset="0"/>
                          <a:ea typeface="Courier New" pitchFamily="34" charset="-122"/>
                          <a:cs typeface="Courier New" pitchFamily="34" charset="-120"/>
                        </a:rPr>
                        <a:t>ABC-01-01-001</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A7682"/>
                          </a:solidFill>
                          <a:latin typeface="Courier New" pitchFamily="34" charset="0"/>
                          <a:ea typeface="Courier New" pitchFamily="34" charset="-122"/>
                          <a:cs typeface="Courier New" pitchFamily="34" charset="-120"/>
                        </a:rPr>
                        <a:t>5</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F2E3D"/>
                          </a:solidFill>
                          <a:latin typeface="Courier New" pitchFamily="34" charset="0"/>
                          <a:ea typeface="Courier New" pitchFamily="34" charset="-122"/>
                          <a:cs typeface="Courier New" pitchFamily="34" charset="-120"/>
                        </a:rPr>
                        <a:t>SYSBP</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F2E3D"/>
                          </a:solidFill>
                          <a:latin typeface="Courier New" pitchFamily="34" charset="0"/>
                          <a:ea typeface="Courier New" pitchFamily="34" charset="-122"/>
                          <a:cs typeface="Courier New" pitchFamily="34" charset="-120"/>
                        </a:rPr>
                        <a:t>Systolic Blood Pressure</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B5651A"/>
                          </a:solidFill>
                          <a:latin typeface="Courier New" pitchFamily="34" charset="0"/>
                          <a:ea typeface="Courier New" pitchFamily="34" charset="-122"/>
                          <a:cs typeface="Courier New" pitchFamily="34" charset="-120"/>
                        </a:rPr>
                        <a:t>118</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mmHg</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118</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5A7682"/>
                          </a:solidFill>
                          <a:latin typeface="Courier New" pitchFamily="34" charset="0"/>
                          <a:ea typeface="Courier New" pitchFamily="34" charset="-122"/>
                          <a:cs typeface="Courier New" pitchFamily="34" charset="-120"/>
                        </a:rPr>
                        <a:t>WEEK 2</a:t>
                      </a:r>
                      <a:endParaRPr lang="en-US" sz="950" dirty="0">
                        <a:latin typeface="Courier New" charset="0"/>
                        <a:ea typeface="Courier New" charset="0"/>
                        <a:cs typeface="Courier New" charset="0"/>
                      </a:endParaRPr>
                    </a:p>
                  </a:txBody>
                  <a:tcPr marL="50800" marR="508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5074920"/>
            <a:ext cx="5349240" cy="1234440"/>
          </a:xfrm>
          <a:prstGeom prst="roundRect">
            <a:avLst>
              <a:gd name="adj" fmla="val 666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7" name="Text 4"/>
          <p:cNvSpPr/>
          <p:nvPr/>
        </p:nvSpPr>
        <p:spPr>
          <a:xfrm>
            <a:off x="868680" y="5212080"/>
            <a:ext cx="4937760" cy="96012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Why “tall”? </a:t>
            </a:r>
            <a:pPr indent="0" marL="0">
              <a:buNone/>
            </a:pPr>
            <a:r>
              <a:rPr lang="en-US" sz="1300" dirty="0">
                <a:solidFill>
                  <a:srgbClr val="0F2E3D"/>
                </a:solidFill>
                <a:latin typeface="Calibri" pitchFamily="34" charset="0"/>
                <a:ea typeface="Calibri" pitchFamily="34" charset="-122"/>
                <a:cs typeface="Calibri" pitchFamily="34" charset="-120"/>
              </a:rPr>
              <a:t>Adding a new test (e.g., HEIGHT) means adding rows, not new columns. The structure never changes.</a:t>
            </a:r>
            <a:endParaRPr lang="en-US" sz="1300" dirty="0"/>
          </a:p>
        </p:txBody>
      </p:sp>
      <p:sp>
        <p:nvSpPr>
          <p:cNvPr id="8" name="Shape 5"/>
          <p:cNvSpPr/>
          <p:nvPr/>
        </p:nvSpPr>
        <p:spPr>
          <a:xfrm>
            <a:off x="6217920" y="5074920"/>
            <a:ext cx="5394960" cy="1234440"/>
          </a:xfrm>
          <a:prstGeom prst="roundRect">
            <a:avLst>
              <a:gd name="adj" fmla="val 6667"/>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6"/>
          <p:cNvSpPr/>
          <p:nvPr/>
        </p:nvSpPr>
        <p:spPr>
          <a:xfrm>
            <a:off x="6446520" y="5212080"/>
            <a:ext cx="4937760" cy="960120"/>
          </a:xfrm>
          <a:prstGeom prst="rect">
            <a:avLst/>
          </a:prstGeom>
          <a:noFill/>
          <a:ln/>
        </p:spPr>
        <p:txBody>
          <a:bodyPr wrap="square" lIns="0" tIns="0" rIns="0" bIns="0" rtlCol="0" anchor="ctr"/>
          <a:lstStyle/>
          <a:p>
            <a:pPr indent="0" marL="0">
              <a:buNone/>
            </a:pPr>
            <a:r>
              <a:rPr lang="en-US" sz="1300" b="1" dirty="0">
                <a:solidFill>
                  <a:srgbClr val="6FC8B4"/>
                </a:solidFill>
                <a:latin typeface="Calibri" pitchFamily="34" charset="0"/>
                <a:ea typeface="Calibri" pitchFamily="34" charset="-122"/>
                <a:cs typeface="Calibri" pitchFamily="34" charset="-120"/>
              </a:rPr>
              <a:t>ORRES vs STRESN.  </a:t>
            </a:r>
            <a:pPr indent="0" marL="0">
              <a:buNone/>
            </a:pPr>
            <a:r>
              <a:rPr lang="en-US" sz="1300" dirty="0">
                <a:solidFill>
                  <a:srgbClr val="E7F0F1"/>
                </a:solidFill>
                <a:latin typeface="Calibri" pitchFamily="34" charset="0"/>
                <a:ea typeface="Calibri" pitchFamily="34" charset="-122"/>
                <a:cs typeface="Calibri" pitchFamily="34" charset="-120"/>
              </a:rPr>
              <a:t>VSORRES is the original result as collected; VSSTRESN is the standardized numeric result for analysis.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SPEAKING ONE LANGUAGE</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Controlled Terminology (CT)</a:t>
            </a:r>
            <a:endParaRPr lang="en-US" sz="3000" dirty="0"/>
          </a:p>
        </p:txBody>
      </p:sp>
      <p:sp>
        <p:nvSpPr>
          <p:cNvPr id="4" name="Shape 2"/>
          <p:cNvSpPr/>
          <p:nvPr/>
        </p:nvSpPr>
        <p:spPr>
          <a:xfrm>
            <a:off x="640080" y="1691640"/>
            <a:ext cx="5394960" cy="4297680"/>
          </a:xfrm>
          <a:prstGeom prst="roundRect">
            <a:avLst>
              <a:gd name="adj" fmla="val 191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4846320" cy="411480"/>
          </a:xfrm>
          <a:prstGeom prst="rect">
            <a:avLst/>
          </a:prstGeom>
          <a:noFill/>
          <a:ln/>
        </p:spPr>
        <p:txBody>
          <a:bodyPr wrap="square" lIns="0" tIns="0" rIns="0" bIns="0" rtlCol="0" anchor="ctr"/>
          <a:lstStyle/>
          <a:p>
            <a:pPr indent="0" marL="0">
              <a:buNone/>
            </a:pPr>
            <a:r>
              <a:rPr lang="en-US" sz="1900" b="1" dirty="0">
                <a:solidFill>
                  <a:srgbClr val="0E7C86"/>
                </a:solidFill>
                <a:latin typeface="Cambria" pitchFamily="34" charset="0"/>
                <a:ea typeface="Cambria" pitchFamily="34" charset="-122"/>
                <a:cs typeface="Cambria" pitchFamily="34" charset="-120"/>
              </a:rPr>
              <a:t>The allowed-values dictionary</a:t>
            </a:r>
            <a:endParaRPr lang="en-US" sz="1900" dirty="0"/>
          </a:p>
        </p:txBody>
      </p:sp>
      <p:sp>
        <p:nvSpPr>
          <p:cNvPr id="6" name="Text 4"/>
          <p:cNvSpPr/>
          <p:nvPr/>
        </p:nvSpPr>
        <p:spPr>
          <a:xfrm>
            <a:off x="914400" y="2423160"/>
            <a:ext cx="4892040" cy="2011680"/>
          </a:xfrm>
          <a:prstGeom prst="rect">
            <a:avLst/>
          </a:prstGeom>
          <a:noFill/>
          <a:ln/>
        </p:spPr>
        <p:txBody>
          <a:bodyPr wrap="square" lIns="0" tIns="0" rIns="0" bIns="0" rtlCol="0" anchor="t"/>
          <a:lstStyle/>
          <a:p>
            <a:pPr indent="0" marL="0">
              <a:lnSpc>
                <a:spcPts val="2100"/>
              </a:lnSpc>
              <a:buNone/>
            </a:pPr>
            <a:r>
              <a:rPr lang="en-US" sz="1400" b="1" dirty="0">
                <a:solidFill>
                  <a:srgbClr val="0F2E3D"/>
                </a:solidFill>
                <a:latin typeface="Calibri" pitchFamily="34" charset="0"/>
                <a:ea typeface="Calibri" pitchFamily="34" charset="-122"/>
                <a:cs typeface="Calibri" pitchFamily="34" charset="-120"/>
              </a:rPr>
              <a:t>CT is the set of standardized codelists that define the permitted values for coded SDTM variables.</a:t>
            </a:r>
            <a:pPr indent="0" marL="0">
              <a:lnSpc>
                <a:spcPts val="2100"/>
              </a:lnSpc>
              <a:buNone/>
            </a:pPr>
            <a:endParaRPr lang="en-US" sz="1400" dirty="0"/>
          </a:p>
          <a:p>
            <a:pPr indent="0" marL="0">
              <a:lnSpc>
                <a:spcPts val="2100"/>
              </a:lnSpc>
              <a:buNone/>
            </a:pPr>
            <a:endParaRPr lang="en-US" sz="1400" dirty="0"/>
          </a:p>
          <a:p>
            <a:pPr indent="0" marL="0">
              <a:lnSpc>
                <a:spcPts val="2100"/>
              </a:lnSpc>
              <a:buNone/>
            </a:pPr>
            <a:r>
              <a:rPr lang="en-US" sz="1400" dirty="0">
                <a:solidFill>
                  <a:srgbClr val="5A7682"/>
                </a:solidFill>
                <a:latin typeface="Calibri" pitchFamily="34" charset="0"/>
                <a:ea typeface="Calibri" pitchFamily="34" charset="-122"/>
                <a:cs typeface="Calibri" pitchFamily="34" charset="-120"/>
              </a:rPr>
              <a:t>Maintained by CDISC with NCI-EVS and updated quarterly. It removes ambiguity: one concept, one value, everywhere.</a:t>
            </a:r>
            <a:endParaRPr lang="en-US" sz="1400" dirty="0"/>
          </a:p>
        </p:txBody>
      </p:sp>
      <p:sp>
        <p:nvSpPr>
          <p:cNvPr id="7" name="Text 5"/>
          <p:cNvSpPr/>
          <p:nvPr/>
        </p:nvSpPr>
        <p:spPr>
          <a:xfrm>
            <a:off x="914400" y="5120640"/>
            <a:ext cx="4892040" cy="731520"/>
          </a:xfrm>
          <a:prstGeom prst="rect">
            <a:avLst/>
          </a:prstGeom>
          <a:noFill/>
          <a:ln/>
        </p:spPr>
        <p:txBody>
          <a:bodyPr wrap="square" lIns="0" tIns="0" rIns="0" bIns="0" rtlCol="0" anchor="ctr"/>
          <a:lstStyle/>
          <a:p>
            <a:pPr indent="0" marL="0">
              <a:buNone/>
            </a:pPr>
            <a:r>
              <a:rPr lang="en-US" sz="1300" i="1" dirty="0">
                <a:solidFill>
                  <a:srgbClr val="0F2E3D"/>
                </a:solidFill>
                <a:latin typeface="Calibri" pitchFamily="34" charset="0"/>
                <a:ea typeface="Calibri" pitchFamily="34" charset="-122"/>
                <a:cs typeface="Calibri" pitchFamily="34" charset="-120"/>
              </a:rPr>
              <a:t>Examples of coded variables: SEX, RACE, AESEV, AESER, VSTESTCD, units.</a:t>
            </a:r>
            <a:endParaRPr lang="en-US" sz="1300" dirty="0"/>
          </a:p>
        </p:txBody>
      </p:sp>
      <p:sp>
        <p:nvSpPr>
          <p:cNvPr id="8" name="Text 6"/>
          <p:cNvSpPr/>
          <p:nvPr/>
        </p:nvSpPr>
        <p:spPr>
          <a:xfrm>
            <a:off x="6400800" y="1737360"/>
            <a:ext cx="5212080" cy="36576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Free text  →  Controlled value</a:t>
            </a:r>
            <a:endParaRPr lang="en-US" sz="1500" dirty="0"/>
          </a:p>
        </p:txBody>
      </p:sp>
      <p:sp>
        <p:nvSpPr>
          <p:cNvPr id="9" name="Shape 7"/>
          <p:cNvSpPr/>
          <p:nvPr/>
        </p:nvSpPr>
        <p:spPr>
          <a:xfrm>
            <a:off x="6400800" y="2240280"/>
            <a:ext cx="5212080" cy="841248"/>
          </a:xfrm>
          <a:prstGeom prst="roundRect">
            <a:avLst>
              <a:gd name="adj" fmla="val 9783"/>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Text 8"/>
          <p:cNvSpPr/>
          <p:nvPr/>
        </p:nvSpPr>
        <p:spPr>
          <a:xfrm>
            <a:off x="6583680" y="2350008"/>
            <a:ext cx="2286000" cy="621792"/>
          </a:xfrm>
          <a:prstGeom prst="rect">
            <a:avLst/>
          </a:prstGeom>
          <a:noFill/>
          <a:ln/>
        </p:spPr>
        <p:txBody>
          <a:bodyPr wrap="square" lIns="0" tIns="0" rIns="0" bIns="0" rtlCol="0" anchor="ctr"/>
          <a:lstStyle/>
          <a:p>
            <a:pPr indent="0" marL="0">
              <a:buNone/>
            </a:pPr>
            <a:r>
              <a:rPr lang="en-US" sz="1250" i="1" dirty="0">
                <a:solidFill>
                  <a:srgbClr val="5A7682"/>
                </a:solidFill>
                <a:latin typeface="Calibri" pitchFamily="34" charset="0"/>
                <a:ea typeface="Calibri" pitchFamily="34" charset="-122"/>
                <a:cs typeface="Calibri" pitchFamily="34" charset="-120"/>
              </a:rPr>
              <a:t>“Female”, “F”, “2”</a:t>
            </a:r>
            <a:endParaRPr lang="en-US" sz="1250" dirty="0"/>
          </a:p>
        </p:txBody>
      </p:sp>
      <p:sp>
        <p:nvSpPr>
          <p:cNvPr id="11" name="Text 9"/>
          <p:cNvSpPr/>
          <p:nvPr/>
        </p:nvSpPr>
        <p:spPr>
          <a:xfrm>
            <a:off x="8823960" y="2350008"/>
            <a:ext cx="457200" cy="621792"/>
          </a:xfrm>
          <a:prstGeom prst="rect">
            <a:avLst/>
          </a:prstGeom>
          <a:noFill/>
          <a:ln/>
        </p:spPr>
        <p:txBody>
          <a:bodyPr wrap="square" lIns="0" tIns="0" rIns="0" bIns="0" rtlCol="0" anchor="ctr"/>
          <a:lstStyle/>
          <a:p>
            <a:pPr algn="ctr" indent="0" marL="0">
              <a:buNone/>
            </a:pPr>
            <a:r>
              <a:rPr lang="en-US" sz="1800" b="1" dirty="0">
                <a:solidFill>
                  <a:srgbClr val="E8833A"/>
                </a:solidFill>
              </a:rPr>
              <a:t>→</a:t>
            </a:r>
            <a:endParaRPr lang="en-US" sz="1800" dirty="0"/>
          </a:p>
        </p:txBody>
      </p:sp>
      <p:sp>
        <p:nvSpPr>
          <p:cNvPr id="12" name="Text 10"/>
          <p:cNvSpPr/>
          <p:nvPr/>
        </p:nvSpPr>
        <p:spPr>
          <a:xfrm>
            <a:off x="9326880" y="2331720"/>
            <a:ext cx="2148840" cy="658368"/>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F</a:t>
            </a:r>
            <a:pPr indent="0" marL="0">
              <a:buNone/>
            </a:pPr>
            <a:endParaRPr lang="en-US" sz="1400" dirty="0"/>
          </a:p>
          <a:p>
            <a:pPr indent="0" marL="0">
              <a:buNone/>
            </a:pPr>
            <a:r>
              <a:rPr lang="en-US" sz="1000" dirty="0">
                <a:solidFill>
                  <a:srgbClr val="5A7682"/>
                </a:solidFill>
                <a:latin typeface="Courier New" pitchFamily="34" charset="0"/>
                <a:ea typeface="Courier New" pitchFamily="34" charset="-122"/>
                <a:cs typeface="Courier New" pitchFamily="34" charset="-120"/>
              </a:rPr>
              <a:t>SEX</a:t>
            </a:r>
            <a:endParaRPr lang="en-US" sz="1400" dirty="0"/>
          </a:p>
        </p:txBody>
      </p:sp>
      <p:sp>
        <p:nvSpPr>
          <p:cNvPr id="13" name="Shape 11"/>
          <p:cNvSpPr/>
          <p:nvPr/>
        </p:nvSpPr>
        <p:spPr>
          <a:xfrm>
            <a:off x="6400800" y="3172968"/>
            <a:ext cx="5212080" cy="841248"/>
          </a:xfrm>
          <a:prstGeom prst="roundRect">
            <a:avLst>
              <a:gd name="adj" fmla="val 9783"/>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4" name="Text 12"/>
          <p:cNvSpPr/>
          <p:nvPr/>
        </p:nvSpPr>
        <p:spPr>
          <a:xfrm>
            <a:off x="6583680" y="3282696"/>
            <a:ext cx="2286000" cy="621792"/>
          </a:xfrm>
          <a:prstGeom prst="rect">
            <a:avLst/>
          </a:prstGeom>
          <a:noFill/>
          <a:ln/>
        </p:spPr>
        <p:txBody>
          <a:bodyPr wrap="square" lIns="0" tIns="0" rIns="0" bIns="0" rtlCol="0" anchor="ctr"/>
          <a:lstStyle/>
          <a:p>
            <a:pPr indent="0" marL="0">
              <a:buNone/>
            </a:pPr>
            <a:r>
              <a:rPr lang="en-US" sz="1250" i="1" dirty="0">
                <a:solidFill>
                  <a:srgbClr val="5A7682"/>
                </a:solidFill>
                <a:latin typeface="Calibri" pitchFamily="34" charset="0"/>
                <a:ea typeface="Calibri" pitchFamily="34" charset="-122"/>
                <a:cs typeface="Calibri" pitchFamily="34" charset="-120"/>
              </a:rPr>
              <a:t>“severe”, “Sev”, “3”</a:t>
            </a:r>
            <a:endParaRPr lang="en-US" sz="1250" dirty="0"/>
          </a:p>
        </p:txBody>
      </p:sp>
      <p:sp>
        <p:nvSpPr>
          <p:cNvPr id="15" name="Text 13"/>
          <p:cNvSpPr/>
          <p:nvPr/>
        </p:nvSpPr>
        <p:spPr>
          <a:xfrm>
            <a:off x="8823960" y="3282696"/>
            <a:ext cx="457200" cy="621792"/>
          </a:xfrm>
          <a:prstGeom prst="rect">
            <a:avLst/>
          </a:prstGeom>
          <a:noFill/>
          <a:ln/>
        </p:spPr>
        <p:txBody>
          <a:bodyPr wrap="square" lIns="0" tIns="0" rIns="0" bIns="0" rtlCol="0" anchor="ctr"/>
          <a:lstStyle/>
          <a:p>
            <a:pPr algn="ctr" indent="0" marL="0">
              <a:buNone/>
            </a:pPr>
            <a:r>
              <a:rPr lang="en-US" sz="1800" b="1" dirty="0">
                <a:solidFill>
                  <a:srgbClr val="E8833A"/>
                </a:solidFill>
              </a:rPr>
              <a:t>→</a:t>
            </a:r>
            <a:endParaRPr lang="en-US" sz="1800" dirty="0"/>
          </a:p>
        </p:txBody>
      </p:sp>
      <p:sp>
        <p:nvSpPr>
          <p:cNvPr id="16" name="Text 14"/>
          <p:cNvSpPr/>
          <p:nvPr/>
        </p:nvSpPr>
        <p:spPr>
          <a:xfrm>
            <a:off x="9326880" y="3264408"/>
            <a:ext cx="2148840" cy="658368"/>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SEVERE</a:t>
            </a:r>
            <a:pPr indent="0" marL="0">
              <a:buNone/>
            </a:pPr>
            <a:endParaRPr lang="en-US" sz="1400" dirty="0"/>
          </a:p>
          <a:p>
            <a:pPr indent="0" marL="0">
              <a:buNone/>
            </a:pPr>
            <a:r>
              <a:rPr lang="en-US" sz="1000" dirty="0">
                <a:solidFill>
                  <a:srgbClr val="5A7682"/>
                </a:solidFill>
                <a:latin typeface="Courier New" pitchFamily="34" charset="0"/>
                <a:ea typeface="Courier New" pitchFamily="34" charset="-122"/>
                <a:cs typeface="Courier New" pitchFamily="34" charset="-120"/>
              </a:rPr>
              <a:t>AESEV</a:t>
            </a:r>
            <a:endParaRPr lang="en-US" sz="1400" dirty="0"/>
          </a:p>
        </p:txBody>
      </p:sp>
      <p:sp>
        <p:nvSpPr>
          <p:cNvPr id="17" name="Shape 15"/>
          <p:cNvSpPr/>
          <p:nvPr/>
        </p:nvSpPr>
        <p:spPr>
          <a:xfrm>
            <a:off x="6400800" y="4105656"/>
            <a:ext cx="5212080" cy="841248"/>
          </a:xfrm>
          <a:prstGeom prst="roundRect">
            <a:avLst>
              <a:gd name="adj" fmla="val 9783"/>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Text 16"/>
          <p:cNvSpPr/>
          <p:nvPr/>
        </p:nvSpPr>
        <p:spPr>
          <a:xfrm>
            <a:off x="6583680" y="4215384"/>
            <a:ext cx="2286000" cy="621792"/>
          </a:xfrm>
          <a:prstGeom prst="rect">
            <a:avLst/>
          </a:prstGeom>
          <a:noFill/>
          <a:ln/>
        </p:spPr>
        <p:txBody>
          <a:bodyPr wrap="square" lIns="0" tIns="0" rIns="0" bIns="0" rtlCol="0" anchor="ctr"/>
          <a:lstStyle/>
          <a:p>
            <a:pPr indent="0" marL="0">
              <a:buNone/>
            </a:pPr>
            <a:r>
              <a:rPr lang="en-US" sz="1250" i="1" dirty="0">
                <a:solidFill>
                  <a:srgbClr val="5A7682"/>
                </a:solidFill>
                <a:latin typeface="Calibri" pitchFamily="34" charset="0"/>
                <a:ea typeface="Calibri" pitchFamily="34" charset="-122"/>
                <a:cs typeface="Calibri" pitchFamily="34" charset="-120"/>
              </a:rPr>
              <a:t>“mild”, “Mild”, “1”</a:t>
            </a:r>
            <a:endParaRPr lang="en-US" sz="1250" dirty="0"/>
          </a:p>
        </p:txBody>
      </p:sp>
      <p:sp>
        <p:nvSpPr>
          <p:cNvPr id="19" name="Text 17"/>
          <p:cNvSpPr/>
          <p:nvPr/>
        </p:nvSpPr>
        <p:spPr>
          <a:xfrm>
            <a:off x="8823960" y="4215384"/>
            <a:ext cx="457200" cy="621792"/>
          </a:xfrm>
          <a:prstGeom prst="rect">
            <a:avLst/>
          </a:prstGeom>
          <a:noFill/>
          <a:ln/>
        </p:spPr>
        <p:txBody>
          <a:bodyPr wrap="square" lIns="0" tIns="0" rIns="0" bIns="0" rtlCol="0" anchor="ctr"/>
          <a:lstStyle/>
          <a:p>
            <a:pPr algn="ctr" indent="0" marL="0">
              <a:buNone/>
            </a:pPr>
            <a:r>
              <a:rPr lang="en-US" sz="1800" b="1" dirty="0">
                <a:solidFill>
                  <a:srgbClr val="E8833A"/>
                </a:solidFill>
              </a:rPr>
              <a:t>→</a:t>
            </a:r>
            <a:endParaRPr lang="en-US" sz="1800" dirty="0"/>
          </a:p>
        </p:txBody>
      </p:sp>
      <p:sp>
        <p:nvSpPr>
          <p:cNvPr id="20" name="Text 18"/>
          <p:cNvSpPr/>
          <p:nvPr/>
        </p:nvSpPr>
        <p:spPr>
          <a:xfrm>
            <a:off x="9326880" y="4197096"/>
            <a:ext cx="2148840" cy="658368"/>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MILD</a:t>
            </a:r>
            <a:pPr indent="0" marL="0">
              <a:buNone/>
            </a:pPr>
            <a:endParaRPr lang="en-US" sz="1400" dirty="0"/>
          </a:p>
          <a:p>
            <a:pPr indent="0" marL="0">
              <a:buNone/>
            </a:pPr>
            <a:r>
              <a:rPr lang="en-US" sz="1000" dirty="0">
                <a:solidFill>
                  <a:srgbClr val="5A7682"/>
                </a:solidFill>
                <a:latin typeface="Courier New" pitchFamily="34" charset="0"/>
                <a:ea typeface="Courier New" pitchFamily="34" charset="-122"/>
                <a:cs typeface="Courier New" pitchFamily="34" charset="-120"/>
              </a:rPr>
              <a:t>AESEV</a:t>
            </a:r>
            <a:endParaRPr lang="en-US" sz="1400" dirty="0"/>
          </a:p>
        </p:txBody>
      </p:sp>
      <p:sp>
        <p:nvSpPr>
          <p:cNvPr id="21" name="Shape 19"/>
          <p:cNvSpPr/>
          <p:nvPr/>
        </p:nvSpPr>
        <p:spPr>
          <a:xfrm>
            <a:off x="6400800" y="5038344"/>
            <a:ext cx="5212080" cy="841248"/>
          </a:xfrm>
          <a:prstGeom prst="roundRect">
            <a:avLst>
              <a:gd name="adj" fmla="val 9783"/>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2" name="Text 20"/>
          <p:cNvSpPr/>
          <p:nvPr/>
        </p:nvSpPr>
        <p:spPr>
          <a:xfrm>
            <a:off x="6583680" y="5148072"/>
            <a:ext cx="2286000" cy="621792"/>
          </a:xfrm>
          <a:prstGeom prst="rect">
            <a:avLst/>
          </a:prstGeom>
          <a:noFill/>
          <a:ln/>
        </p:spPr>
        <p:txBody>
          <a:bodyPr wrap="square" lIns="0" tIns="0" rIns="0" bIns="0" rtlCol="0" anchor="ctr"/>
          <a:lstStyle/>
          <a:p>
            <a:pPr indent="0" marL="0">
              <a:buNone/>
            </a:pPr>
            <a:r>
              <a:rPr lang="en-US" sz="1250" i="1" dirty="0">
                <a:solidFill>
                  <a:srgbClr val="5A7682"/>
                </a:solidFill>
                <a:latin typeface="Calibri" pitchFamily="34" charset="0"/>
                <a:ea typeface="Calibri" pitchFamily="34" charset="-122"/>
                <a:cs typeface="Calibri" pitchFamily="34" charset="-120"/>
              </a:rPr>
              <a:t>“bpm”, “beats per min”</a:t>
            </a:r>
            <a:endParaRPr lang="en-US" sz="1250" dirty="0"/>
          </a:p>
        </p:txBody>
      </p:sp>
      <p:sp>
        <p:nvSpPr>
          <p:cNvPr id="23" name="Text 21"/>
          <p:cNvSpPr/>
          <p:nvPr/>
        </p:nvSpPr>
        <p:spPr>
          <a:xfrm>
            <a:off x="8823960" y="5148072"/>
            <a:ext cx="457200" cy="621792"/>
          </a:xfrm>
          <a:prstGeom prst="rect">
            <a:avLst/>
          </a:prstGeom>
          <a:noFill/>
          <a:ln/>
        </p:spPr>
        <p:txBody>
          <a:bodyPr wrap="square" lIns="0" tIns="0" rIns="0" bIns="0" rtlCol="0" anchor="ctr"/>
          <a:lstStyle/>
          <a:p>
            <a:pPr algn="ctr" indent="0" marL="0">
              <a:buNone/>
            </a:pPr>
            <a:r>
              <a:rPr lang="en-US" sz="1800" b="1" dirty="0">
                <a:solidFill>
                  <a:srgbClr val="E8833A"/>
                </a:solidFill>
              </a:rPr>
              <a:t>→</a:t>
            </a:r>
            <a:endParaRPr lang="en-US" sz="1800" dirty="0"/>
          </a:p>
        </p:txBody>
      </p:sp>
      <p:sp>
        <p:nvSpPr>
          <p:cNvPr id="24" name="Text 22"/>
          <p:cNvSpPr/>
          <p:nvPr/>
        </p:nvSpPr>
        <p:spPr>
          <a:xfrm>
            <a:off x="9326880" y="5129784"/>
            <a:ext cx="2148840" cy="658368"/>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beats/min</a:t>
            </a:r>
            <a:pPr indent="0" marL="0">
              <a:buNone/>
            </a:pPr>
            <a:endParaRPr lang="en-US" sz="1400" dirty="0"/>
          </a:p>
          <a:p>
            <a:pPr indent="0" marL="0">
              <a:buNone/>
            </a:pPr>
            <a:r>
              <a:rPr lang="en-US" sz="1000" dirty="0">
                <a:solidFill>
                  <a:srgbClr val="5A7682"/>
                </a:solidFill>
                <a:latin typeface="Courier New" pitchFamily="34" charset="0"/>
                <a:ea typeface="Courier New" pitchFamily="34" charset="-122"/>
                <a:cs typeface="Courier New" pitchFamily="34" charset="-120"/>
              </a:rPr>
              <a:t>VSORRESU</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SUBMISSION PACKAGE</a:t>
            </a:r>
            <a:endParaRPr lang="en-US" sz="1200" dirty="0"/>
          </a:p>
        </p:txBody>
      </p:sp>
      <p:sp>
        <p:nvSpPr>
          <p:cNvPr id="3" name="Text 1"/>
          <p:cNvSpPr/>
          <p:nvPr/>
        </p:nvSpPr>
        <p:spPr>
          <a:xfrm>
            <a:off x="603504" y="822960"/>
            <a:ext cx="109728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Define-XML: the map that ships with the data</a:t>
            </a:r>
            <a:endParaRPr lang="en-US" sz="2800" dirty="0"/>
          </a:p>
        </p:txBody>
      </p:sp>
      <p:sp>
        <p:nvSpPr>
          <p:cNvPr id="4" name="Shape 2"/>
          <p:cNvSpPr/>
          <p:nvPr/>
        </p:nvSpPr>
        <p:spPr>
          <a:xfrm>
            <a:off x="640080" y="1874520"/>
            <a:ext cx="5349240" cy="4023360"/>
          </a:xfrm>
          <a:prstGeom prst="roundRect">
            <a:avLst>
              <a:gd name="adj" fmla="val 2045"/>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2103120"/>
            <a:ext cx="4754880" cy="365760"/>
          </a:xfrm>
          <a:prstGeom prst="rect">
            <a:avLst/>
          </a:prstGeom>
          <a:noFill/>
          <a:ln/>
        </p:spPr>
        <p:txBody>
          <a:bodyPr wrap="square" lIns="0" tIns="0" rIns="0" bIns="0" rtlCol="0" anchor="ctr"/>
          <a:lstStyle/>
          <a:p>
            <a:pPr indent="0" marL="0">
              <a:buNone/>
            </a:pPr>
            <a:r>
              <a:rPr lang="en-US" sz="1600" b="1" dirty="0">
                <a:solidFill>
                  <a:srgbClr val="6FC8B4"/>
                </a:solidFill>
                <a:latin typeface="Calibri" pitchFamily="34" charset="0"/>
                <a:ea typeface="Calibri" pitchFamily="34" charset="-122"/>
                <a:cs typeface="Calibri" pitchFamily="34" charset="-120"/>
              </a:rPr>
              <a:t>What Define-XML is</a:t>
            </a:r>
            <a:endParaRPr lang="en-US" sz="1600" dirty="0"/>
          </a:p>
        </p:txBody>
      </p:sp>
      <p:sp>
        <p:nvSpPr>
          <p:cNvPr id="6" name="Text 4"/>
          <p:cNvSpPr/>
          <p:nvPr/>
        </p:nvSpPr>
        <p:spPr>
          <a:xfrm>
            <a:off x="914400" y="2560320"/>
            <a:ext cx="4800600" cy="3108960"/>
          </a:xfrm>
          <a:prstGeom prst="rect">
            <a:avLst/>
          </a:prstGeom>
          <a:noFill/>
          <a:ln/>
        </p:spPr>
        <p:txBody>
          <a:bodyPr wrap="square" lIns="0" tIns="0" rIns="0" bIns="0" rtlCol="0" anchor="t"/>
          <a:lstStyle/>
          <a:p>
            <a:pPr indent="0" marL="0">
              <a:lnSpc>
                <a:spcPts val="2100"/>
              </a:lnSpc>
              <a:buNone/>
            </a:pPr>
            <a:r>
              <a:rPr lang="en-US" sz="1400" dirty="0">
                <a:solidFill>
                  <a:srgbClr val="E7F0F1"/>
                </a:solidFill>
                <a:latin typeface="Calibri" pitchFamily="34" charset="0"/>
                <a:ea typeface="Calibri" pitchFamily="34" charset="-122"/>
                <a:cs typeface="Calibri" pitchFamily="34" charset="-120"/>
              </a:rPr>
              <a:t>A machine-readable metadata file (the “data definition”) that describes every dataset, variable, codelist, and derivation in the submission.
</a:t>
            </a:r>
            <a:pPr indent="0" marL="0">
              <a:lnSpc>
                <a:spcPts val="2100"/>
              </a:lnSpc>
              <a:buNone/>
            </a:pPr>
            <a:r>
              <a:rPr lang="en-US" sz="1400" b="1" dirty="0">
                <a:solidFill>
                  <a:srgbClr val="FFFFFF"/>
                </a:solidFill>
                <a:latin typeface="Calibri" pitchFamily="34" charset="0"/>
                <a:ea typeface="Calibri" pitchFamily="34" charset="-122"/>
                <a:cs typeface="Calibri" pitchFamily="34" charset="-120"/>
              </a:rPr>
              <a:t>It is the reviewer's map to your data</a:t>
            </a:r>
            <a:pPr indent="0" marL="0">
              <a:lnSpc>
                <a:spcPts val="2100"/>
              </a:lnSpc>
              <a:buNone/>
            </a:pPr>
            <a:r>
              <a:rPr lang="en-US" sz="1400" dirty="0">
                <a:solidFill>
                  <a:srgbClr val="E7F0F1"/>
                </a:solidFill>
                <a:latin typeface="Calibri" pitchFamily="34" charset="0"/>
                <a:ea typeface="Calibri" pitchFamily="34" charset="-122"/>
                <a:cs typeface="Calibri" pitchFamily="34" charset="-120"/>
              </a:rPr>
              <a:t> — arguably as important as the datasets themselves.</a:t>
            </a:r>
            <a:endParaRPr lang="en-US" sz="1400" dirty="0"/>
          </a:p>
        </p:txBody>
      </p:sp>
      <p:sp>
        <p:nvSpPr>
          <p:cNvPr id="7" name="Text 5"/>
          <p:cNvSpPr/>
          <p:nvPr/>
        </p:nvSpPr>
        <p:spPr>
          <a:xfrm>
            <a:off x="6400800" y="2011680"/>
            <a:ext cx="52120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typical SDTM submission package</a:t>
            </a:r>
            <a:endParaRPr lang="en-US" sz="1500" dirty="0"/>
          </a:p>
        </p:txBody>
      </p:sp>
      <p:sp>
        <p:nvSpPr>
          <p:cNvPr id="8" name="Shape 6"/>
          <p:cNvSpPr/>
          <p:nvPr/>
        </p:nvSpPr>
        <p:spPr>
          <a:xfrm>
            <a:off x="6400800" y="2468880"/>
            <a:ext cx="5212080" cy="822960"/>
          </a:xfrm>
          <a:prstGeom prst="roundRect">
            <a:avLst>
              <a:gd name="adj" fmla="val 1000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583680" y="2651760"/>
            <a:ext cx="457200" cy="457200"/>
          </a:xfrm>
          <a:prstGeom prst="ellipse">
            <a:avLst/>
          </a:prstGeom>
          <a:solidFill>
            <a:srgbClr val="0E7C86"/>
          </a:solidFill>
          <a:ln/>
        </p:spPr>
      </p:sp>
      <p:sp>
        <p:nvSpPr>
          <p:cNvPr id="10" name="Text 8"/>
          <p:cNvSpPr/>
          <p:nvPr/>
        </p:nvSpPr>
        <p:spPr>
          <a:xfrm>
            <a:off x="6583680" y="26517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7178040" y="2560320"/>
            <a:ext cx="429768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SDTM datasets
</a:t>
            </a:r>
            <a:pPr indent="0" marL="0">
              <a:buNone/>
            </a:pPr>
            <a:r>
              <a:rPr lang="en-US" sz="1150" dirty="0">
                <a:solidFill>
                  <a:srgbClr val="9FC0C6"/>
                </a:solidFill>
                <a:latin typeface="Calibri" pitchFamily="34" charset="0"/>
                <a:ea typeface="Calibri" pitchFamily="34" charset="-122"/>
                <a:cs typeface="Calibri" pitchFamily="34" charset="-120"/>
              </a:rPr>
              <a:t>The domains themselves (SAS XPORT .xpt files)</a:t>
            </a:r>
            <a:endParaRPr lang="en-US" sz="1350" dirty="0"/>
          </a:p>
        </p:txBody>
      </p:sp>
      <p:sp>
        <p:nvSpPr>
          <p:cNvPr id="12" name="Shape 10"/>
          <p:cNvSpPr/>
          <p:nvPr/>
        </p:nvSpPr>
        <p:spPr>
          <a:xfrm>
            <a:off x="6400800" y="3364992"/>
            <a:ext cx="5212080" cy="822960"/>
          </a:xfrm>
          <a:prstGeom prst="roundRect">
            <a:avLst>
              <a:gd name="adj" fmla="val 1000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6583680" y="3547872"/>
            <a:ext cx="457200" cy="457200"/>
          </a:xfrm>
          <a:prstGeom prst="ellipse">
            <a:avLst/>
          </a:prstGeom>
          <a:solidFill>
            <a:srgbClr val="E8833A"/>
          </a:solidFill>
          <a:ln/>
        </p:spPr>
      </p:sp>
      <p:sp>
        <p:nvSpPr>
          <p:cNvPr id="14" name="Text 12"/>
          <p:cNvSpPr/>
          <p:nvPr/>
        </p:nvSpPr>
        <p:spPr>
          <a:xfrm>
            <a:off x="6583680" y="35478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7178040" y="3456432"/>
            <a:ext cx="429768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Define-XML
</a:t>
            </a:r>
            <a:pPr indent="0" marL="0">
              <a:buNone/>
            </a:pPr>
            <a:r>
              <a:rPr lang="en-US" sz="1150" dirty="0">
                <a:solidFill>
                  <a:srgbClr val="9FC0C6"/>
                </a:solidFill>
                <a:latin typeface="Calibri" pitchFamily="34" charset="0"/>
                <a:ea typeface="Calibri" pitchFamily="34" charset="-122"/>
                <a:cs typeface="Calibri" pitchFamily="34" charset="-120"/>
              </a:rPr>
              <a:t>Metadata describing all datasets &amp; variables</a:t>
            </a:r>
            <a:endParaRPr lang="en-US" sz="1350" dirty="0"/>
          </a:p>
        </p:txBody>
      </p:sp>
      <p:sp>
        <p:nvSpPr>
          <p:cNvPr id="16" name="Shape 14"/>
          <p:cNvSpPr/>
          <p:nvPr/>
        </p:nvSpPr>
        <p:spPr>
          <a:xfrm>
            <a:off x="6400800" y="4261104"/>
            <a:ext cx="5212080" cy="822960"/>
          </a:xfrm>
          <a:prstGeom prst="roundRect">
            <a:avLst>
              <a:gd name="adj" fmla="val 1000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583680" y="4443984"/>
            <a:ext cx="457200" cy="457200"/>
          </a:xfrm>
          <a:prstGeom prst="ellipse">
            <a:avLst/>
          </a:prstGeom>
          <a:solidFill>
            <a:srgbClr val="1FA8A0"/>
          </a:solidFill>
          <a:ln/>
        </p:spPr>
      </p:sp>
      <p:sp>
        <p:nvSpPr>
          <p:cNvPr id="18" name="Text 16"/>
          <p:cNvSpPr/>
          <p:nvPr/>
        </p:nvSpPr>
        <p:spPr>
          <a:xfrm>
            <a:off x="6583680" y="44439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7178040" y="4352544"/>
            <a:ext cx="429768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cSDRG
</a:t>
            </a:r>
            <a:pPr indent="0" marL="0">
              <a:buNone/>
            </a:pPr>
            <a:r>
              <a:rPr lang="en-US" sz="1150" dirty="0">
                <a:solidFill>
                  <a:srgbClr val="9FC0C6"/>
                </a:solidFill>
                <a:latin typeface="Calibri" pitchFamily="34" charset="0"/>
                <a:ea typeface="Calibri" pitchFamily="34" charset="-122"/>
                <a:cs typeface="Calibri" pitchFamily="34" charset="-120"/>
              </a:rPr>
              <a:t>Study Data Reviewer's Guide — narrative context</a:t>
            </a:r>
            <a:endParaRPr lang="en-US" sz="1350" dirty="0"/>
          </a:p>
        </p:txBody>
      </p:sp>
      <p:sp>
        <p:nvSpPr>
          <p:cNvPr id="20" name="Shape 18"/>
          <p:cNvSpPr/>
          <p:nvPr/>
        </p:nvSpPr>
        <p:spPr>
          <a:xfrm>
            <a:off x="6400800" y="5157216"/>
            <a:ext cx="5212080" cy="822960"/>
          </a:xfrm>
          <a:prstGeom prst="roundRect">
            <a:avLst>
              <a:gd name="adj" fmla="val 1000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6583680" y="5340096"/>
            <a:ext cx="457200" cy="457200"/>
          </a:xfrm>
          <a:prstGeom prst="ellipse">
            <a:avLst/>
          </a:prstGeom>
          <a:solidFill>
            <a:srgbClr val="6FC8B4"/>
          </a:solidFill>
          <a:ln/>
        </p:spPr>
      </p:sp>
      <p:sp>
        <p:nvSpPr>
          <p:cNvPr id="22" name="Text 20"/>
          <p:cNvSpPr/>
          <p:nvPr/>
        </p:nvSpPr>
        <p:spPr>
          <a:xfrm>
            <a:off x="6583680" y="5340096"/>
            <a:ext cx="457200" cy="457200"/>
          </a:xfrm>
          <a:prstGeom prst="rect">
            <a:avLst/>
          </a:prstGeom>
          <a:noFill/>
          <a:ln/>
        </p:spPr>
        <p:txBody>
          <a:bodyPr wrap="square" lIns="0" tIns="0" rIns="0" bIns="0" rtlCol="0" anchor="ctr"/>
          <a:lstStyle/>
          <a:p>
            <a:pPr algn="ctr" indent="0" marL="0">
              <a:buNone/>
            </a:pPr>
            <a:r>
              <a:rPr lang="en-US" sz="1400" b="1" dirty="0">
                <a:solidFill>
                  <a:srgbClr val="0F2E3D"/>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7178040" y="5248656"/>
            <a:ext cx="429768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annotated CRF
</a:t>
            </a:r>
            <a:pPr indent="0" marL="0">
              <a:buNone/>
            </a:pPr>
            <a:r>
              <a:rPr lang="en-US" sz="1150" dirty="0">
                <a:solidFill>
                  <a:srgbClr val="9FC0C6"/>
                </a:solidFill>
                <a:latin typeface="Calibri" pitchFamily="34" charset="0"/>
                <a:ea typeface="Calibri" pitchFamily="34" charset="-122"/>
                <a:cs typeface="Calibri" pitchFamily="34" charset="-120"/>
              </a:rPr>
              <a:t>Blank CRF marked with the SDTM variable names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WORKED MINI EXAMPLE  ·  1 OF 2</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Raw adverse-event data (as collected)</a:t>
            </a:r>
            <a:endParaRPr lang="en-US" sz="3000" dirty="0"/>
          </a:p>
        </p:txBody>
      </p:sp>
      <p:sp>
        <p:nvSpPr>
          <p:cNvPr id="4" name="Text 2"/>
          <p:cNvSpPr/>
          <p:nvPr/>
        </p:nvSpPr>
        <p:spPr>
          <a:xfrm>
            <a:off x="548640" y="1371600"/>
            <a:ext cx="10972800" cy="365760"/>
          </a:xfrm>
          <a:prstGeom prst="rect">
            <a:avLst/>
          </a:prstGeom>
          <a:noFill/>
          <a:ln/>
        </p:spPr>
        <p:txBody>
          <a:bodyPr wrap="square" lIns="0" tIns="0" rIns="0" bIns="0" rtlCol="0" anchor="ctr"/>
          <a:lstStyle/>
          <a:p>
            <a:pPr indent="0" marL="0">
              <a:buNone/>
            </a:pPr>
            <a:r>
              <a:rPr lang="en-US" sz="1400" dirty="0">
                <a:solidFill>
                  <a:srgbClr val="5A7682"/>
                </a:solidFill>
                <a:latin typeface="Calibri" pitchFamily="34" charset="0"/>
                <a:ea typeface="Calibri" pitchFamily="34" charset="-122"/>
                <a:cs typeface="Calibri" pitchFamily="34" charset="-120"/>
              </a:rPr>
              <a:t>This is how an adverse event might look in the raw EDC extract — human-friendly, but not standardized.</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72800" cy="914400"/>
        </p:xfrm>
        <a:graphic>
          <a:graphicData uri="http://schemas.openxmlformats.org/drawingml/2006/table">
            <a:tbl>
              <a:tblPr/>
              <a:tblGrid>
                <a:gridCol w="1188720"/>
                <a:gridCol w="2286000"/>
                <a:gridCol w="1737360"/>
                <a:gridCol w="1737360"/>
                <a:gridCol w="1463040"/>
                <a:gridCol w="1280160"/>
                <a:gridCol w="1280160"/>
              </a:tblGrid>
              <a:tr h="5486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Subject</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5A76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AE Term</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5A76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Start Date</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5A76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End Date</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5A76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5A76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Serious?</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5A76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Outcome (code)</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5A7682"/>
                    </a:solidFill>
                  </a:tcPr>
                </a:tc>
              </a:tr>
              <a:tr h="548640">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001</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bad headache</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15/03/2024</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16/03/2024</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moderate</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548640">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002</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mild dizziness</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10-Mar-2024</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12-Mar-2024</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Mild</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200" dirty="0">
                          <a:solidFill>
                            <a:srgbClr val="0F2E3D"/>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63500" marR="635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bl>
          </a:graphicData>
        </a:graphic>
      </p:graphicFrame>
      <p:sp>
        <p:nvSpPr>
          <p:cNvPr id="6" name="Text 3"/>
          <p:cNvSpPr/>
          <p:nvPr/>
        </p:nvSpPr>
        <p:spPr>
          <a:xfrm>
            <a:off x="640080" y="3703320"/>
            <a:ext cx="7315200" cy="365760"/>
          </a:xfrm>
          <a:prstGeom prst="rect">
            <a:avLst/>
          </a:prstGeom>
          <a:noFill/>
          <a:ln/>
        </p:spPr>
        <p:txBody>
          <a:bodyPr wrap="square" lIns="0" tIns="0" rIns="0" bIns="0" rtlCol="0" anchor="ctr"/>
          <a:lstStyle/>
          <a:p>
            <a:pPr indent="0" marL="0">
              <a:buNone/>
            </a:pPr>
            <a:r>
              <a:rPr lang="en-US" sz="1600" b="1" dirty="0">
                <a:solidFill>
                  <a:srgbClr val="E8833A"/>
                </a:solidFill>
                <a:latin typeface="Calibri" pitchFamily="34" charset="0"/>
                <a:ea typeface="Calibri" pitchFamily="34" charset="-122"/>
                <a:cs typeface="Calibri" pitchFamily="34" charset="-120"/>
              </a:rPr>
              <a:t>What's “wrong” for SDTM?</a:t>
            </a:r>
            <a:endParaRPr lang="en-US" sz="1600" dirty="0"/>
          </a:p>
        </p:txBody>
      </p:sp>
      <p:sp>
        <p:nvSpPr>
          <p:cNvPr id="7" name="Shape 4"/>
          <p:cNvSpPr/>
          <p:nvPr/>
        </p:nvSpPr>
        <p:spPr>
          <a:xfrm>
            <a:off x="685800" y="4023360"/>
            <a:ext cx="365760" cy="365760"/>
          </a:xfrm>
          <a:prstGeom prst="ellipse">
            <a:avLst/>
          </a:prstGeom>
          <a:solidFill>
            <a:srgbClr val="0E7C86"/>
          </a:solidFill>
          <a:ln/>
        </p:spPr>
      </p:sp>
      <p:sp>
        <p:nvSpPr>
          <p:cNvPr id="8" name="Text 5"/>
          <p:cNvSpPr/>
          <p:nvPr/>
        </p:nvSpPr>
        <p:spPr>
          <a:xfrm>
            <a:off x="685800" y="4023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6"/>
          <p:cNvSpPr/>
          <p:nvPr/>
        </p:nvSpPr>
        <p:spPr>
          <a:xfrm>
            <a:off x="1188720" y="3986784"/>
            <a:ext cx="10332720" cy="438912"/>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Inconsistent dates: DD/MM/YYYY vs DD-Mon-YYYY — SDTM needs ISO 8601 (YYYY-MM-DD).</a:t>
            </a:r>
            <a:endParaRPr lang="en-US" sz="1300" dirty="0"/>
          </a:p>
        </p:txBody>
      </p:sp>
      <p:sp>
        <p:nvSpPr>
          <p:cNvPr id="10" name="Shape 7"/>
          <p:cNvSpPr/>
          <p:nvPr/>
        </p:nvSpPr>
        <p:spPr>
          <a:xfrm>
            <a:off x="685800" y="4480560"/>
            <a:ext cx="365760" cy="365760"/>
          </a:xfrm>
          <a:prstGeom prst="ellipse">
            <a:avLst/>
          </a:prstGeom>
          <a:solidFill>
            <a:srgbClr val="1FA8A0"/>
          </a:solidFill>
          <a:ln/>
        </p:spPr>
      </p:sp>
      <p:sp>
        <p:nvSpPr>
          <p:cNvPr id="11" name="Text 8"/>
          <p:cNvSpPr/>
          <p:nvPr/>
        </p:nvSpPr>
        <p:spPr>
          <a:xfrm>
            <a:off x="685800" y="4480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9"/>
          <p:cNvSpPr/>
          <p:nvPr/>
        </p:nvSpPr>
        <p:spPr>
          <a:xfrm>
            <a:off x="1188720" y="4443984"/>
            <a:ext cx="10332720" cy="438912"/>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Free-text terms: “bad headache” must be coded (e.g., via MedDRA) and split into reported vs. dictionary terms.</a:t>
            </a:r>
            <a:endParaRPr lang="en-US" sz="1300" dirty="0"/>
          </a:p>
        </p:txBody>
      </p:sp>
      <p:sp>
        <p:nvSpPr>
          <p:cNvPr id="13" name="Shape 10"/>
          <p:cNvSpPr/>
          <p:nvPr/>
        </p:nvSpPr>
        <p:spPr>
          <a:xfrm>
            <a:off x="685800" y="4937760"/>
            <a:ext cx="365760" cy="365760"/>
          </a:xfrm>
          <a:prstGeom prst="ellipse">
            <a:avLst/>
          </a:prstGeom>
          <a:solidFill>
            <a:srgbClr val="0E7C86"/>
          </a:solidFill>
          <a:ln/>
        </p:spPr>
      </p:sp>
      <p:sp>
        <p:nvSpPr>
          <p:cNvPr id="14" name="Text 11"/>
          <p:cNvSpPr/>
          <p:nvPr/>
        </p:nvSpPr>
        <p:spPr>
          <a:xfrm>
            <a:off x="685800" y="4937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2"/>
          <p:cNvSpPr/>
          <p:nvPr/>
        </p:nvSpPr>
        <p:spPr>
          <a:xfrm>
            <a:off x="1188720" y="4901184"/>
            <a:ext cx="10332720" cy="438912"/>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Severity as free text: must map to Controlled Terminology (MILD / MODERATE / SEVERE).</a:t>
            </a:r>
            <a:endParaRPr lang="en-US" sz="1300" dirty="0"/>
          </a:p>
        </p:txBody>
      </p:sp>
      <p:sp>
        <p:nvSpPr>
          <p:cNvPr id="16" name="Shape 13"/>
          <p:cNvSpPr/>
          <p:nvPr/>
        </p:nvSpPr>
        <p:spPr>
          <a:xfrm>
            <a:off x="685800" y="5394960"/>
            <a:ext cx="365760" cy="365760"/>
          </a:xfrm>
          <a:prstGeom prst="ellipse">
            <a:avLst/>
          </a:prstGeom>
          <a:solidFill>
            <a:srgbClr val="1FA8A0"/>
          </a:solidFill>
          <a:ln/>
        </p:spPr>
      </p:sp>
      <p:sp>
        <p:nvSpPr>
          <p:cNvPr id="17" name="Text 14"/>
          <p:cNvSpPr/>
          <p:nvPr/>
        </p:nvSpPr>
        <p:spPr>
          <a:xfrm>
            <a:off x="685800" y="5394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5"/>
          <p:cNvSpPr/>
          <p:nvPr/>
        </p:nvSpPr>
        <p:spPr>
          <a:xfrm>
            <a:off x="1188720" y="5358384"/>
            <a:ext cx="10332720" cy="438912"/>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Serious as No / N: must become standard N / Y in AESER.</a:t>
            </a:r>
            <a:endParaRPr lang="en-US" sz="1300" dirty="0"/>
          </a:p>
        </p:txBody>
      </p:sp>
      <p:sp>
        <p:nvSpPr>
          <p:cNvPr id="19" name="Shape 16"/>
          <p:cNvSpPr/>
          <p:nvPr/>
        </p:nvSpPr>
        <p:spPr>
          <a:xfrm>
            <a:off x="685800" y="5852160"/>
            <a:ext cx="365760" cy="365760"/>
          </a:xfrm>
          <a:prstGeom prst="ellipse">
            <a:avLst/>
          </a:prstGeom>
          <a:solidFill>
            <a:srgbClr val="0E7C86"/>
          </a:solidFill>
          <a:ln/>
        </p:spPr>
      </p:sp>
      <p:sp>
        <p:nvSpPr>
          <p:cNvPr id="20" name="Text 17"/>
          <p:cNvSpPr/>
          <p:nvPr/>
        </p:nvSpPr>
        <p:spPr>
          <a:xfrm>
            <a:off x="685800" y="5852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8"/>
          <p:cNvSpPr/>
          <p:nvPr/>
        </p:nvSpPr>
        <p:spPr>
          <a:xfrm>
            <a:off x="1188720" y="5815584"/>
            <a:ext cx="10332720" cy="438912"/>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Outcome is a CODE (1-5): must be decoded to its CT term, e.g. 1 → RECOVERED/RESOLVED.</a:t>
            </a:r>
            <a:endParaRPr lang="en-US" sz="1300" dirty="0"/>
          </a:p>
        </p:txBody>
      </p:sp>
      <p:sp>
        <p:nvSpPr>
          <p:cNvPr id="22" name="Shape 19"/>
          <p:cNvSpPr/>
          <p:nvPr/>
        </p:nvSpPr>
        <p:spPr>
          <a:xfrm>
            <a:off x="685800" y="6309360"/>
            <a:ext cx="365760" cy="365760"/>
          </a:xfrm>
          <a:prstGeom prst="ellipse">
            <a:avLst/>
          </a:prstGeom>
          <a:solidFill>
            <a:srgbClr val="1FA8A0"/>
          </a:solidFill>
          <a:ln/>
        </p:spPr>
      </p:sp>
      <p:sp>
        <p:nvSpPr>
          <p:cNvPr id="23" name="Text 20"/>
          <p:cNvSpPr/>
          <p:nvPr/>
        </p:nvSpPr>
        <p:spPr>
          <a:xfrm>
            <a:off x="685800" y="6309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1"/>
          <p:cNvSpPr/>
          <p:nvPr/>
        </p:nvSpPr>
        <p:spPr>
          <a:xfrm>
            <a:off x="1188720" y="6272784"/>
            <a:ext cx="10332720" cy="438912"/>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Subject “001” isn't unique study-wide — subject 001 exists at BOTH sites. Needs a full USUBJID.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WORKED MINI EXAMPLE  ·  2 OF 2</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same data, mapped to SDTM AE</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92840" cy="914400"/>
        </p:xfrm>
        <a:graphic>
          <a:graphicData uri="http://schemas.openxmlformats.org/drawingml/2006/table">
            <a:tbl>
              <a:tblPr/>
              <a:tblGrid>
                <a:gridCol w="1051560"/>
                <a:gridCol w="822960"/>
                <a:gridCol w="1417320"/>
                <a:gridCol w="731520"/>
                <a:gridCol w="1371600"/>
                <a:gridCol w="1234440"/>
                <a:gridCol w="1143000"/>
                <a:gridCol w="1143000"/>
                <a:gridCol w="1143000"/>
                <a:gridCol w="777240"/>
              </a:tblGrid>
              <a:tr h="512064">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STUDYID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DOMAIN</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USUBJID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AESEQ</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AETERM</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AEDECOD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AESTDTC</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AEENDTC</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AESEV</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AESER</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r>
              <a:tr h="512064">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ABC-01</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AE</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ABC-01-01-001</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1</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bad headache</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E7C86"/>
                          </a:solidFill>
                          <a:latin typeface="Courier New" pitchFamily="34" charset="0"/>
                          <a:ea typeface="Courier New" pitchFamily="34" charset="-122"/>
                          <a:cs typeface="Courier New" pitchFamily="34" charset="-120"/>
                        </a:rPr>
                        <a:t>Headache</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E7C86"/>
                          </a:solidFill>
                          <a:latin typeface="Courier New" pitchFamily="34" charset="0"/>
                          <a:ea typeface="Courier New" pitchFamily="34" charset="-122"/>
                          <a:cs typeface="Courier New" pitchFamily="34" charset="-120"/>
                        </a:rPr>
                        <a:t>2024-03-15</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2024-03-16</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E7C86"/>
                          </a:solidFill>
                          <a:latin typeface="Courier New" pitchFamily="34" charset="0"/>
                          <a:ea typeface="Courier New" pitchFamily="34" charset="-122"/>
                          <a:cs typeface="Courier New" pitchFamily="34" charset="-120"/>
                        </a:rPr>
                        <a:t>MODERATE</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N</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512064">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ABC-01</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AE</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ABC-01-01-002</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1</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mild dizziness</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b="1" dirty="0">
                          <a:solidFill>
                            <a:srgbClr val="0E7C86"/>
                          </a:solidFill>
                          <a:latin typeface="Courier New" pitchFamily="34" charset="0"/>
                          <a:ea typeface="Courier New" pitchFamily="34" charset="-122"/>
                          <a:cs typeface="Courier New" pitchFamily="34" charset="-120"/>
                        </a:rPr>
                        <a:t>Dizziness</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E7C86"/>
                          </a:solidFill>
                          <a:latin typeface="Courier New" pitchFamily="34" charset="0"/>
                          <a:ea typeface="Courier New" pitchFamily="34" charset="-122"/>
                          <a:cs typeface="Courier New" pitchFamily="34" charset="-120"/>
                        </a:rPr>
                        <a:t>2024-03-10</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2024-03-12</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b="1" dirty="0">
                          <a:solidFill>
                            <a:srgbClr val="0E7C86"/>
                          </a:solidFill>
                          <a:latin typeface="Courier New" pitchFamily="34" charset="0"/>
                          <a:ea typeface="Courier New" pitchFamily="34" charset="-122"/>
                          <a:cs typeface="Courier New" pitchFamily="34" charset="-120"/>
                        </a:rPr>
                        <a:t>MILD</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00" dirty="0">
                          <a:solidFill>
                            <a:srgbClr val="0F2E3D"/>
                          </a:solidFill>
                          <a:latin typeface="Courier New" pitchFamily="34" charset="0"/>
                          <a:ea typeface="Courier New" pitchFamily="34" charset="-122"/>
                          <a:cs typeface="Courier New" pitchFamily="34" charset="-120"/>
                        </a:rPr>
                        <a:t>N</a:t>
                      </a:r>
                      <a:endParaRPr lang="en-US" sz="9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bl>
          </a:graphicData>
        </a:graphic>
      </p:graphicFrame>
      <p:sp>
        <p:nvSpPr>
          <p:cNvPr id="5" name="Shape 2"/>
          <p:cNvSpPr/>
          <p:nvPr/>
        </p:nvSpPr>
        <p:spPr>
          <a:xfrm>
            <a:off x="640080" y="3383280"/>
            <a:ext cx="3566160" cy="1051560"/>
          </a:xfrm>
          <a:prstGeom prst="roundRect">
            <a:avLst>
              <a:gd name="adj" fmla="val 782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Text 3"/>
          <p:cNvSpPr/>
          <p:nvPr/>
        </p:nvSpPr>
        <p:spPr>
          <a:xfrm>
            <a:off x="868680" y="3520440"/>
            <a:ext cx="3108960" cy="365760"/>
          </a:xfrm>
          <a:prstGeom prst="rect">
            <a:avLst/>
          </a:prstGeom>
          <a:noFill/>
          <a:ln/>
        </p:spPr>
        <p:txBody>
          <a:bodyPr wrap="square" lIns="0" tIns="0" rIns="0" bIns="0" rtlCol="0" anchor="ctr"/>
          <a:lstStyle/>
          <a:p>
            <a:pPr indent="0" marL="0">
              <a:buNone/>
            </a:pPr>
            <a:r>
              <a:rPr lang="en-US" sz="1350" b="1" dirty="0">
                <a:solidFill>
                  <a:srgbClr val="0E7C86"/>
                </a:solidFill>
                <a:latin typeface="Calibri" pitchFamily="34" charset="0"/>
                <a:ea typeface="Calibri" pitchFamily="34" charset="-122"/>
                <a:cs typeface="Calibri" pitchFamily="34" charset="-120"/>
              </a:rPr>
              <a:t>Dates → ISO 8601</a:t>
            </a:r>
            <a:endParaRPr lang="en-US" sz="1350" dirty="0"/>
          </a:p>
        </p:txBody>
      </p:sp>
      <p:sp>
        <p:nvSpPr>
          <p:cNvPr id="7" name="Text 4"/>
          <p:cNvSpPr/>
          <p:nvPr/>
        </p:nvSpPr>
        <p:spPr>
          <a:xfrm>
            <a:off x="868680" y="3913632"/>
            <a:ext cx="3154680" cy="502920"/>
          </a:xfrm>
          <a:prstGeom prst="rect">
            <a:avLst/>
          </a:prstGeom>
          <a:noFill/>
          <a:ln/>
        </p:spPr>
        <p:txBody>
          <a:bodyPr wrap="square" lIns="0" tIns="0" rIns="0" bIns="0" rtlCol="0" anchor="ctr"/>
          <a:lstStyle/>
          <a:p>
            <a:pPr indent="0" marL="0">
              <a:buNone/>
            </a:pPr>
            <a:r>
              <a:rPr lang="en-US" sz="1050" dirty="0">
                <a:solidFill>
                  <a:srgbClr val="5A7682"/>
                </a:solidFill>
                <a:latin typeface="Courier New" pitchFamily="34" charset="0"/>
                <a:ea typeface="Courier New" pitchFamily="34" charset="-122"/>
                <a:cs typeface="Courier New" pitchFamily="34" charset="-120"/>
              </a:rPr>
              <a:t>15/03/2024 → 2024-03-15</a:t>
            </a:r>
            <a:endParaRPr lang="en-US" sz="1050" dirty="0"/>
          </a:p>
        </p:txBody>
      </p:sp>
      <p:sp>
        <p:nvSpPr>
          <p:cNvPr id="8" name="Shape 5"/>
          <p:cNvSpPr/>
          <p:nvPr/>
        </p:nvSpPr>
        <p:spPr>
          <a:xfrm>
            <a:off x="4389120" y="3383280"/>
            <a:ext cx="3566160" cy="1051560"/>
          </a:xfrm>
          <a:prstGeom prst="roundRect">
            <a:avLst>
              <a:gd name="adj" fmla="val 782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6"/>
          <p:cNvSpPr/>
          <p:nvPr/>
        </p:nvSpPr>
        <p:spPr>
          <a:xfrm>
            <a:off x="4617720" y="3520440"/>
            <a:ext cx="3108960" cy="365760"/>
          </a:xfrm>
          <a:prstGeom prst="rect">
            <a:avLst/>
          </a:prstGeom>
          <a:noFill/>
          <a:ln/>
        </p:spPr>
        <p:txBody>
          <a:bodyPr wrap="square" lIns="0" tIns="0" rIns="0" bIns="0" rtlCol="0" anchor="ctr"/>
          <a:lstStyle/>
          <a:p>
            <a:pPr indent="0" marL="0">
              <a:buNone/>
            </a:pPr>
            <a:r>
              <a:rPr lang="en-US" sz="1350" b="1" dirty="0">
                <a:solidFill>
                  <a:srgbClr val="1FA8A0"/>
                </a:solidFill>
                <a:latin typeface="Calibri" pitchFamily="34" charset="0"/>
                <a:ea typeface="Calibri" pitchFamily="34" charset="-122"/>
                <a:cs typeface="Calibri" pitchFamily="34" charset="-120"/>
              </a:rPr>
              <a:t>Term coded (MedDRA)</a:t>
            </a:r>
            <a:endParaRPr lang="en-US" sz="1350" dirty="0"/>
          </a:p>
        </p:txBody>
      </p:sp>
      <p:sp>
        <p:nvSpPr>
          <p:cNvPr id="10" name="Text 7"/>
          <p:cNvSpPr/>
          <p:nvPr/>
        </p:nvSpPr>
        <p:spPr>
          <a:xfrm>
            <a:off x="4617720" y="3913632"/>
            <a:ext cx="3154680" cy="502920"/>
          </a:xfrm>
          <a:prstGeom prst="rect">
            <a:avLst/>
          </a:prstGeom>
          <a:noFill/>
          <a:ln/>
        </p:spPr>
        <p:txBody>
          <a:bodyPr wrap="square" lIns="0" tIns="0" rIns="0" bIns="0" rtlCol="0" anchor="ctr"/>
          <a:lstStyle/>
          <a:p>
            <a:pPr indent="0" marL="0">
              <a:buNone/>
            </a:pPr>
            <a:r>
              <a:rPr lang="en-US" sz="1050" dirty="0">
                <a:solidFill>
                  <a:srgbClr val="5A7682"/>
                </a:solidFill>
                <a:latin typeface="Courier New" pitchFamily="34" charset="0"/>
                <a:ea typeface="Courier New" pitchFamily="34" charset="-122"/>
                <a:cs typeface="Courier New" pitchFamily="34" charset="-120"/>
              </a:rPr>
              <a:t>bad headache → AEDECOD Headache</a:t>
            </a:r>
            <a:endParaRPr lang="en-US" sz="1050" dirty="0"/>
          </a:p>
        </p:txBody>
      </p:sp>
      <p:sp>
        <p:nvSpPr>
          <p:cNvPr id="11" name="Shape 8"/>
          <p:cNvSpPr/>
          <p:nvPr/>
        </p:nvSpPr>
        <p:spPr>
          <a:xfrm>
            <a:off x="8138160" y="3383280"/>
            <a:ext cx="3566160" cy="1051560"/>
          </a:xfrm>
          <a:prstGeom prst="roundRect">
            <a:avLst>
              <a:gd name="adj" fmla="val 782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9"/>
          <p:cNvSpPr/>
          <p:nvPr/>
        </p:nvSpPr>
        <p:spPr>
          <a:xfrm>
            <a:off x="8366760" y="3520440"/>
            <a:ext cx="3108960" cy="365760"/>
          </a:xfrm>
          <a:prstGeom prst="rect">
            <a:avLst/>
          </a:prstGeom>
          <a:noFill/>
          <a:ln/>
        </p:spPr>
        <p:txBody>
          <a:bodyPr wrap="square" lIns="0" tIns="0" rIns="0" bIns="0" rtlCol="0" anchor="ctr"/>
          <a:lstStyle/>
          <a:p>
            <a:pPr indent="0" marL="0">
              <a:buNone/>
            </a:pPr>
            <a:r>
              <a:rPr lang="en-US" sz="1350" b="1" dirty="0">
                <a:solidFill>
                  <a:srgbClr val="E8833A"/>
                </a:solidFill>
                <a:latin typeface="Calibri" pitchFamily="34" charset="0"/>
                <a:ea typeface="Calibri" pitchFamily="34" charset="-122"/>
                <a:cs typeface="Calibri" pitchFamily="34" charset="-120"/>
              </a:rPr>
              <a:t>Severity → CT</a:t>
            </a:r>
            <a:endParaRPr lang="en-US" sz="1350" dirty="0"/>
          </a:p>
        </p:txBody>
      </p:sp>
      <p:sp>
        <p:nvSpPr>
          <p:cNvPr id="13" name="Text 10"/>
          <p:cNvSpPr/>
          <p:nvPr/>
        </p:nvSpPr>
        <p:spPr>
          <a:xfrm>
            <a:off x="8366760" y="3913632"/>
            <a:ext cx="3154680" cy="502920"/>
          </a:xfrm>
          <a:prstGeom prst="rect">
            <a:avLst/>
          </a:prstGeom>
          <a:noFill/>
          <a:ln/>
        </p:spPr>
        <p:txBody>
          <a:bodyPr wrap="square" lIns="0" tIns="0" rIns="0" bIns="0" rtlCol="0" anchor="ctr"/>
          <a:lstStyle/>
          <a:p>
            <a:pPr indent="0" marL="0">
              <a:buNone/>
            </a:pPr>
            <a:r>
              <a:rPr lang="en-US" sz="1050" dirty="0">
                <a:solidFill>
                  <a:srgbClr val="5A7682"/>
                </a:solidFill>
                <a:latin typeface="Courier New" pitchFamily="34" charset="0"/>
                <a:ea typeface="Courier New" pitchFamily="34" charset="-122"/>
                <a:cs typeface="Courier New" pitchFamily="34" charset="-120"/>
              </a:rPr>
              <a:t>moderate → MODERATE</a:t>
            </a:r>
            <a:endParaRPr lang="en-US" sz="1050" dirty="0"/>
          </a:p>
        </p:txBody>
      </p:sp>
      <p:sp>
        <p:nvSpPr>
          <p:cNvPr id="14" name="Shape 11"/>
          <p:cNvSpPr/>
          <p:nvPr/>
        </p:nvSpPr>
        <p:spPr>
          <a:xfrm>
            <a:off x="640080" y="4590288"/>
            <a:ext cx="3566160" cy="1051560"/>
          </a:xfrm>
          <a:prstGeom prst="roundRect">
            <a:avLst>
              <a:gd name="adj" fmla="val 782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Text 12"/>
          <p:cNvSpPr/>
          <p:nvPr/>
        </p:nvSpPr>
        <p:spPr>
          <a:xfrm>
            <a:off x="868680" y="4727448"/>
            <a:ext cx="3108960" cy="365760"/>
          </a:xfrm>
          <a:prstGeom prst="rect">
            <a:avLst/>
          </a:prstGeom>
          <a:noFill/>
          <a:ln/>
        </p:spPr>
        <p:txBody>
          <a:bodyPr wrap="square" lIns="0" tIns="0" rIns="0" bIns="0" rtlCol="0" anchor="ctr"/>
          <a:lstStyle/>
          <a:p>
            <a:pPr indent="0" marL="0">
              <a:buNone/>
            </a:pPr>
            <a:r>
              <a:rPr lang="en-US" sz="1350" b="1" dirty="0">
                <a:solidFill>
                  <a:srgbClr val="E8833A"/>
                </a:solidFill>
                <a:latin typeface="Calibri" pitchFamily="34" charset="0"/>
                <a:ea typeface="Calibri" pitchFamily="34" charset="-122"/>
                <a:cs typeface="Calibri" pitchFamily="34" charset="-120"/>
              </a:rPr>
              <a:t>Outcome code → CT</a:t>
            </a:r>
            <a:endParaRPr lang="en-US" sz="1350" dirty="0"/>
          </a:p>
        </p:txBody>
      </p:sp>
      <p:sp>
        <p:nvSpPr>
          <p:cNvPr id="16" name="Text 13"/>
          <p:cNvSpPr/>
          <p:nvPr/>
        </p:nvSpPr>
        <p:spPr>
          <a:xfrm>
            <a:off x="868680" y="5120640"/>
            <a:ext cx="3154680" cy="502920"/>
          </a:xfrm>
          <a:prstGeom prst="rect">
            <a:avLst/>
          </a:prstGeom>
          <a:noFill/>
          <a:ln/>
        </p:spPr>
        <p:txBody>
          <a:bodyPr wrap="square" lIns="0" tIns="0" rIns="0" bIns="0" rtlCol="0" anchor="ctr"/>
          <a:lstStyle/>
          <a:p>
            <a:pPr indent="0" marL="0">
              <a:buNone/>
            </a:pPr>
            <a:r>
              <a:rPr lang="en-US" sz="1050" dirty="0">
                <a:solidFill>
                  <a:srgbClr val="5A7682"/>
                </a:solidFill>
                <a:latin typeface="Courier New" pitchFamily="34" charset="0"/>
                <a:ea typeface="Courier New" pitchFamily="34" charset="-122"/>
                <a:cs typeface="Courier New" pitchFamily="34" charset="-120"/>
              </a:rPr>
              <a:t>1 → RECOVERED/RESOLVED</a:t>
            </a:r>
            <a:endParaRPr lang="en-US" sz="1050" dirty="0"/>
          </a:p>
        </p:txBody>
      </p:sp>
      <p:sp>
        <p:nvSpPr>
          <p:cNvPr id="17" name="Shape 14"/>
          <p:cNvSpPr/>
          <p:nvPr/>
        </p:nvSpPr>
        <p:spPr>
          <a:xfrm>
            <a:off x="4389120" y="4590288"/>
            <a:ext cx="3566160" cy="1051560"/>
          </a:xfrm>
          <a:prstGeom prst="roundRect">
            <a:avLst>
              <a:gd name="adj" fmla="val 782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Text 15"/>
          <p:cNvSpPr/>
          <p:nvPr/>
        </p:nvSpPr>
        <p:spPr>
          <a:xfrm>
            <a:off x="4617720" y="4727448"/>
            <a:ext cx="3108960" cy="36576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Serious → CT</a:t>
            </a:r>
            <a:endParaRPr lang="en-US" sz="1350" dirty="0"/>
          </a:p>
        </p:txBody>
      </p:sp>
      <p:sp>
        <p:nvSpPr>
          <p:cNvPr id="19" name="Text 16"/>
          <p:cNvSpPr/>
          <p:nvPr/>
        </p:nvSpPr>
        <p:spPr>
          <a:xfrm>
            <a:off x="4617720" y="5120640"/>
            <a:ext cx="3154680" cy="502920"/>
          </a:xfrm>
          <a:prstGeom prst="rect">
            <a:avLst/>
          </a:prstGeom>
          <a:noFill/>
          <a:ln/>
        </p:spPr>
        <p:txBody>
          <a:bodyPr wrap="square" lIns="0" tIns="0" rIns="0" bIns="0" rtlCol="0" anchor="ctr"/>
          <a:lstStyle/>
          <a:p>
            <a:pPr indent="0" marL="0">
              <a:buNone/>
            </a:pPr>
            <a:r>
              <a:rPr lang="en-US" sz="1050" dirty="0">
                <a:solidFill>
                  <a:srgbClr val="5A7682"/>
                </a:solidFill>
                <a:latin typeface="Courier New" pitchFamily="34" charset="0"/>
                <a:ea typeface="Courier New" pitchFamily="34" charset="-122"/>
                <a:cs typeface="Courier New" pitchFamily="34" charset="-120"/>
              </a:rPr>
              <a:t>No / N → N</a:t>
            </a:r>
            <a:endParaRPr lang="en-US" sz="1050" dirty="0"/>
          </a:p>
        </p:txBody>
      </p:sp>
      <p:sp>
        <p:nvSpPr>
          <p:cNvPr id="20" name="Shape 17"/>
          <p:cNvSpPr/>
          <p:nvPr/>
        </p:nvSpPr>
        <p:spPr>
          <a:xfrm>
            <a:off x="8138160" y="4590288"/>
            <a:ext cx="3566160" cy="1051560"/>
          </a:xfrm>
          <a:prstGeom prst="roundRect">
            <a:avLst>
              <a:gd name="adj" fmla="val 782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Text 18"/>
          <p:cNvSpPr/>
          <p:nvPr/>
        </p:nvSpPr>
        <p:spPr>
          <a:xfrm>
            <a:off x="8366760" y="4727448"/>
            <a:ext cx="3108960" cy="365760"/>
          </a:xfrm>
          <a:prstGeom prst="rect">
            <a:avLst/>
          </a:prstGeom>
          <a:noFill/>
          <a:ln/>
        </p:spPr>
        <p:txBody>
          <a:bodyPr wrap="square" lIns="0" tIns="0" rIns="0" bIns="0" rtlCol="0" anchor="ctr"/>
          <a:lstStyle/>
          <a:p>
            <a:pPr indent="0" marL="0">
              <a:buNone/>
            </a:pPr>
            <a:r>
              <a:rPr lang="en-US" sz="1350" b="1" dirty="0">
                <a:solidFill>
                  <a:srgbClr val="0E7C86"/>
                </a:solidFill>
                <a:latin typeface="Calibri" pitchFamily="34" charset="0"/>
                <a:ea typeface="Calibri" pitchFamily="34" charset="-122"/>
                <a:cs typeface="Calibri" pitchFamily="34" charset="-120"/>
              </a:rPr>
              <a:t>Subject → USUBJID</a:t>
            </a:r>
            <a:endParaRPr lang="en-US" sz="1350" dirty="0"/>
          </a:p>
        </p:txBody>
      </p:sp>
      <p:sp>
        <p:nvSpPr>
          <p:cNvPr id="22" name="Text 19"/>
          <p:cNvSpPr/>
          <p:nvPr/>
        </p:nvSpPr>
        <p:spPr>
          <a:xfrm>
            <a:off x="8366760" y="5120640"/>
            <a:ext cx="3154680" cy="502920"/>
          </a:xfrm>
          <a:prstGeom prst="rect">
            <a:avLst/>
          </a:prstGeom>
          <a:noFill/>
          <a:ln/>
        </p:spPr>
        <p:txBody>
          <a:bodyPr wrap="square" lIns="0" tIns="0" rIns="0" bIns="0" rtlCol="0" anchor="ctr"/>
          <a:lstStyle/>
          <a:p>
            <a:pPr indent="0" marL="0">
              <a:buNone/>
            </a:pPr>
            <a:r>
              <a:rPr lang="en-US" sz="1050" dirty="0">
                <a:solidFill>
                  <a:srgbClr val="5A7682"/>
                </a:solidFill>
                <a:latin typeface="Courier New" pitchFamily="34" charset="0"/>
                <a:ea typeface="Courier New" pitchFamily="34" charset="-122"/>
                <a:cs typeface="Courier New" pitchFamily="34" charset="-120"/>
              </a:rPr>
              <a:t>site 01 + 001 → ABC-01-01-001</a:t>
            </a:r>
            <a:endParaRPr lang="en-US" sz="1050" dirty="0"/>
          </a:p>
        </p:txBody>
      </p:sp>
      <p:sp>
        <p:nvSpPr>
          <p:cNvPr id="23" name="Shape 20"/>
          <p:cNvSpPr/>
          <p:nvPr/>
        </p:nvSpPr>
        <p:spPr>
          <a:xfrm>
            <a:off x="640080" y="5797296"/>
            <a:ext cx="3566160" cy="1051560"/>
          </a:xfrm>
          <a:prstGeom prst="roundRect">
            <a:avLst>
              <a:gd name="adj" fmla="val 782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4" name="Text 21"/>
          <p:cNvSpPr/>
          <p:nvPr/>
        </p:nvSpPr>
        <p:spPr>
          <a:xfrm>
            <a:off x="868680" y="5934456"/>
            <a:ext cx="3108960" cy="365760"/>
          </a:xfrm>
          <a:prstGeom prst="rect">
            <a:avLst/>
          </a:prstGeom>
          <a:noFill/>
          <a:ln/>
        </p:spPr>
        <p:txBody>
          <a:bodyPr wrap="square" lIns="0" tIns="0" rIns="0" bIns="0" rtlCol="0" anchor="ctr"/>
          <a:lstStyle/>
          <a:p>
            <a:pPr indent="0" marL="0">
              <a:buNone/>
            </a:pPr>
            <a:r>
              <a:rPr lang="en-US" sz="1350" b="1" dirty="0">
                <a:solidFill>
                  <a:srgbClr val="1FA8A0"/>
                </a:solidFill>
                <a:latin typeface="Calibri" pitchFamily="34" charset="0"/>
                <a:ea typeface="Calibri" pitchFamily="34" charset="-122"/>
                <a:cs typeface="Calibri" pitchFamily="34" charset="-120"/>
              </a:rPr>
              <a:t>Record numbered</a:t>
            </a:r>
            <a:endParaRPr lang="en-US" sz="1350" dirty="0"/>
          </a:p>
        </p:txBody>
      </p:sp>
      <p:sp>
        <p:nvSpPr>
          <p:cNvPr id="25" name="Text 22"/>
          <p:cNvSpPr/>
          <p:nvPr/>
        </p:nvSpPr>
        <p:spPr>
          <a:xfrm>
            <a:off x="868680" y="6327648"/>
            <a:ext cx="3154680" cy="502920"/>
          </a:xfrm>
          <a:prstGeom prst="rect">
            <a:avLst/>
          </a:prstGeom>
          <a:noFill/>
          <a:ln/>
        </p:spPr>
        <p:txBody>
          <a:bodyPr wrap="square" lIns="0" tIns="0" rIns="0" bIns="0" rtlCol="0" anchor="ctr"/>
          <a:lstStyle/>
          <a:p>
            <a:pPr indent="0" marL="0">
              <a:buNone/>
            </a:pPr>
            <a:r>
              <a:rPr lang="en-US" sz="1050" dirty="0">
                <a:solidFill>
                  <a:srgbClr val="5A7682"/>
                </a:solidFill>
                <a:latin typeface="Courier New" pitchFamily="34" charset="0"/>
                <a:ea typeface="Courier New" pitchFamily="34" charset="-122"/>
                <a:cs typeface="Courier New" pitchFamily="34" charset="-120"/>
              </a:rPr>
              <a:t>AESEQ assigned per subject</a:t>
            </a:r>
            <a:endParaRPr lang="en-US" sz="1050" dirty="0"/>
          </a:p>
        </p:txBody>
      </p:sp>
      <p:sp>
        <p:nvSpPr>
          <p:cNvPr id="26" name="Text 23"/>
          <p:cNvSpPr/>
          <p:nvPr/>
        </p:nvSpPr>
        <p:spPr>
          <a:xfrm>
            <a:off x="640080" y="6080760"/>
            <a:ext cx="10972800" cy="365760"/>
          </a:xfrm>
          <a:prstGeom prst="rect">
            <a:avLst/>
          </a:prstGeom>
          <a:noFill/>
          <a:ln/>
        </p:spPr>
        <p:txBody>
          <a:bodyPr wrap="square" lIns="0" tIns="0" rIns="0" bIns="0" rtlCol="0" anchor="ctr"/>
          <a:lstStyle/>
          <a:p>
            <a:pPr indent="0" marL="0">
              <a:buNone/>
            </a:pPr>
            <a:r>
              <a:rPr lang="en-US" sz="1250" i="1" dirty="0">
                <a:solidFill>
                  <a:srgbClr val="0E7C86"/>
                </a:solidFill>
                <a:latin typeface="Calibri" pitchFamily="34" charset="0"/>
                <a:ea typeface="Calibri" pitchFamily="34" charset="-122"/>
                <a:cs typeface="Calibri" pitchFamily="34" charset="-120"/>
              </a:rPr>
              <a:t>AETERM keeps the verbatim term; AEDECOD holds the coded term. Both matter — SDTM preserves what was collected and adds standardization.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LEARN FROM THESE EARLY</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Common beginner pitfalls</a:t>
            </a:r>
            <a:endParaRPr lang="en-US" sz="3000" dirty="0"/>
          </a:p>
        </p:txBody>
      </p:sp>
      <p:sp>
        <p:nvSpPr>
          <p:cNvPr id="4" name="Shape 2"/>
          <p:cNvSpPr/>
          <p:nvPr/>
        </p:nvSpPr>
        <p:spPr>
          <a:xfrm>
            <a:off x="640080" y="169164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2075688"/>
            <a:ext cx="548640" cy="548640"/>
          </a:xfrm>
          <a:prstGeom prst="ellipse">
            <a:avLst/>
          </a:prstGeom>
          <a:solidFill>
            <a:srgbClr val="E8833A"/>
          </a:solidFill>
          <a:ln/>
        </p:spPr>
      </p:sp>
      <p:sp>
        <p:nvSpPr>
          <p:cNvPr id="6" name="Text 4"/>
          <p:cNvSpPr/>
          <p:nvPr/>
        </p:nvSpPr>
        <p:spPr>
          <a:xfrm>
            <a:off x="868680" y="207568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600200" y="185623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Inventing variable names
</a:t>
            </a:r>
            <a:pPr indent="0" marL="0">
              <a:buNone/>
            </a:pPr>
            <a:r>
              <a:rPr lang="en-US" sz="1180" dirty="0">
                <a:solidFill>
                  <a:srgbClr val="5A7682"/>
                </a:solidFill>
                <a:latin typeface="Calibri" pitchFamily="34" charset="0"/>
                <a:ea typeface="Calibri" pitchFamily="34" charset="-122"/>
                <a:cs typeface="Calibri" pitchFamily="34" charset="-120"/>
              </a:rPr>
              <a:t>Use the SDTMIG's exact names. No custom columns in standard domains — use SUPPQUAL for extras.</a:t>
            </a:r>
            <a:endParaRPr lang="en-US" sz="1400" dirty="0"/>
          </a:p>
        </p:txBody>
      </p:sp>
      <p:sp>
        <p:nvSpPr>
          <p:cNvPr id="8" name="Shape 6"/>
          <p:cNvSpPr/>
          <p:nvPr/>
        </p:nvSpPr>
        <p:spPr>
          <a:xfrm>
            <a:off x="6217920" y="169164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446520" y="2075688"/>
            <a:ext cx="548640" cy="548640"/>
          </a:xfrm>
          <a:prstGeom prst="ellipse">
            <a:avLst/>
          </a:prstGeom>
          <a:solidFill>
            <a:srgbClr val="E8833A"/>
          </a:solidFill>
          <a:ln/>
        </p:spPr>
      </p:sp>
      <p:sp>
        <p:nvSpPr>
          <p:cNvPr id="10" name="Text 8"/>
          <p:cNvSpPr/>
          <p:nvPr/>
        </p:nvSpPr>
        <p:spPr>
          <a:xfrm>
            <a:off x="6446520" y="207568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7178040" y="185623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Wrong date format
</a:t>
            </a:r>
            <a:pPr indent="0" marL="0">
              <a:buNone/>
            </a:pPr>
            <a:r>
              <a:rPr lang="en-US" sz="1180" dirty="0">
                <a:solidFill>
                  <a:srgbClr val="5A7682"/>
                </a:solidFill>
                <a:latin typeface="Calibri" pitchFamily="34" charset="0"/>
                <a:ea typeface="Calibri" pitchFamily="34" charset="-122"/>
                <a:cs typeface="Calibri" pitchFamily="34" charset="-120"/>
              </a:rPr>
              <a:t>All SDTM dates are ISO 8601 character (YYYY-MM-DD). Never store dates as free text or numbers.</a:t>
            </a:r>
            <a:endParaRPr lang="en-US" sz="1400" dirty="0"/>
          </a:p>
        </p:txBody>
      </p:sp>
      <p:sp>
        <p:nvSpPr>
          <p:cNvPr id="12" name="Shape 10"/>
          <p:cNvSpPr/>
          <p:nvPr/>
        </p:nvSpPr>
        <p:spPr>
          <a:xfrm>
            <a:off x="640080" y="315468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538728"/>
            <a:ext cx="548640" cy="548640"/>
          </a:xfrm>
          <a:prstGeom prst="ellipse">
            <a:avLst/>
          </a:prstGeom>
          <a:solidFill>
            <a:srgbClr val="E8833A"/>
          </a:solidFill>
          <a:ln/>
        </p:spPr>
      </p:sp>
      <p:sp>
        <p:nvSpPr>
          <p:cNvPr id="14" name="Text 12"/>
          <p:cNvSpPr/>
          <p:nvPr/>
        </p:nvSpPr>
        <p:spPr>
          <a:xfrm>
            <a:off x="868680" y="353872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1600200" y="331927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Dropping Expected variables
</a:t>
            </a:r>
            <a:pPr indent="0" marL="0">
              <a:buNone/>
            </a:pPr>
            <a:r>
              <a:rPr lang="en-US" sz="1180" dirty="0">
                <a:solidFill>
                  <a:srgbClr val="5A7682"/>
                </a:solidFill>
                <a:latin typeface="Calibri" pitchFamily="34" charset="0"/>
                <a:ea typeface="Calibri" pitchFamily="34" charset="-122"/>
                <a:cs typeface="Calibri" pitchFamily="34" charset="-120"/>
              </a:rPr>
              <a:t>Expected columns stay in the dataset even if some values are blank.</a:t>
            </a:r>
            <a:endParaRPr lang="en-US" sz="1400" dirty="0"/>
          </a:p>
        </p:txBody>
      </p:sp>
      <p:sp>
        <p:nvSpPr>
          <p:cNvPr id="16" name="Shape 14"/>
          <p:cNvSpPr/>
          <p:nvPr/>
        </p:nvSpPr>
        <p:spPr>
          <a:xfrm>
            <a:off x="6217920" y="315468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446520" y="3538728"/>
            <a:ext cx="548640" cy="548640"/>
          </a:xfrm>
          <a:prstGeom prst="ellipse">
            <a:avLst/>
          </a:prstGeom>
          <a:solidFill>
            <a:srgbClr val="E8833A"/>
          </a:solidFill>
          <a:ln/>
        </p:spPr>
      </p:sp>
      <p:sp>
        <p:nvSpPr>
          <p:cNvPr id="18" name="Text 16"/>
          <p:cNvSpPr/>
          <p:nvPr/>
        </p:nvSpPr>
        <p:spPr>
          <a:xfrm>
            <a:off x="6446520" y="353872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7178040" y="331927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Ignoring Controlled Terminology
</a:t>
            </a:r>
            <a:pPr indent="0" marL="0">
              <a:buNone/>
            </a:pPr>
            <a:r>
              <a:rPr lang="en-US" sz="1180" dirty="0">
                <a:solidFill>
                  <a:srgbClr val="5A7682"/>
                </a:solidFill>
                <a:latin typeface="Calibri" pitchFamily="34" charset="0"/>
                <a:ea typeface="Calibri" pitchFamily="34" charset="-122"/>
                <a:cs typeface="Calibri" pitchFamily="34" charset="-120"/>
              </a:rPr>
              <a:t>Coded values must match the CT codelist exactly, including spelling and case.</a:t>
            </a:r>
            <a:endParaRPr lang="en-US" sz="1400" dirty="0"/>
          </a:p>
        </p:txBody>
      </p:sp>
      <p:sp>
        <p:nvSpPr>
          <p:cNvPr id="20" name="Shape 18"/>
          <p:cNvSpPr/>
          <p:nvPr/>
        </p:nvSpPr>
        <p:spPr>
          <a:xfrm>
            <a:off x="640080" y="461772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001768"/>
            <a:ext cx="548640" cy="548640"/>
          </a:xfrm>
          <a:prstGeom prst="ellipse">
            <a:avLst/>
          </a:prstGeom>
          <a:solidFill>
            <a:srgbClr val="E8833A"/>
          </a:solidFill>
          <a:ln/>
        </p:spPr>
      </p:sp>
      <p:sp>
        <p:nvSpPr>
          <p:cNvPr id="22" name="Text 20"/>
          <p:cNvSpPr/>
          <p:nvPr/>
        </p:nvSpPr>
        <p:spPr>
          <a:xfrm>
            <a:off x="868680" y="500176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1600200" y="478231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Non-unique USUBJID
</a:t>
            </a:r>
            <a:pPr indent="0" marL="0">
              <a:buNone/>
            </a:pPr>
            <a:r>
              <a:rPr lang="en-US" sz="1180" dirty="0">
                <a:solidFill>
                  <a:srgbClr val="5A7682"/>
                </a:solidFill>
                <a:latin typeface="Calibri" pitchFamily="34" charset="0"/>
                <a:ea typeface="Calibri" pitchFamily="34" charset="-122"/>
                <a:cs typeface="Calibri" pitchFamily="34" charset="-120"/>
              </a:rPr>
              <a:t>USUBJID must be unique study-wide and identical across all domains for one subject.</a:t>
            </a:r>
            <a:endParaRPr lang="en-US" sz="1400" dirty="0"/>
          </a:p>
        </p:txBody>
      </p:sp>
      <p:sp>
        <p:nvSpPr>
          <p:cNvPr id="24" name="Shape 22"/>
          <p:cNvSpPr/>
          <p:nvPr/>
        </p:nvSpPr>
        <p:spPr>
          <a:xfrm>
            <a:off x="6217920" y="461772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6446520" y="5001768"/>
            <a:ext cx="548640" cy="548640"/>
          </a:xfrm>
          <a:prstGeom prst="ellipse">
            <a:avLst/>
          </a:prstGeom>
          <a:solidFill>
            <a:srgbClr val="E8833A"/>
          </a:solidFill>
          <a:ln/>
        </p:spPr>
      </p:sp>
      <p:sp>
        <p:nvSpPr>
          <p:cNvPr id="26" name="Text 24"/>
          <p:cNvSpPr/>
          <p:nvPr/>
        </p:nvSpPr>
        <p:spPr>
          <a:xfrm>
            <a:off x="6446520" y="500176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7178040" y="478231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Confusing ORRES and STRESN
</a:t>
            </a:r>
            <a:pPr indent="0" marL="0">
              <a:buNone/>
            </a:pPr>
            <a:r>
              <a:rPr lang="en-US" sz="1180" dirty="0">
                <a:solidFill>
                  <a:srgbClr val="5A7682"/>
                </a:solidFill>
                <a:latin typeface="Calibri" pitchFamily="34" charset="0"/>
                <a:ea typeface="Calibri" pitchFamily="34" charset="-122"/>
                <a:cs typeface="Calibri" pitchFamily="34" charset="-120"/>
              </a:rPr>
              <a:t>ORRES = original as collected; STRESN/STRESC = standardized for analysis.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457200"/>
            <a:ext cx="91440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QUICK REFERENCE</a:t>
            </a:r>
            <a:endParaRPr lang="en-US" sz="1200" dirty="0"/>
          </a:p>
        </p:txBody>
      </p:sp>
      <p:sp>
        <p:nvSpPr>
          <p:cNvPr id="3" name="Text 1"/>
          <p:cNvSpPr/>
          <p:nvPr/>
        </p:nvSpPr>
        <p:spPr>
          <a:xfrm>
            <a:off x="603504" y="777240"/>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Glossary of acronyms</a:t>
            </a:r>
            <a:endParaRPr lang="en-US" sz="3000" dirty="0"/>
          </a:p>
        </p:txBody>
      </p:sp>
      <p:sp>
        <p:nvSpPr>
          <p:cNvPr id="4" name="Shape 2"/>
          <p:cNvSpPr/>
          <p:nvPr/>
        </p:nvSpPr>
        <p:spPr>
          <a:xfrm>
            <a:off x="640080" y="1600200"/>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822960" y="1655064"/>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CDISC</a:t>
            </a:r>
            <a:endParaRPr lang="en-US" sz="1300" dirty="0"/>
          </a:p>
        </p:txBody>
      </p:sp>
      <p:sp>
        <p:nvSpPr>
          <p:cNvPr id="6" name="Shape 4"/>
          <p:cNvSpPr/>
          <p:nvPr/>
        </p:nvSpPr>
        <p:spPr>
          <a:xfrm>
            <a:off x="2514600" y="1728216"/>
            <a:ext cx="0" cy="438912"/>
          </a:xfrm>
          <a:prstGeom prst="line">
            <a:avLst/>
          </a:prstGeom>
          <a:noFill/>
          <a:ln w="12700">
            <a:solidFill>
              <a:srgbClr val="2A5566"/>
            </a:solidFill>
            <a:prstDash val="solid"/>
          </a:ln>
        </p:spPr>
      </p:sp>
      <p:sp>
        <p:nvSpPr>
          <p:cNvPr id="7" name="Text 5"/>
          <p:cNvSpPr/>
          <p:nvPr/>
        </p:nvSpPr>
        <p:spPr>
          <a:xfrm>
            <a:off x="2651760" y="1655064"/>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Clinical Data Interchange Standards Consortium</a:t>
            </a:r>
            <a:endParaRPr lang="en-US" sz="1180" dirty="0"/>
          </a:p>
        </p:txBody>
      </p:sp>
      <p:sp>
        <p:nvSpPr>
          <p:cNvPr id="8" name="Shape 6"/>
          <p:cNvSpPr/>
          <p:nvPr/>
        </p:nvSpPr>
        <p:spPr>
          <a:xfrm>
            <a:off x="6217920" y="1600200"/>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6400800" y="1655064"/>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CDASH</a:t>
            </a:r>
            <a:endParaRPr lang="en-US" sz="1300" dirty="0"/>
          </a:p>
        </p:txBody>
      </p:sp>
      <p:sp>
        <p:nvSpPr>
          <p:cNvPr id="10" name="Shape 8"/>
          <p:cNvSpPr/>
          <p:nvPr/>
        </p:nvSpPr>
        <p:spPr>
          <a:xfrm>
            <a:off x="8092440" y="1728216"/>
            <a:ext cx="0" cy="438912"/>
          </a:xfrm>
          <a:prstGeom prst="line">
            <a:avLst/>
          </a:prstGeom>
          <a:noFill/>
          <a:ln w="12700">
            <a:solidFill>
              <a:srgbClr val="2A5566"/>
            </a:solidFill>
            <a:prstDash val="solid"/>
          </a:ln>
        </p:spPr>
      </p:sp>
      <p:sp>
        <p:nvSpPr>
          <p:cNvPr id="11" name="Text 9"/>
          <p:cNvSpPr/>
          <p:nvPr/>
        </p:nvSpPr>
        <p:spPr>
          <a:xfrm>
            <a:off x="8229600" y="1655064"/>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Clinical Data Acquisition Standards Harmonization</a:t>
            </a:r>
            <a:endParaRPr lang="en-US" sz="1180" dirty="0"/>
          </a:p>
        </p:txBody>
      </p:sp>
      <p:sp>
        <p:nvSpPr>
          <p:cNvPr id="12" name="Shape 10"/>
          <p:cNvSpPr/>
          <p:nvPr/>
        </p:nvSpPr>
        <p:spPr>
          <a:xfrm>
            <a:off x="640080" y="2395728"/>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822960" y="2450592"/>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SDTM</a:t>
            </a:r>
            <a:endParaRPr lang="en-US" sz="1300" dirty="0"/>
          </a:p>
        </p:txBody>
      </p:sp>
      <p:sp>
        <p:nvSpPr>
          <p:cNvPr id="14" name="Shape 12"/>
          <p:cNvSpPr/>
          <p:nvPr/>
        </p:nvSpPr>
        <p:spPr>
          <a:xfrm>
            <a:off x="2514600" y="2523744"/>
            <a:ext cx="0" cy="438912"/>
          </a:xfrm>
          <a:prstGeom prst="line">
            <a:avLst/>
          </a:prstGeom>
          <a:noFill/>
          <a:ln w="12700">
            <a:solidFill>
              <a:srgbClr val="2A5566"/>
            </a:solidFill>
            <a:prstDash val="solid"/>
          </a:ln>
        </p:spPr>
      </p:sp>
      <p:sp>
        <p:nvSpPr>
          <p:cNvPr id="15" name="Text 13"/>
          <p:cNvSpPr/>
          <p:nvPr/>
        </p:nvSpPr>
        <p:spPr>
          <a:xfrm>
            <a:off x="2651760" y="2450592"/>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Study Data Tabulation Model</a:t>
            </a:r>
            <a:endParaRPr lang="en-US" sz="1180" dirty="0"/>
          </a:p>
        </p:txBody>
      </p:sp>
      <p:sp>
        <p:nvSpPr>
          <p:cNvPr id="16" name="Shape 14"/>
          <p:cNvSpPr/>
          <p:nvPr/>
        </p:nvSpPr>
        <p:spPr>
          <a:xfrm>
            <a:off x="6217920" y="2395728"/>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6400800" y="2450592"/>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SDTMIG</a:t>
            </a:r>
            <a:endParaRPr lang="en-US" sz="1300" dirty="0"/>
          </a:p>
        </p:txBody>
      </p:sp>
      <p:sp>
        <p:nvSpPr>
          <p:cNvPr id="18" name="Shape 16"/>
          <p:cNvSpPr/>
          <p:nvPr/>
        </p:nvSpPr>
        <p:spPr>
          <a:xfrm>
            <a:off x="8092440" y="2523744"/>
            <a:ext cx="0" cy="438912"/>
          </a:xfrm>
          <a:prstGeom prst="line">
            <a:avLst/>
          </a:prstGeom>
          <a:noFill/>
          <a:ln w="12700">
            <a:solidFill>
              <a:srgbClr val="2A5566"/>
            </a:solidFill>
            <a:prstDash val="solid"/>
          </a:ln>
        </p:spPr>
      </p:sp>
      <p:sp>
        <p:nvSpPr>
          <p:cNvPr id="19" name="Text 17"/>
          <p:cNvSpPr/>
          <p:nvPr/>
        </p:nvSpPr>
        <p:spPr>
          <a:xfrm>
            <a:off x="8229600" y="2450592"/>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SDTM Implementation Guide</a:t>
            </a:r>
            <a:endParaRPr lang="en-US" sz="1180" dirty="0"/>
          </a:p>
        </p:txBody>
      </p:sp>
      <p:sp>
        <p:nvSpPr>
          <p:cNvPr id="20" name="Shape 18"/>
          <p:cNvSpPr/>
          <p:nvPr/>
        </p:nvSpPr>
        <p:spPr>
          <a:xfrm>
            <a:off x="640080" y="3191256"/>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Text 19"/>
          <p:cNvSpPr/>
          <p:nvPr/>
        </p:nvSpPr>
        <p:spPr>
          <a:xfrm>
            <a:off x="822960" y="3246120"/>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ADaM</a:t>
            </a:r>
            <a:endParaRPr lang="en-US" sz="1300" dirty="0"/>
          </a:p>
        </p:txBody>
      </p:sp>
      <p:sp>
        <p:nvSpPr>
          <p:cNvPr id="22" name="Shape 20"/>
          <p:cNvSpPr/>
          <p:nvPr/>
        </p:nvSpPr>
        <p:spPr>
          <a:xfrm>
            <a:off x="2514600" y="3319272"/>
            <a:ext cx="0" cy="438912"/>
          </a:xfrm>
          <a:prstGeom prst="line">
            <a:avLst/>
          </a:prstGeom>
          <a:noFill/>
          <a:ln w="12700">
            <a:solidFill>
              <a:srgbClr val="2A5566"/>
            </a:solidFill>
            <a:prstDash val="solid"/>
          </a:ln>
        </p:spPr>
      </p:sp>
      <p:sp>
        <p:nvSpPr>
          <p:cNvPr id="23" name="Text 21"/>
          <p:cNvSpPr/>
          <p:nvPr/>
        </p:nvSpPr>
        <p:spPr>
          <a:xfrm>
            <a:off x="2651760" y="3246120"/>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Analysis Data Model</a:t>
            </a:r>
            <a:endParaRPr lang="en-US" sz="1180" dirty="0"/>
          </a:p>
        </p:txBody>
      </p:sp>
      <p:sp>
        <p:nvSpPr>
          <p:cNvPr id="24" name="Shape 22"/>
          <p:cNvSpPr/>
          <p:nvPr/>
        </p:nvSpPr>
        <p:spPr>
          <a:xfrm>
            <a:off x="6217920" y="3191256"/>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Text 23"/>
          <p:cNvSpPr/>
          <p:nvPr/>
        </p:nvSpPr>
        <p:spPr>
          <a:xfrm>
            <a:off x="6400800" y="3246120"/>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CT</a:t>
            </a:r>
            <a:endParaRPr lang="en-US" sz="1300" dirty="0"/>
          </a:p>
        </p:txBody>
      </p:sp>
      <p:sp>
        <p:nvSpPr>
          <p:cNvPr id="26" name="Shape 24"/>
          <p:cNvSpPr/>
          <p:nvPr/>
        </p:nvSpPr>
        <p:spPr>
          <a:xfrm>
            <a:off x="8092440" y="3319272"/>
            <a:ext cx="0" cy="438912"/>
          </a:xfrm>
          <a:prstGeom prst="line">
            <a:avLst/>
          </a:prstGeom>
          <a:noFill/>
          <a:ln w="12700">
            <a:solidFill>
              <a:srgbClr val="2A5566"/>
            </a:solidFill>
            <a:prstDash val="solid"/>
          </a:ln>
        </p:spPr>
      </p:sp>
      <p:sp>
        <p:nvSpPr>
          <p:cNvPr id="27" name="Text 25"/>
          <p:cNvSpPr/>
          <p:nvPr/>
        </p:nvSpPr>
        <p:spPr>
          <a:xfrm>
            <a:off x="8229600" y="3246120"/>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Controlled Terminology</a:t>
            </a:r>
            <a:endParaRPr lang="en-US" sz="1180" dirty="0"/>
          </a:p>
        </p:txBody>
      </p:sp>
      <p:sp>
        <p:nvSpPr>
          <p:cNvPr id="28" name="Shape 26"/>
          <p:cNvSpPr/>
          <p:nvPr/>
        </p:nvSpPr>
        <p:spPr>
          <a:xfrm>
            <a:off x="640080" y="3986784"/>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9" name="Text 27"/>
          <p:cNvSpPr/>
          <p:nvPr/>
        </p:nvSpPr>
        <p:spPr>
          <a:xfrm>
            <a:off x="822960" y="4041648"/>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CRF / eCRF</a:t>
            </a:r>
            <a:endParaRPr lang="en-US" sz="1300" dirty="0"/>
          </a:p>
        </p:txBody>
      </p:sp>
      <p:sp>
        <p:nvSpPr>
          <p:cNvPr id="30" name="Shape 28"/>
          <p:cNvSpPr/>
          <p:nvPr/>
        </p:nvSpPr>
        <p:spPr>
          <a:xfrm>
            <a:off x="2514600" y="4114800"/>
            <a:ext cx="0" cy="438912"/>
          </a:xfrm>
          <a:prstGeom prst="line">
            <a:avLst/>
          </a:prstGeom>
          <a:noFill/>
          <a:ln w="12700">
            <a:solidFill>
              <a:srgbClr val="2A5566"/>
            </a:solidFill>
            <a:prstDash val="solid"/>
          </a:ln>
        </p:spPr>
      </p:sp>
      <p:sp>
        <p:nvSpPr>
          <p:cNvPr id="31" name="Text 29"/>
          <p:cNvSpPr/>
          <p:nvPr/>
        </p:nvSpPr>
        <p:spPr>
          <a:xfrm>
            <a:off x="2651760" y="4041648"/>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Case Report Form (electronic)</a:t>
            </a:r>
            <a:endParaRPr lang="en-US" sz="1180" dirty="0"/>
          </a:p>
        </p:txBody>
      </p:sp>
      <p:sp>
        <p:nvSpPr>
          <p:cNvPr id="32" name="Shape 30"/>
          <p:cNvSpPr/>
          <p:nvPr/>
        </p:nvSpPr>
        <p:spPr>
          <a:xfrm>
            <a:off x="6217920" y="3986784"/>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3" name="Text 31"/>
          <p:cNvSpPr/>
          <p:nvPr/>
        </p:nvSpPr>
        <p:spPr>
          <a:xfrm>
            <a:off x="6400800" y="4041648"/>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EDC</a:t>
            </a:r>
            <a:endParaRPr lang="en-US" sz="1300" dirty="0"/>
          </a:p>
        </p:txBody>
      </p:sp>
      <p:sp>
        <p:nvSpPr>
          <p:cNvPr id="34" name="Shape 32"/>
          <p:cNvSpPr/>
          <p:nvPr/>
        </p:nvSpPr>
        <p:spPr>
          <a:xfrm>
            <a:off x="8092440" y="4114800"/>
            <a:ext cx="0" cy="438912"/>
          </a:xfrm>
          <a:prstGeom prst="line">
            <a:avLst/>
          </a:prstGeom>
          <a:noFill/>
          <a:ln w="12700">
            <a:solidFill>
              <a:srgbClr val="2A5566"/>
            </a:solidFill>
            <a:prstDash val="solid"/>
          </a:ln>
        </p:spPr>
      </p:sp>
      <p:sp>
        <p:nvSpPr>
          <p:cNvPr id="35" name="Text 33"/>
          <p:cNvSpPr/>
          <p:nvPr/>
        </p:nvSpPr>
        <p:spPr>
          <a:xfrm>
            <a:off x="8229600" y="4041648"/>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Electronic Data Capture</a:t>
            </a:r>
            <a:endParaRPr lang="en-US" sz="1180" dirty="0"/>
          </a:p>
        </p:txBody>
      </p:sp>
      <p:sp>
        <p:nvSpPr>
          <p:cNvPr id="36" name="Shape 34"/>
          <p:cNvSpPr/>
          <p:nvPr/>
        </p:nvSpPr>
        <p:spPr>
          <a:xfrm>
            <a:off x="640080" y="4782312"/>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7" name="Text 35"/>
          <p:cNvSpPr/>
          <p:nvPr/>
        </p:nvSpPr>
        <p:spPr>
          <a:xfrm>
            <a:off x="822960" y="4837176"/>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MedDRA</a:t>
            </a:r>
            <a:endParaRPr lang="en-US" sz="1300" dirty="0"/>
          </a:p>
        </p:txBody>
      </p:sp>
      <p:sp>
        <p:nvSpPr>
          <p:cNvPr id="38" name="Shape 36"/>
          <p:cNvSpPr/>
          <p:nvPr/>
        </p:nvSpPr>
        <p:spPr>
          <a:xfrm>
            <a:off x="2514600" y="4910328"/>
            <a:ext cx="0" cy="438912"/>
          </a:xfrm>
          <a:prstGeom prst="line">
            <a:avLst/>
          </a:prstGeom>
          <a:noFill/>
          <a:ln w="12700">
            <a:solidFill>
              <a:srgbClr val="2A5566"/>
            </a:solidFill>
            <a:prstDash val="solid"/>
          </a:ln>
        </p:spPr>
      </p:sp>
      <p:sp>
        <p:nvSpPr>
          <p:cNvPr id="39" name="Text 37"/>
          <p:cNvSpPr/>
          <p:nvPr/>
        </p:nvSpPr>
        <p:spPr>
          <a:xfrm>
            <a:off x="2651760" y="4837176"/>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Medical Dictionary for Regulatory Activities</a:t>
            </a:r>
            <a:endParaRPr lang="en-US" sz="1180" dirty="0"/>
          </a:p>
        </p:txBody>
      </p:sp>
      <p:sp>
        <p:nvSpPr>
          <p:cNvPr id="40" name="Shape 38"/>
          <p:cNvSpPr/>
          <p:nvPr/>
        </p:nvSpPr>
        <p:spPr>
          <a:xfrm>
            <a:off x="6217920" y="4782312"/>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41" name="Text 39"/>
          <p:cNvSpPr/>
          <p:nvPr/>
        </p:nvSpPr>
        <p:spPr>
          <a:xfrm>
            <a:off x="6400800" y="4837176"/>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USUBJID</a:t>
            </a:r>
            <a:endParaRPr lang="en-US" sz="1300" dirty="0"/>
          </a:p>
        </p:txBody>
      </p:sp>
      <p:sp>
        <p:nvSpPr>
          <p:cNvPr id="42" name="Shape 40"/>
          <p:cNvSpPr/>
          <p:nvPr/>
        </p:nvSpPr>
        <p:spPr>
          <a:xfrm>
            <a:off x="8092440" y="4910328"/>
            <a:ext cx="0" cy="438912"/>
          </a:xfrm>
          <a:prstGeom prst="line">
            <a:avLst/>
          </a:prstGeom>
          <a:noFill/>
          <a:ln w="12700">
            <a:solidFill>
              <a:srgbClr val="2A5566"/>
            </a:solidFill>
            <a:prstDash val="solid"/>
          </a:ln>
        </p:spPr>
      </p:sp>
      <p:sp>
        <p:nvSpPr>
          <p:cNvPr id="43" name="Text 41"/>
          <p:cNvSpPr/>
          <p:nvPr/>
        </p:nvSpPr>
        <p:spPr>
          <a:xfrm>
            <a:off x="8229600" y="4837176"/>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Unique Subject Identifier</a:t>
            </a:r>
            <a:endParaRPr lang="en-US" sz="1180" dirty="0"/>
          </a:p>
        </p:txBody>
      </p:sp>
      <p:sp>
        <p:nvSpPr>
          <p:cNvPr id="44" name="Shape 42"/>
          <p:cNvSpPr/>
          <p:nvPr/>
        </p:nvSpPr>
        <p:spPr>
          <a:xfrm>
            <a:off x="640080" y="5577840"/>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45" name="Text 43"/>
          <p:cNvSpPr/>
          <p:nvPr/>
        </p:nvSpPr>
        <p:spPr>
          <a:xfrm>
            <a:off x="822960" y="5632704"/>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FDA / PMDA</a:t>
            </a:r>
            <a:endParaRPr lang="en-US" sz="1300" dirty="0"/>
          </a:p>
        </p:txBody>
      </p:sp>
      <p:sp>
        <p:nvSpPr>
          <p:cNvPr id="46" name="Shape 44"/>
          <p:cNvSpPr/>
          <p:nvPr/>
        </p:nvSpPr>
        <p:spPr>
          <a:xfrm>
            <a:off x="2514600" y="5705856"/>
            <a:ext cx="0" cy="438912"/>
          </a:xfrm>
          <a:prstGeom prst="line">
            <a:avLst/>
          </a:prstGeom>
          <a:noFill/>
          <a:ln w="12700">
            <a:solidFill>
              <a:srgbClr val="2A5566"/>
            </a:solidFill>
            <a:prstDash val="solid"/>
          </a:ln>
        </p:spPr>
      </p:sp>
      <p:sp>
        <p:nvSpPr>
          <p:cNvPr id="47" name="Text 45"/>
          <p:cNvSpPr/>
          <p:nvPr/>
        </p:nvSpPr>
        <p:spPr>
          <a:xfrm>
            <a:off x="2651760" y="5632704"/>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US / Japan regulatory agencies</a:t>
            </a:r>
            <a:endParaRPr lang="en-US" sz="1180" dirty="0"/>
          </a:p>
        </p:txBody>
      </p:sp>
      <p:sp>
        <p:nvSpPr>
          <p:cNvPr id="48" name="Shape 46"/>
          <p:cNvSpPr/>
          <p:nvPr/>
        </p:nvSpPr>
        <p:spPr>
          <a:xfrm>
            <a:off x="6217920" y="5577840"/>
            <a:ext cx="5394960" cy="694944"/>
          </a:xfrm>
          <a:prstGeom prst="roundRect">
            <a:avLst>
              <a:gd name="adj" fmla="val 11842"/>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49" name="Text 47"/>
          <p:cNvSpPr/>
          <p:nvPr/>
        </p:nvSpPr>
        <p:spPr>
          <a:xfrm>
            <a:off x="6400800" y="5632704"/>
            <a:ext cx="1691640" cy="585216"/>
          </a:xfrm>
          <a:prstGeom prst="rect">
            <a:avLst/>
          </a:prstGeom>
          <a:noFill/>
          <a:ln/>
        </p:spPr>
        <p:txBody>
          <a:bodyPr wrap="square" lIns="0" tIns="0" rIns="0" bIns="0" rtlCol="0" anchor="ctr"/>
          <a:lstStyle/>
          <a:p>
            <a:pPr indent="0" marL="0">
              <a:buNone/>
            </a:pPr>
            <a:r>
              <a:rPr lang="en-US" sz="1300" b="1" dirty="0">
                <a:solidFill>
                  <a:srgbClr val="6FC8B4"/>
                </a:solidFill>
                <a:latin typeface="Courier New" pitchFamily="34" charset="0"/>
                <a:ea typeface="Courier New" pitchFamily="34" charset="-122"/>
                <a:cs typeface="Courier New" pitchFamily="34" charset="-120"/>
              </a:rPr>
              <a:t>cSDRG</a:t>
            </a:r>
            <a:endParaRPr lang="en-US" sz="1300" dirty="0"/>
          </a:p>
        </p:txBody>
      </p:sp>
      <p:sp>
        <p:nvSpPr>
          <p:cNvPr id="50" name="Shape 48"/>
          <p:cNvSpPr/>
          <p:nvPr/>
        </p:nvSpPr>
        <p:spPr>
          <a:xfrm>
            <a:off x="8092440" y="5705856"/>
            <a:ext cx="0" cy="438912"/>
          </a:xfrm>
          <a:prstGeom prst="line">
            <a:avLst/>
          </a:prstGeom>
          <a:noFill/>
          <a:ln w="12700">
            <a:solidFill>
              <a:srgbClr val="2A5566"/>
            </a:solidFill>
            <a:prstDash val="solid"/>
          </a:ln>
        </p:spPr>
      </p:sp>
      <p:sp>
        <p:nvSpPr>
          <p:cNvPr id="51" name="Text 49"/>
          <p:cNvSpPr/>
          <p:nvPr/>
        </p:nvSpPr>
        <p:spPr>
          <a:xfrm>
            <a:off x="8229600" y="5632704"/>
            <a:ext cx="3291840" cy="585216"/>
          </a:xfrm>
          <a:prstGeom prst="rect">
            <a:avLst/>
          </a:prstGeom>
          <a:noFill/>
          <a:ln/>
        </p:spPr>
        <p:txBody>
          <a:bodyPr wrap="square" lIns="0" tIns="0" rIns="0" bIns="0" rtlCol="0" anchor="ctr"/>
          <a:lstStyle/>
          <a:p>
            <a:pPr indent="0" marL="0">
              <a:buNone/>
            </a:pPr>
            <a:r>
              <a:rPr lang="en-US" sz="1180" dirty="0">
                <a:solidFill>
                  <a:srgbClr val="E7F0F1"/>
                </a:solidFill>
                <a:latin typeface="Calibri" pitchFamily="34" charset="0"/>
                <a:ea typeface="Calibri" pitchFamily="34" charset="-122"/>
                <a:cs typeface="Calibri" pitchFamily="34" charset="-120"/>
              </a:rPr>
              <a:t>clinical Study Data Reviewer's Guide</a:t>
            </a:r>
            <a:endParaRPr lang="en-US" sz="11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9326880" y="4206240"/>
            <a:ext cx="4572000" cy="4572000"/>
          </a:xfrm>
          <a:prstGeom prst="ellipse">
            <a:avLst/>
          </a:prstGeom>
          <a:solidFill>
            <a:srgbClr val="133B4C"/>
          </a:solidFill>
          <a:ln/>
        </p:spPr>
      </p:sp>
      <p:sp>
        <p:nvSpPr>
          <p:cNvPr id="3" name="Shape 1"/>
          <p:cNvSpPr/>
          <p:nvPr/>
        </p:nvSpPr>
        <p:spPr>
          <a:xfrm>
            <a:off x="10241280" y="5120640"/>
            <a:ext cx="2743200" cy="2743200"/>
          </a:xfrm>
          <a:prstGeom prst="ellipse">
            <a:avLst/>
          </a:prstGeom>
          <a:solidFill>
            <a:srgbClr val="0E7C86"/>
          </a:solidFill>
          <a:ln/>
        </p:spPr>
      </p:sp>
      <p:sp>
        <p:nvSpPr>
          <p:cNvPr id="4" name="Shape 2"/>
          <p:cNvSpPr/>
          <p:nvPr/>
        </p:nvSpPr>
        <p:spPr>
          <a:xfrm>
            <a:off x="-1097280" y="-1280160"/>
            <a:ext cx="3108960" cy="3108960"/>
          </a:xfrm>
          <a:prstGeom prst="ellipse">
            <a:avLst/>
          </a:prstGeom>
          <a:solidFill>
            <a:srgbClr val="133B4C"/>
          </a:solidFill>
          <a:ln/>
        </p:spPr>
      </p:sp>
      <p:sp>
        <p:nvSpPr>
          <p:cNvPr id="5" name="Text 3"/>
          <p:cNvSpPr/>
          <p:nvPr/>
        </p:nvSpPr>
        <p:spPr>
          <a:xfrm>
            <a:off x="640080" y="82296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WHAT'S NEXT IN THE BOOTCAMP</a:t>
            </a:r>
            <a:endParaRPr lang="en-US" sz="1300" dirty="0"/>
          </a:p>
        </p:txBody>
      </p:sp>
      <p:sp>
        <p:nvSpPr>
          <p:cNvPr id="6" name="Text 4"/>
          <p:cNvSpPr/>
          <p:nvPr/>
        </p:nvSpPr>
        <p:spPr>
          <a:xfrm>
            <a:off x="603504" y="1188720"/>
            <a:ext cx="10515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concepts to building domains</a:t>
            </a:r>
            <a:endParaRPr lang="en-US" sz="3200" dirty="0"/>
          </a:p>
        </p:txBody>
      </p:sp>
      <p:sp>
        <p:nvSpPr>
          <p:cNvPr id="7" name="Shape 5"/>
          <p:cNvSpPr/>
          <p:nvPr/>
        </p:nvSpPr>
        <p:spPr>
          <a:xfrm>
            <a:off x="640080" y="2286000"/>
            <a:ext cx="566928" cy="566928"/>
          </a:xfrm>
          <a:prstGeom prst="ellipse">
            <a:avLst/>
          </a:prstGeom>
          <a:solidFill>
            <a:srgbClr val="0E7C86"/>
          </a:solidFill>
          <a:ln/>
        </p:spPr>
      </p:sp>
      <p:sp>
        <p:nvSpPr>
          <p:cNvPr id="8" name="Text 6"/>
          <p:cNvSpPr/>
          <p:nvPr/>
        </p:nvSpPr>
        <p:spPr>
          <a:xfrm>
            <a:off x="640080" y="228600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9" name="Text 7"/>
          <p:cNvSpPr/>
          <p:nvPr/>
        </p:nvSpPr>
        <p:spPr>
          <a:xfrm>
            <a:off x="1417320" y="2267712"/>
            <a:ext cx="987552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Tooling   </a:t>
            </a:r>
            <a:pPr indent="0" marL="0">
              <a:buNone/>
            </a:pPr>
            <a:r>
              <a:rPr lang="en-US" sz="1350" dirty="0">
                <a:solidFill>
                  <a:srgbClr val="C7DCE0"/>
                </a:solidFill>
                <a:latin typeface="Calibri" pitchFamily="34" charset="0"/>
                <a:ea typeface="Calibri" pitchFamily="34" charset="-122"/>
                <a:cs typeface="Calibri" pitchFamily="34" charset="-120"/>
              </a:rPr>
              <a:t>SAS and R environments &amp; language basics — set up to code in both.</a:t>
            </a:r>
            <a:endParaRPr lang="en-US" sz="1600" dirty="0"/>
          </a:p>
        </p:txBody>
      </p:sp>
      <p:sp>
        <p:nvSpPr>
          <p:cNvPr id="10" name="Shape 8"/>
          <p:cNvSpPr/>
          <p:nvPr/>
        </p:nvSpPr>
        <p:spPr>
          <a:xfrm>
            <a:off x="640080" y="3035808"/>
            <a:ext cx="566928" cy="566928"/>
          </a:xfrm>
          <a:prstGeom prst="ellipse">
            <a:avLst/>
          </a:prstGeom>
          <a:solidFill>
            <a:srgbClr val="1FA8A0"/>
          </a:solidFill>
          <a:ln/>
        </p:spPr>
      </p:sp>
      <p:sp>
        <p:nvSpPr>
          <p:cNvPr id="11" name="Text 9"/>
          <p:cNvSpPr/>
          <p:nvPr/>
        </p:nvSpPr>
        <p:spPr>
          <a:xfrm>
            <a:off x="640080" y="303580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417320" y="3017520"/>
            <a:ext cx="987552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Importing data   </a:t>
            </a:r>
            <a:pPr indent="0" marL="0">
              <a:buNone/>
            </a:pPr>
            <a:r>
              <a:rPr lang="en-US" sz="1350" dirty="0">
                <a:solidFill>
                  <a:srgbClr val="C7DCE0"/>
                </a:solidFill>
                <a:latin typeface="Calibri" pitchFamily="34" charset="0"/>
                <a:ea typeface="Calibri" pitchFamily="34" charset="-122"/>
                <a:cs typeface="Calibri" pitchFamily="34" charset="-120"/>
              </a:rPr>
              <a:t>Reading raw EDC/CRF CSV files into SAS and R.</a:t>
            </a:r>
            <a:endParaRPr lang="en-US" sz="1600" dirty="0"/>
          </a:p>
        </p:txBody>
      </p:sp>
      <p:sp>
        <p:nvSpPr>
          <p:cNvPr id="13" name="Shape 11"/>
          <p:cNvSpPr/>
          <p:nvPr/>
        </p:nvSpPr>
        <p:spPr>
          <a:xfrm>
            <a:off x="640080" y="3785616"/>
            <a:ext cx="566928" cy="566928"/>
          </a:xfrm>
          <a:prstGeom prst="ellipse">
            <a:avLst/>
          </a:prstGeom>
          <a:solidFill>
            <a:srgbClr val="6FC8B4"/>
          </a:solidFill>
          <a:ln/>
        </p:spPr>
      </p:sp>
      <p:sp>
        <p:nvSpPr>
          <p:cNvPr id="14" name="Text 12"/>
          <p:cNvSpPr/>
          <p:nvPr/>
        </p:nvSpPr>
        <p:spPr>
          <a:xfrm>
            <a:off x="640080" y="3785616"/>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5" name="Text 13"/>
          <p:cNvSpPr/>
          <p:nvPr/>
        </p:nvSpPr>
        <p:spPr>
          <a:xfrm>
            <a:off x="1417320" y="3767328"/>
            <a:ext cx="987552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Building domains   </a:t>
            </a:r>
            <a:pPr indent="0" marL="0">
              <a:buNone/>
            </a:pPr>
            <a:r>
              <a:rPr lang="en-US" sz="1350" dirty="0">
                <a:solidFill>
                  <a:srgbClr val="C7DCE0"/>
                </a:solidFill>
                <a:latin typeface="Calibri" pitchFamily="34" charset="0"/>
                <a:ea typeface="Calibri" pitchFamily="34" charset="-122"/>
                <a:cs typeface="Calibri" pitchFamily="34" charset="-120"/>
              </a:rPr>
              <a:t>Map raw data into DM, AE, CM, EX, VS &amp; LB — step by step, in both languages.</a:t>
            </a:r>
            <a:endParaRPr lang="en-US" sz="1600" dirty="0"/>
          </a:p>
        </p:txBody>
      </p:sp>
      <p:sp>
        <p:nvSpPr>
          <p:cNvPr id="16" name="Shape 14"/>
          <p:cNvSpPr/>
          <p:nvPr/>
        </p:nvSpPr>
        <p:spPr>
          <a:xfrm>
            <a:off x="640080" y="4535424"/>
            <a:ext cx="566928" cy="566928"/>
          </a:xfrm>
          <a:prstGeom prst="ellipse">
            <a:avLst/>
          </a:prstGeom>
          <a:solidFill>
            <a:srgbClr val="E8833A"/>
          </a:solidFill>
          <a:ln/>
        </p:spPr>
      </p:sp>
      <p:sp>
        <p:nvSpPr>
          <p:cNvPr id="17" name="Text 15"/>
          <p:cNvSpPr/>
          <p:nvPr/>
        </p:nvSpPr>
        <p:spPr>
          <a:xfrm>
            <a:off x="640080" y="4535424"/>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4</a:t>
            </a:r>
            <a:endParaRPr lang="en-US" sz="1700" dirty="0"/>
          </a:p>
        </p:txBody>
      </p:sp>
      <p:sp>
        <p:nvSpPr>
          <p:cNvPr id="18" name="Text 16"/>
          <p:cNvSpPr/>
          <p:nvPr/>
        </p:nvSpPr>
        <p:spPr>
          <a:xfrm>
            <a:off x="1417320" y="4517136"/>
            <a:ext cx="987552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Deriving &amp; checking   </a:t>
            </a:r>
            <a:pPr indent="0" marL="0">
              <a:buNone/>
            </a:pPr>
            <a:r>
              <a:rPr lang="en-US" sz="1350" dirty="0">
                <a:solidFill>
                  <a:srgbClr val="C7DCE0"/>
                </a:solidFill>
                <a:latin typeface="Calibri" pitchFamily="34" charset="0"/>
                <a:ea typeface="Calibri" pitchFamily="34" charset="-122"/>
                <a:cs typeface="Calibri" pitchFamily="34" charset="-120"/>
              </a:rPr>
              <a:t>Study day (--DY), --SEQ, Controlled Terminology, and Pinnacle 21-style validation.</a:t>
            </a:r>
            <a:endParaRPr lang="en-US" sz="1600" dirty="0"/>
          </a:p>
        </p:txBody>
      </p:sp>
      <p:sp>
        <p:nvSpPr>
          <p:cNvPr id="19" name="Shape 17"/>
          <p:cNvSpPr/>
          <p:nvPr/>
        </p:nvSpPr>
        <p:spPr>
          <a:xfrm>
            <a:off x="640080" y="5285232"/>
            <a:ext cx="566928" cy="566928"/>
          </a:xfrm>
          <a:prstGeom prst="ellipse">
            <a:avLst/>
          </a:prstGeom>
          <a:solidFill>
            <a:srgbClr val="FFFFFF"/>
          </a:solidFill>
          <a:ln/>
        </p:spPr>
      </p:sp>
      <p:sp>
        <p:nvSpPr>
          <p:cNvPr id="20" name="Text 18"/>
          <p:cNvSpPr/>
          <p:nvPr/>
        </p:nvSpPr>
        <p:spPr>
          <a:xfrm>
            <a:off x="640080" y="5285232"/>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5</a:t>
            </a:r>
            <a:endParaRPr lang="en-US" sz="1700" dirty="0"/>
          </a:p>
        </p:txBody>
      </p:sp>
      <p:sp>
        <p:nvSpPr>
          <p:cNvPr id="21" name="Text 19"/>
          <p:cNvSpPr/>
          <p:nvPr/>
        </p:nvSpPr>
        <p:spPr>
          <a:xfrm>
            <a:off x="1417320" y="5266944"/>
            <a:ext cx="987552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Capstone   </a:t>
            </a:r>
            <a:pPr indent="0" marL="0">
              <a:buNone/>
            </a:pPr>
            <a:r>
              <a:rPr lang="en-US" sz="1350" dirty="0">
                <a:solidFill>
                  <a:srgbClr val="C7DCE0"/>
                </a:solidFill>
                <a:latin typeface="Calibri" pitchFamily="34" charset="0"/>
                <a:ea typeface="Calibri" pitchFamily="34" charset="-122"/>
                <a:cs typeface="Calibri" pitchFamily="34" charset="-120"/>
              </a:rPr>
              <a:t>Map a small mock study to several SDTM domains, end to end.</a:t>
            </a:r>
            <a:endParaRPr lang="en-US" sz="1600" dirty="0"/>
          </a:p>
        </p:txBody>
      </p:sp>
      <p:sp>
        <p:nvSpPr>
          <p:cNvPr id="22" name="Text 20"/>
          <p:cNvSpPr/>
          <p:nvPr/>
        </p:nvSpPr>
        <p:spPr>
          <a:xfrm>
            <a:off x="640080" y="6172200"/>
            <a:ext cx="10515600" cy="457200"/>
          </a:xfrm>
          <a:prstGeom prst="rect">
            <a:avLst/>
          </a:prstGeom>
          <a:noFill/>
          <a:ln/>
        </p:spPr>
        <p:txBody>
          <a:bodyPr wrap="square" lIns="0" tIns="0" rIns="0" bIns="0" rtlCol="0" anchor="ctr"/>
          <a:lstStyle/>
          <a:p>
            <a:pPr indent="0" marL="0">
              <a:buNone/>
            </a:pPr>
            <a:r>
              <a:rPr lang="en-US" sz="1350" i="1" dirty="0">
                <a:solidFill>
                  <a:srgbClr val="6FC8B4"/>
                </a:solidFill>
                <a:latin typeface="Calibri" pitchFamily="34" charset="0"/>
                <a:ea typeface="Calibri" pitchFamily="34" charset="-122"/>
                <a:cs typeface="Calibri" pitchFamily="34" charset="-120"/>
              </a:rPr>
              <a:t>Every hands-on exercise is provided in both SAS and R — you'll build the same domain twice and see how each language does it.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CDISC &amp; SDTM Foundations</dc:title>
  <dc:subject>PptxGenJS Presentation</dc:subject>
  <dc:creator>Clinical Programming Bootcamp</dc:creator>
  <cp:lastModifiedBy>Clinical Programming Bootcamp</cp:lastModifiedBy>
  <cp:revision>1</cp:revision>
  <dcterms:created xsi:type="dcterms:W3CDTF">2026-07-26T04:23:20Z</dcterms:created>
  <dcterms:modified xsi:type="dcterms:W3CDTF">2026-07-26T04:23:20Z</dcterms:modified>
</cp:coreProperties>
</file>