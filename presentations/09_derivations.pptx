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09. This is a consolidation module, not new material — every derivation here has been used already. The value is in seeing that AE, CM, VS, LB, DS and EX all used ONE formula, and in the edge cases the tidy mock data has not shown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226 is the real count from the study data: AE 10, CM 8, EX 8, VS 128, LB 48, DS 24. The consistency point is the important one — a wrong RFSTDTC produces a study that is internally perfectly consistent and globally wrong, which is why cross-domain checks exist as their own validation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 negatives and 0 zeros are the real counts. Walk the arithmetic: if the dates are equal, diff is 0 and the +1 makes Day 1. The day before gives diff -1 and no +1, so Day -1. The gap is structural. Make them write the formula from memory before showing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this slide is real. The teaching point is that 'is a negative study day wrong?' has no universal answer — it depends on what the CRF collects, which you learn from the protocol and the spec, not from the data. CM at -96 is a diabetes medication started three months before screening.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real counts. VS at 16 is the one to dwell on: 6 tests at screening plus 5 at each of two later visits. Ask them to compute it before revealing. The differing subject counts per domain reinforce that domains are not required to be complete across the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subtlest idea in the module. The failure mode is horrible in practice: a QC programmer re-runs your code, gets different AESEQ values, and cannot tell whether the data changed or the program is unstable. Sort orders used in this study: AE/CM by start date then term; VS/LB by visit then the CRF's test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EPOCH is absent from our data rather than pretending otherwise — trainees will look for it. The reason it matters: in a crossover or multi-period study, --DY alone cannot tell you which treatment the subject was on when an event happened; EPOCH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 5 is the one they have not met yet, because our sorts already include tiebreakers. Notebook 11 has them remove one and watch the sequence numbers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0E7C86"/>
          </a:solidFill>
          <a:ln/>
        </p:spPr>
      </p:sp>
      <p:sp>
        <p:nvSpPr>
          <p:cNvPr id="4" name="Shape 2"/>
          <p:cNvSpPr/>
          <p:nvPr/>
        </p:nvSpPr>
        <p:spPr>
          <a:xfrm>
            <a:off x="10469880" y="137160"/>
            <a:ext cx="1554480" cy="1554480"/>
          </a:xfrm>
          <a:prstGeom prst="ellipse">
            <a:avLst/>
          </a:prstGeom>
          <a:solidFill>
            <a:srgbClr val="6FC8B4"/>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09</a:t>
            </a:r>
            <a:endParaRPr lang="en-US" sz="1400" dirty="0"/>
          </a:p>
        </p:txBody>
      </p:sp>
      <p:sp>
        <p:nvSpPr>
          <p:cNvPr id="6" name="Text 4"/>
          <p:cNvSpPr/>
          <p:nvPr/>
        </p:nvSpPr>
        <p:spPr>
          <a:xfrm>
            <a:off x="603504" y="2286000"/>
            <a:ext cx="87782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Derivations</a:t>
            </a:r>
            <a:endParaRPr lang="en-US" sz="4400" dirty="0"/>
          </a:p>
        </p:txBody>
      </p:sp>
      <p:sp>
        <p:nvSpPr>
          <p:cNvPr id="7" name="Text 5"/>
          <p:cNvSpPr/>
          <p:nvPr/>
        </p:nvSpPr>
        <p:spPr>
          <a:xfrm>
            <a:off x="640080" y="3383280"/>
            <a:ext cx="8778240" cy="548640"/>
          </a:xfrm>
          <a:prstGeom prst="rect">
            <a:avLst/>
          </a:prstGeom>
          <a:noFill/>
          <a:ln/>
        </p:spPr>
        <p:txBody>
          <a:bodyPr wrap="square" lIns="0" tIns="0" rIns="0" bIns="0" rtlCol="0" anchor="ctr"/>
          <a:lstStyle/>
          <a:p>
            <a:pPr indent="0" marL="0">
              <a:buNone/>
            </a:pPr>
            <a:r>
              <a:rPr lang="en-US" sz="2200" dirty="0">
                <a:solidFill>
                  <a:srgbClr val="6FC8B4"/>
                </a:solidFill>
                <a:latin typeface="Cambria" pitchFamily="34" charset="0"/>
                <a:ea typeface="Cambria" pitchFamily="34" charset="-122"/>
                <a:cs typeface="Cambria" pitchFamily="34" charset="-120"/>
              </a:rPr>
              <a:t>Study day, --SEQ, and the shape of study time</a:t>
            </a:r>
            <a:endParaRPr lang="en-US" sz="2200" dirty="0"/>
          </a:p>
        </p:txBody>
      </p:sp>
      <p:sp>
        <p:nvSpPr>
          <p:cNvPr id="8" name="Text 6"/>
          <p:cNvSpPr/>
          <p:nvPr/>
        </p:nvSpPr>
        <p:spPr>
          <a:xfrm>
            <a:off x="640080" y="4114800"/>
            <a:ext cx="8412480" cy="82296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You have derived --DY and --SEQ in six domains already. This module turns six separate habits into one rule you can apply anywhere.</a:t>
            </a:r>
            <a:endParaRPr lang="en-US" sz="1600" dirty="0"/>
          </a:p>
        </p:txBody>
      </p:sp>
      <p:sp>
        <p:nvSpPr>
          <p:cNvPr id="9" name="Text 7"/>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Hands-on: Notebook 11 · Deriving --DY and --SEQ (SAS)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EVERYTHING HANGS OFF ONE DATE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RFSTDTC — the reference start date</a:t>
            </a:r>
            <a:endParaRPr lang="en-US" sz="3000" dirty="0"/>
          </a:p>
        </p:txBody>
      </p:sp>
      <p:sp>
        <p:nvSpPr>
          <p:cNvPr id="4" name="Shape 2"/>
          <p:cNvSpPr/>
          <p:nvPr/>
        </p:nvSpPr>
        <p:spPr>
          <a:xfrm>
            <a:off x="4114800" y="1600200"/>
            <a:ext cx="4023360" cy="777240"/>
          </a:xfrm>
          <a:prstGeom prst="roundRect">
            <a:avLst>
              <a:gd name="adj" fmla="val 11765"/>
            </a:avLst>
          </a:prstGeom>
          <a:solidFill>
            <a:srgbClr val="0F2E3D"/>
          </a:solidFill>
          <a:ln/>
        </p:spPr>
      </p:sp>
      <p:sp>
        <p:nvSpPr>
          <p:cNvPr id="5" name="Text 3"/>
          <p:cNvSpPr/>
          <p:nvPr/>
        </p:nvSpPr>
        <p:spPr>
          <a:xfrm>
            <a:off x="4114800" y="1600200"/>
            <a:ext cx="402336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EX.EXSTDTC  (first dose)</a:t>
            </a:r>
            <a:endParaRPr lang="en-US" sz="1400" dirty="0"/>
          </a:p>
        </p:txBody>
      </p:sp>
      <p:sp>
        <p:nvSpPr>
          <p:cNvPr id="6" name="Text 4"/>
          <p:cNvSpPr/>
          <p:nvPr/>
        </p:nvSpPr>
        <p:spPr>
          <a:xfrm>
            <a:off x="5806440" y="2395728"/>
            <a:ext cx="640080" cy="274320"/>
          </a:xfrm>
          <a:prstGeom prst="rect">
            <a:avLst/>
          </a:prstGeom>
          <a:noFill/>
          <a:ln/>
        </p:spPr>
        <p:txBody>
          <a:bodyPr wrap="square" lIns="0" tIns="0" rIns="0" bIns="0" rtlCol="0" anchor="ctr"/>
          <a:lstStyle/>
          <a:p>
            <a:pPr algn="ctr" indent="0" marL="0">
              <a:buNone/>
            </a:pPr>
            <a:r>
              <a:rPr lang="en-US" sz="1400" dirty="0">
                <a:solidFill>
                  <a:srgbClr val="0E7C86"/>
                </a:solidFill>
              </a:rPr>
              <a:t>▼</a:t>
            </a:r>
            <a:endParaRPr lang="en-US" sz="1400" dirty="0"/>
          </a:p>
        </p:txBody>
      </p:sp>
      <p:sp>
        <p:nvSpPr>
          <p:cNvPr id="7" name="Shape 5"/>
          <p:cNvSpPr/>
          <p:nvPr/>
        </p:nvSpPr>
        <p:spPr>
          <a:xfrm>
            <a:off x="4114800" y="2670048"/>
            <a:ext cx="4023360" cy="777240"/>
          </a:xfrm>
          <a:prstGeom prst="roundRect">
            <a:avLst>
              <a:gd name="adj" fmla="val 11765"/>
            </a:avLst>
          </a:prstGeom>
          <a:solidFill>
            <a:srgbClr val="0E7C86"/>
          </a:solidFill>
          <a:ln/>
        </p:spPr>
      </p:sp>
      <p:sp>
        <p:nvSpPr>
          <p:cNvPr id="8" name="Text 6"/>
          <p:cNvSpPr/>
          <p:nvPr/>
        </p:nvSpPr>
        <p:spPr>
          <a:xfrm>
            <a:off x="4114800" y="2670048"/>
            <a:ext cx="402336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DM.RFSTDTC</a:t>
            </a:r>
            <a:endParaRPr lang="en-US" sz="1600" dirty="0"/>
          </a:p>
        </p:txBody>
      </p:sp>
      <p:sp>
        <p:nvSpPr>
          <p:cNvPr id="9" name="Shape 7"/>
          <p:cNvSpPr/>
          <p:nvPr/>
        </p:nvSpPr>
        <p:spPr>
          <a:xfrm>
            <a:off x="685800" y="4114800"/>
            <a:ext cx="1691640" cy="868680"/>
          </a:xfrm>
          <a:prstGeom prst="roundRect">
            <a:avLst>
              <a:gd name="adj" fmla="val 8421"/>
            </a:avLst>
          </a:prstGeom>
          <a:solidFill>
            <a:srgbClr val="F3F7F8"/>
          </a:solidFill>
          <a:ln w="19050">
            <a:solidFill>
              <a:srgbClr val="1FA8A0"/>
            </a:solidFill>
            <a:prstDash val="solid"/>
          </a:ln>
        </p:spPr>
      </p:sp>
      <p:sp>
        <p:nvSpPr>
          <p:cNvPr id="10" name="Text 8"/>
          <p:cNvSpPr/>
          <p:nvPr/>
        </p:nvSpPr>
        <p:spPr>
          <a:xfrm>
            <a:off x="685800" y="4206240"/>
            <a:ext cx="1691640" cy="32004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AE</a:t>
            </a:r>
            <a:endParaRPr lang="en-US" sz="1500" dirty="0"/>
          </a:p>
        </p:txBody>
      </p:sp>
      <p:sp>
        <p:nvSpPr>
          <p:cNvPr id="11" name="Text 9"/>
          <p:cNvSpPr/>
          <p:nvPr/>
        </p:nvSpPr>
        <p:spPr>
          <a:xfrm>
            <a:off x="685800" y="4553712"/>
            <a:ext cx="1691640" cy="320040"/>
          </a:xfrm>
          <a:prstGeom prst="rect">
            <a:avLst/>
          </a:prstGeom>
          <a:noFill/>
          <a:ln/>
        </p:spPr>
        <p:txBody>
          <a:bodyPr wrap="square" lIns="0" tIns="0" rIns="0" bIns="0" rtlCol="0" anchor="ctr"/>
          <a:lstStyle/>
          <a:p>
            <a:pPr algn="ctr" indent="0" marL="0">
              <a:buNone/>
            </a:pPr>
            <a:r>
              <a:rPr lang="en-US" sz="1150" dirty="0">
                <a:solidFill>
                  <a:srgbClr val="1FA8A0"/>
                </a:solidFill>
                <a:latin typeface="Courier New" pitchFamily="34" charset="0"/>
                <a:ea typeface="Courier New" pitchFamily="34" charset="-122"/>
                <a:cs typeface="Courier New" pitchFamily="34" charset="-120"/>
              </a:rPr>
              <a:t>AESTDY</a:t>
            </a:r>
            <a:endParaRPr lang="en-US" sz="1150" dirty="0"/>
          </a:p>
        </p:txBody>
      </p:sp>
      <p:sp>
        <p:nvSpPr>
          <p:cNvPr id="12" name="Shape 10"/>
          <p:cNvSpPr/>
          <p:nvPr/>
        </p:nvSpPr>
        <p:spPr>
          <a:xfrm>
            <a:off x="2560320" y="4114800"/>
            <a:ext cx="1691640" cy="868680"/>
          </a:xfrm>
          <a:prstGeom prst="roundRect">
            <a:avLst>
              <a:gd name="adj" fmla="val 8421"/>
            </a:avLst>
          </a:prstGeom>
          <a:solidFill>
            <a:srgbClr val="F3F7F8"/>
          </a:solidFill>
          <a:ln w="19050">
            <a:solidFill>
              <a:srgbClr val="1FA8A0"/>
            </a:solidFill>
            <a:prstDash val="solid"/>
          </a:ln>
        </p:spPr>
      </p:sp>
      <p:sp>
        <p:nvSpPr>
          <p:cNvPr id="13" name="Text 11"/>
          <p:cNvSpPr/>
          <p:nvPr/>
        </p:nvSpPr>
        <p:spPr>
          <a:xfrm>
            <a:off x="2560320" y="4206240"/>
            <a:ext cx="1691640" cy="32004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CM</a:t>
            </a:r>
            <a:endParaRPr lang="en-US" sz="1500" dirty="0"/>
          </a:p>
        </p:txBody>
      </p:sp>
      <p:sp>
        <p:nvSpPr>
          <p:cNvPr id="14" name="Text 12"/>
          <p:cNvSpPr/>
          <p:nvPr/>
        </p:nvSpPr>
        <p:spPr>
          <a:xfrm>
            <a:off x="2560320" y="4553712"/>
            <a:ext cx="1691640" cy="320040"/>
          </a:xfrm>
          <a:prstGeom prst="rect">
            <a:avLst/>
          </a:prstGeom>
          <a:noFill/>
          <a:ln/>
        </p:spPr>
        <p:txBody>
          <a:bodyPr wrap="square" lIns="0" tIns="0" rIns="0" bIns="0" rtlCol="0" anchor="ctr"/>
          <a:lstStyle/>
          <a:p>
            <a:pPr algn="ctr" indent="0" marL="0">
              <a:buNone/>
            </a:pPr>
            <a:r>
              <a:rPr lang="en-US" sz="1150" dirty="0">
                <a:solidFill>
                  <a:srgbClr val="1FA8A0"/>
                </a:solidFill>
                <a:latin typeface="Courier New" pitchFamily="34" charset="0"/>
                <a:ea typeface="Courier New" pitchFamily="34" charset="-122"/>
                <a:cs typeface="Courier New" pitchFamily="34" charset="-120"/>
              </a:rPr>
              <a:t>CMSTDY</a:t>
            </a:r>
            <a:endParaRPr lang="en-US" sz="1150" dirty="0"/>
          </a:p>
        </p:txBody>
      </p:sp>
      <p:sp>
        <p:nvSpPr>
          <p:cNvPr id="15" name="Shape 13"/>
          <p:cNvSpPr/>
          <p:nvPr/>
        </p:nvSpPr>
        <p:spPr>
          <a:xfrm>
            <a:off x="4434840" y="4114800"/>
            <a:ext cx="1691640" cy="868680"/>
          </a:xfrm>
          <a:prstGeom prst="roundRect">
            <a:avLst>
              <a:gd name="adj" fmla="val 8421"/>
            </a:avLst>
          </a:prstGeom>
          <a:solidFill>
            <a:srgbClr val="F3F7F8"/>
          </a:solidFill>
          <a:ln w="19050">
            <a:solidFill>
              <a:srgbClr val="1FA8A0"/>
            </a:solidFill>
            <a:prstDash val="solid"/>
          </a:ln>
        </p:spPr>
      </p:sp>
      <p:sp>
        <p:nvSpPr>
          <p:cNvPr id="16" name="Text 14"/>
          <p:cNvSpPr/>
          <p:nvPr/>
        </p:nvSpPr>
        <p:spPr>
          <a:xfrm>
            <a:off x="4434840" y="4206240"/>
            <a:ext cx="1691640" cy="32004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EX</a:t>
            </a:r>
            <a:endParaRPr lang="en-US" sz="1500" dirty="0"/>
          </a:p>
        </p:txBody>
      </p:sp>
      <p:sp>
        <p:nvSpPr>
          <p:cNvPr id="17" name="Text 15"/>
          <p:cNvSpPr/>
          <p:nvPr/>
        </p:nvSpPr>
        <p:spPr>
          <a:xfrm>
            <a:off x="4434840" y="4553712"/>
            <a:ext cx="1691640" cy="320040"/>
          </a:xfrm>
          <a:prstGeom prst="rect">
            <a:avLst/>
          </a:prstGeom>
          <a:noFill/>
          <a:ln/>
        </p:spPr>
        <p:txBody>
          <a:bodyPr wrap="square" lIns="0" tIns="0" rIns="0" bIns="0" rtlCol="0" anchor="ctr"/>
          <a:lstStyle/>
          <a:p>
            <a:pPr algn="ctr" indent="0" marL="0">
              <a:buNone/>
            </a:pPr>
            <a:r>
              <a:rPr lang="en-US" sz="1150" dirty="0">
                <a:solidFill>
                  <a:srgbClr val="1FA8A0"/>
                </a:solidFill>
                <a:latin typeface="Courier New" pitchFamily="34" charset="0"/>
                <a:ea typeface="Courier New" pitchFamily="34" charset="-122"/>
                <a:cs typeface="Courier New" pitchFamily="34" charset="-120"/>
              </a:rPr>
              <a:t>EXSTDY</a:t>
            </a:r>
            <a:endParaRPr lang="en-US" sz="1150" dirty="0"/>
          </a:p>
        </p:txBody>
      </p:sp>
      <p:sp>
        <p:nvSpPr>
          <p:cNvPr id="18" name="Shape 16"/>
          <p:cNvSpPr/>
          <p:nvPr/>
        </p:nvSpPr>
        <p:spPr>
          <a:xfrm>
            <a:off x="6309360" y="4114800"/>
            <a:ext cx="1691640" cy="868680"/>
          </a:xfrm>
          <a:prstGeom prst="roundRect">
            <a:avLst>
              <a:gd name="adj" fmla="val 8421"/>
            </a:avLst>
          </a:prstGeom>
          <a:solidFill>
            <a:srgbClr val="F3F7F8"/>
          </a:solidFill>
          <a:ln w="19050">
            <a:solidFill>
              <a:srgbClr val="1FA8A0"/>
            </a:solidFill>
            <a:prstDash val="solid"/>
          </a:ln>
        </p:spPr>
      </p:sp>
      <p:sp>
        <p:nvSpPr>
          <p:cNvPr id="19" name="Text 17"/>
          <p:cNvSpPr/>
          <p:nvPr/>
        </p:nvSpPr>
        <p:spPr>
          <a:xfrm>
            <a:off x="6309360" y="4206240"/>
            <a:ext cx="1691640" cy="32004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VS</a:t>
            </a:r>
            <a:endParaRPr lang="en-US" sz="1500" dirty="0"/>
          </a:p>
        </p:txBody>
      </p:sp>
      <p:sp>
        <p:nvSpPr>
          <p:cNvPr id="20" name="Text 18"/>
          <p:cNvSpPr/>
          <p:nvPr/>
        </p:nvSpPr>
        <p:spPr>
          <a:xfrm>
            <a:off x="6309360" y="4553712"/>
            <a:ext cx="1691640" cy="320040"/>
          </a:xfrm>
          <a:prstGeom prst="rect">
            <a:avLst/>
          </a:prstGeom>
          <a:noFill/>
          <a:ln/>
        </p:spPr>
        <p:txBody>
          <a:bodyPr wrap="square" lIns="0" tIns="0" rIns="0" bIns="0" rtlCol="0" anchor="ctr"/>
          <a:lstStyle/>
          <a:p>
            <a:pPr algn="ctr" indent="0" marL="0">
              <a:buNone/>
            </a:pPr>
            <a:r>
              <a:rPr lang="en-US" sz="1150" dirty="0">
                <a:solidFill>
                  <a:srgbClr val="1FA8A0"/>
                </a:solidFill>
                <a:latin typeface="Courier New" pitchFamily="34" charset="0"/>
                <a:ea typeface="Courier New" pitchFamily="34" charset="-122"/>
                <a:cs typeface="Courier New" pitchFamily="34" charset="-120"/>
              </a:rPr>
              <a:t>VSDY</a:t>
            </a:r>
            <a:endParaRPr lang="en-US" sz="1150" dirty="0"/>
          </a:p>
        </p:txBody>
      </p:sp>
      <p:sp>
        <p:nvSpPr>
          <p:cNvPr id="21" name="Shape 19"/>
          <p:cNvSpPr/>
          <p:nvPr/>
        </p:nvSpPr>
        <p:spPr>
          <a:xfrm>
            <a:off x="8183880" y="4114800"/>
            <a:ext cx="1691640" cy="868680"/>
          </a:xfrm>
          <a:prstGeom prst="roundRect">
            <a:avLst>
              <a:gd name="adj" fmla="val 8421"/>
            </a:avLst>
          </a:prstGeom>
          <a:solidFill>
            <a:srgbClr val="F3F7F8"/>
          </a:solidFill>
          <a:ln w="19050">
            <a:solidFill>
              <a:srgbClr val="1FA8A0"/>
            </a:solidFill>
            <a:prstDash val="solid"/>
          </a:ln>
        </p:spPr>
      </p:sp>
      <p:sp>
        <p:nvSpPr>
          <p:cNvPr id="22" name="Text 20"/>
          <p:cNvSpPr/>
          <p:nvPr/>
        </p:nvSpPr>
        <p:spPr>
          <a:xfrm>
            <a:off x="8183880" y="4206240"/>
            <a:ext cx="1691640" cy="32004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LB</a:t>
            </a:r>
            <a:endParaRPr lang="en-US" sz="1500" dirty="0"/>
          </a:p>
        </p:txBody>
      </p:sp>
      <p:sp>
        <p:nvSpPr>
          <p:cNvPr id="23" name="Text 21"/>
          <p:cNvSpPr/>
          <p:nvPr/>
        </p:nvSpPr>
        <p:spPr>
          <a:xfrm>
            <a:off x="8183880" y="4553712"/>
            <a:ext cx="1691640" cy="320040"/>
          </a:xfrm>
          <a:prstGeom prst="rect">
            <a:avLst/>
          </a:prstGeom>
          <a:noFill/>
          <a:ln/>
        </p:spPr>
        <p:txBody>
          <a:bodyPr wrap="square" lIns="0" tIns="0" rIns="0" bIns="0" rtlCol="0" anchor="ctr"/>
          <a:lstStyle/>
          <a:p>
            <a:pPr algn="ctr" indent="0" marL="0">
              <a:buNone/>
            </a:pPr>
            <a:r>
              <a:rPr lang="en-US" sz="1150" dirty="0">
                <a:solidFill>
                  <a:srgbClr val="1FA8A0"/>
                </a:solidFill>
                <a:latin typeface="Courier New" pitchFamily="34" charset="0"/>
                <a:ea typeface="Courier New" pitchFamily="34" charset="-122"/>
                <a:cs typeface="Courier New" pitchFamily="34" charset="-120"/>
              </a:rPr>
              <a:t>LBDY</a:t>
            </a:r>
            <a:endParaRPr lang="en-US" sz="1150" dirty="0"/>
          </a:p>
        </p:txBody>
      </p:sp>
      <p:sp>
        <p:nvSpPr>
          <p:cNvPr id="24" name="Shape 22"/>
          <p:cNvSpPr/>
          <p:nvPr/>
        </p:nvSpPr>
        <p:spPr>
          <a:xfrm>
            <a:off x="10058400" y="4114800"/>
            <a:ext cx="1691640" cy="868680"/>
          </a:xfrm>
          <a:prstGeom prst="roundRect">
            <a:avLst>
              <a:gd name="adj" fmla="val 8421"/>
            </a:avLst>
          </a:prstGeom>
          <a:solidFill>
            <a:srgbClr val="F3F7F8"/>
          </a:solidFill>
          <a:ln w="19050">
            <a:solidFill>
              <a:srgbClr val="1FA8A0"/>
            </a:solidFill>
            <a:prstDash val="solid"/>
          </a:ln>
        </p:spPr>
      </p:sp>
      <p:sp>
        <p:nvSpPr>
          <p:cNvPr id="25" name="Text 23"/>
          <p:cNvSpPr/>
          <p:nvPr/>
        </p:nvSpPr>
        <p:spPr>
          <a:xfrm>
            <a:off x="10058400" y="4206240"/>
            <a:ext cx="1691640" cy="32004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DS</a:t>
            </a:r>
            <a:endParaRPr lang="en-US" sz="1500" dirty="0"/>
          </a:p>
        </p:txBody>
      </p:sp>
      <p:sp>
        <p:nvSpPr>
          <p:cNvPr id="26" name="Text 24"/>
          <p:cNvSpPr/>
          <p:nvPr/>
        </p:nvSpPr>
        <p:spPr>
          <a:xfrm>
            <a:off x="10058400" y="4553712"/>
            <a:ext cx="1691640" cy="320040"/>
          </a:xfrm>
          <a:prstGeom prst="rect">
            <a:avLst/>
          </a:prstGeom>
          <a:noFill/>
          <a:ln/>
        </p:spPr>
        <p:txBody>
          <a:bodyPr wrap="square" lIns="0" tIns="0" rIns="0" bIns="0" rtlCol="0" anchor="ctr"/>
          <a:lstStyle/>
          <a:p>
            <a:pPr algn="ctr" indent="0" marL="0">
              <a:buNone/>
            </a:pPr>
            <a:r>
              <a:rPr lang="en-US" sz="1150" dirty="0">
                <a:solidFill>
                  <a:srgbClr val="1FA8A0"/>
                </a:solidFill>
                <a:latin typeface="Courier New" pitchFamily="34" charset="0"/>
                <a:ea typeface="Courier New" pitchFamily="34" charset="-122"/>
                <a:cs typeface="Courier New" pitchFamily="34" charset="-120"/>
              </a:rPr>
              <a:t>DSSTDY</a:t>
            </a:r>
            <a:endParaRPr lang="en-US" sz="1150" dirty="0"/>
          </a:p>
        </p:txBody>
      </p:sp>
      <p:sp>
        <p:nvSpPr>
          <p:cNvPr id="27" name="Text 25"/>
          <p:cNvSpPr/>
          <p:nvPr/>
        </p:nvSpPr>
        <p:spPr>
          <a:xfrm>
            <a:off x="640080" y="3703320"/>
            <a:ext cx="10972800" cy="320040"/>
          </a:xfrm>
          <a:prstGeom prst="rect">
            <a:avLst/>
          </a:prstGeom>
          <a:noFill/>
          <a:ln/>
        </p:spPr>
        <p:txBody>
          <a:bodyPr wrap="square" lIns="0" tIns="0" rIns="0" bIns="0" rtlCol="0" anchor="ctr"/>
          <a:lstStyle/>
          <a:p>
            <a:pPr algn="ctr" indent="0" marL="0">
              <a:buNone/>
            </a:pPr>
            <a:r>
              <a:rPr lang="en-US" sz="1300" spc="2800" kern="0" dirty="0">
                <a:solidFill>
                  <a:srgbClr val="1FA8A0"/>
                </a:solidFill>
              </a:rPr>
              <a:t>▼   ▼   ▼   ▼   ▼   ▼</a:t>
            </a:r>
            <a:endParaRPr lang="en-US" sz="1300" dirty="0"/>
          </a:p>
        </p:txBody>
      </p:sp>
      <p:sp>
        <p:nvSpPr>
          <p:cNvPr id="28" name="Shape 26"/>
          <p:cNvSpPr/>
          <p:nvPr/>
        </p:nvSpPr>
        <p:spPr>
          <a:xfrm>
            <a:off x="640080" y="5257800"/>
            <a:ext cx="10972800" cy="1051560"/>
          </a:xfrm>
          <a:prstGeom prst="roundRect">
            <a:avLst>
              <a:gd name="adj" fmla="val 7826"/>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9" name="Text 27"/>
          <p:cNvSpPr/>
          <p:nvPr/>
        </p:nvSpPr>
        <p:spPr>
          <a:xfrm>
            <a:off x="914400" y="5394960"/>
            <a:ext cx="10424160" cy="822960"/>
          </a:xfrm>
          <a:prstGeom prst="rect">
            <a:avLst/>
          </a:prstGeom>
          <a:noFill/>
          <a:ln/>
        </p:spPr>
        <p:txBody>
          <a:bodyPr wrap="square" lIns="0" tIns="0" rIns="0" bIns="0" rtlCol="0" anchor="ctr"/>
          <a:lstStyle/>
          <a:p>
            <a:pPr indent="0" marL="0">
              <a:buNone/>
            </a:pPr>
            <a:r>
              <a:rPr lang="en-US" sz="1300" b="1" dirty="0">
                <a:solidFill>
                  <a:srgbClr val="B5651A"/>
                </a:solidFill>
                <a:latin typeface="Calibri" pitchFamily="34" charset="0"/>
                <a:ea typeface="Calibri" pitchFamily="34" charset="-122"/>
                <a:cs typeface="Calibri" pitchFamily="34" charset="-120"/>
              </a:rPr>
              <a:t>One date, 226 derived values.  </a:t>
            </a:r>
            <a:pPr indent="0" marL="0">
              <a:buNone/>
            </a:pPr>
            <a:r>
              <a:rPr lang="en-US" sz="1300" dirty="0">
                <a:solidFill>
                  <a:srgbClr val="0F2E3D"/>
                </a:solidFill>
                <a:latin typeface="Calibri" pitchFamily="34" charset="0"/>
                <a:ea typeface="Calibri" pitchFamily="34" charset="-122"/>
                <a:cs typeface="Calibri" pitchFamily="34" charset="-120"/>
              </a:rPr>
              <a:t>In ABC-01 there are 226 --DY values across six domains, and every one is measured from that subject's own RFSTDTC. An EX date that is wrong by a day shifts the entire study timeline — and shifts it CONSISTENTLY, so no within-domain check will ever catch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THE RULE</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One formula, two branches, no Day 0</a:t>
            </a:r>
            <a:endParaRPr lang="en-US" sz="3000" dirty="0"/>
          </a:p>
        </p:txBody>
      </p:sp>
      <p:sp>
        <p:nvSpPr>
          <p:cNvPr id="4" name="Shape 2"/>
          <p:cNvSpPr/>
          <p:nvPr/>
        </p:nvSpPr>
        <p:spPr>
          <a:xfrm>
            <a:off x="640080" y="1645920"/>
            <a:ext cx="10972800" cy="1126744"/>
          </a:xfrm>
          <a:prstGeom prst="roundRect">
            <a:avLst>
              <a:gd name="adj" fmla="val 6492"/>
            </a:avLst>
          </a:prstGeom>
          <a:solidFill>
            <a:srgbClr val="13323F"/>
          </a:solidFill>
          <a:ln w="19050">
            <a:solidFill>
              <a:srgbClr val="6FC8B4"/>
            </a:solidFill>
            <a:prstDash val="solid"/>
          </a:ln>
        </p:spPr>
      </p:sp>
      <p:sp>
        <p:nvSpPr>
          <p:cNvPr id="5" name="Text 3"/>
          <p:cNvSpPr/>
          <p:nvPr/>
        </p:nvSpPr>
        <p:spPr>
          <a:xfrm>
            <a:off x="868680" y="1737360"/>
            <a:ext cx="5486400" cy="320040"/>
          </a:xfrm>
          <a:prstGeom prst="rect">
            <a:avLst/>
          </a:prstGeom>
          <a:noFill/>
          <a:ln/>
        </p:spPr>
        <p:txBody>
          <a:bodyPr wrap="square" lIns="0" tIns="0" rIns="0" bIns="0" rtlCol="0" anchor="ctr"/>
          <a:lstStyle/>
          <a:p>
            <a:pPr indent="0" marL="0">
              <a:buNone/>
            </a:pPr>
            <a:r>
              <a:rPr lang="en-US" sz="1400" b="1" dirty="0">
                <a:solidFill>
                  <a:srgbClr val="6FC8B4"/>
                </a:solidFill>
                <a:latin typeface="Cambria" pitchFamily="34" charset="0"/>
                <a:ea typeface="Cambria" pitchFamily="34" charset="-122"/>
                <a:cs typeface="Cambria" pitchFamily="34" charset="-120"/>
              </a:rPr>
              <a:t>The only study-day rule you need</a:t>
            </a:r>
            <a:endParaRPr lang="en-US" sz="1400" dirty="0"/>
          </a:p>
        </p:txBody>
      </p:sp>
      <p:sp>
        <p:nvSpPr>
          <p:cNvPr id="6" name="Text 4"/>
          <p:cNvSpPr/>
          <p:nvPr/>
        </p:nvSpPr>
        <p:spPr>
          <a:xfrm>
            <a:off x="868680" y="2103120"/>
            <a:ext cx="10561320" cy="5598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if  --DTC &gt;= RFSTDTC   then   --DY = (--DTC - RFSTDTC) + 1;    /* on or after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else                          --DY = (--DTC - RFSTDTC);        /* before      */</a:t>
            </a:r>
            <a:endParaRPr lang="en-US" sz="1200" dirty="0"/>
          </a:p>
        </p:txBody>
      </p:sp>
      <p:sp>
        <p:nvSpPr>
          <p:cNvPr id="7" name="Text 5"/>
          <p:cNvSpPr/>
          <p:nvPr/>
        </p:nvSpPr>
        <p:spPr>
          <a:xfrm>
            <a:off x="640080" y="3200400"/>
            <a:ext cx="109728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Why the asymmetry? Because Day 0 does not exist.</a:t>
            </a:r>
            <a:endParaRPr lang="en-US" sz="1800" dirty="0"/>
          </a:p>
        </p:txBody>
      </p:sp>
      <p:sp>
        <p:nvSpPr>
          <p:cNvPr id="8" name="Shape 6"/>
          <p:cNvSpPr/>
          <p:nvPr/>
        </p:nvSpPr>
        <p:spPr>
          <a:xfrm>
            <a:off x="1463040" y="3794760"/>
            <a:ext cx="1371600" cy="868680"/>
          </a:xfrm>
          <a:prstGeom prst="roundRect">
            <a:avLst>
              <a:gd name="adj" fmla="val 8421"/>
            </a:avLst>
          </a:prstGeom>
          <a:solidFill>
            <a:srgbClr val="1A4152"/>
          </a:solidFill>
          <a:ln w="12700">
            <a:solidFill>
              <a:srgbClr val="24576B"/>
            </a:solidFill>
            <a:prstDash val="solid"/>
          </a:ln>
        </p:spPr>
      </p:sp>
      <p:sp>
        <p:nvSpPr>
          <p:cNvPr id="9" name="Text 7"/>
          <p:cNvSpPr/>
          <p:nvPr/>
        </p:nvSpPr>
        <p:spPr>
          <a:xfrm>
            <a:off x="1463040" y="3794760"/>
            <a:ext cx="137160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−3</a:t>
            </a:r>
            <a:endParaRPr lang="en-US" sz="2000" dirty="0"/>
          </a:p>
        </p:txBody>
      </p:sp>
      <p:sp>
        <p:nvSpPr>
          <p:cNvPr id="10" name="Shape 8"/>
          <p:cNvSpPr/>
          <p:nvPr/>
        </p:nvSpPr>
        <p:spPr>
          <a:xfrm>
            <a:off x="3063240" y="3794760"/>
            <a:ext cx="1371600" cy="868680"/>
          </a:xfrm>
          <a:prstGeom prst="roundRect">
            <a:avLst>
              <a:gd name="adj" fmla="val 8421"/>
            </a:avLst>
          </a:prstGeom>
          <a:solidFill>
            <a:srgbClr val="1A4152"/>
          </a:solidFill>
          <a:ln w="12700">
            <a:solidFill>
              <a:srgbClr val="24576B"/>
            </a:solidFill>
            <a:prstDash val="solid"/>
          </a:ln>
        </p:spPr>
      </p:sp>
      <p:sp>
        <p:nvSpPr>
          <p:cNvPr id="11" name="Text 9"/>
          <p:cNvSpPr/>
          <p:nvPr/>
        </p:nvSpPr>
        <p:spPr>
          <a:xfrm>
            <a:off x="3063240" y="3794760"/>
            <a:ext cx="137160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−2</a:t>
            </a:r>
            <a:endParaRPr lang="en-US" sz="2000" dirty="0"/>
          </a:p>
        </p:txBody>
      </p:sp>
      <p:sp>
        <p:nvSpPr>
          <p:cNvPr id="12" name="Shape 10"/>
          <p:cNvSpPr/>
          <p:nvPr/>
        </p:nvSpPr>
        <p:spPr>
          <a:xfrm>
            <a:off x="4663440" y="3794760"/>
            <a:ext cx="1371600" cy="868680"/>
          </a:xfrm>
          <a:prstGeom prst="roundRect">
            <a:avLst>
              <a:gd name="adj" fmla="val 8421"/>
            </a:avLst>
          </a:prstGeom>
          <a:solidFill>
            <a:srgbClr val="1A4152"/>
          </a:solidFill>
          <a:ln w="12700">
            <a:solidFill>
              <a:srgbClr val="24576B"/>
            </a:solidFill>
            <a:prstDash val="solid"/>
          </a:ln>
        </p:spPr>
      </p:sp>
      <p:sp>
        <p:nvSpPr>
          <p:cNvPr id="13" name="Text 11"/>
          <p:cNvSpPr/>
          <p:nvPr/>
        </p:nvSpPr>
        <p:spPr>
          <a:xfrm>
            <a:off x="4663440" y="3794760"/>
            <a:ext cx="137160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−1</a:t>
            </a:r>
            <a:endParaRPr lang="en-US" sz="2000" dirty="0"/>
          </a:p>
        </p:txBody>
      </p:sp>
      <p:sp>
        <p:nvSpPr>
          <p:cNvPr id="14" name="Text 12"/>
          <p:cNvSpPr/>
          <p:nvPr/>
        </p:nvSpPr>
        <p:spPr>
          <a:xfrm>
            <a:off x="4480560" y="4709160"/>
            <a:ext cx="1737360" cy="274320"/>
          </a:xfrm>
          <a:prstGeom prst="rect">
            <a:avLst/>
          </a:prstGeom>
          <a:noFill/>
          <a:ln/>
        </p:spPr>
        <p:txBody>
          <a:bodyPr wrap="square" lIns="0" tIns="0" rIns="0" bIns="0" rtlCol="0" anchor="ctr"/>
          <a:lstStyle/>
          <a:p>
            <a:pPr algn="ctr" indent="0" marL="0">
              <a:buNone/>
            </a:pPr>
            <a:r>
              <a:rPr lang="en-US" sz="1050" dirty="0">
                <a:solidFill>
                  <a:srgbClr val="AFCBD3"/>
                </a:solidFill>
                <a:latin typeface="Calibri" pitchFamily="34" charset="0"/>
                <a:ea typeface="Calibri" pitchFamily="34" charset="-122"/>
                <a:cs typeface="Calibri" pitchFamily="34" charset="-120"/>
              </a:rPr>
              <a:t>day before</a:t>
            </a:r>
            <a:endParaRPr lang="en-US" sz="1050" dirty="0"/>
          </a:p>
        </p:txBody>
      </p:sp>
      <p:sp>
        <p:nvSpPr>
          <p:cNvPr id="15" name="Shape 13"/>
          <p:cNvSpPr/>
          <p:nvPr/>
        </p:nvSpPr>
        <p:spPr>
          <a:xfrm>
            <a:off x="6263640" y="3794760"/>
            <a:ext cx="1371600" cy="868680"/>
          </a:xfrm>
          <a:prstGeom prst="roundRect">
            <a:avLst>
              <a:gd name="adj" fmla="val 8421"/>
            </a:avLst>
          </a:prstGeom>
          <a:solidFill>
            <a:srgbClr val="6FC8B4"/>
          </a:solidFill>
          <a:ln w="25400">
            <a:solidFill>
              <a:srgbClr val="6FC8B4"/>
            </a:solidFill>
            <a:prstDash val="solid"/>
          </a:ln>
        </p:spPr>
      </p:sp>
      <p:sp>
        <p:nvSpPr>
          <p:cNvPr id="16" name="Text 14"/>
          <p:cNvSpPr/>
          <p:nvPr/>
        </p:nvSpPr>
        <p:spPr>
          <a:xfrm>
            <a:off x="6263640" y="3794760"/>
            <a:ext cx="1371600" cy="868680"/>
          </a:xfrm>
          <a:prstGeom prst="rect">
            <a:avLst/>
          </a:prstGeom>
          <a:noFill/>
          <a:ln/>
        </p:spPr>
        <p:txBody>
          <a:bodyPr wrap="square" lIns="0" tIns="0" rIns="0" bIns="0" rtlCol="0" anchor="ctr"/>
          <a:lstStyle/>
          <a:p>
            <a:pPr algn="ctr" indent="0" marL="0">
              <a:buNone/>
            </a:pPr>
            <a:r>
              <a:rPr lang="en-US" sz="2000" b="1" dirty="0">
                <a:solidFill>
                  <a:srgbClr val="0F2E3D"/>
                </a:solidFill>
                <a:latin typeface="Courier New" pitchFamily="34" charset="0"/>
                <a:ea typeface="Courier New" pitchFamily="34" charset="-122"/>
                <a:cs typeface="Courier New" pitchFamily="34" charset="-120"/>
              </a:rPr>
              <a:t>1</a:t>
            </a:r>
            <a:endParaRPr lang="en-US" sz="2000" dirty="0"/>
          </a:p>
        </p:txBody>
      </p:sp>
      <p:sp>
        <p:nvSpPr>
          <p:cNvPr id="17" name="Text 15"/>
          <p:cNvSpPr/>
          <p:nvPr/>
        </p:nvSpPr>
        <p:spPr>
          <a:xfrm>
            <a:off x="6080760" y="4709160"/>
            <a:ext cx="1737360" cy="274320"/>
          </a:xfrm>
          <a:prstGeom prst="rect">
            <a:avLst/>
          </a:prstGeom>
          <a:noFill/>
          <a:ln/>
        </p:spPr>
        <p:txBody>
          <a:bodyPr wrap="square" lIns="0" tIns="0" rIns="0" bIns="0" rtlCol="0" anchor="ctr"/>
          <a:lstStyle/>
          <a:p>
            <a:pPr algn="ctr" indent="0" marL="0">
              <a:buNone/>
            </a:pPr>
            <a:r>
              <a:rPr lang="en-US" sz="1050" b="1" dirty="0">
                <a:solidFill>
                  <a:srgbClr val="6FC8B4"/>
                </a:solidFill>
                <a:latin typeface="Calibri" pitchFamily="34" charset="0"/>
                <a:ea typeface="Calibri" pitchFamily="34" charset="-122"/>
                <a:cs typeface="Calibri" pitchFamily="34" charset="-120"/>
              </a:rPr>
              <a:t>FIRST DOSE</a:t>
            </a:r>
            <a:endParaRPr lang="en-US" sz="1050" dirty="0"/>
          </a:p>
        </p:txBody>
      </p:sp>
      <p:sp>
        <p:nvSpPr>
          <p:cNvPr id="18" name="Shape 16"/>
          <p:cNvSpPr/>
          <p:nvPr/>
        </p:nvSpPr>
        <p:spPr>
          <a:xfrm>
            <a:off x="7863840" y="3794760"/>
            <a:ext cx="1371600" cy="868680"/>
          </a:xfrm>
          <a:prstGeom prst="roundRect">
            <a:avLst>
              <a:gd name="adj" fmla="val 8421"/>
            </a:avLst>
          </a:prstGeom>
          <a:solidFill>
            <a:srgbClr val="1A4152"/>
          </a:solidFill>
          <a:ln w="12700">
            <a:solidFill>
              <a:srgbClr val="24576B"/>
            </a:solidFill>
            <a:prstDash val="solid"/>
          </a:ln>
        </p:spPr>
      </p:sp>
      <p:sp>
        <p:nvSpPr>
          <p:cNvPr id="19" name="Text 17"/>
          <p:cNvSpPr/>
          <p:nvPr/>
        </p:nvSpPr>
        <p:spPr>
          <a:xfrm>
            <a:off x="7863840" y="3794760"/>
            <a:ext cx="137160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2</a:t>
            </a:r>
            <a:endParaRPr lang="en-US" sz="2000" dirty="0"/>
          </a:p>
        </p:txBody>
      </p:sp>
      <p:sp>
        <p:nvSpPr>
          <p:cNvPr id="20" name="Shape 18"/>
          <p:cNvSpPr/>
          <p:nvPr/>
        </p:nvSpPr>
        <p:spPr>
          <a:xfrm>
            <a:off x="9464040" y="3794760"/>
            <a:ext cx="1371600" cy="868680"/>
          </a:xfrm>
          <a:prstGeom prst="roundRect">
            <a:avLst>
              <a:gd name="adj" fmla="val 8421"/>
            </a:avLst>
          </a:prstGeom>
          <a:solidFill>
            <a:srgbClr val="1A4152"/>
          </a:solidFill>
          <a:ln w="12700">
            <a:solidFill>
              <a:srgbClr val="24576B"/>
            </a:solidFill>
            <a:prstDash val="solid"/>
          </a:ln>
        </p:spPr>
      </p:sp>
      <p:sp>
        <p:nvSpPr>
          <p:cNvPr id="21" name="Text 19"/>
          <p:cNvSpPr/>
          <p:nvPr/>
        </p:nvSpPr>
        <p:spPr>
          <a:xfrm>
            <a:off x="9464040" y="3794760"/>
            <a:ext cx="137160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3</a:t>
            </a:r>
            <a:endParaRPr lang="en-US" sz="2000" dirty="0"/>
          </a:p>
        </p:txBody>
      </p:sp>
      <p:sp>
        <p:nvSpPr>
          <p:cNvPr id="22" name="Text 20"/>
          <p:cNvSpPr/>
          <p:nvPr/>
        </p:nvSpPr>
        <p:spPr>
          <a:xfrm>
            <a:off x="640080" y="5120640"/>
            <a:ext cx="10972800" cy="320040"/>
          </a:xfrm>
          <a:prstGeom prst="rect">
            <a:avLst/>
          </a:prstGeom>
          <a:noFill/>
          <a:ln/>
        </p:spPr>
        <p:txBody>
          <a:bodyPr wrap="square" lIns="0" tIns="0" rIns="0" bIns="0" rtlCol="0" anchor="ctr"/>
          <a:lstStyle/>
          <a:p>
            <a:pPr algn="ctr" indent="0" marL="0">
              <a:buNone/>
            </a:pPr>
            <a:r>
              <a:rPr lang="en-US" sz="1400" b="1" dirty="0">
                <a:solidFill>
                  <a:srgbClr val="E8833A"/>
                </a:solidFill>
                <a:latin typeface="Calibri" pitchFamily="34" charset="0"/>
                <a:ea typeface="Calibri" pitchFamily="34" charset="-122"/>
                <a:cs typeface="Calibri" pitchFamily="34" charset="-120"/>
              </a:rPr>
              <a:t>There is no box between −1 and 1.</a:t>
            </a:r>
            <a:endParaRPr lang="en-US" sz="1400" dirty="0"/>
          </a:p>
        </p:txBody>
      </p:sp>
      <p:sp>
        <p:nvSpPr>
          <p:cNvPr id="23" name="Shape 21"/>
          <p:cNvSpPr/>
          <p:nvPr/>
        </p:nvSpPr>
        <p:spPr>
          <a:xfrm>
            <a:off x="640080" y="5532120"/>
            <a:ext cx="10972800" cy="1051560"/>
          </a:xfrm>
          <a:prstGeom prst="roundRect">
            <a:avLst>
              <a:gd name="adj" fmla="val 7826"/>
            </a:avLst>
          </a:prstGeom>
          <a:solidFill>
            <a:srgbClr val="1A415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4" name="Text 22"/>
          <p:cNvSpPr/>
          <p:nvPr/>
        </p:nvSpPr>
        <p:spPr>
          <a:xfrm>
            <a:off x="914400" y="5650992"/>
            <a:ext cx="10424160" cy="274320"/>
          </a:xfrm>
          <a:prstGeom prst="rect">
            <a:avLst/>
          </a:prstGeom>
          <a:noFill/>
          <a:ln/>
        </p:spPr>
        <p:txBody>
          <a:bodyPr wrap="square" lIns="0" tIns="0" rIns="0" bIns="0" rtlCol="0" anchor="ctr"/>
          <a:lstStyle/>
          <a:p>
            <a:pPr indent="0" marL="0">
              <a:buNone/>
            </a:pPr>
            <a:r>
              <a:rPr lang="en-US" sz="1400" b="1" dirty="0">
                <a:solidFill>
                  <a:srgbClr val="6FC8B4"/>
                </a:solidFill>
                <a:latin typeface="Cambria" pitchFamily="34" charset="0"/>
                <a:ea typeface="Cambria" pitchFamily="34" charset="-122"/>
                <a:cs typeface="Cambria" pitchFamily="34" charset="-120"/>
              </a:rPr>
              <a:t>Proof from your own data</a:t>
            </a:r>
            <a:endParaRPr lang="en-US" sz="1400" dirty="0"/>
          </a:p>
        </p:txBody>
      </p:sp>
      <p:sp>
        <p:nvSpPr>
          <p:cNvPr id="25" name="Text 23"/>
          <p:cNvSpPr/>
          <p:nvPr/>
        </p:nvSpPr>
        <p:spPr>
          <a:xfrm>
            <a:off x="914400" y="5943600"/>
            <a:ext cx="10424160" cy="548640"/>
          </a:xfrm>
          <a:prstGeom prst="rect">
            <a:avLst/>
          </a:prstGeom>
          <a:noFill/>
          <a:ln/>
        </p:spPr>
        <p:txBody>
          <a:bodyPr wrap="square" lIns="0" tIns="0" rIns="0" bIns="0" rtlCol="0" anchor="ctr"/>
          <a:lstStyle/>
          <a:p>
            <a:pPr indent="0" marL="0">
              <a:buNone/>
            </a:pPr>
            <a:r>
              <a:rPr lang="en-US" sz="1250" dirty="0">
                <a:solidFill>
                  <a:srgbClr val="DCEBEF"/>
                </a:solidFill>
                <a:latin typeface="Calibri" pitchFamily="34" charset="0"/>
                <a:ea typeface="Calibri" pitchFamily="34" charset="-122"/>
                <a:cs typeface="Calibri" pitchFamily="34" charset="-120"/>
              </a:rPr>
              <a:t>Across all 226 --DY values in ABC-01 — including 61 negative ones — there is not a single zero. That is not luck: the "+ 1" on one branch only is what enforces it. If a 0 ever appears in your output, one branch is missing its + 1.</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NEGATIVE IS NOT AN ERROR</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It depends entirely on what the domain collects</a:t>
            </a:r>
            <a:endParaRPr lang="en-US" sz="3000" dirty="0"/>
          </a:p>
        </p:txBody>
      </p:sp>
      <p:sp>
        <p:nvSpPr>
          <p:cNvPr id="4" name="Shape 2"/>
          <p:cNvSpPr/>
          <p:nvPr/>
        </p:nvSpPr>
        <p:spPr>
          <a:xfrm>
            <a:off x="640080" y="1691640"/>
            <a:ext cx="1371600" cy="347472"/>
          </a:xfrm>
          <a:prstGeom prst="rect">
            <a:avLst/>
          </a:prstGeom>
          <a:solidFill>
            <a:srgbClr val="0F2E3D"/>
          </a:solidFill>
          <a:ln w="9525">
            <a:solidFill>
              <a:srgbClr val="CFDEE1"/>
            </a:solidFill>
            <a:prstDash val="solid"/>
          </a:ln>
        </p:spPr>
      </p:sp>
      <p:sp>
        <p:nvSpPr>
          <p:cNvPr id="5" name="Text 3"/>
          <p:cNvSpPr/>
          <p:nvPr/>
        </p:nvSpPr>
        <p:spPr>
          <a:xfrm>
            <a:off x="694944" y="1691640"/>
            <a:ext cx="1261872" cy="34747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Domain</a:t>
            </a:r>
            <a:endParaRPr lang="en-US" sz="1150" dirty="0"/>
          </a:p>
        </p:txBody>
      </p:sp>
      <p:sp>
        <p:nvSpPr>
          <p:cNvPr id="6" name="Shape 4"/>
          <p:cNvSpPr/>
          <p:nvPr/>
        </p:nvSpPr>
        <p:spPr>
          <a:xfrm>
            <a:off x="2011680" y="1691640"/>
            <a:ext cx="1371600" cy="347472"/>
          </a:xfrm>
          <a:prstGeom prst="rect">
            <a:avLst/>
          </a:prstGeom>
          <a:solidFill>
            <a:srgbClr val="0F2E3D"/>
          </a:solidFill>
          <a:ln w="9525">
            <a:solidFill>
              <a:srgbClr val="CFDEE1"/>
            </a:solidFill>
            <a:prstDash val="solid"/>
          </a:ln>
        </p:spPr>
      </p:sp>
      <p:sp>
        <p:nvSpPr>
          <p:cNvPr id="7" name="Text 5"/>
          <p:cNvSpPr/>
          <p:nvPr/>
        </p:nvSpPr>
        <p:spPr>
          <a:xfrm>
            <a:off x="2066544" y="1691640"/>
            <a:ext cx="1261872" cy="34747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Variable</a:t>
            </a:r>
            <a:endParaRPr lang="en-US" sz="1150" dirty="0"/>
          </a:p>
        </p:txBody>
      </p:sp>
      <p:sp>
        <p:nvSpPr>
          <p:cNvPr id="8" name="Shape 6"/>
          <p:cNvSpPr/>
          <p:nvPr/>
        </p:nvSpPr>
        <p:spPr>
          <a:xfrm>
            <a:off x="3383280" y="1691640"/>
            <a:ext cx="1920240" cy="347472"/>
          </a:xfrm>
          <a:prstGeom prst="rect">
            <a:avLst/>
          </a:prstGeom>
          <a:solidFill>
            <a:srgbClr val="0F2E3D"/>
          </a:solidFill>
          <a:ln w="9525">
            <a:solidFill>
              <a:srgbClr val="CFDEE1"/>
            </a:solidFill>
            <a:prstDash val="solid"/>
          </a:ln>
        </p:spPr>
      </p:sp>
      <p:sp>
        <p:nvSpPr>
          <p:cNvPr id="9" name="Text 7"/>
          <p:cNvSpPr/>
          <p:nvPr/>
        </p:nvSpPr>
        <p:spPr>
          <a:xfrm>
            <a:off x="3438144" y="1691640"/>
            <a:ext cx="1810512" cy="34747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Range in ABC-01</a:t>
            </a:r>
            <a:endParaRPr lang="en-US" sz="1150" dirty="0"/>
          </a:p>
        </p:txBody>
      </p:sp>
      <p:sp>
        <p:nvSpPr>
          <p:cNvPr id="10" name="Shape 8"/>
          <p:cNvSpPr/>
          <p:nvPr/>
        </p:nvSpPr>
        <p:spPr>
          <a:xfrm>
            <a:off x="5303520" y="1691640"/>
            <a:ext cx="1280160" cy="347472"/>
          </a:xfrm>
          <a:prstGeom prst="rect">
            <a:avLst/>
          </a:prstGeom>
          <a:solidFill>
            <a:srgbClr val="0F2E3D"/>
          </a:solidFill>
          <a:ln w="9525">
            <a:solidFill>
              <a:srgbClr val="CFDEE1"/>
            </a:solidFill>
            <a:prstDash val="solid"/>
          </a:ln>
        </p:spPr>
      </p:sp>
      <p:sp>
        <p:nvSpPr>
          <p:cNvPr id="11" name="Text 9"/>
          <p:cNvSpPr/>
          <p:nvPr/>
        </p:nvSpPr>
        <p:spPr>
          <a:xfrm>
            <a:off x="5358384" y="1691640"/>
            <a:ext cx="1170432" cy="34747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Negative</a:t>
            </a:r>
            <a:endParaRPr lang="en-US" sz="1150" dirty="0"/>
          </a:p>
        </p:txBody>
      </p:sp>
      <p:sp>
        <p:nvSpPr>
          <p:cNvPr id="12" name="Shape 10"/>
          <p:cNvSpPr/>
          <p:nvPr/>
        </p:nvSpPr>
        <p:spPr>
          <a:xfrm>
            <a:off x="6583680" y="1691640"/>
            <a:ext cx="5029200" cy="347472"/>
          </a:xfrm>
          <a:prstGeom prst="rect">
            <a:avLst/>
          </a:prstGeom>
          <a:solidFill>
            <a:srgbClr val="0F2E3D"/>
          </a:solidFill>
          <a:ln w="9525">
            <a:solidFill>
              <a:srgbClr val="CFDEE1"/>
            </a:solidFill>
            <a:prstDash val="solid"/>
          </a:ln>
        </p:spPr>
      </p:sp>
      <p:sp>
        <p:nvSpPr>
          <p:cNvPr id="13" name="Text 11"/>
          <p:cNvSpPr/>
          <p:nvPr/>
        </p:nvSpPr>
        <p:spPr>
          <a:xfrm>
            <a:off x="6638544" y="1691640"/>
            <a:ext cx="4919472" cy="34747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p>
        </p:txBody>
      </p:sp>
      <p:sp>
        <p:nvSpPr>
          <p:cNvPr id="14" name="Shape 12"/>
          <p:cNvSpPr/>
          <p:nvPr/>
        </p:nvSpPr>
        <p:spPr>
          <a:xfrm>
            <a:off x="640080" y="2039112"/>
            <a:ext cx="1371600" cy="347472"/>
          </a:xfrm>
          <a:prstGeom prst="rect">
            <a:avLst/>
          </a:prstGeom>
          <a:solidFill>
            <a:srgbClr val="F3F7F8"/>
          </a:solidFill>
          <a:ln w="9525">
            <a:solidFill>
              <a:srgbClr val="CFDEE1"/>
            </a:solidFill>
            <a:prstDash val="solid"/>
          </a:ln>
        </p:spPr>
      </p:sp>
      <p:sp>
        <p:nvSpPr>
          <p:cNvPr id="15" name="Text 13"/>
          <p:cNvSpPr/>
          <p:nvPr/>
        </p:nvSpPr>
        <p:spPr>
          <a:xfrm>
            <a:off x="694944" y="2039112"/>
            <a:ext cx="12618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EX</a:t>
            </a:r>
            <a:endParaRPr lang="en-US" sz="1150" dirty="0"/>
          </a:p>
        </p:txBody>
      </p:sp>
      <p:sp>
        <p:nvSpPr>
          <p:cNvPr id="16" name="Shape 14"/>
          <p:cNvSpPr/>
          <p:nvPr/>
        </p:nvSpPr>
        <p:spPr>
          <a:xfrm>
            <a:off x="2011680" y="2039112"/>
            <a:ext cx="1371600" cy="347472"/>
          </a:xfrm>
          <a:prstGeom prst="rect">
            <a:avLst/>
          </a:prstGeom>
          <a:solidFill>
            <a:srgbClr val="F3F7F8"/>
          </a:solidFill>
          <a:ln w="9525">
            <a:solidFill>
              <a:srgbClr val="CFDEE1"/>
            </a:solidFill>
            <a:prstDash val="solid"/>
          </a:ln>
        </p:spPr>
      </p:sp>
      <p:sp>
        <p:nvSpPr>
          <p:cNvPr id="17" name="Text 15"/>
          <p:cNvSpPr/>
          <p:nvPr/>
        </p:nvSpPr>
        <p:spPr>
          <a:xfrm>
            <a:off x="2066544" y="2039112"/>
            <a:ext cx="12618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EXSTDY</a:t>
            </a:r>
            <a:endParaRPr lang="en-US" sz="1150" dirty="0"/>
          </a:p>
        </p:txBody>
      </p:sp>
      <p:sp>
        <p:nvSpPr>
          <p:cNvPr id="18" name="Shape 16"/>
          <p:cNvSpPr/>
          <p:nvPr/>
        </p:nvSpPr>
        <p:spPr>
          <a:xfrm>
            <a:off x="3383280" y="2039112"/>
            <a:ext cx="1920240" cy="347472"/>
          </a:xfrm>
          <a:prstGeom prst="rect">
            <a:avLst/>
          </a:prstGeom>
          <a:solidFill>
            <a:srgbClr val="F3F7F8"/>
          </a:solidFill>
          <a:ln w="9525">
            <a:solidFill>
              <a:srgbClr val="CFDEE1"/>
            </a:solidFill>
            <a:prstDash val="solid"/>
          </a:ln>
        </p:spPr>
      </p:sp>
      <p:sp>
        <p:nvSpPr>
          <p:cNvPr id="19" name="Text 17"/>
          <p:cNvSpPr/>
          <p:nvPr/>
        </p:nvSpPr>
        <p:spPr>
          <a:xfrm>
            <a:off x="3438144" y="2039112"/>
            <a:ext cx="18105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 … 1</a:t>
            </a:r>
            <a:endParaRPr lang="en-US" sz="1150" dirty="0"/>
          </a:p>
        </p:txBody>
      </p:sp>
      <p:sp>
        <p:nvSpPr>
          <p:cNvPr id="20" name="Shape 18"/>
          <p:cNvSpPr/>
          <p:nvPr/>
        </p:nvSpPr>
        <p:spPr>
          <a:xfrm>
            <a:off x="5303520" y="2039112"/>
            <a:ext cx="1280160" cy="347472"/>
          </a:xfrm>
          <a:prstGeom prst="rect">
            <a:avLst/>
          </a:prstGeom>
          <a:solidFill>
            <a:srgbClr val="F3F7F8"/>
          </a:solidFill>
          <a:ln w="9525">
            <a:solidFill>
              <a:srgbClr val="CFDEE1"/>
            </a:solidFill>
            <a:prstDash val="solid"/>
          </a:ln>
        </p:spPr>
      </p:sp>
      <p:sp>
        <p:nvSpPr>
          <p:cNvPr id="21" name="Text 19"/>
          <p:cNvSpPr/>
          <p:nvPr/>
        </p:nvSpPr>
        <p:spPr>
          <a:xfrm>
            <a:off x="5358384" y="2039112"/>
            <a:ext cx="117043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0</a:t>
            </a:r>
            <a:endParaRPr lang="en-US" sz="1150" dirty="0"/>
          </a:p>
        </p:txBody>
      </p:sp>
      <p:sp>
        <p:nvSpPr>
          <p:cNvPr id="22" name="Shape 20"/>
          <p:cNvSpPr/>
          <p:nvPr/>
        </p:nvSpPr>
        <p:spPr>
          <a:xfrm>
            <a:off x="6583680" y="2039112"/>
            <a:ext cx="5029200" cy="347472"/>
          </a:xfrm>
          <a:prstGeom prst="rect">
            <a:avLst/>
          </a:prstGeom>
          <a:solidFill>
            <a:srgbClr val="F3F7F8"/>
          </a:solidFill>
          <a:ln w="9525">
            <a:solidFill>
              <a:srgbClr val="CFDEE1"/>
            </a:solidFill>
            <a:prstDash val="solid"/>
          </a:ln>
        </p:spPr>
      </p:sp>
      <p:sp>
        <p:nvSpPr>
          <p:cNvPr id="23" name="Text 21"/>
          <p:cNvSpPr/>
          <p:nvPr/>
        </p:nvSpPr>
        <p:spPr>
          <a:xfrm>
            <a:off x="6638544" y="2039112"/>
            <a:ext cx="49194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dosing defines Day 1 — it cannot precede itself</a:t>
            </a:r>
            <a:endParaRPr lang="en-US" sz="1150" dirty="0"/>
          </a:p>
        </p:txBody>
      </p:sp>
      <p:sp>
        <p:nvSpPr>
          <p:cNvPr id="24" name="Shape 22"/>
          <p:cNvSpPr/>
          <p:nvPr/>
        </p:nvSpPr>
        <p:spPr>
          <a:xfrm>
            <a:off x="640080" y="2386584"/>
            <a:ext cx="1371600" cy="347472"/>
          </a:xfrm>
          <a:prstGeom prst="rect">
            <a:avLst/>
          </a:prstGeom>
          <a:solidFill>
            <a:srgbClr val="FFFFFF"/>
          </a:solidFill>
          <a:ln w="9525">
            <a:solidFill>
              <a:srgbClr val="CFDEE1"/>
            </a:solidFill>
            <a:prstDash val="solid"/>
          </a:ln>
        </p:spPr>
      </p:sp>
      <p:sp>
        <p:nvSpPr>
          <p:cNvPr id="25" name="Text 23"/>
          <p:cNvSpPr/>
          <p:nvPr/>
        </p:nvSpPr>
        <p:spPr>
          <a:xfrm>
            <a:off x="694944" y="2386584"/>
            <a:ext cx="12618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LB</a:t>
            </a:r>
            <a:endParaRPr lang="en-US" sz="1150" dirty="0"/>
          </a:p>
        </p:txBody>
      </p:sp>
      <p:sp>
        <p:nvSpPr>
          <p:cNvPr id="26" name="Shape 24"/>
          <p:cNvSpPr/>
          <p:nvPr/>
        </p:nvSpPr>
        <p:spPr>
          <a:xfrm>
            <a:off x="2011680" y="2386584"/>
            <a:ext cx="1371600" cy="347472"/>
          </a:xfrm>
          <a:prstGeom prst="rect">
            <a:avLst/>
          </a:prstGeom>
          <a:solidFill>
            <a:srgbClr val="FFFFFF"/>
          </a:solidFill>
          <a:ln w="9525">
            <a:solidFill>
              <a:srgbClr val="CFDEE1"/>
            </a:solidFill>
            <a:prstDash val="solid"/>
          </a:ln>
        </p:spPr>
      </p:sp>
      <p:sp>
        <p:nvSpPr>
          <p:cNvPr id="27" name="Text 25"/>
          <p:cNvSpPr/>
          <p:nvPr/>
        </p:nvSpPr>
        <p:spPr>
          <a:xfrm>
            <a:off x="2066544" y="2386584"/>
            <a:ext cx="12618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LBDY</a:t>
            </a:r>
            <a:endParaRPr lang="en-US" sz="1150" dirty="0"/>
          </a:p>
        </p:txBody>
      </p:sp>
      <p:sp>
        <p:nvSpPr>
          <p:cNvPr id="28" name="Shape 26"/>
          <p:cNvSpPr/>
          <p:nvPr/>
        </p:nvSpPr>
        <p:spPr>
          <a:xfrm>
            <a:off x="3383280" y="2386584"/>
            <a:ext cx="1920240" cy="347472"/>
          </a:xfrm>
          <a:prstGeom prst="rect">
            <a:avLst/>
          </a:prstGeom>
          <a:solidFill>
            <a:srgbClr val="FFFFFF"/>
          </a:solidFill>
          <a:ln w="9525">
            <a:solidFill>
              <a:srgbClr val="CFDEE1"/>
            </a:solidFill>
            <a:prstDash val="solid"/>
          </a:ln>
        </p:spPr>
      </p:sp>
      <p:sp>
        <p:nvSpPr>
          <p:cNvPr id="29" name="Text 27"/>
          <p:cNvSpPr/>
          <p:nvPr/>
        </p:nvSpPr>
        <p:spPr>
          <a:xfrm>
            <a:off x="3438144" y="2386584"/>
            <a:ext cx="18105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 … 29</a:t>
            </a:r>
            <a:endParaRPr lang="en-US" sz="1150" dirty="0"/>
          </a:p>
        </p:txBody>
      </p:sp>
      <p:sp>
        <p:nvSpPr>
          <p:cNvPr id="30" name="Shape 28"/>
          <p:cNvSpPr/>
          <p:nvPr/>
        </p:nvSpPr>
        <p:spPr>
          <a:xfrm>
            <a:off x="5303520" y="2386584"/>
            <a:ext cx="1280160" cy="347472"/>
          </a:xfrm>
          <a:prstGeom prst="rect">
            <a:avLst/>
          </a:prstGeom>
          <a:solidFill>
            <a:srgbClr val="FFFFFF"/>
          </a:solidFill>
          <a:ln w="9525">
            <a:solidFill>
              <a:srgbClr val="CFDEE1"/>
            </a:solidFill>
            <a:prstDash val="solid"/>
          </a:ln>
        </p:spPr>
      </p:sp>
      <p:sp>
        <p:nvSpPr>
          <p:cNvPr id="31" name="Text 29"/>
          <p:cNvSpPr/>
          <p:nvPr/>
        </p:nvSpPr>
        <p:spPr>
          <a:xfrm>
            <a:off x="5358384" y="2386584"/>
            <a:ext cx="117043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0</a:t>
            </a:r>
            <a:endParaRPr lang="en-US" sz="1150" dirty="0"/>
          </a:p>
        </p:txBody>
      </p:sp>
      <p:sp>
        <p:nvSpPr>
          <p:cNvPr id="32" name="Shape 30"/>
          <p:cNvSpPr/>
          <p:nvPr/>
        </p:nvSpPr>
        <p:spPr>
          <a:xfrm>
            <a:off x="6583680" y="2386584"/>
            <a:ext cx="5029200" cy="347472"/>
          </a:xfrm>
          <a:prstGeom prst="rect">
            <a:avLst/>
          </a:prstGeom>
          <a:solidFill>
            <a:srgbClr val="FFFFFF"/>
          </a:solidFill>
          <a:ln w="9525">
            <a:solidFill>
              <a:srgbClr val="CFDEE1"/>
            </a:solidFill>
            <a:prstDash val="solid"/>
          </a:ln>
        </p:spPr>
      </p:sp>
      <p:sp>
        <p:nvSpPr>
          <p:cNvPr id="33" name="Text 31"/>
          <p:cNvSpPr/>
          <p:nvPr/>
        </p:nvSpPr>
        <p:spPr>
          <a:xfrm>
            <a:off x="6638544" y="2386584"/>
            <a:ext cx="49194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no screening blood draw in this protocol</a:t>
            </a:r>
            <a:endParaRPr lang="en-US" sz="1150" dirty="0"/>
          </a:p>
        </p:txBody>
      </p:sp>
      <p:sp>
        <p:nvSpPr>
          <p:cNvPr id="34" name="Shape 32"/>
          <p:cNvSpPr/>
          <p:nvPr/>
        </p:nvSpPr>
        <p:spPr>
          <a:xfrm>
            <a:off x="640080" y="2734056"/>
            <a:ext cx="1371600" cy="347472"/>
          </a:xfrm>
          <a:prstGeom prst="rect">
            <a:avLst/>
          </a:prstGeom>
          <a:solidFill>
            <a:srgbClr val="F3F7F8"/>
          </a:solidFill>
          <a:ln w="9525">
            <a:solidFill>
              <a:srgbClr val="CFDEE1"/>
            </a:solidFill>
            <a:prstDash val="solid"/>
          </a:ln>
        </p:spPr>
      </p:sp>
      <p:sp>
        <p:nvSpPr>
          <p:cNvPr id="35" name="Text 33"/>
          <p:cNvSpPr/>
          <p:nvPr/>
        </p:nvSpPr>
        <p:spPr>
          <a:xfrm>
            <a:off x="694944" y="2734056"/>
            <a:ext cx="12618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AE</a:t>
            </a:r>
            <a:endParaRPr lang="en-US" sz="1150" dirty="0"/>
          </a:p>
        </p:txBody>
      </p:sp>
      <p:sp>
        <p:nvSpPr>
          <p:cNvPr id="36" name="Shape 34"/>
          <p:cNvSpPr/>
          <p:nvPr/>
        </p:nvSpPr>
        <p:spPr>
          <a:xfrm>
            <a:off x="2011680" y="2734056"/>
            <a:ext cx="1371600" cy="347472"/>
          </a:xfrm>
          <a:prstGeom prst="rect">
            <a:avLst/>
          </a:prstGeom>
          <a:solidFill>
            <a:srgbClr val="F3F7F8"/>
          </a:solidFill>
          <a:ln w="9525">
            <a:solidFill>
              <a:srgbClr val="CFDEE1"/>
            </a:solidFill>
            <a:prstDash val="solid"/>
          </a:ln>
        </p:spPr>
      </p:sp>
      <p:sp>
        <p:nvSpPr>
          <p:cNvPr id="37" name="Text 35"/>
          <p:cNvSpPr/>
          <p:nvPr/>
        </p:nvSpPr>
        <p:spPr>
          <a:xfrm>
            <a:off x="2066544" y="2734056"/>
            <a:ext cx="12618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AESTDY</a:t>
            </a:r>
            <a:endParaRPr lang="en-US" sz="1150" dirty="0"/>
          </a:p>
        </p:txBody>
      </p:sp>
      <p:sp>
        <p:nvSpPr>
          <p:cNvPr id="38" name="Shape 36"/>
          <p:cNvSpPr/>
          <p:nvPr/>
        </p:nvSpPr>
        <p:spPr>
          <a:xfrm>
            <a:off x="3383280" y="2734056"/>
            <a:ext cx="1920240" cy="347472"/>
          </a:xfrm>
          <a:prstGeom prst="rect">
            <a:avLst/>
          </a:prstGeom>
          <a:solidFill>
            <a:srgbClr val="F3F7F8"/>
          </a:solidFill>
          <a:ln w="9525">
            <a:solidFill>
              <a:srgbClr val="CFDEE1"/>
            </a:solidFill>
            <a:prstDash val="solid"/>
          </a:ln>
        </p:spPr>
      </p:sp>
      <p:sp>
        <p:nvSpPr>
          <p:cNvPr id="39" name="Text 37"/>
          <p:cNvSpPr/>
          <p:nvPr/>
        </p:nvSpPr>
        <p:spPr>
          <a:xfrm>
            <a:off x="3438144" y="2734056"/>
            <a:ext cx="18105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−5 … 20</a:t>
            </a:r>
            <a:endParaRPr lang="en-US" sz="1150" dirty="0"/>
          </a:p>
        </p:txBody>
      </p:sp>
      <p:sp>
        <p:nvSpPr>
          <p:cNvPr id="40" name="Shape 38"/>
          <p:cNvSpPr/>
          <p:nvPr/>
        </p:nvSpPr>
        <p:spPr>
          <a:xfrm>
            <a:off x="5303520" y="2734056"/>
            <a:ext cx="1280160" cy="347472"/>
          </a:xfrm>
          <a:prstGeom prst="rect">
            <a:avLst/>
          </a:prstGeom>
          <a:solidFill>
            <a:srgbClr val="F3F7F8"/>
          </a:solidFill>
          <a:ln w="9525">
            <a:solidFill>
              <a:srgbClr val="CFDEE1"/>
            </a:solidFill>
            <a:prstDash val="solid"/>
          </a:ln>
        </p:spPr>
      </p:sp>
      <p:sp>
        <p:nvSpPr>
          <p:cNvPr id="41" name="Text 39"/>
          <p:cNvSpPr/>
          <p:nvPr/>
        </p:nvSpPr>
        <p:spPr>
          <a:xfrm>
            <a:off x="5358384" y="2734056"/>
            <a:ext cx="117043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a:t>
            </a:r>
            <a:endParaRPr lang="en-US" sz="1150" dirty="0"/>
          </a:p>
        </p:txBody>
      </p:sp>
      <p:sp>
        <p:nvSpPr>
          <p:cNvPr id="42" name="Shape 40"/>
          <p:cNvSpPr/>
          <p:nvPr/>
        </p:nvSpPr>
        <p:spPr>
          <a:xfrm>
            <a:off x="6583680" y="2734056"/>
            <a:ext cx="5029200" cy="347472"/>
          </a:xfrm>
          <a:prstGeom prst="rect">
            <a:avLst/>
          </a:prstGeom>
          <a:solidFill>
            <a:srgbClr val="F3F7F8"/>
          </a:solidFill>
          <a:ln w="9525">
            <a:solidFill>
              <a:srgbClr val="CFDEE1"/>
            </a:solidFill>
            <a:prstDash val="solid"/>
          </a:ln>
        </p:spPr>
      </p:sp>
      <p:sp>
        <p:nvSpPr>
          <p:cNvPr id="43" name="Text 41"/>
          <p:cNvSpPr/>
          <p:nvPr/>
        </p:nvSpPr>
        <p:spPr>
          <a:xfrm>
            <a:off x="6638544" y="2734056"/>
            <a:ext cx="49194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collected from consent — one screening event</a:t>
            </a:r>
            <a:endParaRPr lang="en-US" sz="1150" dirty="0"/>
          </a:p>
        </p:txBody>
      </p:sp>
      <p:sp>
        <p:nvSpPr>
          <p:cNvPr id="44" name="Shape 42"/>
          <p:cNvSpPr/>
          <p:nvPr/>
        </p:nvSpPr>
        <p:spPr>
          <a:xfrm>
            <a:off x="640080" y="3081528"/>
            <a:ext cx="1371600" cy="347472"/>
          </a:xfrm>
          <a:prstGeom prst="rect">
            <a:avLst/>
          </a:prstGeom>
          <a:solidFill>
            <a:srgbClr val="FFFFFF"/>
          </a:solidFill>
          <a:ln w="9525">
            <a:solidFill>
              <a:srgbClr val="CFDEE1"/>
            </a:solidFill>
            <a:prstDash val="solid"/>
          </a:ln>
        </p:spPr>
      </p:sp>
      <p:sp>
        <p:nvSpPr>
          <p:cNvPr id="45" name="Text 43"/>
          <p:cNvSpPr/>
          <p:nvPr/>
        </p:nvSpPr>
        <p:spPr>
          <a:xfrm>
            <a:off x="694944" y="3081528"/>
            <a:ext cx="12618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CM</a:t>
            </a:r>
            <a:endParaRPr lang="en-US" sz="1150" dirty="0"/>
          </a:p>
        </p:txBody>
      </p:sp>
      <p:sp>
        <p:nvSpPr>
          <p:cNvPr id="46" name="Shape 44"/>
          <p:cNvSpPr/>
          <p:nvPr/>
        </p:nvSpPr>
        <p:spPr>
          <a:xfrm>
            <a:off x="2011680" y="3081528"/>
            <a:ext cx="1371600" cy="347472"/>
          </a:xfrm>
          <a:prstGeom prst="rect">
            <a:avLst/>
          </a:prstGeom>
          <a:solidFill>
            <a:srgbClr val="FFFFFF"/>
          </a:solidFill>
          <a:ln w="9525">
            <a:solidFill>
              <a:srgbClr val="CFDEE1"/>
            </a:solidFill>
            <a:prstDash val="solid"/>
          </a:ln>
        </p:spPr>
      </p:sp>
      <p:sp>
        <p:nvSpPr>
          <p:cNvPr id="47" name="Text 45"/>
          <p:cNvSpPr/>
          <p:nvPr/>
        </p:nvSpPr>
        <p:spPr>
          <a:xfrm>
            <a:off x="2066544" y="3081528"/>
            <a:ext cx="12618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CMSTDY</a:t>
            </a:r>
            <a:endParaRPr lang="en-US" sz="1150" dirty="0"/>
          </a:p>
        </p:txBody>
      </p:sp>
      <p:sp>
        <p:nvSpPr>
          <p:cNvPr id="48" name="Shape 46"/>
          <p:cNvSpPr/>
          <p:nvPr/>
        </p:nvSpPr>
        <p:spPr>
          <a:xfrm>
            <a:off x="3383280" y="3081528"/>
            <a:ext cx="1920240" cy="347472"/>
          </a:xfrm>
          <a:prstGeom prst="rect">
            <a:avLst/>
          </a:prstGeom>
          <a:solidFill>
            <a:srgbClr val="FFFFFF"/>
          </a:solidFill>
          <a:ln w="9525">
            <a:solidFill>
              <a:srgbClr val="CFDEE1"/>
            </a:solidFill>
            <a:prstDash val="solid"/>
          </a:ln>
        </p:spPr>
      </p:sp>
      <p:sp>
        <p:nvSpPr>
          <p:cNvPr id="49" name="Text 47"/>
          <p:cNvSpPr/>
          <p:nvPr/>
        </p:nvSpPr>
        <p:spPr>
          <a:xfrm>
            <a:off x="3438144" y="3081528"/>
            <a:ext cx="18105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−96 … 15</a:t>
            </a:r>
            <a:endParaRPr lang="en-US" sz="1150" dirty="0"/>
          </a:p>
        </p:txBody>
      </p:sp>
      <p:sp>
        <p:nvSpPr>
          <p:cNvPr id="50" name="Shape 48"/>
          <p:cNvSpPr/>
          <p:nvPr/>
        </p:nvSpPr>
        <p:spPr>
          <a:xfrm>
            <a:off x="5303520" y="3081528"/>
            <a:ext cx="1280160" cy="347472"/>
          </a:xfrm>
          <a:prstGeom prst="rect">
            <a:avLst/>
          </a:prstGeom>
          <a:solidFill>
            <a:srgbClr val="FFFFFF"/>
          </a:solidFill>
          <a:ln w="9525">
            <a:solidFill>
              <a:srgbClr val="CFDEE1"/>
            </a:solidFill>
            <a:prstDash val="solid"/>
          </a:ln>
        </p:spPr>
      </p:sp>
      <p:sp>
        <p:nvSpPr>
          <p:cNvPr id="51" name="Text 49"/>
          <p:cNvSpPr/>
          <p:nvPr/>
        </p:nvSpPr>
        <p:spPr>
          <a:xfrm>
            <a:off x="5358384" y="3081528"/>
            <a:ext cx="1170432" cy="347472"/>
          </a:xfrm>
          <a:prstGeom prst="rect">
            <a:avLst/>
          </a:prstGeom>
          <a:noFill/>
          <a:ln/>
        </p:spPr>
        <p:txBody>
          <a:bodyPr wrap="square" lIns="0" tIns="0" rIns="0" bIns="0" rtlCol="0" anchor="ctr"/>
          <a:lstStyle/>
          <a:p>
            <a:pPr algn="l" indent="0" marL="0">
              <a:buNone/>
            </a:pPr>
            <a:r>
              <a:rPr lang="en-US" sz="1150" b="1" dirty="0">
                <a:solidFill>
                  <a:srgbClr val="C0455B"/>
                </a:solidFill>
                <a:latin typeface="Calibri" pitchFamily="34" charset="0"/>
                <a:ea typeface="Calibri" pitchFamily="34" charset="-122"/>
                <a:cs typeface="Calibri" pitchFamily="34" charset="-120"/>
              </a:rPr>
              <a:t>4</a:t>
            </a:r>
            <a:endParaRPr lang="en-US" sz="1150" dirty="0"/>
          </a:p>
        </p:txBody>
      </p:sp>
      <p:sp>
        <p:nvSpPr>
          <p:cNvPr id="52" name="Shape 50"/>
          <p:cNvSpPr/>
          <p:nvPr/>
        </p:nvSpPr>
        <p:spPr>
          <a:xfrm>
            <a:off x="6583680" y="3081528"/>
            <a:ext cx="5029200" cy="347472"/>
          </a:xfrm>
          <a:prstGeom prst="rect">
            <a:avLst/>
          </a:prstGeom>
          <a:solidFill>
            <a:srgbClr val="FFFFFF"/>
          </a:solidFill>
          <a:ln w="9525">
            <a:solidFill>
              <a:srgbClr val="CFDEE1"/>
            </a:solidFill>
            <a:prstDash val="solid"/>
          </a:ln>
        </p:spPr>
      </p:sp>
      <p:sp>
        <p:nvSpPr>
          <p:cNvPr id="53" name="Text 51"/>
          <p:cNvSpPr/>
          <p:nvPr/>
        </p:nvSpPr>
        <p:spPr>
          <a:xfrm>
            <a:off x="6638544" y="3081528"/>
            <a:ext cx="49194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prior medications go back months</a:t>
            </a:r>
            <a:endParaRPr lang="en-US" sz="1150" dirty="0"/>
          </a:p>
        </p:txBody>
      </p:sp>
      <p:sp>
        <p:nvSpPr>
          <p:cNvPr id="54" name="Shape 52"/>
          <p:cNvSpPr/>
          <p:nvPr/>
        </p:nvSpPr>
        <p:spPr>
          <a:xfrm>
            <a:off x="640080" y="3429000"/>
            <a:ext cx="1371600" cy="347472"/>
          </a:xfrm>
          <a:prstGeom prst="rect">
            <a:avLst/>
          </a:prstGeom>
          <a:solidFill>
            <a:srgbClr val="F3F7F8"/>
          </a:solidFill>
          <a:ln w="9525">
            <a:solidFill>
              <a:srgbClr val="CFDEE1"/>
            </a:solidFill>
            <a:prstDash val="solid"/>
          </a:ln>
        </p:spPr>
      </p:sp>
      <p:sp>
        <p:nvSpPr>
          <p:cNvPr id="55" name="Text 53"/>
          <p:cNvSpPr/>
          <p:nvPr/>
        </p:nvSpPr>
        <p:spPr>
          <a:xfrm>
            <a:off x="694944" y="3429000"/>
            <a:ext cx="12618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DS</a:t>
            </a:r>
            <a:endParaRPr lang="en-US" sz="1150" dirty="0"/>
          </a:p>
        </p:txBody>
      </p:sp>
      <p:sp>
        <p:nvSpPr>
          <p:cNvPr id="56" name="Shape 54"/>
          <p:cNvSpPr/>
          <p:nvPr/>
        </p:nvSpPr>
        <p:spPr>
          <a:xfrm>
            <a:off x="2011680" y="3429000"/>
            <a:ext cx="1371600" cy="347472"/>
          </a:xfrm>
          <a:prstGeom prst="rect">
            <a:avLst/>
          </a:prstGeom>
          <a:solidFill>
            <a:srgbClr val="F3F7F8"/>
          </a:solidFill>
          <a:ln w="9525">
            <a:solidFill>
              <a:srgbClr val="CFDEE1"/>
            </a:solidFill>
            <a:prstDash val="solid"/>
          </a:ln>
        </p:spPr>
      </p:sp>
      <p:sp>
        <p:nvSpPr>
          <p:cNvPr id="57" name="Text 55"/>
          <p:cNvSpPr/>
          <p:nvPr/>
        </p:nvSpPr>
        <p:spPr>
          <a:xfrm>
            <a:off x="2066544" y="3429000"/>
            <a:ext cx="12618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DSSTDY</a:t>
            </a:r>
            <a:endParaRPr lang="en-US" sz="1150" dirty="0"/>
          </a:p>
        </p:txBody>
      </p:sp>
      <p:sp>
        <p:nvSpPr>
          <p:cNvPr id="58" name="Shape 56"/>
          <p:cNvSpPr/>
          <p:nvPr/>
        </p:nvSpPr>
        <p:spPr>
          <a:xfrm>
            <a:off x="3383280" y="3429000"/>
            <a:ext cx="1920240" cy="347472"/>
          </a:xfrm>
          <a:prstGeom prst="rect">
            <a:avLst/>
          </a:prstGeom>
          <a:solidFill>
            <a:srgbClr val="F3F7F8"/>
          </a:solidFill>
          <a:ln w="9525">
            <a:solidFill>
              <a:srgbClr val="CFDEE1"/>
            </a:solidFill>
            <a:prstDash val="solid"/>
          </a:ln>
        </p:spPr>
      </p:sp>
      <p:sp>
        <p:nvSpPr>
          <p:cNvPr id="59" name="Text 57"/>
          <p:cNvSpPr/>
          <p:nvPr/>
        </p:nvSpPr>
        <p:spPr>
          <a:xfrm>
            <a:off x="3438144" y="3429000"/>
            <a:ext cx="18105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−11 … 28</a:t>
            </a:r>
            <a:endParaRPr lang="en-US" sz="1150" dirty="0"/>
          </a:p>
        </p:txBody>
      </p:sp>
      <p:sp>
        <p:nvSpPr>
          <p:cNvPr id="60" name="Shape 58"/>
          <p:cNvSpPr/>
          <p:nvPr/>
        </p:nvSpPr>
        <p:spPr>
          <a:xfrm>
            <a:off x="5303520" y="3429000"/>
            <a:ext cx="1280160" cy="347472"/>
          </a:xfrm>
          <a:prstGeom prst="rect">
            <a:avLst/>
          </a:prstGeom>
          <a:solidFill>
            <a:srgbClr val="F3F7F8"/>
          </a:solidFill>
          <a:ln w="9525">
            <a:solidFill>
              <a:srgbClr val="CFDEE1"/>
            </a:solidFill>
            <a:prstDash val="solid"/>
          </a:ln>
        </p:spPr>
      </p:sp>
      <p:sp>
        <p:nvSpPr>
          <p:cNvPr id="61" name="Text 59"/>
          <p:cNvSpPr/>
          <p:nvPr/>
        </p:nvSpPr>
        <p:spPr>
          <a:xfrm>
            <a:off x="5358384" y="3429000"/>
            <a:ext cx="117043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8</a:t>
            </a:r>
            <a:endParaRPr lang="en-US" sz="1150" dirty="0"/>
          </a:p>
        </p:txBody>
      </p:sp>
      <p:sp>
        <p:nvSpPr>
          <p:cNvPr id="62" name="Shape 60"/>
          <p:cNvSpPr/>
          <p:nvPr/>
        </p:nvSpPr>
        <p:spPr>
          <a:xfrm>
            <a:off x="6583680" y="3429000"/>
            <a:ext cx="5029200" cy="347472"/>
          </a:xfrm>
          <a:prstGeom prst="rect">
            <a:avLst/>
          </a:prstGeom>
          <a:solidFill>
            <a:srgbClr val="F3F7F8"/>
          </a:solidFill>
          <a:ln w="9525">
            <a:solidFill>
              <a:srgbClr val="CFDEE1"/>
            </a:solidFill>
            <a:prstDash val="solid"/>
          </a:ln>
        </p:spPr>
      </p:sp>
      <p:sp>
        <p:nvSpPr>
          <p:cNvPr id="63" name="Text 61"/>
          <p:cNvSpPr/>
          <p:nvPr/>
        </p:nvSpPr>
        <p:spPr>
          <a:xfrm>
            <a:off x="6638544" y="3429000"/>
            <a:ext cx="49194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informed consent precedes dosing for everyone</a:t>
            </a:r>
            <a:endParaRPr lang="en-US" sz="1150" dirty="0"/>
          </a:p>
        </p:txBody>
      </p:sp>
      <p:sp>
        <p:nvSpPr>
          <p:cNvPr id="64" name="Shape 62"/>
          <p:cNvSpPr/>
          <p:nvPr/>
        </p:nvSpPr>
        <p:spPr>
          <a:xfrm>
            <a:off x="640080" y="3776472"/>
            <a:ext cx="1371600" cy="347472"/>
          </a:xfrm>
          <a:prstGeom prst="rect">
            <a:avLst/>
          </a:prstGeom>
          <a:solidFill>
            <a:srgbClr val="FFFFFF"/>
          </a:solidFill>
          <a:ln w="9525">
            <a:solidFill>
              <a:srgbClr val="CFDEE1"/>
            </a:solidFill>
            <a:prstDash val="solid"/>
          </a:ln>
        </p:spPr>
      </p:sp>
      <p:sp>
        <p:nvSpPr>
          <p:cNvPr id="65" name="Text 63"/>
          <p:cNvSpPr/>
          <p:nvPr/>
        </p:nvSpPr>
        <p:spPr>
          <a:xfrm>
            <a:off x="694944" y="3776472"/>
            <a:ext cx="12618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VS</a:t>
            </a:r>
            <a:endParaRPr lang="en-US" sz="1150" dirty="0"/>
          </a:p>
        </p:txBody>
      </p:sp>
      <p:sp>
        <p:nvSpPr>
          <p:cNvPr id="66" name="Shape 64"/>
          <p:cNvSpPr/>
          <p:nvPr/>
        </p:nvSpPr>
        <p:spPr>
          <a:xfrm>
            <a:off x="2011680" y="3776472"/>
            <a:ext cx="1371600" cy="347472"/>
          </a:xfrm>
          <a:prstGeom prst="rect">
            <a:avLst/>
          </a:prstGeom>
          <a:solidFill>
            <a:srgbClr val="FFFFFF"/>
          </a:solidFill>
          <a:ln w="9525">
            <a:solidFill>
              <a:srgbClr val="CFDEE1"/>
            </a:solidFill>
            <a:prstDash val="solid"/>
          </a:ln>
        </p:spPr>
      </p:sp>
      <p:sp>
        <p:nvSpPr>
          <p:cNvPr id="67" name="Text 65"/>
          <p:cNvSpPr/>
          <p:nvPr/>
        </p:nvSpPr>
        <p:spPr>
          <a:xfrm>
            <a:off x="2066544" y="3776472"/>
            <a:ext cx="12618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VSDY</a:t>
            </a:r>
            <a:endParaRPr lang="en-US" sz="1150" dirty="0"/>
          </a:p>
        </p:txBody>
      </p:sp>
      <p:sp>
        <p:nvSpPr>
          <p:cNvPr id="68" name="Shape 66"/>
          <p:cNvSpPr/>
          <p:nvPr/>
        </p:nvSpPr>
        <p:spPr>
          <a:xfrm>
            <a:off x="3383280" y="3776472"/>
            <a:ext cx="1920240" cy="347472"/>
          </a:xfrm>
          <a:prstGeom prst="rect">
            <a:avLst/>
          </a:prstGeom>
          <a:solidFill>
            <a:srgbClr val="FFFFFF"/>
          </a:solidFill>
          <a:ln w="9525">
            <a:solidFill>
              <a:srgbClr val="CFDEE1"/>
            </a:solidFill>
            <a:prstDash val="solid"/>
          </a:ln>
        </p:spPr>
      </p:sp>
      <p:sp>
        <p:nvSpPr>
          <p:cNvPr id="69" name="Text 67"/>
          <p:cNvSpPr/>
          <p:nvPr/>
        </p:nvSpPr>
        <p:spPr>
          <a:xfrm>
            <a:off x="3438144" y="3776472"/>
            <a:ext cx="18105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−11 … 29</a:t>
            </a:r>
            <a:endParaRPr lang="en-US" sz="1150" dirty="0"/>
          </a:p>
        </p:txBody>
      </p:sp>
      <p:sp>
        <p:nvSpPr>
          <p:cNvPr id="70" name="Shape 68"/>
          <p:cNvSpPr/>
          <p:nvPr/>
        </p:nvSpPr>
        <p:spPr>
          <a:xfrm>
            <a:off x="5303520" y="3776472"/>
            <a:ext cx="1280160" cy="347472"/>
          </a:xfrm>
          <a:prstGeom prst="rect">
            <a:avLst/>
          </a:prstGeom>
          <a:solidFill>
            <a:srgbClr val="FFFFFF"/>
          </a:solidFill>
          <a:ln w="9525">
            <a:solidFill>
              <a:srgbClr val="CFDEE1"/>
            </a:solidFill>
            <a:prstDash val="solid"/>
          </a:ln>
        </p:spPr>
      </p:sp>
      <p:sp>
        <p:nvSpPr>
          <p:cNvPr id="71" name="Text 69"/>
          <p:cNvSpPr/>
          <p:nvPr/>
        </p:nvSpPr>
        <p:spPr>
          <a:xfrm>
            <a:off x="5358384" y="3776472"/>
            <a:ext cx="1170432" cy="347472"/>
          </a:xfrm>
          <a:prstGeom prst="rect">
            <a:avLst/>
          </a:prstGeom>
          <a:noFill/>
          <a:ln/>
        </p:spPr>
        <p:txBody>
          <a:bodyPr wrap="square" lIns="0" tIns="0" rIns="0" bIns="0" rtlCol="0" anchor="ctr"/>
          <a:lstStyle/>
          <a:p>
            <a:pPr algn="l" indent="0" marL="0">
              <a:buNone/>
            </a:pPr>
            <a:r>
              <a:rPr lang="en-US" sz="1150" b="1" dirty="0">
                <a:solidFill>
                  <a:srgbClr val="C0455B"/>
                </a:solidFill>
                <a:latin typeface="Calibri" pitchFamily="34" charset="0"/>
                <a:ea typeface="Calibri" pitchFamily="34" charset="-122"/>
                <a:cs typeface="Calibri" pitchFamily="34" charset="-120"/>
              </a:rPr>
              <a:t>48</a:t>
            </a:r>
            <a:endParaRPr lang="en-US" sz="1150" dirty="0"/>
          </a:p>
        </p:txBody>
      </p:sp>
      <p:sp>
        <p:nvSpPr>
          <p:cNvPr id="72" name="Shape 70"/>
          <p:cNvSpPr/>
          <p:nvPr/>
        </p:nvSpPr>
        <p:spPr>
          <a:xfrm>
            <a:off x="6583680" y="3776472"/>
            <a:ext cx="5029200" cy="347472"/>
          </a:xfrm>
          <a:prstGeom prst="rect">
            <a:avLst/>
          </a:prstGeom>
          <a:solidFill>
            <a:srgbClr val="FFFFFF"/>
          </a:solidFill>
          <a:ln w="9525">
            <a:solidFill>
              <a:srgbClr val="CFDEE1"/>
            </a:solidFill>
            <a:prstDash val="solid"/>
          </a:ln>
        </p:spPr>
      </p:sp>
      <p:sp>
        <p:nvSpPr>
          <p:cNvPr id="73" name="Text 71"/>
          <p:cNvSpPr/>
          <p:nvPr/>
        </p:nvSpPr>
        <p:spPr>
          <a:xfrm>
            <a:off x="6638544" y="3776472"/>
            <a:ext cx="491947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screening visit vitals for all 8 subjects</a:t>
            </a:r>
            <a:endParaRPr lang="en-US" sz="1150" dirty="0"/>
          </a:p>
        </p:txBody>
      </p:sp>
      <p:sp>
        <p:nvSpPr>
          <p:cNvPr id="74" name="Shape 72"/>
          <p:cNvSpPr/>
          <p:nvPr/>
        </p:nvSpPr>
        <p:spPr>
          <a:xfrm>
            <a:off x="640080" y="4434840"/>
            <a:ext cx="5394960" cy="1828800"/>
          </a:xfrm>
          <a:prstGeom prst="roundRect">
            <a:avLst>
              <a:gd name="adj" fmla="val 4500"/>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75" name="Text 73"/>
          <p:cNvSpPr/>
          <p:nvPr/>
        </p:nvSpPr>
        <p:spPr>
          <a:xfrm>
            <a:off x="914400" y="4572000"/>
            <a:ext cx="484632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Expect negatives</a:t>
            </a:r>
            <a:endParaRPr lang="en-US" sz="1600" dirty="0"/>
          </a:p>
        </p:txBody>
      </p:sp>
      <p:sp>
        <p:nvSpPr>
          <p:cNvPr id="76" name="Text 74"/>
          <p:cNvSpPr/>
          <p:nvPr/>
        </p:nvSpPr>
        <p:spPr>
          <a:xfrm>
            <a:off x="914400" y="4937760"/>
            <a:ext cx="4846320" cy="1188720"/>
          </a:xfrm>
          <a:prstGeom prst="rect">
            <a:avLst/>
          </a:prstGeom>
          <a:noFill/>
          <a:ln/>
        </p:spPr>
        <p:txBody>
          <a:bodyPr wrap="square" lIns="0" tIns="0" rIns="0" bIns="0" rtlCol="0" anchor="ctr"/>
          <a:lstStyle/>
          <a:p>
            <a:pPr indent="0" marL="0">
              <a:lnSpc>
                <a:spcPts val="1700"/>
              </a:lnSpc>
              <a:buNone/>
            </a:pPr>
            <a:r>
              <a:rPr lang="en-US" sz="1250" dirty="0">
                <a:solidFill>
                  <a:srgbClr val="0F2E3D"/>
                </a:solidFill>
                <a:latin typeface="Calibri" pitchFamily="34" charset="0"/>
                <a:ea typeface="Calibri" pitchFamily="34" charset="-122"/>
                <a:cs typeface="Calibri" pitchFamily="34" charset="-120"/>
              </a:rPr>
              <a:t>CM · prior medications, often months before</a:t>
            </a:r>
            <a:endParaRPr lang="en-US" sz="1250" dirty="0"/>
          </a:p>
          <a:p>
            <a:pPr indent="0" marL="0">
              <a:lnSpc>
                <a:spcPts val="1700"/>
              </a:lnSpc>
              <a:buNone/>
            </a:pPr>
            <a:r>
              <a:rPr lang="en-US" sz="1250" dirty="0">
                <a:solidFill>
                  <a:srgbClr val="0F2E3D"/>
                </a:solidFill>
                <a:latin typeface="Calibri" pitchFamily="34" charset="0"/>
                <a:ea typeface="Calibri" pitchFamily="34" charset="-122"/>
                <a:cs typeface="Calibri" pitchFamily="34" charset="-120"/>
              </a:rPr>
              <a:t>VS · screening assessments</a:t>
            </a:r>
            <a:endParaRPr lang="en-US" sz="1250" dirty="0"/>
          </a:p>
          <a:p>
            <a:pPr indent="0" marL="0">
              <a:lnSpc>
                <a:spcPts val="1700"/>
              </a:lnSpc>
              <a:buNone/>
            </a:pPr>
            <a:r>
              <a:rPr lang="en-US" sz="1250" dirty="0">
                <a:solidFill>
                  <a:srgbClr val="0F2E3D"/>
                </a:solidFill>
                <a:latin typeface="Calibri" pitchFamily="34" charset="0"/>
                <a:ea typeface="Calibri" pitchFamily="34" charset="-122"/>
                <a:cs typeface="Calibri" pitchFamily="34" charset="-120"/>
              </a:rPr>
              <a:t>DS · the informed-consent milestone</a:t>
            </a:r>
            <a:endParaRPr lang="en-US" sz="1250" dirty="0"/>
          </a:p>
          <a:p>
            <a:pPr indent="0" marL="0">
              <a:lnSpc>
                <a:spcPts val="1700"/>
              </a:lnSpc>
              <a:buNone/>
            </a:pPr>
            <a:r>
              <a:rPr lang="en-US" sz="1250" dirty="0">
                <a:solidFill>
                  <a:srgbClr val="0F2E3D"/>
                </a:solidFill>
                <a:latin typeface="Calibri" pitchFamily="34" charset="0"/>
                <a:ea typeface="Calibri" pitchFamily="34" charset="-122"/>
                <a:cs typeface="Calibri" pitchFamily="34" charset="-120"/>
              </a:rPr>
              <a:t>AE · screening-period events</a:t>
            </a:r>
            <a:endParaRPr lang="en-US" sz="1250" dirty="0"/>
          </a:p>
        </p:txBody>
      </p:sp>
      <p:sp>
        <p:nvSpPr>
          <p:cNvPr id="77" name="Shape 75"/>
          <p:cNvSpPr/>
          <p:nvPr/>
        </p:nvSpPr>
        <p:spPr>
          <a:xfrm>
            <a:off x="6217920" y="4434840"/>
            <a:ext cx="5394960" cy="1828800"/>
          </a:xfrm>
          <a:prstGeom prst="roundRect">
            <a:avLst>
              <a:gd name="adj" fmla="val 4500"/>
            </a:avLst>
          </a:prstGeom>
          <a:solidFill>
            <a:srgbClr val="FDECEE"/>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78" name="Text 76"/>
          <p:cNvSpPr/>
          <p:nvPr/>
        </p:nvSpPr>
        <p:spPr>
          <a:xfrm>
            <a:off x="6492240" y="4572000"/>
            <a:ext cx="4846320" cy="320040"/>
          </a:xfrm>
          <a:prstGeom prst="rect">
            <a:avLst/>
          </a:prstGeom>
          <a:noFill/>
          <a:ln/>
        </p:spPr>
        <p:txBody>
          <a:bodyPr wrap="square" lIns="0" tIns="0" rIns="0" bIns="0" rtlCol="0" anchor="ctr"/>
          <a:lstStyle/>
          <a:p>
            <a:pPr indent="0" marL="0">
              <a:buNone/>
            </a:pPr>
            <a:r>
              <a:rPr lang="en-US" sz="1600" b="1" dirty="0">
                <a:solidFill>
                  <a:srgbClr val="C0455B"/>
                </a:solidFill>
                <a:latin typeface="Cambria" pitchFamily="34" charset="0"/>
                <a:ea typeface="Cambria" pitchFamily="34" charset="-122"/>
                <a:cs typeface="Cambria" pitchFamily="34" charset="-120"/>
              </a:rPr>
              <a:t>Question a negative</a:t>
            </a:r>
            <a:endParaRPr lang="en-US" sz="1600" dirty="0"/>
          </a:p>
        </p:txBody>
      </p:sp>
      <p:sp>
        <p:nvSpPr>
          <p:cNvPr id="79" name="Text 77"/>
          <p:cNvSpPr/>
          <p:nvPr/>
        </p:nvSpPr>
        <p:spPr>
          <a:xfrm>
            <a:off x="6492240" y="4937760"/>
            <a:ext cx="4846320" cy="1280160"/>
          </a:xfrm>
          <a:prstGeom prst="rect">
            <a:avLst/>
          </a:prstGeom>
          <a:noFill/>
          <a:ln/>
        </p:spPr>
        <p:txBody>
          <a:bodyPr wrap="square" lIns="0" tIns="0" rIns="0" bIns="0" rtlCol="0" anchor="ctr"/>
          <a:lstStyle/>
          <a:p>
            <a:pPr indent="0" marL="0">
              <a:lnSpc>
                <a:spcPts val="1700"/>
              </a:lnSpc>
              <a:buNone/>
            </a:pPr>
            <a:r>
              <a:rPr lang="en-US" sz="1250" dirty="0">
                <a:solidFill>
                  <a:srgbClr val="0F2E3D"/>
                </a:solidFill>
                <a:latin typeface="Calibri" pitchFamily="34" charset="0"/>
                <a:ea typeface="Calibri" pitchFamily="34" charset="-122"/>
                <a:cs typeface="Calibri" pitchFamily="34" charset="-120"/>
              </a:rPr>
              <a:t>EX · a dose before first dose is impossible</a:t>
            </a:r>
            <a:endParaRPr lang="en-US" sz="1250" dirty="0"/>
          </a:p>
          <a:p>
            <a:pPr indent="0" marL="0">
              <a:lnSpc>
                <a:spcPts val="1700"/>
              </a:lnSpc>
              <a:buNone/>
            </a:pPr>
            <a:r>
              <a:rPr lang="en-US" sz="1250" dirty="0">
                <a:solidFill>
                  <a:srgbClr val="0F2E3D"/>
                </a:solidFill>
                <a:latin typeface="Calibri" pitchFamily="34" charset="0"/>
                <a:ea typeface="Calibri" pitchFamily="34" charset="-122"/>
                <a:cs typeface="Calibri" pitchFamily="34" charset="-120"/>
              </a:rPr>
              <a:t>LB · only if the protocol has no screening draw</a:t>
            </a:r>
            <a:endParaRPr lang="en-US" sz="1250" dirty="0"/>
          </a:p>
          <a:p>
            <a:pPr indent="0" marL="0">
              <a:lnSpc>
                <a:spcPts val="1700"/>
              </a:lnSpc>
              <a:buNone/>
            </a:pPr>
            <a:endParaRPr lang="en-US" sz="1250" dirty="0"/>
          </a:p>
          <a:p>
            <a:pPr indent="0" marL="0">
              <a:lnSpc>
                <a:spcPts val="1700"/>
              </a:lnSpc>
              <a:buNone/>
            </a:pPr>
            <a:r>
              <a:rPr lang="en-US" sz="1250" dirty="0">
                <a:solidFill>
                  <a:srgbClr val="0F2E3D"/>
                </a:solidFill>
                <a:latin typeface="Calibri" pitchFamily="34" charset="0"/>
                <a:ea typeface="Calibri" pitchFamily="34" charset="-122"/>
                <a:cs typeface="Calibri" pitchFamily="34" charset="-120"/>
              </a:rPr>
              <a:t>A rule that flags EVERY negative --DY as an error would fire on 61 perfectly valid records here.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OTHER DERIVATION</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--SEQ: making every record addressable</a:t>
            </a:r>
            <a:endParaRPr lang="en-US" sz="3000" dirty="0"/>
          </a:p>
        </p:txBody>
      </p:sp>
      <p:sp>
        <p:nvSpPr>
          <p:cNvPr id="4" name="Shape 2"/>
          <p:cNvSpPr/>
          <p:nvPr/>
        </p:nvSpPr>
        <p:spPr>
          <a:xfrm>
            <a:off x="640080" y="1645920"/>
            <a:ext cx="10972800" cy="1143000"/>
          </a:xfrm>
          <a:prstGeom prst="roundRect">
            <a:avLst>
              <a:gd name="adj" fmla="val 72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755648"/>
            <a:ext cx="10424160" cy="320040"/>
          </a:xfrm>
          <a:prstGeom prst="rect">
            <a:avLst/>
          </a:prstGeom>
          <a:noFill/>
          <a:ln/>
        </p:spPr>
        <p:txBody>
          <a:bodyPr wrap="square" lIns="0" tIns="0" rIns="0" bIns="0" rtlCol="0" anchor="ctr"/>
          <a:lstStyle/>
          <a:p>
            <a:pPr indent="0" marL="0">
              <a:buNone/>
            </a:pPr>
            <a:r>
              <a:rPr lang="en-US" sz="1600" b="1" dirty="0">
                <a:solidFill>
                  <a:srgbClr val="0F2E3D"/>
                </a:solidFill>
                <a:latin typeface="Cambria" pitchFamily="34" charset="0"/>
                <a:ea typeface="Cambria" pitchFamily="34" charset="-122"/>
                <a:cs typeface="Cambria" pitchFamily="34" charset="-120"/>
              </a:rPr>
              <a:t>What it is for</a:t>
            </a:r>
            <a:endParaRPr lang="en-US" sz="1600" dirty="0"/>
          </a:p>
        </p:txBody>
      </p:sp>
      <p:sp>
        <p:nvSpPr>
          <p:cNvPr id="6" name="Text 4"/>
          <p:cNvSpPr/>
          <p:nvPr/>
        </p:nvSpPr>
        <p:spPr>
          <a:xfrm>
            <a:off x="914400" y="2103120"/>
            <a:ext cx="10424160" cy="59436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USUBJID identifies the subject. --SEQ identifies WHICH RECORD within that subject and domain. Together they are the key that lets anything else — SUPPQUAL, RELREC, a query, a reviewer's note — point at one specific row.</a:t>
            </a:r>
            <a:endParaRPr lang="en-US" sz="1300" dirty="0"/>
          </a:p>
        </p:txBody>
      </p:sp>
      <p:sp>
        <p:nvSpPr>
          <p:cNvPr id="7" name="Shape 5"/>
          <p:cNvSpPr/>
          <p:nvPr/>
        </p:nvSpPr>
        <p:spPr>
          <a:xfrm>
            <a:off x="640080" y="2971800"/>
            <a:ext cx="1463040" cy="347472"/>
          </a:xfrm>
          <a:prstGeom prst="rect">
            <a:avLst/>
          </a:prstGeom>
          <a:solidFill>
            <a:srgbClr val="0F2E3D"/>
          </a:solidFill>
          <a:ln w="9525">
            <a:solidFill>
              <a:srgbClr val="CFDEE1"/>
            </a:solidFill>
            <a:prstDash val="solid"/>
          </a:ln>
        </p:spPr>
      </p:sp>
      <p:sp>
        <p:nvSpPr>
          <p:cNvPr id="8" name="Text 6"/>
          <p:cNvSpPr/>
          <p:nvPr/>
        </p:nvSpPr>
        <p:spPr>
          <a:xfrm>
            <a:off x="694944" y="2971800"/>
            <a:ext cx="1353312" cy="34747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Domain</a:t>
            </a:r>
            <a:endParaRPr lang="en-US" sz="1150" dirty="0"/>
          </a:p>
        </p:txBody>
      </p:sp>
      <p:sp>
        <p:nvSpPr>
          <p:cNvPr id="9" name="Shape 7"/>
          <p:cNvSpPr/>
          <p:nvPr/>
        </p:nvSpPr>
        <p:spPr>
          <a:xfrm>
            <a:off x="2103120" y="2971800"/>
            <a:ext cx="1554480" cy="347472"/>
          </a:xfrm>
          <a:prstGeom prst="rect">
            <a:avLst/>
          </a:prstGeom>
          <a:solidFill>
            <a:srgbClr val="0F2E3D"/>
          </a:solidFill>
          <a:ln w="9525">
            <a:solidFill>
              <a:srgbClr val="CFDEE1"/>
            </a:solidFill>
            <a:prstDash val="solid"/>
          </a:ln>
        </p:spPr>
      </p:sp>
      <p:sp>
        <p:nvSpPr>
          <p:cNvPr id="10" name="Text 8"/>
          <p:cNvSpPr/>
          <p:nvPr/>
        </p:nvSpPr>
        <p:spPr>
          <a:xfrm>
            <a:off x="2157984" y="2971800"/>
            <a:ext cx="1444752" cy="34747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Subjects</a:t>
            </a:r>
            <a:endParaRPr lang="en-US" sz="1150" dirty="0"/>
          </a:p>
        </p:txBody>
      </p:sp>
      <p:sp>
        <p:nvSpPr>
          <p:cNvPr id="11" name="Shape 9"/>
          <p:cNvSpPr/>
          <p:nvPr/>
        </p:nvSpPr>
        <p:spPr>
          <a:xfrm>
            <a:off x="3657600" y="2971800"/>
            <a:ext cx="1737360" cy="347472"/>
          </a:xfrm>
          <a:prstGeom prst="rect">
            <a:avLst/>
          </a:prstGeom>
          <a:solidFill>
            <a:srgbClr val="0F2E3D"/>
          </a:solidFill>
          <a:ln w="9525">
            <a:solidFill>
              <a:srgbClr val="CFDEE1"/>
            </a:solidFill>
            <a:prstDash val="solid"/>
          </a:ln>
        </p:spPr>
      </p:sp>
      <p:sp>
        <p:nvSpPr>
          <p:cNvPr id="12" name="Text 10"/>
          <p:cNvSpPr/>
          <p:nvPr/>
        </p:nvSpPr>
        <p:spPr>
          <a:xfrm>
            <a:off x="3712464" y="2971800"/>
            <a:ext cx="1627632" cy="34747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Max --SEQ</a:t>
            </a:r>
            <a:endParaRPr lang="en-US" sz="1150" dirty="0"/>
          </a:p>
        </p:txBody>
      </p:sp>
      <p:sp>
        <p:nvSpPr>
          <p:cNvPr id="13" name="Shape 11"/>
          <p:cNvSpPr/>
          <p:nvPr/>
        </p:nvSpPr>
        <p:spPr>
          <a:xfrm>
            <a:off x="5394960" y="2971800"/>
            <a:ext cx="2011680" cy="347472"/>
          </a:xfrm>
          <a:prstGeom prst="rect">
            <a:avLst/>
          </a:prstGeom>
          <a:solidFill>
            <a:srgbClr val="0F2E3D"/>
          </a:solidFill>
          <a:ln w="9525">
            <a:solidFill>
              <a:srgbClr val="CFDEE1"/>
            </a:solidFill>
            <a:prstDash val="solid"/>
          </a:ln>
        </p:spPr>
      </p:sp>
      <p:sp>
        <p:nvSpPr>
          <p:cNvPr id="14" name="Text 12"/>
          <p:cNvSpPr/>
          <p:nvPr/>
        </p:nvSpPr>
        <p:spPr>
          <a:xfrm>
            <a:off x="5449824" y="2971800"/>
            <a:ext cx="1901952" cy="34747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Rows per subject</a:t>
            </a:r>
            <a:endParaRPr lang="en-US" sz="1150" dirty="0"/>
          </a:p>
        </p:txBody>
      </p:sp>
      <p:sp>
        <p:nvSpPr>
          <p:cNvPr id="15" name="Shape 13"/>
          <p:cNvSpPr/>
          <p:nvPr/>
        </p:nvSpPr>
        <p:spPr>
          <a:xfrm>
            <a:off x="7406640" y="2971800"/>
            <a:ext cx="4206240" cy="347472"/>
          </a:xfrm>
          <a:prstGeom prst="rect">
            <a:avLst/>
          </a:prstGeom>
          <a:solidFill>
            <a:srgbClr val="0F2E3D"/>
          </a:solidFill>
          <a:ln w="9525">
            <a:solidFill>
              <a:srgbClr val="CFDEE1"/>
            </a:solidFill>
            <a:prstDash val="solid"/>
          </a:ln>
        </p:spPr>
      </p:sp>
      <p:sp>
        <p:nvSpPr>
          <p:cNvPr id="16" name="Text 14"/>
          <p:cNvSpPr/>
          <p:nvPr/>
        </p:nvSpPr>
        <p:spPr>
          <a:xfrm>
            <a:off x="7461504" y="2971800"/>
            <a:ext cx="4096512" cy="34747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What --SEQ counts</a:t>
            </a:r>
            <a:endParaRPr lang="en-US" sz="1150" dirty="0"/>
          </a:p>
        </p:txBody>
      </p:sp>
      <p:sp>
        <p:nvSpPr>
          <p:cNvPr id="17" name="Shape 15"/>
          <p:cNvSpPr/>
          <p:nvPr/>
        </p:nvSpPr>
        <p:spPr>
          <a:xfrm>
            <a:off x="640080" y="3319272"/>
            <a:ext cx="1463040" cy="347472"/>
          </a:xfrm>
          <a:prstGeom prst="rect">
            <a:avLst/>
          </a:prstGeom>
          <a:solidFill>
            <a:srgbClr val="F3F7F8"/>
          </a:solidFill>
          <a:ln w="9525">
            <a:solidFill>
              <a:srgbClr val="CFDEE1"/>
            </a:solidFill>
            <a:prstDash val="solid"/>
          </a:ln>
        </p:spPr>
      </p:sp>
      <p:sp>
        <p:nvSpPr>
          <p:cNvPr id="18" name="Text 16"/>
          <p:cNvSpPr/>
          <p:nvPr/>
        </p:nvSpPr>
        <p:spPr>
          <a:xfrm>
            <a:off x="694944" y="3319272"/>
            <a:ext cx="13533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EX</a:t>
            </a:r>
            <a:endParaRPr lang="en-US" sz="1150" dirty="0"/>
          </a:p>
        </p:txBody>
      </p:sp>
      <p:sp>
        <p:nvSpPr>
          <p:cNvPr id="19" name="Shape 17"/>
          <p:cNvSpPr/>
          <p:nvPr/>
        </p:nvSpPr>
        <p:spPr>
          <a:xfrm>
            <a:off x="2103120" y="3319272"/>
            <a:ext cx="1554480" cy="347472"/>
          </a:xfrm>
          <a:prstGeom prst="rect">
            <a:avLst/>
          </a:prstGeom>
          <a:solidFill>
            <a:srgbClr val="F3F7F8"/>
          </a:solidFill>
          <a:ln w="9525">
            <a:solidFill>
              <a:srgbClr val="CFDEE1"/>
            </a:solidFill>
            <a:prstDash val="solid"/>
          </a:ln>
        </p:spPr>
      </p:sp>
      <p:sp>
        <p:nvSpPr>
          <p:cNvPr id="20" name="Text 18"/>
          <p:cNvSpPr/>
          <p:nvPr/>
        </p:nvSpPr>
        <p:spPr>
          <a:xfrm>
            <a:off x="2157984" y="3319272"/>
            <a:ext cx="144475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8</a:t>
            </a:r>
            <a:endParaRPr lang="en-US" sz="1150" dirty="0"/>
          </a:p>
        </p:txBody>
      </p:sp>
      <p:sp>
        <p:nvSpPr>
          <p:cNvPr id="21" name="Shape 19"/>
          <p:cNvSpPr/>
          <p:nvPr/>
        </p:nvSpPr>
        <p:spPr>
          <a:xfrm>
            <a:off x="3657600" y="3319272"/>
            <a:ext cx="1737360" cy="347472"/>
          </a:xfrm>
          <a:prstGeom prst="rect">
            <a:avLst/>
          </a:prstGeom>
          <a:solidFill>
            <a:srgbClr val="F3F7F8"/>
          </a:solidFill>
          <a:ln w="9525">
            <a:solidFill>
              <a:srgbClr val="CFDEE1"/>
            </a:solidFill>
            <a:prstDash val="solid"/>
          </a:ln>
        </p:spPr>
      </p:sp>
      <p:sp>
        <p:nvSpPr>
          <p:cNvPr id="22" name="Text 20"/>
          <p:cNvSpPr/>
          <p:nvPr/>
        </p:nvSpPr>
        <p:spPr>
          <a:xfrm>
            <a:off x="3712464" y="3319272"/>
            <a:ext cx="162763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a:t>
            </a:r>
            <a:endParaRPr lang="en-US" sz="1150" dirty="0"/>
          </a:p>
        </p:txBody>
      </p:sp>
      <p:sp>
        <p:nvSpPr>
          <p:cNvPr id="23" name="Shape 21"/>
          <p:cNvSpPr/>
          <p:nvPr/>
        </p:nvSpPr>
        <p:spPr>
          <a:xfrm>
            <a:off x="5394960" y="3319272"/>
            <a:ext cx="2011680" cy="347472"/>
          </a:xfrm>
          <a:prstGeom prst="rect">
            <a:avLst/>
          </a:prstGeom>
          <a:solidFill>
            <a:srgbClr val="F3F7F8"/>
          </a:solidFill>
          <a:ln w="9525">
            <a:solidFill>
              <a:srgbClr val="CFDEE1"/>
            </a:solidFill>
            <a:prstDash val="solid"/>
          </a:ln>
        </p:spPr>
      </p:sp>
      <p:sp>
        <p:nvSpPr>
          <p:cNvPr id="24" name="Text 22"/>
          <p:cNvSpPr/>
          <p:nvPr/>
        </p:nvSpPr>
        <p:spPr>
          <a:xfrm>
            <a:off x="5449824" y="3319272"/>
            <a:ext cx="190195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a:t>
            </a:r>
            <a:endParaRPr lang="en-US" sz="1150" dirty="0"/>
          </a:p>
        </p:txBody>
      </p:sp>
      <p:sp>
        <p:nvSpPr>
          <p:cNvPr id="25" name="Shape 23"/>
          <p:cNvSpPr/>
          <p:nvPr/>
        </p:nvSpPr>
        <p:spPr>
          <a:xfrm>
            <a:off x="7406640" y="3319272"/>
            <a:ext cx="4206240" cy="347472"/>
          </a:xfrm>
          <a:prstGeom prst="rect">
            <a:avLst/>
          </a:prstGeom>
          <a:solidFill>
            <a:srgbClr val="F3F7F8"/>
          </a:solidFill>
          <a:ln w="9525">
            <a:solidFill>
              <a:srgbClr val="CFDEE1"/>
            </a:solidFill>
            <a:prstDash val="solid"/>
          </a:ln>
        </p:spPr>
      </p:sp>
      <p:sp>
        <p:nvSpPr>
          <p:cNvPr id="26" name="Text 24"/>
          <p:cNvSpPr/>
          <p:nvPr/>
        </p:nvSpPr>
        <p:spPr>
          <a:xfrm>
            <a:off x="7461504" y="3319272"/>
            <a:ext cx="40965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one dosing period each</a:t>
            </a:r>
            <a:endParaRPr lang="en-US" sz="1150" dirty="0"/>
          </a:p>
        </p:txBody>
      </p:sp>
      <p:sp>
        <p:nvSpPr>
          <p:cNvPr id="27" name="Shape 25"/>
          <p:cNvSpPr/>
          <p:nvPr/>
        </p:nvSpPr>
        <p:spPr>
          <a:xfrm>
            <a:off x="640080" y="3666744"/>
            <a:ext cx="1463040" cy="347472"/>
          </a:xfrm>
          <a:prstGeom prst="rect">
            <a:avLst/>
          </a:prstGeom>
          <a:solidFill>
            <a:srgbClr val="FFFFFF"/>
          </a:solidFill>
          <a:ln w="9525">
            <a:solidFill>
              <a:srgbClr val="CFDEE1"/>
            </a:solidFill>
            <a:prstDash val="solid"/>
          </a:ln>
        </p:spPr>
      </p:sp>
      <p:sp>
        <p:nvSpPr>
          <p:cNvPr id="28" name="Text 26"/>
          <p:cNvSpPr/>
          <p:nvPr/>
        </p:nvSpPr>
        <p:spPr>
          <a:xfrm>
            <a:off x="694944" y="3666744"/>
            <a:ext cx="13533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AE</a:t>
            </a:r>
            <a:endParaRPr lang="en-US" sz="1150" dirty="0"/>
          </a:p>
        </p:txBody>
      </p:sp>
      <p:sp>
        <p:nvSpPr>
          <p:cNvPr id="29" name="Shape 27"/>
          <p:cNvSpPr/>
          <p:nvPr/>
        </p:nvSpPr>
        <p:spPr>
          <a:xfrm>
            <a:off x="2103120" y="3666744"/>
            <a:ext cx="1554480" cy="347472"/>
          </a:xfrm>
          <a:prstGeom prst="rect">
            <a:avLst/>
          </a:prstGeom>
          <a:solidFill>
            <a:srgbClr val="FFFFFF"/>
          </a:solidFill>
          <a:ln w="9525">
            <a:solidFill>
              <a:srgbClr val="CFDEE1"/>
            </a:solidFill>
            <a:prstDash val="solid"/>
          </a:ln>
        </p:spPr>
      </p:sp>
      <p:sp>
        <p:nvSpPr>
          <p:cNvPr id="30" name="Text 28"/>
          <p:cNvSpPr/>
          <p:nvPr/>
        </p:nvSpPr>
        <p:spPr>
          <a:xfrm>
            <a:off x="2157984" y="3666744"/>
            <a:ext cx="144475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6</a:t>
            </a:r>
            <a:endParaRPr lang="en-US" sz="1150" dirty="0"/>
          </a:p>
        </p:txBody>
      </p:sp>
      <p:sp>
        <p:nvSpPr>
          <p:cNvPr id="31" name="Shape 29"/>
          <p:cNvSpPr/>
          <p:nvPr/>
        </p:nvSpPr>
        <p:spPr>
          <a:xfrm>
            <a:off x="3657600" y="3666744"/>
            <a:ext cx="1737360" cy="347472"/>
          </a:xfrm>
          <a:prstGeom prst="rect">
            <a:avLst/>
          </a:prstGeom>
          <a:solidFill>
            <a:srgbClr val="FFFFFF"/>
          </a:solidFill>
          <a:ln w="9525">
            <a:solidFill>
              <a:srgbClr val="CFDEE1"/>
            </a:solidFill>
            <a:prstDash val="solid"/>
          </a:ln>
        </p:spPr>
      </p:sp>
      <p:sp>
        <p:nvSpPr>
          <p:cNvPr id="32" name="Text 30"/>
          <p:cNvSpPr/>
          <p:nvPr/>
        </p:nvSpPr>
        <p:spPr>
          <a:xfrm>
            <a:off x="3712464" y="3666744"/>
            <a:ext cx="162763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2</a:t>
            </a:r>
            <a:endParaRPr lang="en-US" sz="1150" dirty="0"/>
          </a:p>
        </p:txBody>
      </p:sp>
      <p:sp>
        <p:nvSpPr>
          <p:cNvPr id="33" name="Shape 31"/>
          <p:cNvSpPr/>
          <p:nvPr/>
        </p:nvSpPr>
        <p:spPr>
          <a:xfrm>
            <a:off x="5394960" y="3666744"/>
            <a:ext cx="2011680" cy="347472"/>
          </a:xfrm>
          <a:prstGeom prst="rect">
            <a:avLst/>
          </a:prstGeom>
          <a:solidFill>
            <a:srgbClr val="FFFFFF"/>
          </a:solidFill>
          <a:ln w="9525">
            <a:solidFill>
              <a:srgbClr val="CFDEE1"/>
            </a:solidFill>
            <a:prstDash val="solid"/>
          </a:ln>
        </p:spPr>
      </p:sp>
      <p:sp>
        <p:nvSpPr>
          <p:cNvPr id="34" name="Text 32"/>
          <p:cNvSpPr/>
          <p:nvPr/>
        </p:nvSpPr>
        <p:spPr>
          <a:xfrm>
            <a:off x="5449824" y="3666744"/>
            <a:ext cx="190195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1–2</a:t>
            </a:r>
            <a:endParaRPr lang="en-US" sz="1150" dirty="0"/>
          </a:p>
        </p:txBody>
      </p:sp>
      <p:sp>
        <p:nvSpPr>
          <p:cNvPr id="35" name="Shape 33"/>
          <p:cNvSpPr/>
          <p:nvPr/>
        </p:nvSpPr>
        <p:spPr>
          <a:xfrm>
            <a:off x="7406640" y="3666744"/>
            <a:ext cx="4206240" cy="347472"/>
          </a:xfrm>
          <a:prstGeom prst="rect">
            <a:avLst/>
          </a:prstGeom>
          <a:solidFill>
            <a:srgbClr val="FFFFFF"/>
          </a:solidFill>
          <a:ln w="9525">
            <a:solidFill>
              <a:srgbClr val="CFDEE1"/>
            </a:solidFill>
            <a:prstDash val="solid"/>
          </a:ln>
        </p:spPr>
      </p:sp>
      <p:sp>
        <p:nvSpPr>
          <p:cNvPr id="36" name="Text 34"/>
          <p:cNvSpPr/>
          <p:nvPr/>
        </p:nvSpPr>
        <p:spPr>
          <a:xfrm>
            <a:off x="7461504" y="3666744"/>
            <a:ext cx="40965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adverse events</a:t>
            </a:r>
            <a:endParaRPr lang="en-US" sz="1150" dirty="0"/>
          </a:p>
        </p:txBody>
      </p:sp>
      <p:sp>
        <p:nvSpPr>
          <p:cNvPr id="37" name="Shape 35"/>
          <p:cNvSpPr/>
          <p:nvPr/>
        </p:nvSpPr>
        <p:spPr>
          <a:xfrm>
            <a:off x="640080" y="4014216"/>
            <a:ext cx="1463040" cy="347472"/>
          </a:xfrm>
          <a:prstGeom prst="rect">
            <a:avLst/>
          </a:prstGeom>
          <a:solidFill>
            <a:srgbClr val="F3F7F8"/>
          </a:solidFill>
          <a:ln w="9525">
            <a:solidFill>
              <a:srgbClr val="CFDEE1"/>
            </a:solidFill>
            <a:prstDash val="solid"/>
          </a:ln>
        </p:spPr>
      </p:sp>
      <p:sp>
        <p:nvSpPr>
          <p:cNvPr id="38" name="Text 36"/>
          <p:cNvSpPr/>
          <p:nvPr/>
        </p:nvSpPr>
        <p:spPr>
          <a:xfrm>
            <a:off x="694944" y="4014216"/>
            <a:ext cx="13533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CM</a:t>
            </a:r>
            <a:endParaRPr lang="en-US" sz="1150" dirty="0"/>
          </a:p>
        </p:txBody>
      </p:sp>
      <p:sp>
        <p:nvSpPr>
          <p:cNvPr id="39" name="Shape 37"/>
          <p:cNvSpPr/>
          <p:nvPr/>
        </p:nvSpPr>
        <p:spPr>
          <a:xfrm>
            <a:off x="2103120" y="4014216"/>
            <a:ext cx="1554480" cy="347472"/>
          </a:xfrm>
          <a:prstGeom prst="rect">
            <a:avLst/>
          </a:prstGeom>
          <a:solidFill>
            <a:srgbClr val="F3F7F8"/>
          </a:solidFill>
          <a:ln w="9525">
            <a:solidFill>
              <a:srgbClr val="CFDEE1"/>
            </a:solidFill>
            <a:prstDash val="solid"/>
          </a:ln>
        </p:spPr>
      </p:sp>
      <p:sp>
        <p:nvSpPr>
          <p:cNvPr id="40" name="Text 38"/>
          <p:cNvSpPr/>
          <p:nvPr/>
        </p:nvSpPr>
        <p:spPr>
          <a:xfrm>
            <a:off x="2157984" y="4014216"/>
            <a:ext cx="144475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7</a:t>
            </a:r>
            <a:endParaRPr lang="en-US" sz="1150" dirty="0"/>
          </a:p>
        </p:txBody>
      </p:sp>
      <p:sp>
        <p:nvSpPr>
          <p:cNvPr id="41" name="Shape 39"/>
          <p:cNvSpPr/>
          <p:nvPr/>
        </p:nvSpPr>
        <p:spPr>
          <a:xfrm>
            <a:off x="3657600" y="4014216"/>
            <a:ext cx="1737360" cy="347472"/>
          </a:xfrm>
          <a:prstGeom prst="rect">
            <a:avLst/>
          </a:prstGeom>
          <a:solidFill>
            <a:srgbClr val="F3F7F8"/>
          </a:solidFill>
          <a:ln w="9525">
            <a:solidFill>
              <a:srgbClr val="CFDEE1"/>
            </a:solidFill>
            <a:prstDash val="solid"/>
          </a:ln>
        </p:spPr>
      </p:sp>
      <p:sp>
        <p:nvSpPr>
          <p:cNvPr id="42" name="Text 40"/>
          <p:cNvSpPr/>
          <p:nvPr/>
        </p:nvSpPr>
        <p:spPr>
          <a:xfrm>
            <a:off x="3712464" y="4014216"/>
            <a:ext cx="162763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2</a:t>
            </a:r>
            <a:endParaRPr lang="en-US" sz="1150" dirty="0"/>
          </a:p>
        </p:txBody>
      </p:sp>
      <p:sp>
        <p:nvSpPr>
          <p:cNvPr id="43" name="Shape 41"/>
          <p:cNvSpPr/>
          <p:nvPr/>
        </p:nvSpPr>
        <p:spPr>
          <a:xfrm>
            <a:off x="5394960" y="4014216"/>
            <a:ext cx="2011680" cy="347472"/>
          </a:xfrm>
          <a:prstGeom prst="rect">
            <a:avLst/>
          </a:prstGeom>
          <a:solidFill>
            <a:srgbClr val="F3F7F8"/>
          </a:solidFill>
          <a:ln w="9525">
            <a:solidFill>
              <a:srgbClr val="CFDEE1"/>
            </a:solidFill>
            <a:prstDash val="solid"/>
          </a:ln>
        </p:spPr>
      </p:sp>
      <p:sp>
        <p:nvSpPr>
          <p:cNvPr id="44" name="Text 42"/>
          <p:cNvSpPr/>
          <p:nvPr/>
        </p:nvSpPr>
        <p:spPr>
          <a:xfrm>
            <a:off x="5449824" y="4014216"/>
            <a:ext cx="190195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1–2</a:t>
            </a:r>
            <a:endParaRPr lang="en-US" sz="1150" dirty="0"/>
          </a:p>
        </p:txBody>
      </p:sp>
      <p:sp>
        <p:nvSpPr>
          <p:cNvPr id="45" name="Shape 43"/>
          <p:cNvSpPr/>
          <p:nvPr/>
        </p:nvSpPr>
        <p:spPr>
          <a:xfrm>
            <a:off x="7406640" y="4014216"/>
            <a:ext cx="4206240" cy="347472"/>
          </a:xfrm>
          <a:prstGeom prst="rect">
            <a:avLst/>
          </a:prstGeom>
          <a:solidFill>
            <a:srgbClr val="F3F7F8"/>
          </a:solidFill>
          <a:ln w="9525">
            <a:solidFill>
              <a:srgbClr val="CFDEE1"/>
            </a:solidFill>
            <a:prstDash val="solid"/>
          </a:ln>
        </p:spPr>
      </p:sp>
      <p:sp>
        <p:nvSpPr>
          <p:cNvPr id="46" name="Text 44"/>
          <p:cNvSpPr/>
          <p:nvPr/>
        </p:nvSpPr>
        <p:spPr>
          <a:xfrm>
            <a:off x="7461504" y="4014216"/>
            <a:ext cx="40965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medications</a:t>
            </a:r>
            <a:endParaRPr lang="en-US" sz="1150" dirty="0"/>
          </a:p>
        </p:txBody>
      </p:sp>
      <p:sp>
        <p:nvSpPr>
          <p:cNvPr id="47" name="Shape 45"/>
          <p:cNvSpPr/>
          <p:nvPr/>
        </p:nvSpPr>
        <p:spPr>
          <a:xfrm>
            <a:off x="640080" y="4361688"/>
            <a:ext cx="1463040" cy="347472"/>
          </a:xfrm>
          <a:prstGeom prst="rect">
            <a:avLst/>
          </a:prstGeom>
          <a:solidFill>
            <a:srgbClr val="FFFFFF"/>
          </a:solidFill>
          <a:ln w="9525">
            <a:solidFill>
              <a:srgbClr val="CFDEE1"/>
            </a:solidFill>
            <a:prstDash val="solid"/>
          </a:ln>
        </p:spPr>
      </p:sp>
      <p:sp>
        <p:nvSpPr>
          <p:cNvPr id="48" name="Text 46"/>
          <p:cNvSpPr/>
          <p:nvPr/>
        </p:nvSpPr>
        <p:spPr>
          <a:xfrm>
            <a:off x="694944" y="4361688"/>
            <a:ext cx="13533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DS</a:t>
            </a:r>
            <a:endParaRPr lang="en-US" sz="1150" dirty="0"/>
          </a:p>
        </p:txBody>
      </p:sp>
      <p:sp>
        <p:nvSpPr>
          <p:cNvPr id="49" name="Shape 47"/>
          <p:cNvSpPr/>
          <p:nvPr/>
        </p:nvSpPr>
        <p:spPr>
          <a:xfrm>
            <a:off x="2103120" y="4361688"/>
            <a:ext cx="1554480" cy="347472"/>
          </a:xfrm>
          <a:prstGeom prst="rect">
            <a:avLst/>
          </a:prstGeom>
          <a:solidFill>
            <a:srgbClr val="FFFFFF"/>
          </a:solidFill>
          <a:ln w="9525">
            <a:solidFill>
              <a:srgbClr val="CFDEE1"/>
            </a:solidFill>
            <a:prstDash val="solid"/>
          </a:ln>
        </p:spPr>
      </p:sp>
      <p:sp>
        <p:nvSpPr>
          <p:cNvPr id="50" name="Text 48"/>
          <p:cNvSpPr/>
          <p:nvPr/>
        </p:nvSpPr>
        <p:spPr>
          <a:xfrm>
            <a:off x="2157984" y="4361688"/>
            <a:ext cx="144475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8</a:t>
            </a:r>
            <a:endParaRPr lang="en-US" sz="1150" dirty="0"/>
          </a:p>
        </p:txBody>
      </p:sp>
      <p:sp>
        <p:nvSpPr>
          <p:cNvPr id="51" name="Shape 49"/>
          <p:cNvSpPr/>
          <p:nvPr/>
        </p:nvSpPr>
        <p:spPr>
          <a:xfrm>
            <a:off x="3657600" y="4361688"/>
            <a:ext cx="1737360" cy="347472"/>
          </a:xfrm>
          <a:prstGeom prst="rect">
            <a:avLst/>
          </a:prstGeom>
          <a:solidFill>
            <a:srgbClr val="FFFFFF"/>
          </a:solidFill>
          <a:ln w="9525">
            <a:solidFill>
              <a:srgbClr val="CFDEE1"/>
            </a:solidFill>
            <a:prstDash val="solid"/>
          </a:ln>
        </p:spPr>
      </p:sp>
      <p:sp>
        <p:nvSpPr>
          <p:cNvPr id="52" name="Text 50"/>
          <p:cNvSpPr/>
          <p:nvPr/>
        </p:nvSpPr>
        <p:spPr>
          <a:xfrm>
            <a:off x="3712464" y="4361688"/>
            <a:ext cx="162763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3</a:t>
            </a:r>
            <a:endParaRPr lang="en-US" sz="1150" dirty="0"/>
          </a:p>
        </p:txBody>
      </p:sp>
      <p:sp>
        <p:nvSpPr>
          <p:cNvPr id="53" name="Shape 51"/>
          <p:cNvSpPr/>
          <p:nvPr/>
        </p:nvSpPr>
        <p:spPr>
          <a:xfrm>
            <a:off x="5394960" y="4361688"/>
            <a:ext cx="2011680" cy="347472"/>
          </a:xfrm>
          <a:prstGeom prst="rect">
            <a:avLst/>
          </a:prstGeom>
          <a:solidFill>
            <a:srgbClr val="FFFFFF"/>
          </a:solidFill>
          <a:ln w="9525">
            <a:solidFill>
              <a:srgbClr val="CFDEE1"/>
            </a:solidFill>
            <a:prstDash val="solid"/>
          </a:ln>
        </p:spPr>
      </p:sp>
      <p:sp>
        <p:nvSpPr>
          <p:cNvPr id="54" name="Text 52"/>
          <p:cNvSpPr/>
          <p:nvPr/>
        </p:nvSpPr>
        <p:spPr>
          <a:xfrm>
            <a:off x="5449824" y="4361688"/>
            <a:ext cx="190195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3</a:t>
            </a:r>
            <a:endParaRPr lang="en-US" sz="1150" dirty="0"/>
          </a:p>
        </p:txBody>
      </p:sp>
      <p:sp>
        <p:nvSpPr>
          <p:cNvPr id="55" name="Shape 53"/>
          <p:cNvSpPr/>
          <p:nvPr/>
        </p:nvSpPr>
        <p:spPr>
          <a:xfrm>
            <a:off x="7406640" y="4361688"/>
            <a:ext cx="4206240" cy="347472"/>
          </a:xfrm>
          <a:prstGeom prst="rect">
            <a:avLst/>
          </a:prstGeom>
          <a:solidFill>
            <a:srgbClr val="FFFFFF"/>
          </a:solidFill>
          <a:ln w="9525">
            <a:solidFill>
              <a:srgbClr val="CFDEE1"/>
            </a:solidFill>
            <a:prstDash val="solid"/>
          </a:ln>
        </p:spPr>
      </p:sp>
      <p:sp>
        <p:nvSpPr>
          <p:cNvPr id="56" name="Text 54"/>
          <p:cNvSpPr/>
          <p:nvPr/>
        </p:nvSpPr>
        <p:spPr>
          <a:xfrm>
            <a:off x="7461504" y="4361688"/>
            <a:ext cx="40965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disposition milestones</a:t>
            </a:r>
            <a:endParaRPr lang="en-US" sz="1150" dirty="0"/>
          </a:p>
        </p:txBody>
      </p:sp>
      <p:sp>
        <p:nvSpPr>
          <p:cNvPr id="57" name="Shape 55"/>
          <p:cNvSpPr/>
          <p:nvPr/>
        </p:nvSpPr>
        <p:spPr>
          <a:xfrm>
            <a:off x="640080" y="4709160"/>
            <a:ext cx="1463040" cy="347472"/>
          </a:xfrm>
          <a:prstGeom prst="rect">
            <a:avLst/>
          </a:prstGeom>
          <a:solidFill>
            <a:srgbClr val="F3F7F8"/>
          </a:solidFill>
          <a:ln w="9525">
            <a:solidFill>
              <a:srgbClr val="CFDEE1"/>
            </a:solidFill>
            <a:prstDash val="solid"/>
          </a:ln>
        </p:spPr>
      </p:sp>
      <p:sp>
        <p:nvSpPr>
          <p:cNvPr id="58" name="Text 56"/>
          <p:cNvSpPr/>
          <p:nvPr/>
        </p:nvSpPr>
        <p:spPr>
          <a:xfrm>
            <a:off x="694944" y="4709160"/>
            <a:ext cx="13533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LB</a:t>
            </a:r>
            <a:endParaRPr lang="en-US" sz="1150" dirty="0"/>
          </a:p>
        </p:txBody>
      </p:sp>
      <p:sp>
        <p:nvSpPr>
          <p:cNvPr id="59" name="Shape 57"/>
          <p:cNvSpPr/>
          <p:nvPr/>
        </p:nvSpPr>
        <p:spPr>
          <a:xfrm>
            <a:off x="2103120" y="4709160"/>
            <a:ext cx="1554480" cy="347472"/>
          </a:xfrm>
          <a:prstGeom prst="rect">
            <a:avLst/>
          </a:prstGeom>
          <a:solidFill>
            <a:srgbClr val="F3F7F8"/>
          </a:solidFill>
          <a:ln w="9525">
            <a:solidFill>
              <a:srgbClr val="CFDEE1"/>
            </a:solidFill>
            <a:prstDash val="solid"/>
          </a:ln>
        </p:spPr>
      </p:sp>
      <p:sp>
        <p:nvSpPr>
          <p:cNvPr id="60" name="Text 58"/>
          <p:cNvSpPr/>
          <p:nvPr/>
        </p:nvSpPr>
        <p:spPr>
          <a:xfrm>
            <a:off x="2157984" y="4709160"/>
            <a:ext cx="144475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4</a:t>
            </a:r>
            <a:endParaRPr lang="en-US" sz="1150" dirty="0"/>
          </a:p>
        </p:txBody>
      </p:sp>
      <p:sp>
        <p:nvSpPr>
          <p:cNvPr id="61" name="Shape 59"/>
          <p:cNvSpPr/>
          <p:nvPr/>
        </p:nvSpPr>
        <p:spPr>
          <a:xfrm>
            <a:off x="3657600" y="4709160"/>
            <a:ext cx="1737360" cy="347472"/>
          </a:xfrm>
          <a:prstGeom prst="rect">
            <a:avLst/>
          </a:prstGeom>
          <a:solidFill>
            <a:srgbClr val="F3F7F8"/>
          </a:solidFill>
          <a:ln w="9525">
            <a:solidFill>
              <a:srgbClr val="CFDEE1"/>
            </a:solidFill>
            <a:prstDash val="solid"/>
          </a:ln>
        </p:spPr>
      </p:sp>
      <p:sp>
        <p:nvSpPr>
          <p:cNvPr id="62" name="Text 60"/>
          <p:cNvSpPr/>
          <p:nvPr/>
        </p:nvSpPr>
        <p:spPr>
          <a:xfrm>
            <a:off x="3712464" y="4709160"/>
            <a:ext cx="162763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12</a:t>
            </a:r>
            <a:endParaRPr lang="en-US" sz="1150" dirty="0"/>
          </a:p>
        </p:txBody>
      </p:sp>
      <p:sp>
        <p:nvSpPr>
          <p:cNvPr id="63" name="Shape 61"/>
          <p:cNvSpPr/>
          <p:nvPr/>
        </p:nvSpPr>
        <p:spPr>
          <a:xfrm>
            <a:off x="5394960" y="4709160"/>
            <a:ext cx="2011680" cy="347472"/>
          </a:xfrm>
          <a:prstGeom prst="rect">
            <a:avLst/>
          </a:prstGeom>
          <a:solidFill>
            <a:srgbClr val="F3F7F8"/>
          </a:solidFill>
          <a:ln w="9525">
            <a:solidFill>
              <a:srgbClr val="CFDEE1"/>
            </a:solidFill>
            <a:prstDash val="solid"/>
          </a:ln>
        </p:spPr>
      </p:sp>
      <p:sp>
        <p:nvSpPr>
          <p:cNvPr id="64" name="Text 62"/>
          <p:cNvSpPr/>
          <p:nvPr/>
        </p:nvSpPr>
        <p:spPr>
          <a:xfrm>
            <a:off x="5449824" y="4709160"/>
            <a:ext cx="190195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12</a:t>
            </a:r>
            <a:endParaRPr lang="en-US" sz="1150" dirty="0"/>
          </a:p>
        </p:txBody>
      </p:sp>
      <p:sp>
        <p:nvSpPr>
          <p:cNvPr id="65" name="Shape 63"/>
          <p:cNvSpPr/>
          <p:nvPr/>
        </p:nvSpPr>
        <p:spPr>
          <a:xfrm>
            <a:off x="7406640" y="4709160"/>
            <a:ext cx="4206240" cy="347472"/>
          </a:xfrm>
          <a:prstGeom prst="rect">
            <a:avLst/>
          </a:prstGeom>
          <a:solidFill>
            <a:srgbClr val="F3F7F8"/>
          </a:solidFill>
          <a:ln w="9525">
            <a:solidFill>
              <a:srgbClr val="CFDEE1"/>
            </a:solidFill>
            <a:prstDash val="solid"/>
          </a:ln>
        </p:spPr>
      </p:sp>
      <p:sp>
        <p:nvSpPr>
          <p:cNvPr id="66" name="Text 64"/>
          <p:cNvSpPr/>
          <p:nvPr/>
        </p:nvSpPr>
        <p:spPr>
          <a:xfrm>
            <a:off x="7461504" y="4709160"/>
            <a:ext cx="40965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6 tests × 2 visits</a:t>
            </a:r>
            <a:endParaRPr lang="en-US" sz="1150" dirty="0"/>
          </a:p>
        </p:txBody>
      </p:sp>
      <p:sp>
        <p:nvSpPr>
          <p:cNvPr id="67" name="Shape 65"/>
          <p:cNvSpPr/>
          <p:nvPr/>
        </p:nvSpPr>
        <p:spPr>
          <a:xfrm>
            <a:off x="640080" y="5056632"/>
            <a:ext cx="1463040" cy="347472"/>
          </a:xfrm>
          <a:prstGeom prst="rect">
            <a:avLst/>
          </a:prstGeom>
          <a:solidFill>
            <a:srgbClr val="FFFFFF"/>
          </a:solidFill>
          <a:ln w="9525">
            <a:solidFill>
              <a:srgbClr val="CFDEE1"/>
            </a:solidFill>
            <a:prstDash val="solid"/>
          </a:ln>
        </p:spPr>
      </p:sp>
      <p:sp>
        <p:nvSpPr>
          <p:cNvPr id="68" name="Text 66"/>
          <p:cNvSpPr/>
          <p:nvPr/>
        </p:nvSpPr>
        <p:spPr>
          <a:xfrm>
            <a:off x="694944" y="5056632"/>
            <a:ext cx="13533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VS</a:t>
            </a:r>
            <a:endParaRPr lang="en-US" sz="1150" dirty="0"/>
          </a:p>
        </p:txBody>
      </p:sp>
      <p:sp>
        <p:nvSpPr>
          <p:cNvPr id="69" name="Shape 67"/>
          <p:cNvSpPr/>
          <p:nvPr/>
        </p:nvSpPr>
        <p:spPr>
          <a:xfrm>
            <a:off x="2103120" y="5056632"/>
            <a:ext cx="1554480" cy="347472"/>
          </a:xfrm>
          <a:prstGeom prst="rect">
            <a:avLst/>
          </a:prstGeom>
          <a:solidFill>
            <a:srgbClr val="FFFFFF"/>
          </a:solidFill>
          <a:ln w="9525">
            <a:solidFill>
              <a:srgbClr val="CFDEE1"/>
            </a:solidFill>
            <a:prstDash val="solid"/>
          </a:ln>
        </p:spPr>
      </p:sp>
      <p:sp>
        <p:nvSpPr>
          <p:cNvPr id="70" name="Text 68"/>
          <p:cNvSpPr/>
          <p:nvPr/>
        </p:nvSpPr>
        <p:spPr>
          <a:xfrm>
            <a:off x="2157984" y="5056632"/>
            <a:ext cx="144475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8</a:t>
            </a:r>
            <a:endParaRPr lang="en-US" sz="1150" dirty="0"/>
          </a:p>
        </p:txBody>
      </p:sp>
      <p:sp>
        <p:nvSpPr>
          <p:cNvPr id="71" name="Shape 69"/>
          <p:cNvSpPr/>
          <p:nvPr/>
        </p:nvSpPr>
        <p:spPr>
          <a:xfrm>
            <a:off x="3657600" y="5056632"/>
            <a:ext cx="1737360" cy="347472"/>
          </a:xfrm>
          <a:prstGeom prst="rect">
            <a:avLst/>
          </a:prstGeom>
          <a:solidFill>
            <a:srgbClr val="FFFFFF"/>
          </a:solidFill>
          <a:ln w="9525">
            <a:solidFill>
              <a:srgbClr val="CFDEE1"/>
            </a:solidFill>
            <a:prstDash val="solid"/>
          </a:ln>
        </p:spPr>
      </p:sp>
      <p:sp>
        <p:nvSpPr>
          <p:cNvPr id="72" name="Text 70"/>
          <p:cNvSpPr/>
          <p:nvPr/>
        </p:nvSpPr>
        <p:spPr>
          <a:xfrm>
            <a:off x="3712464" y="5056632"/>
            <a:ext cx="162763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16</a:t>
            </a:r>
            <a:endParaRPr lang="en-US" sz="1150" dirty="0"/>
          </a:p>
        </p:txBody>
      </p:sp>
      <p:sp>
        <p:nvSpPr>
          <p:cNvPr id="73" name="Shape 71"/>
          <p:cNvSpPr/>
          <p:nvPr/>
        </p:nvSpPr>
        <p:spPr>
          <a:xfrm>
            <a:off x="5394960" y="5056632"/>
            <a:ext cx="2011680" cy="347472"/>
          </a:xfrm>
          <a:prstGeom prst="rect">
            <a:avLst/>
          </a:prstGeom>
          <a:solidFill>
            <a:srgbClr val="FFFFFF"/>
          </a:solidFill>
          <a:ln w="9525">
            <a:solidFill>
              <a:srgbClr val="CFDEE1"/>
            </a:solidFill>
            <a:prstDash val="solid"/>
          </a:ln>
        </p:spPr>
      </p:sp>
      <p:sp>
        <p:nvSpPr>
          <p:cNvPr id="74" name="Text 72"/>
          <p:cNvSpPr/>
          <p:nvPr/>
        </p:nvSpPr>
        <p:spPr>
          <a:xfrm>
            <a:off x="5449824" y="5056632"/>
            <a:ext cx="190195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16</a:t>
            </a:r>
            <a:endParaRPr lang="en-US" sz="1150" dirty="0"/>
          </a:p>
        </p:txBody>
      </p:sp>
      <p:sp>
        <p:nvSpPr>
          <p:cNvPr id="75" name="Shape 73"/>
          <p:cNvSpPr/>
          <p:nvPr/>
        </p:nvSpPr>
        <p:spPr>
          <a:xfrm>
            <a:off x="7406640" y="5056632"/>
            <a:ext cx="4206240" cy="347472"/>
          </a:xfrm>
          <a:prstGeom prst="rect">
            <a:avLst/>
          </a:prstGeom>
          <a:solidFill>
            <a:srgbClr val="FFFFFF"/>
          </a:solidFill>
          <a:ln w="9525">
            <a:solidFill>
              <a:srgbClr val="CFDEE1"/>
            </a:solidFill>
            <a:prstDash val="solid"/>
          </a:ln>
        </p:spPr>
      </p:sp>
      <p:sp>
        <p:nvSpPr>
          <p:cNvPr id="76" name="Text 74"/>
          <p:cNvSpPr/>
          <p:nvPr/>
        </p:nvSpPr>
        <p:spPr>
          <a:xfrm>
            <a:off x="7461504" y="5056632"/>
            <a:ext cx="4096512" cy="347472"/>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6 tests at screening + 5 × 2 later visits</a:t>
            </a:r>
            <a:endParaRPr lang="en-US" sz="1150" dirty="0"/>
          </a:p>
        </p:txBody>
      </p:sp>
      <p:sp>
        <p:nvSpPr>
          <p:cNvPr id="77" name="Shape 75"/>
          <p:cNvSpPr/>
          <p:nvPr/>
        </p:nvSpPr>
        <p:spPr>
          <a:xfrm>
            <a:off x="640080" y="5486400"/>
            <a:ext cx="10972800" cy="822960"/>
          </a:xfrm>
          <a:prstGeom prst="roundRect">
            <a:avLst>
              <a:gd name="adj" fmla="val 10000"/>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78" name="Text 76"/>
          <p:cNvSpPr/>
          <p:nvPr/>
        </p:nvSpPr>
        <p:spPr>
          <a:xfrm>
            <a:off x="914400" y="5596128"/>
            <a:ext cx="10424160" cy="64008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--SEQ restarts at 1 for every subject.  </a:t>
            </a:r>
            <a:pPr indent="0" marL="0">
              <a:buNone/>
            </a:pPr>
            <a:r>
              <a:rPr lang="en-US" sz="1300" dirty="0">
                <a:solidFill>
                  <a:srgbClr val="0F2E3D"/>
                </a:solidFill>
                <a:latin typeface="Calibri" pitchFamily="34" charset="0"/>
                <a:ea typeface="Calibri" pitchFamily="34" charset="-122"/>
                <a:cs typeface="Calibri" pitchFamily="34" charset="-120"/>
              </a:rPr>
              <a:t>It is not a row number for the dataset. Note only 4 subjects appear in LB and 6 in AE — a subject with no records in a domain simply is not there.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THE PART PEOPLE GET WRONG</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--SEQ is only as reproducible as your sort</a:t>
            </a:r>
            <a:endParaRPr lang="en-US" sz="3000" dirty="0"/>
          </a:p>
        </p:txBody>
      </p:sp>
      <p:sp>
        <p:nvSpPr>
          <p:cNvPr id="4" name="Shape 2"/>
          <p:cNvSpPr/>
          <p:nvPr/>
        </p:nvSpPr>
        <p:spPr>
          <a:xfrm>
            <a:off x="640080" y="1645920"/>
            <a:ext cx="10972800" cy="3069844"/>
          </a:xfrm>
          <a:prstGeom prst="roundRect">
            <a:avLst>
              <a:gd name="adj" fmla="val 2383"/>
            </a:avLst>
          </a:prstGeom>
          <a:solidFill>
            <a:srgbClr val="13323F"/>
          </a:solidFill>
          <a:ln w="19050">
            <a:solidFill>
              <a:srgbClr val="E8833A"/>
            </a:solidFill>
            <a:prstDash val="solid"/>
          </a:ln>
        </p:spPr>
      </p:sp>
      <p:sp>
        <p:nvSpPr>
          <p:cNvPr id="5" name="Text 3"/>
          <p:cNvSpPr/>
          <p:nvPr/>
        </p:nvSpPr>
        <p:spPr>
          <a:xfrm>
            <a:off x="868680" y="1737360"/>
            <a:ext cx="5486400" cy="320040"/>
          </a:xfrm>
          <a:prstGeom prst="rect">
            <a:avLst/>
          </a:prstGeom>
          <a:noFill/>
          <a:ln/>
        </p:spPr>
        <p:txBody>
          <a:bodyPr wrap="square" lIns="0" tIns="0" rIns="0" bIns="0" rtlCol="0" anchor="ctr"/>
          <a:lstStyle/>
          <a:p>
            <a:pPr indent="0" marL="0">
              <a:buNone/>
            </a:pPr>
            <a:r>
              <a:rPr lang="en-US" sz="1400" b="1" dirty="0">
                <a:solidFill>
                  <a:srgbClr val="E8833A"/>
                </a:solidFill>
                <a:latin typeface="Cambria" pitchFamily="34" charset="0"/>
                <a:ea typeface="Cambria" pitchFamily="34" charset="-122"/>
                <a:cs typeface="Cambria" pitchFamily="34" charset="-120"/>
              </a:rPr>
              <a:t>The pattern used in every domain</a:t>
            </a:r>
            <a:endParaRPr lang="en-US" sz="1400" dirty="0"/>
          </a:p>
        </p:txBody>
      </p:sp>
      <p:sp>
        <p:nvSpPr>
          <p:cNvPr id="6" name="Text 4"/>
          <p:cNvSpPr/>
          <p:nvPr/>
        </p:nvSpPr>
        <p:spPr>
          <a:xfrm>
            <a:off x="868680" y="2103120"/>
            <a:ext cx="10561320" cy="25029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proc sort data = ae_work;</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by usubjid aestdtc aeterm;      /* &lt;-- the TIEBREAKER is the point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data ae;</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set ae_work;</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by usubjid;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retain aeseq;</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if first.usubjid then aeseq = 1;   /* restart for each subject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else                  aeseq + 1;</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p:txBody>
      </p:sp>
      <p:sp>
        <p:nvSpPr>
          <p:cNvPr id="7" name="Shape 5"/>
          <p:cNvSpPr/>
          <p:nvPr/>
        </p:nvSpPr>
        <p:spPr>
          <a:xfrm>
            <a:off x="640080" y="4709160"/>
            <a:ext cx="5394960" cy="1600200"/>
          </a:xfrm>
          <a:prstGeom prst="roundRect">
            <a:avLst>
              <a:gd name="adj" fmla="val 5143"/>
            </a:avLst>
          </a:prstGeom>
          <a:solidFill>
            <a:srgbClr val="3A2530"/>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8" name="Text 6"/>
          <p:cNvSpPr/>
          <p:nvPr/>
        </p:nvSpPr>
        <p:spPr>
          <a:xfrm>
            <a:off x="914400" y="4828032"/>
            <a:ext cx="4846320" cy="320040"/>
          </a:xfrm>
          <a:prstGeom prst="rect">
            <a:avLst/>
          </a:prstGeom>
          <a:noFill/>
          <a:ln/>
        </p:spPr>
        <p:txBody>
          <a:bodyPr wrap="square" lIns="0" tIns="0" rIns="0" bIns="0" rtlCol="0" anchor="ctr"/>
          <a:lstStyle/>
          <a:p>
            <a:pPr indent="0" marL="0">
              <a:buNone/>
            </a:pPr>
            <a:r>
              <a:rPr lang="en-US" sz="1500" b="1" dirty="0">
                <a:solidFill>
                  <a:srgbClr val="FF9DAE"/>
                </a:solidFill>
                <a:latin typeface="Cambria" pitchFamily="34" charset="0"/>
                <a:ea typeface="Cambria" pitchFamily="34" charset="-122"/>
                <a:cs typeface="Cambria" pitchFamily="34" charset="-120"/>
              </a:rPr>
              <a:t>⚠  Sorting by date alone</a:t>
            </a:r>
            <a:endParaRPr lang="en-US" sz="1500" dirty="0"/>
          </a:p>
        </p:txBody>
      </p:sp>
      <p:sp>
        <p:nvSpPr>
          <p:cNvPr id="9" name="Text 7"/>
          <p:cNvSpPr/>
          <p:nvPr/>
        </p:nvSpPr>
        <p:spPr>
          <a:xfrm>
            <a:off x="914400" y="5193792"/>
            <a:ext cx="4846320" cy="1005840"/>
          </a:xfrm>
          <a:prstGeom prst="rect">
            <a:avLst/>
          </a:prstGeom>
          <a:noFill/>
          <a:ln/>
        </p:spPr>
        <p:txBody>
          <a:bodyPr wrap="square" lIns="0" tIns="0" rIns="0" bIns="0" rtlCol="0" anchor="ctr"/>
          <a:lstStyle/>
          <a:p>
            <a:pPr indent="0" marL="0">
              <a:lnSpc>
                <a:spcPts val="1500"/>
              </a:lnSpc>
              <a:buNone/>
            </a:pPr>
            <a:r>
              <a:rPr lang="en-US" sz="1200" dirty="0">
                <a:solidFill>
                  <a:srgbClr val="F0D6DB"/>
                </a:solidFill>
                <a:latin typeface="Calibri" pitchFamily="34" charset="0"/>
                <a:ea typeface="Calibri" pitchFamily="34" charset="-122"/>
                <a:cs typeface="Calibri" pitchFamily="34" charset="-120"/>
              </a:rPr>
              <a:t>Two events on the same day have no defined order, so SAS may emit them either way. Re-run the program and AESEQ 1 and 2 can swap — and every SUPPQUAL row that pointed at AESEQ 1 now points at the other event.</a:t>
            </a:r>
            <a:endParaRPr lang="en-US" sz="1200" dirty="0"/>
          </a:p>
        </p:txBody>
      </p:sp>
      <p:sp>
        <p:nvSpPr>
          <p:cNvPr id="10" name="Shape 8"/>
          <p:cNvSpPr/>
          <p:nvPr/>
        </p:nvSpPr>
        <p:spPr>
          <a:xfrm>
            <a:off x="6217920" y="4709160"/>
            <a:ext cx="5394960" cy="1600200"/>
          </a:xfrm>
          <a:prstGeom prst="roundRect">
            <a:avLst>
              <a:gd name="adj" fmla="val 5143"/>
            </a:avLst>
          </a:prstGeom>
          <a:solidFill>
            <a:srgbClr val="1A415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Text 9"/>
          <p:cNvSpPr/>
          <p:nvPr/>
        </p:nvSpPr>
        <p:spPr>
          <a:xfrm>
            <a:off x="6492240" y="4828032"/>
            <a:ext cx="4846320" cy="320040"/>
          </a:xfrm>
          <a:prstGeom prst="rect">
            <a:avLst/>
          </a:prstGeom>
          <a:noFill/>
          <a:ln/>
        </p:spPr>
        <p:txBody>
          <a:bodyPr wrap="square" lIns="0" tIns="0" rIns="0" bIns="0" rtlCol="0" anchor="ctr"/>
          <a:lstStyle/>
          <a:p>
            <a:pPr indent="0" marL="0">
              <a:buNone/>
            </a:pPr>
            <a:r>
              <a:rPr lang="en-US" sz="1500" b="1" dirty="0">
                <a:solidFill>
                  <a:srgbClr val="6FC8B4"/>
                </a:solidFill>
                <a:latin typeface="Cambria" pitchFamily="34" charset="0"/>
                <a:ea typeface="Cambria" pitchFamily="34" charset="-122"/>
                <a:cs typeface="Cambria" pitchFamily="34" charset="-120"/>
              </a:rPr>
              <a:t>Deterministic sort</a:t>
            </a:r>
            <a:endParaRPr lang="en-US" sz="1500" dirty="0"/>
          </a:p>
        </p:txBody>
      </p:sp>
      <p:sp>
        <p:nvSpPr>
          <p:cNvPr id="12" name="Text 10"/>
          <p:cNvSpPr/>
          <p:nvPr/>
        </p:nvSpPr>
        <p:spPr>
          <a:xfrm>
            <a:off x="6492240" y="5193792"/>
            <a:ext cx="4846320" cy="1005840"/>
          </a:xfrm>
          <a:prstGeom prst="rect">
            <a:avLst/>
          </a:prstGeom>
          <a:noFill/>
          <a:ln/>
        </p:spPr>
        <p:txBody>
          <a:bodyPr wrap="square" lIns="0" tIns="0" rIns="0" bIns="0" rtlCol="0" anchor="ctr"/>
          <a:lstStyle/>
          <a:p>
            <a:pPr indent="0" marL="0">
              <a:lnSpc>
                <a:spcPts val="1500"/>
              </a:lnSpc>
              <a:buNone/>
            </a:pPr>
            <a:r>
              <a:rPr lang="en-US" sz="1200" dirty="0">
                <a:solidFill>
                  <a:srgbClr val="DCEBEF"/>
                </a:solidFill>
                <a:latin typeface="Calibri" pitchFamily="34" charset="0"/>
                <a:ea typeface="Calibri" pitchFamily="34" charset="-122"/>
                <a:cs typeface="Calibri" pitchFamily="34" charset="-120"/>
              </a:rPr>
              <a:t>Add a tiebreaker that cannot tie: date THEN term. Now the same input always gives the same --SEQ, on any machine, in any SAS version — which is what makes a re-run comparable to the original.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NAMING THE PERIODS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EPOCH — which phase of the trial a record belongs to</a:t>
            </a:r>
            <a:endParaRPr lang="en-US" sz="3000" dirty="0"/>
          </a:p>
        </p:txBody>
      </p:sp>
      <p:sp>
        <p:nvSpPr>
          <p:cNvPr id="4" name="Text 2"/>
          <p:cNvSpPr/>
          <p:nvPr/>
        </p:nvSpPr>
        <p:spPr>
          <a:xfrm>
            <a:off x="640080" y="1572768"/>
            <a:ext cx="10972800" cy="365760"/>
          </a:xfrm>
          <a:prstGeom prst="rect">
            <a:avLst/>
          </a:prstGeom>
          <a:noFill/>
          <a:ln/>
        </p:spPr>
        <p:txBody>
          <a:bodyPr wrap="square" lIns="0" tIns="0" rIns="0" bIns="0" rtlCol="0" anchor="ctr"/>
          <a:lstStyle/>
          <a:p>
            <a:pPr indent="0" marL="0">
              <a:buNone/>
            </a:pPr>
            <a:r>
              <a:rPr lang="en-US" sz="1400" dirty="0">
                <a:solidFill>
                  <a:srgbClr val="5A7682"/>
                </a:solidFill>
                <a:latin typeface="Calibri" pitchFamily="34" charset="0"/>
                <a:ea typeface="Calibri" pitchFamily="34" charset="-122"/>
                <a:cs typeface="Calibri" pitchFamily="34" charset="-120"/>
              </a:rPr>
              <a:t>--DY tells you WHEN relative to first dose. EPOCH tells you WHICH PART of the trial that was.</a:t>
            </a:r>
            <a:endParaRPr lang="en-US" sz="1400" dirty="0"/>
          </a:p>
        </p:txBody>
      </p:sp>
      <p:sp>
        <p:nvSpPr>
          <p:cNvPr id="5" name="Shape 3"/>
          <p:cNvSpPr/>
          <p:nvPr/>
        </p:nvSpPr>
        <p:spPr>
          <a:xfrm>
            <a:off x="640080" y="2057400"/>
            <a:ext cx="10972800" cy="1188720"/>
          </a:xfrm>
          <a:prstGeom prst="roundRect">
            <a:avLst>
              <a:gd name="adj" fmla="val 6923"/>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 name="Shape 4"/>
          <p:cNvSpPr/>
          <p:nvPr/>
        </p:nvSpPr>
        <p:spPr>
          <a:xfrm>
            <a:off x="640080" y="2057400"/>
            <a:ext cx="82296" cy="1188720"/>
          </a:xfrm>
          <a:prstGeom prst="rect">
            <a:avLst/>
          </a:prstGeom>
          <a:solidFill>
            <a:srgbClr val="1FA8A0"/>
          </a:solidFill>
          <a:ln/>
        </p:spPr>
      </p:sp>
      <p:sp>
        <p:nvSpPr>
          <p:cNvPr id="7" name="Text 5"/>
          <p:cNvSpPr/>
          <p:nvPr/>
        </p:nvSpPr>
        <p:spPr>
          <a:xfrm>
            <a:off x="914400" y="2221992"/>
            <a:ext cx="2286000" cy="365760"/>
          </a:xfrm>
          <a:prstGeom prst="rect">
            <a:avLst/>
          </a:prstGeom>
          <a:noFill/>
          <a:ln/>
        </p:spPr>
        <p:txBody>
          <a:bodyPr wrap="square" lIns="0" tIns="0" rIns="0" bIns="0" rtlCol="0" anchor="ctr"/>
          <a:lstStyle/>
          <a:p>
            <a:pPr indent="0" marL="0">
              <a:buNone/>
            </a:pPr>
            <a:r>
              <a:rPr lang="en-US" sz="1700" b="1" dirty="0">
                <a:solidFill>
                  <a:srgbClr val="1FA8A0"/>
                </a:solidFill>
                <a:latin typeface="Cambria" pitchFamily="34" charset="0"/>
                <a:ea typeface="Cambria" pitchFamily="34" charset="-122"/>
                <a:cs typeface="Cambria" pitchFamily="34" charset="-120"/>
              </a:rPr>
              <a:t>SCREENING</a:t>
            </a:r>
            <a:endParaRPr lang="en-US" sz="1700" dirty="0"/>
          </a:p>
        </p:txBody>
      </p:sp>
      <p:sp>
        <p:nvSpPr>
          <p:cNvPr id="8" name="Text 6"/>
          <p:cNvSpPr/>
          <p:nvPr/>
        </p:nvSpPr>
        <p:spPr>
          <a:xfrm>
            <a:off x="914400" y="2624328"/>
            <a:ext cx="2377440" cy="320040"/>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consent → first dose</a:t>
            </a:r>
            <a:endParaRPr lang="en-US" sz="1150" dirty="0"/>
          </a:p>
        </p:txBody>
      </p:sp>
      <p:sp>
        <p:nvSpPr>
          <p:cNvPr id="9" name="Text 7"/>
          <p:cNvSpPr/>
          <p:nvPr/>
        </p:nvSpPr>
        <p:spPr>
          <a:xfrm>
            <a:off x="3474720" y="2331720"/>
            <a:ext cx="2743200" cy="457200"/>
          </a:xfrm>
          <a:prstGeom prst="rect">
            <a:avLst/>
          </a:prstGeom>
          <a:noFill/>
          <a:ln/>
        </p:spPr>
        <p:txBody>
          <a:bodyPr wrap="square" lIns="0" tIns="0" rIns="0" bIns="0" rtlCol="0" anchor="ctr"/>
          <a:lstStyle/>
          <a:p>
            <a:pPr indent="0" marL="0">
              <a:buNone/>
            </a:pPr>
            <a:r>
              <a:rPr lang="en-US" sz="1250" dirty="0">
                <a:solidFill>
                  <a:srgbClr val="0F2E3D"/>
                </a:solidFill>
                <a:latin typeface="Courier New" pitchFamily="34" charset="0"/>
                <a:ea typeface="Courier New" pitchFamily="34" charset="-122"/>
                <a:cs typeface="Courier New" pitchFamily="34" charset="-120"/>
              </a:rPr>
              <a:t>--DY &lt; 1</a:t>
            </a:r>
            <a:endParaRPr lang="en-US" sz="1250" dirty="0"/>
          </a:p>
        </p:txBody>
      </p:sp>
      <p:sp>
        <p:nvSpPr>
          <p:cNvPr id="10" name="Text 8"/>
          <p:cNvSpPr/>
          <p:nvPr/>
        </p:nvSpPr>
        <p:spPr>
          <a:xfrm>
            <a:off x="6492240" y="2331720"/>
            <a:ext cx="4846320" cy="5486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AE sore throat (−5) · VS screening (−11…−9)</a:t>
            </a:r>
            <a:endParaRPr lang="en-US" sz="1200" dirty="0"/>
          </a:p>
        </p:txBody>
      </p:sp>
      <p:sp>
        <p:nvSpPr>
          <p:cNvPr id="11" name="Shape 9"/>
          <p:cNvSpPr/>
          <p:nvPr/>
        </p:nvSpPr>
        <p:spPr>
          <a:xfrm>
            <a:off x="640080" y="3355848"/>
            <a:ext cx="10972800" cy="1188720"/>
          </a:xfrm>
          <a:prstGeom prst="roundRect">
            <a:avLst>
              <a:gd name="adj" fmla="val 6923"/>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Shape 10"/>
          <p:cNvSpPr/>
          <p:nvPr/>
        </p:nvSpPr>
        <p:spPr>
          <a:xfrm>
            <a:off x="640080" y="3355848"/>
            <a:ext cx="82296" cy="1188720"/>
          </a:xfrm>
          <a:prstGeom prst="rect">
            <a:avLst/>
          </a:prstGeom>
          <a:solidFill>
            <a:srgbClr val="0E7C86"/>
          </a:solidFill>
          <a:ln/>
        </p:spPr>
      </p:sp>
      <p:sp>
        <p:nvSpPr>
          <p:cNvPr id="13" name="Text 11"/>
          <p:cNvSpPr/>
          <p:nvPr/>
        </p:nvSpPr>
        <p:spPr>
          <a:xfrm>
            <a:off x="914400" y="3520440"/>
            <a:ext cx="2286000" cy="365760"/>
          </a:xfrm>
          <a:prstGeom prst="rect">
            <a:avLst/>
          </a:prstGeom>
          <a:noFill/>
          <a:ln/>
        </p:spPr>
        <p:txBody>
          <a:bodyPr wrap="square" lIns="0" tIns="0" rIns="0" bIns="0" rtlCol="0" anchor="ctr"/>
          <a:lstStyle/>
          <a:p>
            <a:pPr indent="0" marL="0">
              <a:buNone/>
            </a:pPr>
            <a:r>
              <a:rPr lang="en-US" sz="1700" b="1" dirty="0">
                <a:solidFill>
                  <a:srgbClr val="0E7C86"/>
                </a:solidFill>
                <a:latin typeface="Cambria" pitchFamily="34" charset="0"/>
                <a:ea typeface="Cambria" pitchFamily="34" charset="-122"/>
                <a:cs typeface="Cambria" pitchFamily="34" charset="-120"/>
              </a:rPr>
              <a:t>TREATMENT</a:t>
            </a:r>
            <a:endParaRPr lang="en-US" sz="1700" dirty="0"/>
          </a:p>
        </p:txBody>
      </p:sp>
      <p:sp>
        <p:nvSpPr>
          <p:cNvPr id="14" name="Text 12"/>
          <p:cNvSpPr/>
          <p:nvPr/>
        </p:nvSpPr>
        <p:spPr>
          <a:xfrm>
            <a:off x="914400" y="3922776"/>
            <a:ext cx="2377440" cy="320040"/>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first dose → last dose</a:t>
            </a:r>
            <a:endParaRPr lang="en-US" sz="1150" dirty="0"/>
          </a:p>
        </p:txBody>
      </p:sp>
      <p:sp>
        <p:nvSpPr>
          <p:cNvPr id="15" name="Text 13"/>
          <p:cNvSpPr/>
          <p:nvPr/>
        </p:nvSpPr>
        <p:spPr>
          <a:xfrm>
            <a:off x="3474720" y="3630168"/>
            <a:ext cx="2743200" cy="457200"/>
          </a:xfrm>
          <a:prstGeom prst="rect">
            <a:avLst/>
          </a:prstGeom>
          <a:noFill/>
          <a:ln/>
        </p:spPr>
        <p:txBody>
          <a:bodyPr wrap="square" lIns="0" tIns="0" rIns="0" bIns="0" rtlCol="0" anchor="ctr"/>
          <a:lstStyle/>
          <a:p>
            <a:pPr indent="0" marL="0">
              <a:buNone/>
            </a:pPr>
            <a:r>
              <a:rPr lang="en-US" sz="1250" dirty="0">
                <a:solidFill>
                  <a:srgbClr val="0F2E3D"/>
                </a:solidFill>
                <a:latin typeface="Courier New" pitchFamily="34" charset="0"/>
                <a:ea typeface="Courier New" pitchFamily="34" charset="-122"/>
                <a:cs typeface="Courier New" pitchFamily="34" charset="-120"/>
              </a:rPr>
              <a:t>1 ≤ --DY ≤ end of dosing</a:t>
            </a:r>
            <a:endParaRPr lang="en-US" sz="1250" dirty="0"/>
          </a:p>
        </p:txBody>
      </p:sp>
      <p:sp>
        <p:nvSpPr>
          <p:cNvPr id="16" name="Text 14"/>
          <p:cNvSpPr/>
          <p:nvPr/>
        </p:nvSpPr>
        <p:spPr>
          <a:xfrm>
            <a:off x="6492240" y="3630168"/>
            <a:ext cx="4846320" cy="5486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most of the study's records</a:t>
            </a:r>
            <a:endParaRPr lang="en-US" sz="1200" dirty="0"/>
          </a:p>
        </p:txBody>
      </p:sp>
      <p:sp>
        <p:nvSpPr>
          <p:cNvPr id="17" name="Shape 15"/>
          <p:cNvSpPr/>
          <p:nvPr/>
        </p:nvSpPr>
        <p:spPr>
          <a:xfrm>
            <a:off x="640080" y="4654296"/>
            <a:ext cx="10972800" cy="1188720"/>
          </a:xfrm>
          <a:prstGeom prst="roundRect">
            <a:avLst>
              <a:gd name="adj" fmla="val 6923"/>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Shape 16"/>
          <p:cNvSpPr/>
          <p:nvPr/>
        </p:nvSpPr>
        <p:spPr>
          <a:xfrm>
            <a:off x="640080" y="4654296"/>
            <a:ext cx="82296" cy="1188720"/>
          </a:xfrm>
          <a:prstGeom prst="rect">
            <a:avLst/>
          </a:prstGeom>
          <a:solidFill>
            <a:srgbClr val="E8833A"/>
          </a:solidFill>
          <a:ln/>
        </p:spPr>
      </p:sp>
      <p:sp>
        <p:nvSpPr>
          <p:cNvPr id="19" name="Text 17"/>
          <p:cNvSpPr/>
          <p:nvPr/>
        </p:nvSpPr>
        <p:spPr>
          <a:xfrm>
            <a:off x="914400" y="4818888"/>
            <a:ext cx="2286000" cy="365760"/>
          </a:xfrm>
          <a:prstGeom prst="rect">
            <a:avLst/>
          </a:prstGeom>
          <a:noFill/>
          <a:ln/>
        </p:spPr>
        <p:txBody>
          <a:bodyPr wrap="square" lIns="0" tIns="0" rIns="0" bIns="0" rtlCol="0" anchor="ctr"/>
          <a:lstStyle/>
          <a:p>
            <a:pPr indent="0" marL="0">
              <a:buNone/>
            </a:pPr>
            <a:r>
              <a:rPr lang="en-US" sz="1700" b="1" dirty="0">
                <a:solidFill>
                  <a:srgbClr val="E8833A"/>
                </a:solidFill>
                <a:latin typeface="Cambria" pitchFamily="34" charset="0"/>
                <a:ea typeface="Cambria" pitchFamily="34" charset="-122"/>
                <a:cs typeface="Cambria" pitchFamily="34" charset="-120"/>
              </a:rPr>
              <a:t>FOLLOW-UP</a:t>
            </a:r>
            <a:endParaRPr lang="en-US" sz="1700" dirty="0"/>
          </a:p>
        </p:txBody>
      </p:sp>
      <p:sp>
        <p:nvSpPr>
          <p:cNvPr id="20" name="Text 18"/>
          <p:cNvSpPr/>
          <p:nvPr/>
        </p:nvSpPr>
        <p:spPr>
          <a:xfrm>
            <a:off x="914400" y="5221224"/>
            <a:ext cx="2377440" cy="320040"/>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after last dose</a:t>
            </a:r>
            <a:endParaRPr lang="en-US" sz="1150" dirty="0"/>
          </a:p>
        </p:txBody>
      </p:sp>
      <p:sp>
        <p:nvSpPr>
          <p:cNvPr id="21" name="Text 19"/>
          <p:cNvSpPr/>
          <p:nvPr/>
        </p:nvSpPr>
        <p:spPr>
          <a:xfrm>
            <a:off x="3474720" y="4928616"/>
            <a:ext cx="2743200" cy="457200"/>
          </a:xfrm>
          <a:prstGeom prst="rect">
            <a:avLst/>
          </a:prstGeom>
          <a:noFill/>
          <a:ln/>
        </p:spPr>
        <p:txBody>
          <a:bodyPr wrap="square" lIns="0" tIns="0" rIns="0" bIns="0" rtlCol="0" anchor="ctr"/>
          <a:lstStyle/>
          <a:p>
            <a:pPr indent="0" marL="0">
              <a:buNone/>
            </a:pPr>
            <a:r>
              <a:rPr lang="en-US" sz="1250" dirty="0">
                <a:solidFill>
                  <a:srgbClr val="0F2E3D"/>
                </a:solidFill>
                <a:latin typeface="Courier New" pitchFamily="34" charset="0"/>
                <a:ea typeface="Courier New" pitchFamily="34" charset="-122"/>
                <a:cs typeface="Courier New" pitchFamily="34" charset="-120"/>
              </a:rPr>
              <a:t>--DY &gt; end of dosing</a:t>
            </a:r>
            <a:endParaRPr lang="en-US" sz="1250" dirty="0"/>
          </a:p>
        </p:txBody>
      </p:sp>
      <p:sp>
        <p:nvSpPr>
          <p:cNvPr id="22" name="Text 20"/>
          <p:cNvSpPr/>
          <p:nvPr/>
        </p:nvSpPr>
        <p:spPr>
          <a:xfrm>
            <a:off x="6492240" y="4928616"/>
            <a:ext cx="4846320" cy="5486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the Week 4 visit for some subjects</a:t>
            </a:r>
            <a:endParaRPr lang="en-US" sz="1200" dirty="0"/>
          </a:p>
        </p:txBody>
      </p:sp>
      <p:sp>
        <p:nvSpPr>
          <p:cNvPr id="23" name="Shape 21"/>
          <p:cNvSpPr/>
          <p:nvPr/>
        </p:nvSpPr>
        <p:spPr>
          <a:xfrm>
            <a:off x="640080" y="5989320"/>
            <a:ext cx="10972800" cy="777240"/>
          </a:xfrm>
          <a:prstGeom prst="roundRect">
            <a:avLst>
              <a:gd name="adj" fmla="val 10588"/>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4" name="Text 22"/>
          <p:cNvSpPr/>
          <p:nvPr/>
        </p:nvSpPr>
        <p:spPr>
          <a:xfrm>
            <a:off x="914400" y="6080760"/>
            <a:ext cx="10424160" cy="594360"/>
          </a:xfrm>
          <a:prstGeom prst="rect">
            <a:avLst/>
          </a:prstGeom>
          <a:noFill/>
          <a:ln/>
        </p:spPr>
        <p:txBody>
          <a:bodyPr wrap="square" lIns="0" tIns="0" rIns="0" bIns="0" rtlCol="0" anchor="ctr"/>
          <a:lstStyle/>
          <a:p>
            <a:pPr indent="0" marL="0">
              <a:buNone/>
            </a:pPr>
            <a:r>
              <a:rPr lang="en-US" sz="1250" b="1" dirty="0">
                <a:solidFill>
                  <a:srgbClr val="B5651A"/>
                </a:solidFill>
                <a:latin typeface="Calibri" pitchFamily="34" charset="0"/>
                <a:ea typeface="Calibri" pitchFamily="34" charset="-122"/>
                <a:cs typeface="Calibri" pitchFamily="34" charset="-120"/>
              </a:rPr>
              <a:t>ABC-01 does not populate EPOCH.  </a:t>
            </a:r>
            <a:pPr indent="0" marL="0">
              <a:buNone/>
            </a:pPr>
            <a:r>
              <a:rPr lang="en-US" sz="1250" dirty="0">
                <a:solidFill>
                  <a:srgbClr val="0F2E3D"/>
                </a:solidFill>
                <a:latin typeface="Calibri" pitchFamily="34" charset="0"/>
                <a:ea typeface="Calibri" pitchFamily="34" charset="-122"/>
                <a:cs typeface="Calibri" pitchFamily="34" charset="-120"/>
              </a:rPr>
              <a:t>It is Permissible, and this study is small enough not to need it. Know that it exists and that it is derived from the same reference dates — you will meet it the moment you work on a study with multiple treatment periods.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BEFORE NOTEBOOK 11</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Five ways to get timing wrong</a:t>
            </a:r>
            <a:endParaRPr lang="en-US" sz="3000" dirty="0"/>
          </a:p>
        </p:txBody>
      </p:sp>
      <p:sp>
        <p:nvSpPr>
          <p:cNvPr id="4" name="Shape 2"/>
          <p:cNvSpPr/>
          <p:nvPr/>
        </p:nvSpPr>
        <p:spPr>
          <a:xfrm>
            <a:off x="640080" y="1828800"/>
            <a:ext cx="10972800" cy="859536"/>
          </a:xfrm>
          <a:prstGeom prst="roundRect">
            <a:avLst>
              <a:gd name="adj" fmla="val 8511"/>
            </a:avLst>
          </a:prstGeom>
          <a:solidFill>
            <a:srgbClr val="1A4152"/>
          </a:solidFill>
          <a:ln w="12700">
            <a:solidFill>
              <a:srgbClr val="24576B"/>
            </a:solidFill>
            <a:prstDash val="solid"/>
          </a:ln>
        </p:spPr>
      </p:sp>
      <p:sp>
        <p:nvSpPr>
          <p:cNvPr id="5" name="Shape 3"/>
          <p:cNvSpPr/>
          <p:nvPr/>
        </p:nvSpPr>
        <p:spPr>
          <a:xfrm>
            <a:off x="868680" y="2011680"/>
            <a:ext cx="493776" cy="493776"/>
          </a:xfrm>
          <a:prstGeom prst="ellipse">
            <a:avLst/>
          </a:prstGeom>
          <a:solidFill>
            <a:srgbClr val="C0455B"/>
          </a:solidFill>
          <a:ln/>
        </p:spPr>
      </p:sp>
      <p:sp>
        <p:nvSpPr>
          <p:cNvPr id="6" name="Text 4"/>
          <p:cNvSpPr/>
          <p:nvPr/>
        </p:nvSpPr>
        <p:spPr>
          <a:xfrm>
            <a:off x="868680" y="2011680"/>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36192" y="1938528"/>
            <a:ext cx="384048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 study day of 0</a:t>
            </a:r>
            <a:endParaRPr lang="en-US" sz="1350" dirty="0"/>
          </a:p>
        </p:txBody>
      </p:sp>
      <p:sp>
        <p:nvSpPr>
          <p:cNvPr id="8" name="Text 6"/>
          <p:cNvSpPr/>
          <p:nvPr/>
        </p:nvSpPr>
        <p:spPr>
          <a:xfrm>
            <a:off x="1536192" y="2286000"/>
            <a:ext cx="640080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One branch is missing its + 1. There is no Day 0.</a:t>
            </a:r>
            <a:endParaRPr lang="en-US" sz="1150" dirty="0"/>
          </a:p>
        </p:txBody>
      </p:sp>
      <p:sp>
        <p:nvSpPr>
          <p:cNvPr id="9" name="Text 7"/>
          <p:cNvSpPr/>
          <p:nvPr/>
        </p:nvSpPr>
        <p:spPr>
          <a:xfrm>
            <a:off x="8229600" y="2084832"/>
            <a:ext cx="320040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check: no --DY equals 0</a:t>
            </a:r>
            <a:endParaRPr lang="en-US" sz="1150" dirty="0"/>
          </a:p>
        </p:txBody>
      </p:sp>
      <p:sp>
        <p:nvSpPr>
          <p:cNvPr id="10" name="Shape 8"/>
          <p:cNvSpPr/>
          <p:nvPr/>
        </p:nvSpPr>
        <p:spPr>
          <a:xfrm>
            <a:off x="640080" y="2761488"/>
            <a:ext cx="10972800" cy="859536"/>
          </a:xfrm>
          <a:prstGeom prst="roundRect">
            <a:avLst>
              <a:gd name="adj" fmla="val 8511"/>
            </a:avLst>
          </a:prstGeom>
          <a:solidFill>
            <a:srgbClr val="163B4B"/>
          </a:solidFill>
          <a:ln w="12700">
            <a:solidFill>
              <a:srgbClr val="24576B"/>
            </a:solidFill>
            <a:prstDash val="solid"/>
          </a:ln>
        </p:spPr>
      </p:sp>
      <p:sp>
        <p:nvSpPr>
          <p:cNvPr id="11" name="Shape 9"/>
          <p:cNvSpPr/>
          <p:nvPr/>
        </p:nvSpPr>
        <p:spPr>
          <a:xfrm>
            <a:off x="868680" y="2944368"/>
            <a:ext cx="493776" cy="493776"/>
          </a:xfrm>
          <a:prstGeom prst="ellipse">
            <a:avLst/>
          </a:prstGeom>
          <a:solidFill>
            <a:srgbClr val="E8833A"/>
          </a:solidFill>
          <a:ln/>
        </p:spPr>
      </p:sp>
      <p:sp>
        <p:nvSpPr>
          <p:cNvPr id="12" name="Text 10"/>
          <p:cNvSpPr/>
          <p:nvPr/>
        </p:nvSpPr>
        <p:spPr>
          <a:xfrm>
            <a:off x="868680" y="2944368"/>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36192" y="2871216"/>
            <a:ext cx="384048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Treating negatives as errors</a:t>
            </a:r>
            <a:endParaRPr lang="en-US" sz="1350" dirty="0"/>
          </a:p>
        </p:txBody>
      </p:sp>
      <p:sp>
        <p:nvSpPr>
          <p:cNvPr id="14" name="Text 12"/>
          <p:cNvSpPr/>
          <p:nvPr/>
        </p:nvSpPr>
        <p:spPr>
          <a:xfrm>
            <a:off x="1536192" y="3218688"/>
            <a:ext cx="640080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61 of the 226 --DY values here are legitimately negative.</a:t>
            </a:r>
            <a:endParaRPr lang="en-US" sz="1150" dirty="0"/>
          </a:p>
        </p:txBody>
      </p:sp>
      <p:sp>
        <p:nvSpPr>
          <p:cNvPr id="15" name="Text 13"/>
          <p:cNvSpPr/>
          <p:nvPr/>
        </p:nvSpPr>
        <p:spPr>
          <a:xfrm>
            <a:off x="8229600" y="3017520"/>
            <a:ext cx="320040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ask what the CRF collects</a:t>
            </a:r>
            <a:endParaRPr lang="en-US" sz="1150" dirty="0"/>
          </a:p>
        </p:txBody>
      </p:sp>
      <p:sp>
        <p:nvSpPr>
          <p:cNvPr id="16" name="Shape 14"/>
          <p:cNvSpPr/>
          <p:nvPr/>
        </p:nvSpPr>
        <p:spPr>
          <a:xfrm>
            <a:off x="640080" y="3694176"/>
            <a:ext cx="10972800" cy="859536"/>
          </a:xfrm>
          <a:prstGeom prst="roundRect">
            <a:avLst>
              <a:gd name="adj" fmla="val 8511"/>
            </a:avLst>
          </a:prstGeom>
          <a:solidFill>
            <a:srgbClr val="1A4152"/>
          </a:solidFill>
          <a:ln w="12700">
            <a:solidFill>
              <a:srgbClr val="24576B"/>
            </a:solidFill>
            <a:prstDash val="solid"/>
          </a:ln>
        </p:spPr>
      </p:sp>
      <p:sp>
        <p:nvSpPr>
          <p:cNvPr id="17" name="Shape 15"/>
          <p:cNvSpPr/>
          <p:nvPr/>
        </p:nvSpPr>
        <p:spPr>
          <a:xfrm>
            <a:off x="868680" y="3877056"/>
            <a:ext cx="493776" cy="493776"/>
          </a:xfrm>
          <a:prstGeom prst="ellipse">
            <a:avLst/>
          </a:prstGeom>
          <a:solidFill>
            <a:srgbClr val="1FA8A0"/>
          </a:solidFill>
          <a:ln/>
        </p:spPr>
      </p:sp>
      <p:sp>
        <p:nvSpPr>
          <p:cNvPr id="18" name="Text 16"/>
          <p:cNvSpPr/>
          <p:nvPr/>
        </p:nvSpPr>
        <p:spPr>
          <a:xfrm>
            <a:off x="868680" y="3877056"/>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1536192" y="3803904"/>
            <a:ext cx="384048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--DY from a study-wide date</a:t>
            </a:r>
            <a:endParaRPr lang="en-US" sz="1350" dirty="0"/>
          </a:p>
        </p:txBody>
      </p:sp>
      <p:sp>
        <p:nvSpPr>
          <p:cNvPr id="20" name="Text 18"/>
          <p:cNvSpPr/>
          <p:nvPr/>
        </p:nvSpPr>
        <p:spPr>
          <a:xfrm>
            <a:off x="1536192" y="4151376"/>
            <a:ext cx="640080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Each subject has their own RFSTDTC. Screening ranges −11 to −9.</a:t>
            </a:r>
            <a:endParaRPr lang="en-US" sz="1150" dirty="0"/>
          </a:p>
        </p:txBody>
      </p:sp>
      <p:sp>
        <p:nvSpPr>
          <p:cNvPr id="21" name="Text 19"/>
          <p:cNvSpPr/>
          <p:nvPr/>
        </p:nvSpPr>
        <p:spPr>
          <a:xfrm>
            <a:off x="8229600" y="3950208"/>
            <a:ext cx="320040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always per subject</a:t>
            </a:r>
            <a:endParaRPr lang="en-US" sz="1150" dirty="0"/>
          </a:p>
        </p:txBody>
      </p:sp>
      <p:sp>
        <p:nvSpPr>
          <p:cNvPr id="22" name="Shape 20"/>
          <p:cNvSpPr/>
          <p:nvPr/>
        </p:nvSpPr>
        <p:spPr>
          <a:xfrm>
            <a:off x="640080" y="4626864"/>
            <a:ext cx="10972800" cy="859536"/>
          </a:xfrm>
          <a:prstGeom prst="roundRect">
            <a:avLst>
              <a:gd name="adj" fmla="val 8511"/>
            </a:avLst>
          </a:prstGeom>
          <a:solidFill>
            <a:srgbClr val="163B4B"/>
          </a:solidFill>
          <a:ln w="12700">
            <a:solidFill>
              <a:srgbClr val="24576B"/>
            </a:solidFill>
            <a:prstDash val="solid"/>
          </a:ln>
        </p:spPr>
      </p:sp>
      <p:sp>
        <p:nvSpPr>
          <p:cNvPr id="23" name="Shape 21"/>
          <p:cNvSpPr/>
          <p:nvPr/>
        </p:nvSpPr>
        <p:spPr>
          <a:xfrm>
            <a:off x="868680" y="4809744"/>
            <a:ext cx="493776" cy="493776"/>
          </a:xfrm>
          <a:prstGeom prst="ellipse">
            <a:avLst/>
          </a:prstGeom>
          <a:solidFill>
            <a:srgbClr val="0E7C86"/>
          </a:solidFill>
          <a:ln/>
        </p:spPr>
      </p:sp>
      <p:sp>
        <p:nvSpPr>
          <p:cNvPr id="24" name="Text 22"/>
          <p:cNvSpPr/>
          <p:nvPr/>
        </p:nvSpPr>
        <p:spPr>
          <a:xfrm>
            <a:off x="868680" y="4809744"/>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1536192" y="4736592"/>
            <a:ext cx="384048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--SEQ numbered across the dataset</a:t>
            </a:r>
            <a:endParaRPr lang="en-US" sz="1350" dirty="0"/>
          </a:p>
        </p:txBody>
      </p:sp>
      <p:sp>
        <p:nvSpPr>
          <p:cNvPr id="26" name="Text 24"/>
          <p:cNvSpPr/>
          <p:nvPr/>
        </p:nvSpPr>
        <p:spPr>
          <a:xfrm>
            <a:off x="1536192" y="5084064"/>
            <a:ext cx="640080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It restarts at 1 for every subject.</a:t>
            </a:r>
            <a:endParaRPr lang="en-US" sz="1150" dirty="0"/>
          </a:p>
        </p:txBody>
      </p:sp>
      <p:sp>
        <p:nvSpPr>
          <p:cNvPr id="27" name="Text 25"/>
          <p:cNvSpPr/>
          <p:nvPr/>
        </p:nvSpPr>
        <p:spPr>
          <a:xfrm>
            <a:off x="8229600" y="4882896"/>
            <a:ext cx="320040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by usubjid; if first.usubjid</a:t>
            </a:r>
            <a:endParaRPr lang="en-US" sz="1150" dirty="0"/>
          </a:p>
        </p:txBody>
      </p:sp>
      <p:sp>
        <p:nvSpPr>
          <p:cNvPr id="28" name="Shape 26"/>
          <p:cNvSpPr/>
          <p:nvPr/>
        </p:nvSpPr>
        <p:spPr>
          <a:xfrm>
            <a:off x="640080" y="5559552"/>
            <a:ext cx="10972800" cy="859536"/>
          </a:xfrm>
          <a:prstGeom prst="roundRect">
            <a:avLst>
              <a:gd name="adj" fmla="val 8511"/>
            </a:avLst>
          </a:prstGeom>
          <a:solidFill>
            <a:srgbClr val="1A4152"/>
          </a:solidFill>
          <a:ln w="12700">
            <a:solidFill>
              <a:srgbClr val="24576B"/>
            </a:solidFill>
            <a:prstDash val="solid"/>
          </a:ln>
        </p:spPr>
      </p:sp>
      <p:sp>
        <p:nvSpPr>
          <p:cNvPr id="29" name="Shape 27"/>
          <p:cNvSpPr/>
          <p:nvPr/>
        </p:nvSpPr>
        <p:spPr>
          <a:xfrm>
            <a:off x="868680" y="5742432"/>
            <a:ext cx="493776" cy="493776"/>
          </a:xfrm>
          <a:prstGeom prst="ellipse">
            <a:avLst/>
          </a:prstGeom>
          <a:solidFill>
            <a:srgbClr val="6FC8B4"/>
          </a:solidFill>
          <a:ln/>
        </p:spPr>
      </p:sp>
      <p:sp>
        <p:nvSpPr>
          <p:cNvPr id="30" name="Text 28"/>
          <p:cNvSpPr/>
          <p:nvPr/>
        </p:nvSpPr>
        <p:spPr>
          <a:xfrm>
            <a:off x="868680" y="5742432"/>
            <a:ext cx="493776" cy="493776"/>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1536192" y="5669280"/>
            <a:ext cx="384048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Sorting without a tiebreaker</a:t>
            </a:r>
            <a:endParaRPr lang="en-US" sz="1350" dirty="0"/>
          </a:p>
        </p:txBody>
      </p:sp>
      <p:sp>
        <p:nvSpPr>
          <p:cNvPr id="32" name="Text 30"/>
          <p:cNvSpPr/>
          <p:nvPr/>
        </p:nvSpPr>
        <p:spPr>
          <a:xfrm>
            <a:off x="1536192" y="6016752"/>
            <a:ext cx="640080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Same-day records can swap between runs, breaking every SUPP link.</a:t>
            </a:r>
            <a:endParaRPr lang="en-US" sz="1150" dirty="0"/>
          </a:p>
        </p:txBody>
      </p:sp>
      <p:sp>
        <p:nvSpPr>
          <p:cNvPr id="33" name="Text 31"/>
          <p:cNvSpPr/>
          <p:nvPr/>
        </p:nvSpPr>
        <p:spPr>
          <a:xfrm>
            <a:off x="8229600" y="5815584"/>
            <a:ext cx="320040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sort by date THEN term</a:t>
            </a:r>
            <a:endParaRPr lang="en-US" sz="1150" dirty="0"/>
          </a:p>
        </p:txBody>
      </p:sp>
      <p:sp>
        <p:nvSpPr>
          <p:cNvPr id="34" name="Text 32"/>
          <p:cNvSpPr/>
          <p:nvPr/>
        </p:nvSpPr>
        <p:spPr>
          <a:xfrm>
            <a:off x="640080" y="6263640"/>
            <a:ext cx="10972800" cy="365760"/>
          </a:xfrm>
          <a:prstGeom prst="rect">
            <a:avLst/>
          </a:prstGeom>
          <a:noFill/>
          <a:ln/>
        </p:spPr>
        <p:txBody>
          <a:bodyPr wrap="square" lIns="0" tIns="0" rIns="0" bIns="0" rtlCol="0" anchor="ctr"/>
          <a:lstStyle/>
          <a:p>
            <a:pPr indent="0" marL="0">
              <a:buNone/>
            </a:pPr>
            <a:r>
              <a:rPr lang="en-US" sz="1300" b="1" dirty="0">
                <a:solidFill>
                  <a:srgbClr val="6FC8B4"/>
                </a:solidFill>
                <a:latin typeface="Calibri" pitchFamily="34" charset="0"/>
                <a:ea typeface="Calibri" pitchFamily="34" charset="-122"/>
                <a:cs typeface="Calibri" pitchFamily="34" charset="-120"/>
              </a:rPr>
              <a:t>Next:  Notebook 11 · Deriving --DY and --SEQ   →   Day 9 · Validation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Derivations: Study Day, --SEQ and Timing</dc:title>
  <dc:subject>PptxGenJS Presentation</dc:subject>
  <dc:creator>Clinical Programming Bootcamp</dc:creator>
  <cp:lastModifiedBy>Clinical Programming Bootcamp</cp:lastModifiedBy>
  <cp:revision>1</cp:revision>
  <dcterms:created xsi:type="dcterms:W3CDTF">2026-07-19T18:05:11Z</dcterms:created>
  <dcterms:modified xsi:type="dcterms:W3CDTF">2026-07-19T18:05:11Z</dcterms:modified>
</cp:coreProperties>
</file>