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17. Open by saying the structure is yesterday's — that is deliberate and reassuring. The new material is what a normal range makes possible, plus the denominator lesson, which is the single most valuable thing in the ADaM track for real-world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ADaM error in practice and it is invisible — 33.3% is a perfectly plausible number. The Placebo column is the one to dwell on: a denominator of 1. Ask the room what happens if that single subject has an abnormal result. Answer: 100% of the placebo arm, from an n of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BNRIND scope point is the same two-different-scopes pattern as BASE in Notebook 16, and trainees who struggled there will struggle here. Say it explicitly: ABLFL marks one row, BASE and BNRIND belong to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5 extends this to LBBLFL, AESEV and DM.AGE. LBBLFL is the interesting one — it looks like a computation but encodes the decision 'which visit is baseline', and it is the WRONG decision for ADaM, as Notebook 14 showed. Three of those five are decisions, which is the point: clinical data is mostly judgement encoded as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shift table needs both ends on one row — which is the analysis-ready test from Module 14 applied concretely. If producing this table required joining baseline records to post-baseline ones, the dataset would not be analysis-ready, and every table program would re-implement that join slightly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direction of the bias: the diluted rate makes the drug look safer. Same direction as zeroing CHG at baseline in Module 16, and not a coincidence — both errors work by quietly enlarging a denominator. That pattern is worth naming as a class of error rather than two separate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planting ADTTE: censoring is the formal answer to the missing-data problem this module raised twice — subjects with no labs, and events that had not ended. End of Module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0E7C86"/>
          </a:solidFill>
          <a:ln/>
        </p:spPr>
      </p:sp>
      <p:sp>
        <p:nvSpPr>
          <p:cNvPr id="4" name="Shape 2"/>
          <p:cNvSpPr/>
          <p:nvPr/>
        </p:nvSpPr>
        <p:spPr>
          <a:xfrm>
            <a:off x="10469880" y="137160"/>
            <a:ext cx="1554480" cy="1554480"/>
          </a:xfrm>
          <a:prstGeom prst="ellipse">
            <a:avLst/>
          </a:prstGeom>
          <a:solidFill>
            <a:srgbClr val="E8833A"/>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17</a:t>
            </a:r>
            <a:endParaRPr lang="en-US" sz="1400" dirty="0"/>
          </a:p>
        </p:txBody>
      </p:sp>
      <p:sp>
        <p:nvSpPr>
          <p:cNvPr id="6" name="Text 4"/>
          <p:cNvSpPr/>
          <p:nvPr/>
        </p:nvSpPr>
        <p:spPr>
          <a:xfrm>
            <a:off x="603504" y="2286000"/>
            <a:ext cx="8778240" cy="1554480"/>
          </a:xfrm>
          <a:prstGeom prst="rect">
            <a:avLst/>
          </a:prstGeom>
          <a:noFill/>
          <a:ln/>
        </p:spPr>
        <p:txBody>
          <a:bodyPr wrap="square" lIns="0" tIns="0" rIns="0" bIns="0" rtlCol="0" anchor="ctr"/>
          <a:lstStyle/>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Analysis of</a:t>
            </a:r>
            <a:endParaRPr lang="en-US" sz="4400" dirty="0"/>
          </a:p>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Lab Data</a:t>
            </a:r>
            <a:endParaRPr lang="en-US" sz="4400" dirty="0"/>
          </a:p>
        </p:txBody>
      </p:sp>
      <p:sp>
        <p:nvSpPr>
          <p:cNvPr id="7" name="Text 5"/>
          <p:cNvSpPr/>
          <p:nvPr/>
        </p:nvSpPr>
        <p:spPr>
          <a:xfrm>
            <a:off x="640080" y="3794760"/>
            <a:ext cx="8778240" cy="548640"/>
          </a:xfrm>
          <a:prstGeom prst="rect">
            <a:avLst/>
          </a:prstGeom>
          <a:noFill/>
          <a:ln/>
        </p:spPr>
        <p:txBody>
          <a:bodyPr wrap="square" lIns="0" tIns="0" rIns="0" bIns="0" rtlCol="0" anchor="ctr"/>
          <a:lstStyle/>
          <a:p>
            <a:pPr indent="0" marL="0">
              <a:buNone/>
            </a:pPr>
            <a:r>
              <a:rPr lang="en-US" sz="2600" dirty="0">
                <a:solidFill>
                  <a:srgbClr val="6FC8B4"/>
                </a:solidFill>
                <a:latin typeface="Cambria" pitchFamily="34" charset="0"/>
                <a:ea typeface="Cambria" pitchFamily="34" charset="-122"/>
                <a:cs typeface="Cambria" pitchFamily="34" charset="-120"/>
              </a:rPr>
              <a:t>Ranges, shifts and criterion flags</a:t>
            </a:r>
            <a:endParaRPr lang="en-US" sz="2600" dirty="0"/>
          </a:p>
        </p:txBody>
      </p:sp>
      <p:sp>
        <p:nvSpPr>
          <p:cNvPr id="8" name="Text 6"/>
          <p:cNvSpPr/>
          <p:nvPr/>
        </p:nvSpPr>
        <p:spPr>
          <a:xfrm>
            <a:off x="640080" y="4572000"/>
            <a:ext cx="8412480" cy="73152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The same BDS skeleton as ADVS — and the number that decides every percentage in it.</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Hands-on: Notebook 17 (SAS) — Build ADLB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BEFORE ANY CODE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ADSL has 8 subjects. ADLB has 4.</a:t>
            </a:r>
            <a:endParaRPr lang="en-US" sz="3000" dirty="0"/>
          </a:p>
        </p:txBody>
      </p:sp>
      <p:sp>
        <p:nvSpPr>
          <p:cNvPr id="4" name="Text 2"/>
          <p:cNvSpPr/>
          <p:nvPr/>
        </p:nvSpPr>
        <p:spPr>
          <a:xfrm>
            <a:off x="640080" y="1417320"/>
            <a:ext cx="10972800" cy="365760"/>
          </a:xfrm>
          <a:prstGeom prst="rect">
            <a:avLst/>
          </a:prstGeom>
          <a:noFill/>
          <a:ln/>
        </p:spPr>
        <p:txBody>
          <a:bodyPr wrap="square" lIns="0" tIns="0" rIns="0" bIns="0" rtlCol="0" anchor="ctr"/>
          <a:lstStyle/>
          <a:p>
            <a:pPr indent="0" marL="0">
              <a:buNone/>
            </a:pPr>
            <a:r>
              <a:rPr lang="en-US" sz="1450" dirty="0">
                <a:solidFill>
                  <a:srgbClr val="5A7682"/>
                </a:solidFill>
                <a:latin typeface="Calibri" pitchFamily="34" charset="0"/>
                <a:ea typeface="Calibri" pitchFamily="34" charset="-122"/>
                <a:cs typeface="Calibri" pitchFamily="34" charset="-120"/>
              </a:rPr>
              <a:t>Four subjects had no labs drawn. One subject has a post-baseline abnormal result. What percentage is that?</a:t>
            </a:r>
            <a:endParaRPr lang="en-US" sz="1450" dirty="0"/>
          </a:p>
        </p:txBody>
      </p:sp>
      <p:sp>
        <p:nvSpPr>
          <p:cNvPr id="5" name="Shape 3"/>
          <p:cNvSpPr/>
          <p:nvPr/>
        </p:nvSpPr>
        <p:spPr>
          <a:xfrm>
            <a:off x="640080" y="1920240"/>
            <a:ext cx="5394960" cy="2148840"/>
          </a:xfrm>
          <a:prstGeom prst="roundRect">
            <a:avLst>
              <a:gd name="adj" fmla="val 3830"/>
            </a:avLst>
          </a:prstGeom>
          <a:solidFill>
            <a:srgbClr val="E8F4F1"/>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 name="Shape 4"/>
          <p:cNvSpPr/>
          <p:nvPr/>
        </p:nvSpPr>
        <p:spPr>
          <a:xfrm>
            <a:off x="640080" y="1920240"/>
            <a:ext cx="82296" cy="2148840"/>
          </a:xfrm>
          <a:prstGeom prst="rect">
            <a:avLst/>
          </a:prstGeom>
          <a:solidFill>
            <a:srgbClr val="1FA8A0"/>
          </a:solidFill>
          <a:ln/>
        </p:spPr>
      </p:sp>
      <p:sp>
        <p:nvSpPr>
          <p:cNvPr id="7" name="Text 5"/>
          <p:cNvSpPr/>
          <p:nvPr/>
        </p:nvSpPr>
        <p:spPr>
          <a:xfrm>
            <a:off x="960120" y="2084832"/>
            <a:ext cx="4846320" cy="365760"/>
          </a:xfrm>
          <a:prstGeom prst="rect">
            <a:avLst/>
          </a:prstGeom>
          <a:noFill/>
          <a:ln/>
        </p:spPr>
        <p:txBody>
          <a:bodyPr wrap="square" lIns="0" tIns="0" rIns="0" bIns="0" rtlCol="0" anchor="ctr"/>
          <a:lstStyle/>
          <a:p>
            <a:pPr indent="0" marL="0">
              <a:buNone/>
            </a:pPr>
            <a:r>
              <a:rPr lang="en-US" sz="1700" b="1" dirty="0">
                <a:solidFill>
                  <a:srgbClr val="1FA8A0"/>
                </a:solidFill>
                <a:latin typeface="Cambria" pitchFamily="34" charset="0"/>
                <a:ea typeface="Cambria" pitchFamily="34" charset="-122"/>
                <a:cs typeface="Cambria" pitchFamily="34" charset="-120"/>
              </a:rPr>
              <a:t>Denominator from ADSL</a:t>
            </a:r>
            <a:endParaRPr lang="en-US" sz="1700" dirty="0"/>
          </a:p>
        </p:txBody>
      </p:sp>
      <p:sp>
        <p:nvSpPr>
          <p:cNvPr id="8" name="Text 6"/>
          <p:cNvSpPr/>
          <p:nvPr/>
        </p:nvSpPr>
        <p:spPr>
          <a:xfrm>
            <a:off x="960120" y="2542032"/>
            <a:ext cx="4846320" cy="731520"/>
          </a:xfrm>
          <a:prstGeom prst="rect">
            <a:avLst/>
          </a:prstGeom>
          <a:noFill/>
          <a:ln/>
        </p:spPr>
        <p:txBody>
          <a:bodyPr wrap="square" lIns="0" tIns="0" rIns="0" bIns="0" rtlCol="0" anchor="ctr"/>
          <a:lstStyle/>
          <a:p>
            <a:pPr indent="0" marL="0">
              <a:lnSpc>
                <a:spcPts val="2200"/>
              </a:lnSpc>
              <a:buNone/>
            </a:pPr>
            <a:r>
              <a:rPr lang="en-US" sz="1400" dirty="0">
                <a:solidFill>
                  <a:srgbClr val="0F2E3D"/>
                </a:solidFill>
                <a:latin typeface="Courier New" pitchFamily="34" charset="0"/>
                <a:ea typeface="Courier New" pitchFamily="34" charset="-122"/>
                <a:cs typeface="Courier New" pitchFamily="34" charset="-120"/>
              </a:rPr>
              <a:t>Drug A    1 / 4  =  25.0%</a:t>
            </a:r>
            <a:endParaRPr lang="en-US" sz="1400" dirty="0"/>
          </a:p>
          <a:p>
            <a:pPr indent="0" marL="0">
              <a:lnSpc>
                <a:spcPts val="2200"/>
              </a:lnSpc>
              <a:buNone/>
            </a:pPr>
            <a:r>
              <a:rPr lang="en-US" sz="1400" dirty="0">
                <a:solidFill>
                  <a:srgbClr val="0F2E3D"/>
                </a:solidFill>
                <a:latin typeface="Courier New" pitchFamily="34" charset="0"/>
                <a:ea typeface="Courier New" pitchFamily="34" charset="-122"/>
                <a:cs typeface="Courier New" pitchFamily="34" charset="-120"/>
              </a:rPr>
              <a:t>Placebo   0 / 4  =   0.0%</a:t>
            </a:r>
            <a:endParaRPr lang="en-US" sz="1400" dirty="0"/>
          </a:p>
        </p:txBody>
      </p:sp>
      <p:sp>
        <p:nvSpPr>
          <p:cNvPr id="9" name="Text 7"/>
          <p:cNvSpPr/>
          <p:nvPr/>
        </p:nvSpPr>
        <p:spPr>
          <a:xfrm>
            <a:off x="960120" y="3383280"/>
            <a:ext cx="4846320" cy="548640"/>
          </a:xfrm>
          <a:prstGeom prst="rect">
            <a:avLst/>
          </a:prstGeom>
          <a:noFill/>
          <a:ln/>
        </p:spPr>
        <p:txBody>
          <a:bodyPr wrap="square" lIns="0" tIns="0" rIns="0" bIns="0" rtlCol="0" anchor="ctr"/>
          <a:lstStyle/>
          <a:p>
            <a:pPr indent="0" marL="0">
              <a:lnSpc>
                <a:spcPts val="1700"/>
              </a:lnSpc>
              <a:buNone/>
            </a:pPr>
            <a:r>
              <a:rPr lang="en-US" sz="1250" i="1" dirty="0">
                <a:solidFill>
                  <a:srgbClr val="5A7682"/>
                </a:solidFill>
                <a:latin typeface="Calibri" pitchFamily="34" charset="0"/>
                <a:ea typeface="Calibri" pitchFamily="34" charset="-122"/>
                <a:cs typeface="Calibri" pitchFamily="34" charset="-120"/>
              </a:rPr>
              <a:t>Correct. Every dosed subject was at risk, whether or not a sample was taken.</a:t>
            </a:r>
            <a:endParaRPr lang="en-US" sz="1250" dirty="0"/>
          </a:p>
        </p:txBody>
      </p:sp>
      <p:sp>
        <p:nvSpPr>
          <p:cNvPr id="10" name="Shape 8"/>
          <p:cNvSpPr/>
          <p:nvPr/>
        </p:nvSpPr>
        <p:spPr>
          <a:xfrm>
            <a:off x="6309360" y="1920240"/>
            <a:ext cx="5303520" cy="2148840"/>
          </a:xfrm>
          <a:prstGeom prst="roundRect">
            <a:avLst>
              <a:gd name="adj" fmla="val 3830"/>
            </a:avLst>
          </a:prstGeom>
          <a:solidFill>
            <a:srgbClr val="FBEAE4"/>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9"/>
          <p:cNvSpPr/>
          <p:nvPr/>
        </p:nvSpPr>
        <p:spPr>
          <a:xfrm>
            <a:off x="6309360" y="1920240"/>
            <a:ext cx="82296" cy="2148840"/>
          </a:xfrm>
          <a:prstGeom prst="rect">
            <a:avLst/>
          </a:prstGeom>
          <a:solidFill>
            <a:srgbClr val="C4442E"/>
          </a:solidFill>
          <a:ln/>
        </p:spPr>
      </p:sp>
      <p:sp>
        <p:nvSpPr>
          <p:cNvPr id="12" name="Text 10"/>
          <p:cNvSpPr/>
          <p:nvPr/>
        </p:nvSpPr>
        <p:spPr>
          <a:xfrm>
            <a:off x="6629400" y="2084832"/>
            <a:ext cx="4754880" cy="365760"/>
          </a:xfrm>
          <a:prstGeom prst="rect">
            <a:avLst/>
          </a:prstGeom>
          <a:noFill/>
          <a:ln/>
        </p:spPr>
        <p:txBody>
          <a:bodyPr wrap="square" lIns="0" tIns="0" rIns="0" bIns="0" rtlCol="0" anchor="ctr"/>
          <a:lstStyle/>
          <a:p>
            <a:pPr indent="0" marL="0">
              <a:buNone/>
            </a:pPr>
            <a:r>
              <a:rPr lang="en-US" sz="1700" b="1" dirty="0">
                <a:solidFill>
                  <a:srgbClr val="C4442E"/>
                </a:solidFill>
                <a:latin typeface="Cambria" pitchFamily="34" charset="0"/>
                <a:ea typeface="Cambria" pitchFamily="34" charset="-122"/>
                <a:cs typeface="Cambria" pitchFamily="34" charset="-120"/>
              </a:rPr>
              <a:t>Denominator from ADLB</a:t>
            </a:r>
            <a:endParaRPr lang="en-US" sz="1700" dirty="0"/>
          </a:p>
        </p:txBody>
      </p:sp>
      <p:sp>
        <p:nvSpPr>
          <p:cNvPr id="13" name="Text 11"/>
          <p:cNvSpPr/>
          <p:nvPr/>
        </p:nvSpPr>
        <p:spPr>
          <a:xfrm>
            <a:off x="6629400" y="2542032"/>
            <a:ext cx="4754880" cy="731520"/>
          </a:xfrm>
          <a:prstGeom prst="rect">
            <a:avLst/>
          </a:prstGeom>
          <a:noFill/>
          <a:ln/>
        </p:spPr>
        <p:txBody>
          <a:bodyPr wrap="square" lIns="0" tIns="0" rIns="0" bIns="0" rtlCol="0" anchor="ctr"/>
          <a:lstStyle/>
          <a:p>
            <a:pPr indent="0" marL="0">
              <a:lnSpc>
                <a:spcPts val="2200"/>
              </a:lnSpc>
              <a:buNone/>
            </a:pPr>
            <a:r>
              <a:rPr lang="en-US" sz="1400" dirty="0">
                <a:solidFill>
                  <a:srgbClr val="0F2E3D"/>
                </a:solidFill>
                <a:latin typeface="Courier New" pitchFamily="34" charset="0"/>
                <a:ea typeface="Courier New" pitchFamily="34" charset="-122"/>
                <a:cs typeface="Courier New" pitchFamily="34" charset="-120"/>
              </a:rPr>
              <a:t>Drug A    1 / 3  =  33.3%</a:t>
            </a:r>
            <a:endParaRPr lang="en-US" sz="1400" dirty="0"/>
          </a:p>
          <a:p>
            <a:pPr indent="0" marL="0">
              <a:lnSpc>
                <a:spcPts val="2200"/>
              </a:lnSpc>
              <a:buNone/>
            </a:pPr>
            <a:r>
              <a:rPr lang="en-US" sz="1400" dirty="0">
                <a:solidFill>
                  <a:srgbClr val="0F2E3D"/>
                </a:solidFill>
                <a:latin typeface="Courier New" pitchFamily="34" charset="0"/>
                <a:ea typeface="Courier New" pitchFamily="34" charset="-122"/>
                <a:cs typeface="Courier New" pitchFamily="34" charset="-120"/>
              </a:rPr>
              <a:t>Placebo   0 / 1  =   0.0%</a:t>
            </a:r>
            <a:endParaRPr lang="en-US" sz="1400" dirty="0"/>
          </a:p>
        </p:txBody>
      </p:sp>
      <p:sp>
        <p:nvSpPr>
          <p:cNvPr id="14" name="Text 12"/>
          <p:cNvSpPr/>
          <p:nvPr/>
        </p:nvSpPr>
        <p:spPr>
          <a:xfrm>
            <a:off x="6629400" y="3383280"/>
            <a:ext cx="4754880" cy="548640"/>
          </a:xfrm>
          <a:prstGeom prst="rect">
            <a:avLst/>
          </a:prstGeom>
          <a:noFill/>
          <a:ln/>
        </p:spPr>
        <p:txBody>
          <a:bodyPr wrap="square" lIns="0" tIns="0" rIns="0" bIns="0" rtlCol="0" anchor="ctr"/>
          <a:lstStyle/>
          <a:p>
            <a:pPr indent="0" marL="0">
              <a:lnSpc>
                <a:spcPts val="1700"/>
              </a:lnSpc>
              <a:buNone/>
            </a:pPr>
            <a:r>
              <a:rPr lang="en-US" sz="1250" i="1" dirty="0">
                <a:solidFill>
                  <a:srgbClr val="C4442E"/>
                </a:solidFill>
                <a:latin typeface="Calibri" pitchFamily="34" charset="0"/>
                <a:ea typeface="Calibri" pitchFamily="34" charset="-122"/>
                <a:cs typeface="Calibri" pitchFamily="34" charset="-120"/>
              </a:rPr>
              <a:t>Wrong. And the Placebo denominator is ONE — a single abnormal there would read as 100%.</a:t>
            </a:r>
            <a:endParaRPr lang="en-US" sz="1250" dirty="0"/>
          </a:p>
        </p:txBody>
      </p:sp>
      <p:sp>
        <p:nvSpPr>
          <p:cNvPr id="15" name="Shape 13"/>
          <p:cNvSpPr/>
          <p:nvPr/>
        </p:nvSpPr>
        <p:spPr>
          <a:xfrm>
            <a:off x="640080" y="4343400"/>
            <a:ext cx="10972800" cy="1828800"/>
          </a:xfrm>
          <a:prstGeom prst="roundRect">
            <a:avLst>
              <a:gd name="adj" fmla="val 4500"/>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6" name="Text 14"/>
          <p:cNvSpPr/>
          <p:nvPr/>
        </p:nvSpPr>
        <p:spPr>
          <a:xfrm>
            <a:off x="960120" y="4526280"/>
            <a:ext cx="1042416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Denominators come from ADSL, filtered by the population flag the table calls for.</a:t>
            </a:r>
            <a:endParaRPr lang="en-US" sz="1900" dirty="0"/>
          </a:p>
        </p:txBody>
      </p:sp>
      <p:sp>
        <p:nvSpPr>
          <p:cNvPr id="17" name="Text 15"/>
          <p:cNvSpPr/>
          <p:nvPr/>
        </p:nvSpPr>
        <p:spPr>
          <a:xfrm>
            <a:off x="960120" y="5029200"/>
            <a:ext cx="10424160" cy="1005840"/>
          </a:xfrm>
          <a:prstGeom prst="rect">
            <a:avLst/>
          </a:prstGeom>
          <a:noFill/>
          <a:ln/>
        </p:spPr>
        <p:txBody>
          <a:bodyPr wrap="square" lIns="0" tIns="0" rIns="0" bIns="0" rtlCol="0" anchor="ctr"/>
          <a:lstStyle/>
          <a:p>
            <a:pPr indent="0" marL="0">
              <a:lnSpc>
                <a:spcPts val="2000"/>
              </a:lnSpc>
              <a:buNone/>
            </a:pPr>
            <a:r>
              <a:rPr lang="en-US" sz="1350" dirty="0">
                <a:solidFill>
                  <a:srgbClr val="000000"/>
                </a:solidFill>
                <a:latin typeface="Calibri" pitchFamily="34" charset="0"/>
                <a:ea typeface="Calibri" pitchFamily="34" charset="-122"/>
                <a:cs typeface="Calibri" pitchFamily="34" charset="-120"/>
              </a:rPr>
              <a:t>Never from the dataset you happen to be summarising. </a:t>
            </a:r>
            <a:pPr indent="0" marL="0">
              <a:lnSpc>
                <a:spcPts val="2000"/>
              </a:lnSpc>
              <a:buNone/>
            </a:pPr>
            <a:r>
              <a:rPr lang="en-US" sz="1350" dirty="0">
                <a:solidFill>
                  <a:srgbClr val="6FC8B4"/>
                </a:solidFill>
                <a:latin typeface="Calibri" pitchFamily="34" charset="0"/>
                <a:ea typeface="Calibri" pitchFamily="34" charset="-122"/>
                <a:cs typeface="Calibri" pitchFamily="34" charset="-120"/>
              </a:rPr>
              <a:t>Missing data must not shrink a denominator — that silently converts “we did not measure this” into “this did not happen”.
</a:t>
            </a:r>
            <a:pPr indent="0" marL="0">
              <a:lnSpc>
                <a:spcPts val="2000"/>
              </a:lnSpc>
              <a:buNone/>
            </a:pPr>
            <a:r>
              <a:rPr lang="en-US" sz="1350" dirty="0">
                <a:solidFill>
                  <a:srgbClr val="C7DCE0"/>
                </a:solidFill>
                <a:latin typeface="Calibri" pitchFamily="34" charset="0"/>
                <a:ea typeface="Calibri" pitchFamily="34" charset="-122"/>
                <a:cs typeface="Calibri" pitchFamily="34" charset="-120"/>
              </a:rPr>
              <a:t>One of the four missing subjects is ABC-01-01-004, who discontinued for an adverse event on day 20. Exactly the subject whose absence biases a safety result in the sponsor's favour.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NEW VARIABLES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Everything a normal range makes possible</a:t>
            </a:r>
            <a:endParaRPr lang="en-US" sz="3000" dirty="0"/>
          </a:p>
        </p:txBody>
      </p:sp>
      <p:sp>
        <p:nvSpPr>
          <p:cNvPr id="4" name="Shape 2"/>
          <p:cNvSpPr/>
          <p:nvPr/>
        </p:nvSpPr>
        <p:spPr>
          <a:xfrm>
            <a:off x="640080" y="1627632"/>
            <a:ext cx="10972800" cy="731520"/>
          </a:xfrm>
          <a:prstGeom prst="roundRect">
            <a:avLst>
              <a:gd name="adj" fmla="val 1125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27632"/>
            <a:ext cx="82296" cy="731520"/>
          </a:xfrm>
          <a:prstGeom prst="rect">
            <a:avLst/>
          </a:prstGeom>
          <a:solidFill>
            <a:srgbClr val="0E7C86"/>
          </a:solidFill>
          <a:ln/>
        </p:spPr>
      </p:sp>
      <p:sp>
        <p:nvSpPr>
          <p:cNvPr id="6" name="Text 4"/>
          <p:cNvSpPr/>
          <p:nvPr/>
        </p:nvSpPr>
        <p:spPr>
          <a:xfrm>
            <a:off x="960120" y="1655064"/>
            <a:ext cx="3291840" cy="676656"/>
          </a:xfrm>
          <a:prstGeom prst="rect">
            <a:avLst/>
          </a:prstGeom>
          <a:noFill/>
          <a:ln/>
        </p:spPr>
        <p:txBody>
          <a:bodyPr wrap="square" lIns="0" tIns="0" rIns="0" bIns="0" rtlCol="0" anchor="ctr"/>
          <a:lstStyle/>
          <a:p>
            <a:pPr indent="0" marL="0">
              <a:buNone/>
            </a:pPr>
            <a:r>
              <a:rPr lang="en-US" sz="1400" b="1" dirty="0">
                <a:solidFill>
                  <a:srgbClr val="0E7C86"/>
                </a:solidFill>
                <a:latin typeface="Courier New" pitchFamily="34" charset="0"/>
                <a:ea typeface="Courier New" pitchFamily="34" charset="-122"/>
                <a:cs typeface="Courier New" pitchFamily="34" charset="-120"/>
              </a:rPr>
              <a:t>ANRLO / ANRHI</a:t>
            </a:r>
            <a:endParaRPr lang="en-US" sz="1400" dirty="0"/>
          </a:p>
        </p:txBody>
      </p:sp>
      <p:sp>
        <p:nvSpPr>
          <p:cNvPr id="7" name="Text 5"/>
          <p:cNvSpPr/>
          <p:nvPr/>
        </p:nvSpPr>
        <p:spPr>
          <a:xfrm>
            <a:off x="4389120" y="1655064"/>
            <a:ext cx="7040880" cy="676656"/>
          </a:xfrm>
          <a:prstGeom prst="rect">
            <a:avLst/>
          </a:prstGeom>
          <a:noFill/>
          <a:ln/>
        </p:spPr>
        <p:txBody>
          <a:bodyPr wrap="square" lIns="0" tIns="0" rIns="0" bIns="0" rtlCol="0" anchor="ctr"/>
          <a:lstStyle/>
          <a:p>
            <a:pPr indent="0" marL="0">
              <a:buNone/>
            </a:pPr>
            <a:r>
              <a:rPr lang="en-US" sz="1400" dirty="0">
                <a:solidFill>
                  <a:srgbClr val="0F2E3D"/>
                </a:solidFill>
                <a:latin typeface="Calibri" pitchFamily="34" charset="0"/>
                <a:ea typeface="Calibri" pitchFamily="34" charset="-122"/>
                <a:cs typeface="Calibri" pitchFamily="34" charset="-120"/>
              </a:rPr>
              <a:t>the range itself, on every row</a:t>
            </a:r>
            <a:endParaRPr lang="en-US" sz="1400" dirty="0"/>
          </a:p>
        </p:txBody>
      </p:sp>
      <p:sp>
        <p:nvSpPr>
          <p:cNvPr id="8" name="Shape 6"/>
          <p:cNvSpPr/>
          <p:nvPr/>
        </p:nvSpPr>
        <p:spPr>
          <a:xfrm>
            <a:off x="640080" y="2432304"/>
            <a:ext cx="10972800" cy="731520"/>
          </a:xfrm>
          <a:prstGeom prst="roundRect">
            <a:avLst>
              <a:gd name="adj" fmla="val 1125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40080" y="2432304"/>
            <a:ext cx="82296" cy="731520"/>
          </a:xfrm>
          <a:prstGeom prst="rect">
            <a:avLst/>
          </a:prstGeom>
          <a:solidFill>
            <a:srgbClr val="0E7C86"/>
          </a:solidFill>
          <a:ln/>
        </p:spPr>
      </p:sp>
      <p:sp>
        <p:nvSpPr>
          <p:cNvPr id="10" name="Text 8"/>
          <p:cNvSpPr/>
          <p:nvPr/>
        </p:nvSpPr>
        <p:spPr>
          <a:xfrm>
            <a:off x="960120" y="2459736"/>
            <a:ext cx="3291840" cy="676656"/>
          </a:xfrm>
          <a:prstGeom prst="rect">
            <a:avLst/>
          </a:prstGeom>
          <a:noFill/>
          <a:ln/>
        </p:spPr>
        <p:txBody>
          <a:bodyPr wrap="square" lIns="0" tIns="0" rIns="0" bIns="0" rtlCol="0" anchor="ctr"/>
          <a:lstStyle/>
          <a:p>
            <a:pPr indent="0" marL="0">
              <a:buNone/>
            </a:pPr>
            <a:r>
              <a:rPr lang="en-US" sz="1400" b="1" dirty="0">
                <a:solidFill>
                  <a:srgbClr val="0E7C86"/>
                </a:solidFill>
                <a:latin typeface="Courier New" pitchFamily="34" charset="0"/>
                <a:ea typeface="Courier New" pitchFamily="34" charset="-122"/>
                <a:cs typeface="Courier New" pitchFamily="34" charset="-120"/>
              </a:rPr>
              <a:t>ANRIND</a:t>
            </a:r>
            <a:endParaRPr lang="en-US" sz="1400" dirty="0"/>
          </a:p>
        </p:txBody>
      </p:sp>
      <p:sp>
        <p:nvSpPr>
          <p:cNvPr id="11" name="Text 9"/>
          <p:cNvSpPr/>
          <p:nvPr/>
        </p:nvSpPr>
        <p:spPr>
          <a:xfrm>
            <a:off x="4389120" y="2459736"/>
            <a:ext cx="7040880" cy="676656"/>
          </a:xfrm>
          <a:prstGeom prst="rect">
            <a:avLst/>
          </a:prstGeom>
          <a:noFill/>
          <a:ln/>
        </p:spPr>
        <p:txBody>
          <a:bodyPr wrap="square" lIns="0" tIns="0" rIns="0" bIns="0" rtlCol="0" anchor="ctr"/>
          <a:lstStyle/>
          <a:p>
            <a:pPr indent="0" marL="0">
              <a:buNone/>
            </a:pPr>
            <a:r>
              <a:rPr lang="en-US" sz="1400" dirty="0">
                <a:solidFill>
                  <a:srgbClr val="0F2E3D"/>
                </a:solidFill>
                <a:latin typeface="Calibri" pitchFamily="34" charset="0"/>
                <a:ea typeface="Calibri" pitchFamily="34" charset="-122"/>
                <a:cs typeface="Calibri" pitchFamily="34" charset="-120"/>
              </a:rPr>
              <a:t>where THIS result sits: LOW · NORMAL · HIGH</a:t>
            </a:r>
            <a:endParaRPr lang="en-US" sz="1400" dirty="0"/>
          </a:p>
        </p:txBody>
      </p:sp>
      <p:sp>
        <p:nvSpPr>
          <p:cNvPr id="12" name="Shape 10"/>
          <p:cNvSpPr/>
          <p:nvPr/>
        </p:nvSpPr>
        <p:spPr>
          <a:xfrm>
            <a:off x="640080" y="3236976"/>
            <a:ext cx="10972800" cy="731520"/>
          </a:xfrm>
          <a:prstGeom prst="roundRect">
            <a:avLst>
              <a:gd name="adj" fmla="val 1125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640080" y="3236976"/>
            <a:ext cx="82296" cy="731520"/>
          </a:xfrm>
          <a:prstGeom prst="rect">
            <a:avLst/>
          </a:prstGeom>
          <a:solidFill>
            <a:srgbClr val="1FA8A0"/>
          </a:solidFill>
          <a:ln/>
        </p:spPr>
      </p:sp>
      <p:sp>
        <p:nvSpPr>
          <p:cNvPr id="14" name="Text 12"/>
          <p:cNvSpPr/>
          <p:nvPr/>
        </p:nvSpPr>
        <p:spPr>
          <a:xfrm>
            <a:off x="960120" y="3264408"/>
            <a:ext cx="3291840" cy="676656"/>
          </a:xfrm>
          <a:prstGeom prst="rect">
            <a:avLst/>
          </a:prstGeom>
          <a:noFill/>
          <a:ln/>
        </p:spPr>
        <p:txBody>
          <a:bodyPr wrap="square" lIns="0" tIns="0" rIns="0" bIns="0" rtlCol="0" anchor="ctr"/>
          <a:lstStyle/>
          <a:p>
            <a:pPr indent="0" marL="0">
              <a:buNone/>
            </a:pPr>
            <a:r>
              <a:rPr lang="en-US" sz="1400" b="1" dirty="0">
                <a:solidFill>
                  <a:srgbClr val="1FA8A0"/>
                </a:solidFill>
                <a:latin typeface="Courier New" pitchFamily="34" charset="0"/>
                <a:ea typeface="Courier New" pitchFamily="34" charset="-122"/>
                <a:cs typeface="Courier New" pitchFamily="34" charset="-120"/>
              </a:rPr>
              <a:t>BNRIND</a:t>
            </a:r>
            <a:endParaRPr lang="en-US" sz="1400" dirty="0"/>
          </a:p>
        </p:txBody>
      </p:sp>
      <p:sp>
        <p:nvSpPr>
          <p:cNvPr id="15" name="Text 13"/>
          <p:cNvSpPr/>
          <p:nvPr/>
        </p:nvSpPr>
        <p:spPr>
          <a:xfrm>
            <a:off x="4389120" y="3264408"/>
            <a:ext cx="7040880" cy="676656"/>
          </a:xfrm>
          <a:prstGeom prst="rect">
            <a:avLst/>
          </a:prstGeom>
          <a:noFill/>
          <a:ln/>
        </p:spPr>
        <p:txBody>
          <a:bodyPr wrap="square" lIns="0" tIns="0" rIns="0" bIns="0" rtlCol="0" anchor="ctr"/>
          <a:lstStyle/>
          <a:p>
            <a:pPr indent="0" marL="0">
              <a:buNone/>
            </a:pPr>
            <a:r>
              <a:rPr lang="en-US" sz="1400" dirty="0">
                <a:solidFill>
                  <a:srgbClr val="0F2E3D"/>
                </a:solidFill>
                <a:latin typeface="Calibri" pitchFamily="34" charset="0"/>
                <a:ea typeface="Calibri" pitchFamily="34" charset="-122"/>
                <a:cs typeface="Calibri" pitchFamily="34" charset="-120"/>
              </a:rPr>
              <a:t>where the BASELINE sat — carried to every row</a:t>
            </a:r>
            <a:endParaRPr lang="en-US" sz="1400" dirty="0"/>
          </a:p>
        </p:txBody>
      </p:sp>
      <p:sp>
        <p:nvSpPr>
          <p:cNvPr id="16" name="Shape 14"/>
          <p:cNvSpPr/>
          <p:nvPr/>
        </p:nvSpPr>
        <p:spPr>
          <a:xfrm>
            <a:off x="640080" y="4041648"/>
            <a:ext cx="10972800" cy="731520"/>
          </a:xfrm>
          <a:prstGeom prst="roundRect">
            <a:avLst>
              <a:gd name="adj" fmla="val 1125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40080" y="4041648"/>
            <a:ext cx="82296" cy="731520"/>
          </a:xfrm>
          <a:prstGeom prst="rect">
            <a:avLst/>
          </a:prstGeom>
          <a:solidFill>
            <a:srgbClr val="E8833A"/>
          </a:solidFill>
          <a:ln/>
        </p:spPr>
      </p:sp>
      <p:sp>
        <p:nvSpPr>
          <p:cNvPr id="18" name="Text 16"/>
          <p:cNvSpPr/>
          <p:nvPr/>
        </p:nvSpPr>
        <p:spPr>
          <a:xfrm>
            <a:off x="960120" y="4069080"/>
            <a:ext cx="3291840" cy="676656"/>
          </a:xfrm>
          <a:prstGeom prst="rect">
            <a:avLst/>
          </a:prstGeom>
          <a:noFill/>
          <a:ln/>
        </p:spPr>
        <p:txBody>
          <a:bodyPr wrap="square" lIns="0" tIns="0" rIns="0" bIns="0" rtlCol="0" anchor="ctr"/>
          <a:lstStyle/>
          <a:p>
            <a:pPr indent="0" marL="0">
              <a:buNone/>
            </a:pPr>
            <a:r>
              <a:rPr lang="en-US" sz="1400" b="1" dirty="0">
                <a:solidFill>
                  <a:srgbClr val="E8833A"/>
                </a:solidFill>
                <a:latin typeface="Courier New" pitchFamily="34" charset="0"/>
                <a:ea typeface="Courier New" pitchFamily="34" charset="-122"/>
                <a:cs typeface="Courier New" pitchFamily="34" charset="-120"/>
              </a:rPr>
              <a:t>SHIFT1</a:t>
            </a:r>
            <a:endParaRPr lang="en-US" sz="1400" dirty="0"/>
          </a:p>
        </p:txBody>
      </p:sp>
      <p:sp>
        <p:nvSpPr>
          <p:cNvPr id="19" name="Text 17"/>
          <p:cNvSpPr/>
          <p:nvPr/>
        </p:nvSpPr>
        <p:spPr>
          <a:xfrm>
            <a:off x="4389120" y="4069080"/>
            <a:ext cx="7040880" cy="676656"/>
          </a:xfrm>
          <a:prstGeom prst="rect">
            <a:avLst/>
          </a:prstGeom>
          <a:noFill/>
          <a:ln/>
        </p:spPr>
        <p:txBody>
          <a:bodyPr wrap="square" lIns="0" tIns="0" rIns="0" bIns="0" rtlCol="0" anchor="ctr"/>
          <a:lstStyle/>
          <a:p>
            <a:pPr indent="0" marL="0">
              <a:buNone/>
            </a:pPr>
            <a:r>
              <a:rPr lang="en-US" sz="1400" dirty="0">
                <a:solidFill>
                  <a:srgbClr val="0F2E3D"/>
                </a:solidFill>
                <a:latin typeface="Calibri" pitchFamily="34" charset="0"/>
                <a:ea typeface="Calibri" pitchFamily="34" charset="-122"/>
                <a:cs typeface="Calibri" pitchFamily="34" charset="-120"/>
              </a:rPr>
              <a:t>the two together: “NORMAL to HIGH”</a:t>
            </a:r>
            <a:endParaRPr lang="en-US" sz="1400" dirty="0"/>
          </a:p>
        </p:txBody>
      </p:sp>
      <p:sp>
        <p:nvSpPr>
          <p:cNvPr id="20" name="Shape 18"/>
          <p:cNvSpPr/>
          <p:nvPr/>
        </p:nvSpPr>
        <p:spPr>
          <a:xfrm>
            <a:off x="640080" y="4846320"/>
            <a:ext cx="10972800" cy="731520"/>
          </a:xfrm>
          <a:prstGeom prst="roundRect">
            <a:avLst>
              <a:gd name="adj" fmla="val 11250"/>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640080" y="4846320"/>
            <a:ext cx="82296" cy="731520"/>
          </a:xfrm>
          <a:prstGeom prst="rect">
            <a:avLst/>
          </a:prstGeom>
          <a:solidFill>
            <a:srgbClr val="E8833A"/>
          </a:solidFill>
          <a:ln/>
        </p:spPr>
      </p:sp>
      <p:sp>
        <p:nvSpPr>
          <p:cNvPr id="22" name="Text 20"/>
          <p:cNvSpPr/>
          <p:nvPr/>
        </p:nvSpPr>
        <p:spPr>
          <a:xfrm>
            <a:off x="960120" y="4873752"/>
            <a:ext cx="3291840" cy="676656"/>
          </a:xfrm>
          <a:prstGeom prst="rect">
            <a:avLst/>
          </a:prstGeom>
          <a:noFill/>
          <a:ln/>
        </p:spPr>
        <p:txBody>
          <a:bodyPr wrap="square" lIns="0" tIns="0" rIns="0" bIns="0" rtlCol="0" anchor="ctr"/>
          <a:lstStyle/>
          <a:p>
            <a:pPr indent="0" marL="0">
              <a:buNone/>
            </a:pPr>
            <a:r>
              <a:rPr lang="en-US" sz="1400" b="1" dirty="0">
                <a:solidFill>
                  <a:srgbClr val="E8833A"/>
                </a:solidFill>
                <a:latin typeface="Courier New" pitchFamily="34" charset="0"/>
                <a:ea typeface="Courier New" pitchFamily="34" charset="-122"/>
                <a:cs typeface="Courier New" pitchFamily="34" charset="-120"/>
              </a:rPr>
              <a:t>CRIT1 / CRIT1FL</a:t>
            </a:r>
            <a:endParaRPr lang="en-US" sz="1400" dirty="0"/>
          </a:p>
        </p:txBody>
      </p:sp>
      <p:sp>
        <p:nvSpPr>
          <p:cNvPr id="23" name="Text 21"/>
          <p:cNvSpPr/>
          <p:nvPr/>
        </p:nvSpPr>
        <p:spPr>
          <a:xfrm>
            <a:off x="4389120" y="4873752"/>
            <a:ext cx="7040880" cy="676656"/>
          </a:xfrm>
          <a:prstGeom prst="rect">
            <a:avLst/>
          </a:prstGeom>
          <a:noFill/>
          <a:ln/>
        </p:spPr>
        <p:txBody>
          <a:bodyPr wrap="square" lIns="0" tIns="0" rIns="0" bIns="0" rtlCol="0" anchor="ctr"/>
          <a:lstStyle/>
          <a:p>
            <a:pPr indent="0" marL="0">
              <a:buNone/>
            </a:pPr>
            <a:r>
              <a:rPr lang="en-US" sz="1400" dirty="0">
                <a:solidFill>
                  <a:srgbClr val="0F2E3D"/>
                </a:solidFill>
                <a:latin typeface="Calibri" pitchFamily="34" charset="0"/>
                <a:ea typeface="Calibri" pitchFamily="34" charset="-122"/>
                <a:cs typeface="Calibri" pitchFamily="34" charset="-120"/>
              </a:rPr>
              <a:t>one prespecified yes/no question</a:t>
            </a:r>
            <a:endParaRPr lang="en-US" sz="1400" dirty="0"/>
          </a:p>
        </p:txBody>
      </p:sp>
      <p:sp>
        <p:nvSpPr>
          <p:cNvPr id="24" name="Shape 22"/>
          <p:cNvSpPr/>
          <p:nvPr/>
        </p:nvSpPr>
        <p:spPr>
          <a:xfrm>
            <a:off x="640080" y="5715000"/>
            <a:ext cx="10972800" cy="777240"/>
          </a:xfrm>
          <a:prstGeom prst="roundRect">
            <a:avLst>
              <a:gd name="adj" fmla="val 10588"/>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Text 23"/>
          <p:cNvSpPr/>
          <p:nvPr/>
        </p:nvSpPr>
        <p:spPr>
          <a:xfrm>
            <a:off x="914400" y="5870448"/>
            <a:ext cx="10424160" cy="548640"/>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BNRIND is carried to EVERY row of the parameter, like BASE. </a:t>
            </a:r>
            <a:pPr indent="0" marL="0">
              <a:buNone/>
            </a:pPr>
            <a:r>
              <a:rPr lang="en-US" sz="1350" dirty="0">
                <a:solidFill>
                  <a:srgbClr val="5A7682"/>
                </a:solidFill>
                <a:latin typeface="Calibri" pitchFamily="34" charset="0"/>
                <a:ea typeface="Calibri" pitchFamily="34" charset="-122"/>
                <a:cs typeface="Calibri" pitchFamily="34" charset="-120"/>
              </a:rPr>
              <a:t>A shift needs to know where it started — so both ends must sit on the same row.</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8"/>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AN APPARENT CONTRADICTION</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We READ TRTEMFL. We DERIVE ANRIND. Why?</a:t>
            </a:r>
            <a:endParaRPr lang="en-US" sz="3000" dirty="0"/>
          </a:p>
        </p:txBody>
      </p:sp>
      <p:sp>
        <p:nvSpPr>
          <p:cNvPr id="4" name="Shape 2"/>
          <p:cNvSpPr/>
          <p:nvPr/>
        </p:nvSpPr>
        <p:spPr>
          <a:xfrm>
            <a:off x="640080" y="1645920"/>
            <a:ext cx="10881360" cy="502920"/>
          </a:xfrm>
          <a:prstGeom prst="rect">
            <a:avLst/>
          </a:prstGeom>
          <a:solidFill>
            <a:srgbClr val="0F2E3D"/>
          </a:solidFill>
          <a:ln w="6350">
            <a:solidFill>
              <a:srgbClr val="CFDEE1"/>
            </a:solidFill>
            <a:prstDash val="solid"/>
          </a:ln>
        </p:spPr>
      </p:sp>
      <p:sp>
        <p:nvSpPr>
          <p:cNvPr id="5" name="Text 3"/>
          <p:cNvSpPr/>
          <p:nvPr/>
        </p:nvSpPr>
        <p:spPr>
          <a:xfrm>
            <a:off x="868680" y="1645920"/>
            <a:ext cx="2743200" cy="502920"/>
          </a:xfrm>
          <a:prstGeom prst="rect">
            <a:avLst/>
          </a:prstGeom>
          <a:noFill/>
          <a:ln/>
        </p:spPr>
        <p:txBody>
          <a:bodyPr wrap="square" lIns="0" tIns="0" rIns="0" bIns="0" rtlCol="0" anchor="ctr"/>
          <a:lstStyle/>
          <a:p>
            <a:pPr indent="0" marL="0">
              <a:buNone/>
            </a:pPr>
            <a:endParaRPr lang="en-US" sz="1350" dirty="0"/>
          </a:p>
        </p:txBody>
      </p:sp>
      <p:sp>
        <p:nvSpPr>
          <p:cNvPr id="6" name="Text 4"/>
          <p:cNvSpPr/>
          <p:nvPr/>
        </p:nvSpPr>
        <p:spPr>
          <a:xfrm>
            <a:off x="3749040" y="1645920"/>
            <a:ext cx="3931920" cy="502920"/>
          </a:xfrm>
          <a:prstGeom prst="rect">
            <a:avLst/>
          </a:prstGeom>
          <a:noFill/>
          <a:ln/>
        </p:spPr>
        <p:txBody>
          <a:bodyPr wrap="square" lIns="0" tIns="0" rIns="0" bIns="0" rtlCol="0" anchor="ctr"/>
          <a:lstStyle/>
          <a:p>
            <a:pPr indent="0" marL="0">
              <a:buNone/>
            </a:pPr>
            <a:r>
              <a:rPr lang="en-US" sz="1350" b="1" dirty="0">
                <a:solidFill>
                  <a:srgbClr val="6FC8B4"/>
                </a:solidFill>
                <a:latin typeface="Courier New" pitchFamily="34" charset="0"/>
                <a:ea typeface="Courier New" pitchFamily="34" charset="-122"/>
                <a:cs typeface="Courier New" pitchFamily="34" charset="-120"/>
              </a:rPr>
              <a:t>TRTEMFL  (Notebook 15)</a:t>
            </a:r>
            <a:endParaRPr lang="en-US" sz="1350" dirty="0"/>
          </a:p>
        </p:txBody>
      </p:sp>
      <p:sp>
        <p:nvSpPr>
          <p:cNvPr id="7" name="Text 5"/>
          <p:cNvSpPr/>
          <p:nvPr/>
        </p:nvSpPr>
        <p:spPr>
          <a:xfrm>
            <a:off x="7863840" y="1645920"/>
            <a:ext cx="3566160" cy="502920"/>
          </a:xfrm>
          <a:prstGeom prst="rect">
            <a:avLst/>
          </a:prstGeom>
          <a:noFill/>
          <a:ln/>
        </p:spPr>
        <p:txBody>
          <a:bodyPr wrap="square" lIns="0" tIns="0" rIns="0" bIns="0" rtlCol="0" anchor="ctr"/>
          <a:lstStyle/>
          <a:p>
            <a:pPr indent="0" marL="0">
              <a:buNone/>
            </a:pPr>
            <a:r>
              <a:rPr lang="en-US" sz="1350" b="1" dirty="0">
                <a:solidFill>
                  <a:srgbClr val="E8833A"/>
                </a:solidFill>
                <a:latin typeface="Courier New" pitchFamily="34" charset="0"/>
                <a:ea typeface="Courier New" pitchFamily="34" charset="-122"/>
                <a:cs typeface="Courier New" pitchFamily="34" charset="-120"/>
              </a:rPr>
              <a:t>ANRIND  (today)</a:t>
            </a:r>
            <a:endParaRPr lang="en-US" sz="1350" dirty="0"/>
          </a:p>
        </p:txBody>
      </p:sp>
      <p:sp>
        <p:nvSpPr>
          <p:cNvPr id="8" name="Shape 6"/>
          <p:cNvSpPr/>
          <p:nvPr/>
        </p:nvSpPr>
        <p:spPr>
          <a:xfrm>
            <a:off x="640080" y="2148840"/>
            <a:ext cx="10881360" cy="658368"/>
          </a:xfrm>
          <a:prstGeom prst="rect">
            <a:avLst/>
          </a:prstGeom>
          <a:solidFill>
            <a:srgbClr val="FFFFFF"/>
          </a:solidFill>
          <a:ln w="6350">
            <a:solidFill>
              <a:srgbClr val="CFDEE1"/>
            </a:solidFill>
            <a:prstDash val="solid"/>
          </a:ln>
        </p:spPr>
      </p:sp>
      <p:sp>
        <p:nvSpPr>
          <p:cNvPr id="9" name="Text 7"/>
          <p:cNvSpPr/>
          <p:nvPr/>
        </p:nvSpPr>
        <p:spPr>
          <a:xfrm>
            <a:off x="868680" y="2148840"/>
            <a:ext cx="2743200" cy="658368"/>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What it encodes</a:t>
            </a:r>
            <a:endParaRPr lang="en-US" sz="1350" dirty="0"/>
          </a:p>
        </p:txBody>
      </p:sp>
      <p:sp>
        <p:nvSpPr>
          <p:cNvPr id="10" name="Text 8"/>
          <p:cNvSpPr/>
          <p:nvPr/>
        </p:nvSpPr>
        <p:spPr>
          <a:xfrm>
            <a:off x="3749040" y="2148840"/>
            <a:ext cx="3931920" cy="658368"/>
          </a:xfrm>
          <a:prstGeom prst="rect">
            <a:avLst/>
          </a:prstGeom>
          <a:noFill/>
          <a:ln/>
        </p:spPr>
        <p:txBody>
          <a:bodyPr wrap="square" lIns="0" tIns="0" rIns="0" bIns="0" rtlCol="0" anchor="ctr"/>
          <a:lstStyle/>
          <a:p>
            <a:pPr indent="0" marL="0">
              <a:buNone/>
            </a:pPr>
            <a:r>
              <a:rPr lang="en-US" sz="1350" dirty="0">
                <a:solidFill>
                  <a:srgbClr val="5A7682"/>
                </a:solidFill>
                <a:latin typeface="Calibri" pitchFamily="34" charset="0"/>
                <a:ea typeface="Calibri" pitchFamily="34" charset="-122"/>
                <a:cs typeface="Calibri" pitchFamily="34" charset="-120"/>
              </a:rPr>
              <a:t>a study DECISION</a:t>
            </a:r>
            <a:endParaRPr lang="en-US" sz="1350" dirty="0"/>
          </a:p>
        </p:txBody>
      </p:sp>
      <p:sp>
        <p:nvSpPr>
          <p:cNvPr id="11" name="Text 9"/>
          <p:cNvSpPr/>
          <p:nvPr/>
        </p:nvSpPr>
        <p:spPr>
          <a:xfrm>
            <a:off x="7863840" y="2148840"/>
            <a:ext cx="3566160" cy="658368"/>
          </a:xfrm>
          <a:prstGeom prst="rect">
            <a:avLst/>
          </a:prstGeom>
          <a:noFill/>
          <a:ln/>
        </p:spPr>
        <p:txBody>
          <a:bodyPr wrap="square" lIns="0" tIns="0" rIns="0" bIns="0" rtlCol="0" anchor="ctr"/>
          <a:lstStyle/>
          <a:p>
            <a:pPr indent="0" marL="0">
              <a:buNone/>
            </a:pPr>
            <a:r>
              <a:rPr lang="en-US" sz="1350" dirty="0">
                <a:solidFill>
                  <a:srgbClr val="5A7682"/>
                </a:solidFill>
                <a:latin typeface="Calibri" pitchFamily="34" charset="0"/>
                <a:ea typeface="Calibri" pitchFamily="34" charset="-122"/>
                <a:cs typeface="Calibri" pitchFamily="34" charset="-120"/>
              </a:rPr>
              <a:t>pure ARITHMETIC</a:t>
            </a:r>
            <a:endParaRPr lang="en-US" sz="1350" dirty="0"/>
          </a:p>
        </p:txBody>
      </p:sp>
      <p:sp>
        <p:nvSpPr>
          <p:cNvPr id="12" name="Shape 10"/>
          <p:cNvSpPr/>
          <p:nvPr/>
        </p:nvSpPr>
        <p:spPr>
          <a:xfrm>
            <a:off x="640080" y="2807208"/>
            <a:ext cx="10881360" cy="658368"/>
          </a:xfrm>
          <a:prstGeom prst="rect">
            <a:avLst/>
          </a:prstGeom>
          <a:solidFill>
            <a:srgbClr val="F3F7F8"/>
          </a:solidFill>
          <a:ln w="6350">
            <a:solidFill>
              <a:srgbClr val="CFDEE1"/>
            </a:solidFill>
            <a:prstDash val="solid"/>
          </a:ln>
        </p:spPr>
      </p:sp>
      <p:sp>
        <p:nvSpPr>
          <p:cNvPr id="13" name="Text 11"/>
          <p:cNvSpPr/>
          <p:nvPr/>
        </p:nvSpPr>
        <p:spPr>
          <a:xfrm>
            <a:off x="868680" y="2807208"/>
            <a:ext cx="2743200" cy="658368"/>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Inputs</a:t>
            </a:r>
            <a:endParaRPr lang="en-US" sz="1350" dirty="0"/>
          </a:p>
        </p:txBody>
      </p:sp>
      <p:sp>
        <p:nvSpPr>
          <p:cNvPr id="14" name="Text 12"/>
          <p:cNvSpPr/>
          <p:nvPr/>
        </p:nvSpPr>
        <p:spPr>
          <a:xfrm>
            <a:off x="3749040" y="2807208"/>
            <a:ext cx="3931920" cy="658368"/>
          </a:xfrm>
          <a:prstGeom prst="rect">
            <a:avLst/>
          </a:prstGeom>
          <a:noFill/>
          <a:ln/>
        </p:spPr>
        <p:txBody>
          <a:bodyPr wrap="square" lIns="0" tIns="0" rIns="0" bIns="0" rtlCol="0" anchor="ctr"/>
          <a:lstStyle/>
          <a:p>
            <a:pPr indent="0" marL="0">
              <a:buNone/>
            </a:pPr>
            <a:r>
              <a:rPr lang="en-US" sz="1350" dirty="0">
                <a:solidFill>
                  <a:srgbClr val="5A7682"/>
                </a:solidFill>
                <a:latin typeface="Calibri" pitchFamily="34" charset="0"/>
                <a:ea typeface="Calibri" pitchFamily="34" charset="-122"/>
                <a:cs typeface="Calibri" pitchFamily="34" charset="-120"/>
              </a:rPr>
              <a:t>dates + a rule for partial dates</a:t>
            </a:r>
            <a:endParaRPr lang="en-US" sz="1350" dirty="0"/>
          </a:p>
        </p:txBody>
      </p:sp>
      <p:sp>
        <p:nvSpPr>
          <p:cNvPr id="15" name="Text 13"/>
          <p:cNvSpPr/>
          <p:nvPr/>
        </p:nvSpPr>
        <p:spPr>
          <a:xfrm>
            <a:off x="7863840" y="2807208"/>
            <a:ext cx="3566160" cy="658368"/>
          </a:xfrm>
          <a:prstGeom prst="rect">
            <a:avLst/>
          </a:prstGeom>
          <a:noFill/>
          <a:ln/>
        </p:spPr>
        <p:txBody>
          <a:bodyPr wrap="square" lIns="0" tIns="0" rIns="0" bIns="0" rtlCol="0" anchor="ctr"/>
          <a:lstStyle/>
          <a:p>
            <a:pPr indent="0" marL="0">
              <a:buNone/>
            </a:pPr>
            <a:r>
              <a:rPr lang="en-US" sz="1350" dirty="0">
                <a:solidFill>
                  <a:srgbClr val="5A7682"/>
                </a:solidFill>
                <a:latin typeface="Calibri" pitchFamily="34" charset="0"/>
                <a:ea typeface="Calibri" pitchFamily="34" charset="-122"/>
                <a:cs typeface="Calibri" pitchFamily="34" charset="-120"/>
              </a:rPr>
              <a:t>three numbers on this row</a:t>
            </a:r>
            <a:endParaRPr lang="en-US" sz="1350" dirty="0"/>
          </a:p>
        </p:txBody>
      </p:sp>
      <p:sp>
        <p:nvSpPr>
          <p:cNvPr id="16" name="Shape 14"/>
          <p:cNvSpPr/>
          <p:nvPr/>
        </p:nvSpPr>
        <p:spPr>
          <a:xfrm>
            <a:off x="640080" y="3465576"/>
            <a:ext cx="10881360" cy="658368"/>
          </a:xfrm>
          <a:prstGeom prst="rect">
            <a:avLst/>
          </a:prstGeom>
          <a:solidFill>
            <a:srgbClr val="FFFFFF"/>
          </a:solidFill>
          <a:ln w="6350">
            <a:solidFill>
              <a:srgbClr val="CFDEE1"/>
            </a:solidFill>
            <a:prstDash val="solid"/>
          </a:ln>
        </p:spPr>
      </p:sp>
      <p:sp>
        <p:nvSpPr>
          <p:cNvPr id="17" name="Text 15"/>
          <p:cNvSpPr/>
          <p:nvPr/>
        </p:nvSpPr>
        <p:spPr>
          <a:xfrm>
            <a:off x="868680" y="3465576"/>
            <a:ext cx="2743200" cy="658368"/>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Can it drift?</a:t>
            </a:r>
            <a:endParaRPr lang="en-US" sz="1350" dirty="0"/>
          </a:p>
        </p:txBody>
      </p:sp>
      <p:sp>
        <p:nvSpPr>
          <p:cNvPr id="18" name="Text 16"/>
          <p:cNvSpPr/>
          <p:nvPr/>
        </p:nvSpPr>
        <p:spPr>
          <a:xfrm>
            <a:off x="3749040" y="3465576"/>
            <a:ext cx="3931920" cy="658368"/>
          </a:xfrm>
          <a:prstGeom prst="rect">
            <a:avLst/>
          </a:prstGeom>
          <a:noFill/>
          <a:ln/>
        </p:spPr>
        <p:txBody>
          <a:bodyPr wrap="square" lIns="0" tIns="0" rIns="0" bIns="0" rtlCol="0" anchor="ctr"/>
          <a:lstStyle/>
          <a:p>
            <a:pPr indent="0" marL="0">
              <a:buNone/>
            </a:pPr>
            <a:r>
              <a:rPr lang="en-US" sz="1350" dirty="0">
                <a:solidFill>
                  <a:srgbClr val="5A7682"/>
                </a:solidFill>
                <a:latin typeface="Calibri" pitchFamily="34" charset="0"/>
                <a:ea typeface="Calibri" pitchFamily="34" charset="-122"/>
                <a:cs typeface="Calibri" pitchFamily="34" charset="-120"/>
              </a:rPr>
              <a:t>yes — the rule lives elsewhere</a:t>
            </a:r>
            <a:endParaRPr lang="en-US" sz="1350" dirty="0"/>
          </a:p>
        </p:txBody>
      </p:sp>
      <p:sp>
        <p:nvSpPr>
          <p:cNvPr id="19" name="Text 17"/>
          <p:cNvSpPr/>
          <p:nvPr/>
        </p:nvSpPr>
        <p:spPr>
          <a:xfrm>
            <a:off x="7863840" y="3465576"/>
            <a:ext cx="3566160" cy="658368"/>
          </a:xfrm>
          <a:prstGeom prst="rect">
            <a:avLst/>
          </a:prstGeom>
          <a:noFill/>
          <a:ln/>
        </p:spPr>
        <p:txBody>
          <a:bodyPr wrap="square" lIns="0" tIns="0" rIns="0" bIns="0" rtlCol="0" anchor="ctr"/>
          <a:lstStyle/>
          <a:p>
            <a:pPr indent="0" marL="0">
              <a:buNone/>
            </a:pPr>
            <a:r>
              <a:rPr lang="en-US" sz="1350" dirty="0">
                <a:solidFill>
                  <a:srgbClr val="5A7682"/>
                </a:solidFill>
                <a:latin typeface="Calibri" pitchFamily="34" charset="0"/>
                <a:ea typeface="Calibri" pitchFamily="34" charset="-122"/>
                <a:cs typeface="Calibri" pitchFamily="34" charset="-120"/>
              </a:rPr>
              <a:t>no — it is a comparison</a:t>
            </a:r>
            <a:endParaRPr lang="en-US" sz="1350" dirty="0"/>
          </a:p>
        </p:txBody>
      </p:sp>
      <p:sp>
        <p:nvSpPr>
          <p:cNvPr id="20" name="Shape 18"/>
          <p:cNvSpPr/>
          <p:nvPr/>
        </p:nvSpPr>
        <p:spPr>
          <a:xfrm>
            <a:off x="640080" y="4123944"/>
            <a:ext cx="10881360" cy="658368"/>
          </a:xfrm>
          <a:prstGeom prst="rect">
            <a:avLst/>
          </a:prstGeom>
          <a:solidFill>
            <a:srgbClr val="F3F7F8"/>
          </a:solidFill>
          <a:ln w="6350">
            <a:solidFill>
              <a:srgbClr val="CFDEE1"/>
            </a:solidFill>
            <a:prstDash val="solid"/>
          </a:ln>
        </p:spPr>
      </p:sp>
      <p:sp>
        <p:nvSpPr>
          <p:cNvPr id="21" name="Text 19"/>
          <p:cNvSpPr/>
          <p:nvPr/>
        </p:nvSpPr>
        <p:spPr>
          <a:xfrm>
            <a:off x="868680" y="4123944"/>
            <a:ext cx="2743200" cy="658368"/>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So we</a:t>
            </a:r>
            <a:endParaRPr lang="en-US" sz="1350" dirty="0"/>
          </a:p>
        </p:txBody>
      </p:sp>
      <p:sp>
        <p:nvSpPr>
          <p:cNvPr id="22" name="Text 20"/>
          <p:cNvSpPr/>
          <p:nvPr/>
        </p:nvSpPr>
        <p:spPr>
          <a:xfrm>
            <a:off x="3749040" y="4123944"/>
            <a:ext cx="3931920" cy="658368"/>
          </a:xfrm>
          <a:prstGeom prst="rect">
            <a:avLst/>
          </a:prstGeom>
          <a:noFill/>
          <a:ln/>
        </p:spPr>
        <p:txBody>
          <a:bodyPr wrap="square" lIns="0" tIns="0" rIns="0" bIns="0" rtlCol="0" anchor="ctr"/>
          <a:lstStyle/>
          <a:p>
            <a:pPr indent="0" marL="0">
              <a:buNone/>
            </a:pPr>
            <a:r>
              <a:rPr lang="en-US" sz="1350" dirty="0">
                <a:solidFill>
                  <a:srgbClr val="5A7682"/>
                </a:solidFill>
                <a:latin typeface="Calibri" pitchFamily="34" charset="0"/>
                <a:ea typeface="Calibri" pitchFamily="34" charset="-122"/>
                <a:cs typeface="Calibri" pitchFamily="34" charset="-120"/>
              </a:rPr>
              <a:t>READ it, cross-check it</a:t>
            </a:r>
            <a:endParaRPr lang="en-US" sz="1350" dirty="0"/>
          </a:p>
        </p:txBody>
      </p:sp>
      <p:sp>
        <p:nvSpPr>
          <p:cNvPr id="23" name="Text 21"/>
          <p:cNvSpPr/>
          <p:nvPr/>
        </p:nvSpPr>
        <p:spPr>
          <a:xfrm>
            <a:off x="7863840" y="4123944"/>
            <a:ext cx="3566160" cy="658368"/>
          </a:xfrm>
          <a:prstGeom prst="rect">
            <a:avLst/>
          </a:prstGeom>
          <a:noFill/>
          <a:ln/>
        </p:spPr>
        <p:txBody>
          <a:bodyPr wrap="square" lIns="0" tIns="0" rIns="0" bIns="0" rtlCol="0" anchor="ctr"/>
          <a:lstStyle/>
          <a:p>
            <a:pPr indent="0" marL="0">
              <a:buNone/>
            </a:pPr>
            <a:r>
              <a:rPr lang="en-US" sz="1350" dirty="0">
                <a:solidFill>
                  <a:srgbClr val="5A7682"/>
                </a:solidFill>
                <a:latin typeface="Calibri" pitchFamily="34" charset="0"/>
                <a:ea typeface="Calibri" pitchFamily="34" charset="-122"/>
                <a:cs typeface="Calibri" pitchFamily="34" charset="-120"/>
              </a:rPr>
              <a:t>DERIVE it, reconcile it</a:t>
            </a:r>
            <a:endParaRPr lang="en-US" sz="1350" dirty="0"/>
          </a:p>
        </p:txBody>
      </p:sp>
      <p:sp>
        <p:nvSpPr>
          <p:cNvPr id="24" name="Shape 22"/>
          <p:cNvSpPr/>
          <p:nvPr/>
        </p:nvSpPr>
        <p:spPr>
          <a:xfrm>
            <a:off x="640080" y="4937760"/>
            <a:ext cx="10972800" cy="1280160"/>
          </a:xfrm>
          <a:prstGeom prst="roundRect">
            <a:avLst>
              <a:gd name="adj" fmla="val 6429"/>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Text 23"/>
          <p:cNvSpPr/>
          <p:nvPr/>
        </p:nvSpPr>
        <p:spPr>
          <a:xfrm>
            <a:off x="960120" y="5102352"/>
            <a:ext cx="10424160"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Read a DECISION. Derive a COMPUTATION. Verify either way.</a:t>
            </a:r>
            <a:endParaRPr lang="en-US" sz="1900" dirty="0"/>
          </a:p>
        </p:txBody>
      </p:sp>
      <p:sp>
        <p:nvSpPr>
          <p:cNvPr id="26" name="Text 24"/>
          <p:cNvSpPr/>
          <p:nvPr/>
        </p:nvSpPr>
        <p:spPr>
          <a:xfrm>
            <a:off x="960120" y="5532120"/>
            <a:ext cx="10424160" cy="594360"/>
          </a:xfrm>
          <a:prstGeom prst="rect">
            <a:avLst/>
          </a:prstGeom>
          <a:noFill/>
          <a:ln/>
        </p:spPr>
        <p:txBody>
          <a:bodyPr wrap="square" lIns="0" tIns="0" rIns="0" bIns="0" rtlCol="0" anchor="ctr"/>
          <a:lstStyle/>
          <a:p>
            <a:pPr indent="0" marL="0">
              <a:lnSpc>
                <a:spcPts val="1900"/>
              </a:lnSpc>
              <a:buNone/>
            </a:pPr>
            <a:r>
              <a:rPr lang="en-US" sz="1350" dirty="0">
                <a:solidFill>
                  <a:srgbClr val="C7DCE0"/>
                </a:solidFill>
                <a:latin typeface="Calibri" pitchFamily="34" charset="0"/>
                <a:ea typeface="Calibri" pitchFamily="34" charset="-122"/>
                <a:cs typeface="Calibri" pitchFamily="34" charset="-120"/>
              </a:rPr>
              <a:t>Recalculating a decision does not verify it — it forks it. The instinct to “just recompute it so I know it's right” is a programming instinct, and in clinical data it is wrong more often than right.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SHIFTS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The whole clinical content of this study's lab data</a:t>
            </a:r>
            <a:endParaRPr lang="en-US" sz="3000" dirty="0"/>
          </a:p>
        </p:txBody>
      </p:sp>
      <p:sp>
        <p:nvSpPr>
          <p:cNvPr id="4" name="Text 2"/>
          <p:cNvSpPr/>
          <p:nvPr/>
        </p:nvSpPr>
        <p:spPr>
          <a:xfrm>
            <a:off x="640080" y="1417320"/>
            <a:ext cx="10972800" cy="365760"/>
          </a:xfrm>
          <a:prstGeom prst="rect">
            <a:avLst/>
          </a:prstGeom>
          <a:noFill/>
          <a:ln/>
        </p:spPr>
        <p:txBody>
          <a:bodyPr wrap="square" lIns="0" tIns="0" rIns="0" bIns="0" rtlCol="0" anchor="ctr"/>
          <a:lstStyle/>
          <a:p>
            <a:pPr indent="0" marL="0">
              <a:buNone/>
            </a:pPr>
            <a:r>
              <a:rPr lang="en-US" sz="1450" dirty="0">
                <a:solidFill>
                  <a:srgbClr val="5A7682"/>
                </a:solidFill>
                <a:latin typeface="Calibri" pitchFamily="34" charset="0"/>
                <a:ea typeface="Calibri" pitchFamily="34" charset="-122"/>
                <a:cs typeface="Calibri" pitchFamily="34" charset="-120"/>
              </a:rPr>
              <a:t>24 post-baseline analysis records. One cell is off the diagonal.</a:t>
            </a:r>
            <a:endParaRPr lang="en-US" sz="1450" dirty="0"/>
          </a:p>
        </p:txBody>
      </p:sp>
      <p:sp>
        <p:nvSpPr>
          <p:cNvPr id="5" name="Shape 3"/>
          <p:cNvSpPr/>
          <p:nvPr/>
        </p:nvSpPr>
        <p:spPr>
          <a:xfrm>
            <a:off x="1280160" y="1920240"/>
            <a:ext cx="8961120" cy="502920"/>
          </a:xfrm>
          <a:prstGeom prst="rect">
            <a:avLst/>
          </a:prstGeom>
          <a:solidFill>
            <a:srgbClr val="0F2E3D"/>
          </a:solidFill>
          <a:ln/>
        </p:spPr>
      </p:sp>
      <p:sp>
        <p:nvSpPr>
          <p:cNvPr id="6" name="Text 4"/>
          <p:cNvSpPr/>
          <p:nvPr/>
        </p:nvSpPr>
        <p:spPr>
          <a:xfrm>
            <a:off x="1280160" y="1920240"/>
            <a:ext cx="2377440" cy="502920"/>
          </a:xfrm>
          <a:prstGeom prst="rect">
            <a:avLst/>
          </a:prstGeom>
          <a:noFill/>
          <a:ln/>
        </p:spPr>
        <p:txBody>
          <a:bodyPr wrap="square" lIns="0" tIns="0" rIns="0" bIns="0" rtlCol="0" anchor="ctr"/>
          <a:lstStyle/>
          <a:p>
            <a:pPr algn="l" indent="0" marL="0">
              <a:buNone/>
            </a:pPr>
            <a:endParaRPr lang="en-US" sz="1300" dirty="0"/>
          </a:p>
        </p:txBody>
      </p:sp>
      <p:sp>
        <p:nvSpPr>
          <p:cNvPr id="7" name="Text 5"/>
          <p:cNvSpPr/>
          <p:nvPr/>
        </p:nvSpPr>
        <p:spPr>
          <a:xfrm>
            <a:off x="3840480" y="1920240"/>
            <a:ext cx="20116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 NORMAL</a:t>
            </a:r>
            <a:endParaRPr lang="en-US" sz="1300" dirty="0"/>
          </a:p>
        </p:txBody>
      </p:sp>
      <p:sp>
        <p:nvSpPr>
          <p:cNvPr id="8" name="Text 6"/>
          <p:cNvSpPr/>
          <p:nvPr/>
        </p:nvSpPr>
        <p:spPr>
          <a:xfrm>
            <a:off x="6035040" y="1920240"/>
            <a:ext cx="20116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 HIGH</a:t>
            </a:r>
            <a:endParaRPr lang="en-US" sz="1300" dirty="0"/>
          </a:p>
        </p:txBody>
      </p:sp>
      <p:sp>
        <p:nvSpPr>
          <p:cNvPr id="9" name="Text 7"/>
          <p:cNvSpPr/>
          <p:nvPr/>
        </p:nvSpPr>
        <p:spPr>
          <a:xfrm>
            <a:off x="8229600" y="1920240"/>
            <a:ext cx="20116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 LOW</a:t>
            </a:r>
            <a:endParaRPr lang="en-US" sz="1300" dirty="0"/>
          </a:p>
        </p:txBody>
      </p:sp>
      <p:sp>
        <p:nvSpPr>
          <p:cNvPr id="10" name="Shape 8"/>
          <p:cNvSpPr/>
          <p:nvPr/>
        </p:nvSpPr>
        <p:spPr>
          <a:xfrm>
            <a:off x="1280160" y="2423160"/>
            <a:ext cx="8961120" cy="548640"/>
          </a:xfrm>
          <a:prstGeom prst="rect">
            <a:avLst/>
          </a:prstGeom>
          <a:solidFill>
            <a:srgbClr val="FFFFFF"/>
          </a:solidFill>
          <a:ln w="6350">
            <a:solidFill>
              <a:srgbClr val="CFDEE1"/>
            </a:solidFill>
            <a:prstDash val="solid"/>
          </a:ln>
        </p:spPr>
      </p:sp>
      <p:sp>
        <p:nvSpPr>
          <p:cNvPr id="11" name="Text 9"/>
          <p:cNvSpPr/>
          <p:nvPr/>
        </p:nvSpPr>
        <p:spPr>
          <a:xfrm>
            <a:off x="1280160" y="2423160"/>
            <a:ext cx="2377440" cy="548640"/>
          </a:xfrm>
          <a:prstGeom prst="rect">
            <a:avLst/>
          </a:prstGeom>
          <a:noFill/>
          <a:ln/>
        </p:spPr>
        <p:txBody>
          <a:bodyPr wrap="square" lIns="0" tIns="0" rIns="0" bIns="0" rtlCol="0" anchor="ctr"/>
          <a:lstStyle/>
          <a:p>
            <a:pPr algn="l" indent="0" marL="0">
              <a:buNone/>
            </a:pPr>
            <a:r>
              <a:rPr lang="en-US" sz="1350" b="1" dirty="0">
                <a:solidFill>
                  <a:srgbClr val="0F2E3D"/>
                </a:solidFill>
                <a:latin typeface="Courier New" pitchFamily="34" charset="0"/>
                <a:ea typeface="Courier New" pitchFamily="34" charset="-122"/>
                <a:cs typeface="Courier New" pitchFamily="34" charset="-120"/>
              </a:rPr>
              <a:t>NORMAL →</a:t>
            </a:r>
            <a:endParaRPr lang="en-US" sz="1350" dirty="0"/>
          </a:p>
        </p:txBody>
      </p:sp>
      <p:sp>
        <p:nvSpPr>
          <p:cNvPr id="12" name="Text 10"/>
          <p:cNvSpPr/>
          <p:nvPr/>
        </p:nvSpPr>
        <p:spPr>
          <a:xfrm>
            <a:off x="3840480" y="2423160"/>
            <a:ext cx="2011680" cy="548640"/>
          </a:xfrm>
          <a:prstGeom prst="rect">
            <a:avLst/>
          </a:prstGeom>
          <a:noFill/>
          <a:ln/>
        </p:spPr>
        <p:txBody>
          <a:bodyPr wrap="square" lIns="0" tIns="0" rIns="0" bIns="0" rtlCol="0" anchor="ctr"/>
          <a:lstStyle/>
          <a:p>
            <a:pPr algn="ctr" indent="0" marL="0">
              <a:buNone/>
            </a:pPr>
            <a:r>
              <a:rPr lang="en-US" sz="1350" dirty="0">
                <a:solidFill>
                  <a:srgbClr val="0F2E3D"/>
                </a:solidFill>
                <a:latin typeface="Courier New" pitchFamily="34" charset="0"/>
                <a:ea typeface="Courier New" pitchFamily="34" charset="-122"/>
                <a:cs typeface="Courier New" pitchFamily="34" charset="-120"/>
              </a:rPr>
              <a:t>23</a:t>
            </a:r>
            <a:endParaRPr lang="en-US" sz="1350" dirty="0"/>
          </a:p>
        </p:txBody>
      </p:sp>
      <p:sp>
        <p:nvSpPr>
          <p:cNvPr id="13" name="Text 11"/>
          <p:cNvSpPr/>
          <p:nvPr/>
        </p:nvSpPr>
        <p:spPr>
          <a:xfrm>
            <a:off x="6035040" y="2423160"/>
            <a:ext cx="2011680" cy="548640"/>
          </a:xfrm>
          <a:prstGeom prst="rect">
            <a:avLst/>
          </a:prstGeom>
          <a:noFill/>
          <a:ln/>
        </p:spPr>
        <p:txBody>
          <a:bodyPr wrap="square" lIns="0" tIns="0" rIns="0" bIns="0" rtlCol="0" anchor="ctr"/>
          <a:lstStyle/>
          <a:p>
            <a:pPr algn="ctr" indent="0" marL="0">
              <a:buNone/>
            </a:pPr>
            <a:r>
              <a:rPr lang="en-US" sz="1700" b="1" dirty="0">
                <a:solidFill>
                  <a:srgbClr val="C4442E"/>
                </a:solidFill>
                <a:latin typeface="Courier New" pitchFamily="34" charset="0"/>
                <a:ea typeface="Courier New" pitchFamily="34" charset="-122"/>
                <a:cs typeface="Courier New" pitchFamily="34" charset="-120"/>
              </a:rPr>
              <a:t>1</a:t>
            </a:r>
            <a:endParaRPr lang="en-US" sz="1700" dirty="0"/>
          </a:p>
        </p:txBody>
      </p:sp>
      <p:sp>
        <p:nvSpPr>
          <p:cNvPr id="14" name="Text 12"/>
          <p:cNvSpPr/>
          <p:nvPr/>
        </p:nvSpPr>
        <p:spPr>
          <a:xfrm>
            <a:off x="8229600" y="2423160"/>
            <a:ext cx="2011680" cy="548640"/>
          </a:xfrm>
          <a:prstGeom prst="rect">
            <a:avLst/>
          </a:prstGeom>
          <a:noFill/>
          <a:ln/>
        </p:spPr>
        <p:txBody>
          <a:bodyPr wrap="square" lIns="0" tIns="0" rIns="0" bIns="0" rtlCol="0" anchor="ctr"/>
          <a:lstStyle/>
          <a:p>
            <a:pPr algn="ctr" indent="0" marL="0">
              <a:buNone/>
            </a:pPr>
            <a:r>
              <a:rPr lang="en-US" sz="1350" dirty="0">
                <a:solidFill>
                  <a:srgbClr val="0F2E3D"/>
                </a:solidFill>
                <a:latin typeface="Courier New" pitchFamily="34" charset="0"/>
                <a:ea typeface="Courier New" pitchFamily="34" charset="-122"/>
                <a:cs typeface="Courier New" pitchFamily="34" charset="-120"/>
              </a:rPr>
              <a:t>0</a:t>
            </a:r>
            <a:endParaRPr lang="en-US" sz="1350" dirty="0"/>
          </a:p>
        </p:txBody>
      </p:sp>
      <p:sp>
        <p:nvSpPr>
          <p:cNvPr id="15" name="Shape 13"/>
          <p:cNvSpPr/>
          <p:nvPr/>
        </p:nvSpPr>
        <p:spPr>
          <a:xfrm>
            <a:off x="1280160" y="2971800"/>
            <a:ext cx="8961120" cy="548640"/>
          </a:xfrm>
          <a:prstGeom prst="rect">
            <a:avLst/>
          </a:prstGeom>
          <a:solidFill>
            <a:srgbClr val="FFFFFF"/>
          </a:solidFill>
          <a:ln w="6350">
            <a:solidFill>
              <a:srgbClr val="CFDEE1"/>
            </a:solidFill>
            <a:prstDash val="solid"/>
          </a:ln>
        </p:spPr>
      </p:sp>
      <p:sp>
        <p:nvSpPr>
          <p:cNvPr id="16" name="Text 14"/>
          <p:cNvSpPr/>
          <p:nvPr/>
        </p:nvSpPr>
        <p:spPr>
          <a:xfrm>
            <a:off x="1280160" y="2971800"/>
            <a:ext cx="2377440" cy="548640"/>
          </a:xfrm>
          <a:prstGeom prst="rect">
            <a:avLst/>
          </a:prstGeom>
          <a:noFill/>
          <a:ln/>
        </p:spPr>
        <p:txBody>
          <a:bodyPr wrap="square" lIns="0" tIns="0" rIns="0" bIns="0" rtlCol="0" anchor="ctr"/>
          <a:lstStyle/>
          <a:p>
            <a:pPr algn="l" indent="0" marL="0">
              <a:buNone/>
            </a:pPr>
            <a:r>
              <a:rPr lang="en-US" sz="1350" b="1" dirty="0">
                <a:solidFill>
                  <a:srgbClr val="0F2E3D"/>
                </a:solidFill>
                <a:latin typeface="Courier New" pitchFamily="34" charset="0"/>
                <a:ea typeface="Courier New" pitchFamily="34" charset="-122"/>
                <a:cs typeface="Courier New" pitchFamily="34" charset="-120"/>
              </a:rPr>
              <a:t>HIGH →</a:t>
            </a:r>
            <a:endParaRPr lang="en-US" sz="1350" dirty="0"/>
          </a:p>
        </p:txBody>
      </p:sp>
      <p:sp>
        <p:nvSpPr>
          <p:cNvPr id="17" name="Text 15"/>
          <p:cNvSpPr/>
          <p:nvPr/>
        </p:nvSpPr>
        <p:spPr>
          <a:xfrm>
            <a:off x="3840480" y="2971800"/>
            <a:ext cx="2011680" cy="548640"/>
          </a:xfrm>
          <a:prstGeom prst="rect">
            <a:avLst/>
          </a:prstGeom>
          <a:noFill/>
          <a:ln/>
        </p:spPr>
        <p:txBody>
          <a:bodyPr wrap="square" lIns="0" tIns="0" rIns="0" bIns="0" rtlCol="0" anchor="ctr"/>
          <a:lstStyle/>
          <a:p>
            <a:pPr algn="ctr" indent="0" marL="0">
              <a:buNone/>
            </a:pPr>
            <a:r>
              <a:rPr lang="en-US" sz="1350" dirty="0">
                <a:solidFill>
                  <a:srgbClr val="0F2E3D"/>
                </a:solidFill>
                <a:latin typeface="Courier New" pitchFamily="34" charset="0"/>
                <a:ea typeface="Courier New" pitchFamily="34" charset="-122"/>
                <a:cs typeface="Courier New" pitchFamily="34" charset="-120"/>
              </a:rPr>
              <a:t>0</a:t>
            </a:r>
            <a:endParaRPr lang="en-US" sz="1350" dirty="0"/>
          </a:p>
        </p:txBody>
      </p:sp>
      <p:sp>
        <p:nvSpPr>
          <p:cNvPr id="18" name="Text 16"/>
          <p:cNvSpPr/>
          <p:nvPr/>
        </p:nvSpPr>
        <p:spPr>
          <a:xfrm>
            <a:off x="6035040" y="2971800"/>
            <a:ext cx="2011680" cy="548640"/>
          </a:xfrm>
          <a:prstGeom prst="rect">
            <a:avLst/>
          </a:prstGeom>
          <a:noFill/>
          <a:ln/>
        </p:spPr>
        <p:txBody>
          <a:bodyPr wrap="square" lIns="0" tIns="0" rIns="0" bIns="0" rtlCol="0" anchor="ctr"/>
          <a:lstStyle/>
          <a:p>
            <a:pPr algn="ctr" indent="0" marL="0">
              <a:buNone/>
            </a:pPr>
            <a:r>
              <a:rPr lang="en-US" sz="1350" dirty="0">
                <a:solidFill>
                  <a:srgbClr val="0F2E3D"/>
                </a:solidFill>
                <a:latin typeface="Courier New" pitchFamily="34" charset="0"/>
                <a:ea typeface="Courier New" pitchFamily="34" charset="-122"/>
                <a:cs typeface="Courier New" pitchFamily="34" charset="-120"/>
              </a:rPr>
              <a:t>0</a:t>
            </a:r>
            <a:endParaRPr lang="en-US" sz="1350" dirty="0"/>
          </a:p>
        </p:txBody>
      </p:sp>
      <p:sp>
        <p:nvSpPr>
          <p:cNvPr id="19" name="Text 17"/>
          <p:cNvSpPr/>
          <p:nvPr/>
        </p:nvSpPr>
        <p:spPr>
          <a:xfrm>
            <a:off x="8229600" y="2971800"/>
            <a:ext cx="2011680" cy="548640"/>
          </a:xfrm>
          <a:prstGeom prst="rect">
            <a:avLst/>
          </a:prstGeom>
          <a:noFill/>
          <a:ln/>
        </p:spPr>
        <p:txBody>
          <a:bodyPr wrap="square" lIns="0" tIns="0" rIns="0" bIns="0" rtlCol="0" anchor="ctr"/>
          <a:lstStyle/>
          <a:p>
            <a:pPr algn="ctr" indent="0" marL="0">
              <a:buNone/>
            </a:pPr>
            <a:r>
              <a:rPr lang="en-US" sz="1350" dirty="0">
                <a:solidFill>
                  <a:srgbClr val="0F2E3D"/>
                </a:solidFill>
                <a:latin typeface="Courier New" pitchFamily="34" charset="0"/>
                <a:ea typeface="Courier New" pitchFamily="34" charset="-122"/>
                <a:cs typeface="Courier New" pitchFamily="34" charset="-120"/>
              </a:rPr>
              <a:t>0</a:t>
            </a:r>
            <a:endParaRPr lang="en-US" sz="1350" dirty="0"/>
          </a:p>
        </p:txBody>
      </p:sp>
      <p:sp>
        <p:nvSpPr>
          <p:cNvPr id="20" name="Shape 18"/>
          <p:cNvSpPr/>
          <p:nvPr/>
        </p:nvSpPr>
        <p:spPr>
          <a:xfrm>
            <a:off x="1280160" y="3520440"/>
            <a:ext cx="8961120" cy="548640"/>
          </a:xfrm>
          <a:prstGeom prst="rect">
            <a:avLst/>
          </a:prstGeom>
          <a:solidFill>
            <a:srgbClr val="FFFFFF"/>
          </a:solidFill>
          <a:ln w="6350">
            <a:solidFill>
              <a:srgbClr val="CFDEE1"/>
            </a:solidFill>
            <a:prstDash val="solid"/>
          </a:ln>
        </p:spPr>
      </p:sp>
      <p:sp>
        <p:nvSpPr>
          <p:cNvPr id="21" name="Text 19"/>
          <p:cNvSpPr/>
          <p:nvPr/>
        </p:nvSpPr>
        <p:spPr>
          <a:xfrm>
            <a:off x="1280160" y="3520440"/>
            <a:ext cx="2377440" cy="548640"/>
          </a:xfrm>
          <a:prstGeom prst="rect">
            <a:avLst/>
          </a:prstGeom>
          <a:noFill/>
          <a:ln/>
        </p:spPr>
        <p:txBody>
          <a:bodyPr wrap="square" lIns="0" tIns="0" rIns="0" bIns="0" rtlCol="0" anchor="ctr"/>
          <a:lstStyle/>
          <a:p>
            <a:pPr algn="l" indent="0" marL="0">
              <a:buNone/>
            </a:pPr>
            <a:r>
              <a:rPr lang="en-US" sz="1350" b="1" dirty="0">
                <a:solidFill>
                  <a:srgbClr val="0F2E3D"/>
                </a:solidFill>
                <a:latin typeface="Courier New" pitchFamily="34" charset="0"/>
                <a:ea typeface="Courier New" pitchFamily="34" charset="-122"/>
                <a:cs typeface="Courier New" pitchFamily="34" charset="-120"/>
              </a:rPr>
              <a:t>LOW →</a:t>
            </a:r>
            <a:endParaRPr lang="en-US" sz="1350" dirty="0"/>
          </a:p>
        </p:txBody>
      </p:sp>
      <p:sp>
        <p:nvSpPr>
          <p:cNvPr id="22" name="Text 20"/>
          <p:cNvSpPr/>
          <p:nvPr/>
        </p:nvSpPr>
        <p:spPr>
          <a:xfrm>
            <a:off x="3840480" y="3520440"/>
            <a:ext cx="2011680" cy="548640"/>
          </a:xfrm>
          <a:prstGeom prst="rect">
            <a:avLst/>
          </a:prstGeom>
          <a:noFill/>
          <a:ln/>
        </p:spPr>
        <p:txBody>
          <a:bodyPr wrap="square" lIns="0" tIns="0" rIns="0" bIns="0" rtlCol="0" anchor="ctr"/>
          <a:lstStyle/>
          <a:p>
            <a:pPr algn="ctr" indent="0" marL="0">
              <a:buNone/>
            </a:pPr>
            <a:r>
              <a:rPr lang="en-US" sz="1350" dirty="0">
                <a:solidFill>
                  <a:srgbClr val="0F2E3D"/>
                </a:solidFill>
                <a:latin typeface="Courier New" pitchFamily="34" charset="0"/>
                <a:ea typeface="Courier New" pitchFamily="34" charset="-122"/>
                <a:cs typeface="Courier New" pitchFamily="34" charset="-120"/>
              </a:rPr>
              <a:t>0</a:t>
            </a:r>
            <a:endParaRPr lang="en-US" sz="1350" dirty="0"/>
          </a:p>
        </p:txBody>
      </p:sp>
      <p:sp>
        <p:nvSpPr>
          <p:cNvPr id="23" name="Text 21"/>
          <p:cNvSpPr/>
          <p:nvPr/>
        </p:nvSpPr>
        <p:spPr>
          <a:xfrm>
            <a:off x="6035040" y="3520440"/>
            <a:ext cx="2011680" cy="548640"/>
          </a:xfrm>
          <a:prstGeom prst="rect">
            <a:avLst/>
          </a:prstGeom>
          <a:noFill/>
          <a:ln/>
        </p:spPr>
        <p:txBody>
          <a:bodyPr wrap="square" lIns="0" tIns="0" rIns="0" bIns="0" rtlCol="0" anchor="ctr"/>
          <a:lstStyle/>
          <a:p>
            <a:pPr algn="ctr" indent="0" marL="0">
              <a:buNone/>
            </a:pPr>
            <a:r>
              <a:rPr lang="en-US" sz="1350" dirty="0">
                <a:solidFill>
                  <a:srgbClr val="0F2E3D"/>
                </a:solidFill>
                <a:latin typeface="Courier New" pitchFamily="34" charset="0"/>
                <a:ea typeface="Courier New" pitchFamily="34" charset="-122"/>
                <a:cs typeface="Courier New" pitchFamily="34" charset="-120"/>
              </a:rPr>
              <a:t>0</a:t>
            </a:r>
            <a:endParaRPr lang="en-US" sz="1350" dirty="0"/>
          </a:p>
        </p:txBody>
      </p:sp>
      <p:sp>
        <p:nvSpPr>
          <p:cNvPr id="24" name="Text 22"/>
          <p:cNvSpPr/>
          <p:nvPr/>
        </p:nvSpPr>
        <p:spPr>
          <a:xfrm>
            <a:off x="8229600" y="3520440"/>
            <a:ext cx="2011680" cy="548640"/>
          </a:xfrm>
          <a:prstGeom prst="rect">
            <a:avLst/>
          </a:prstGeom>
          <a:noFill/>
          <a:ln/>
        </p:spPr>
        <p:txBody>
          <a:bodyPr wrap="square" lIns="0" tIns="0" rIns="0" bIns="0" rtlCol="0" anchor="ctr"/>
          <a:lstStyle/>
          <a:p>
            <a:pPr algn="ctr" indent="0" marL="0">
              <a:buNone/>
            </a:pPr>
            <a:r>
              <a:rPr lang="en-US" sz="1350" dirty="0">
                <a:solidFill>
                  <a:srgbClr val="0F2E3D"/>
                </a:solidFill>
                <a:latin typeface="Courier New" pitchFamily="34" charset="0"/>
                <a:ea typeface="Courier New" pitchFamily="34" charset="-122"/>
                <a:cs typeface="Courier New" pitchFamily="34" charset="-120"/>
              </a:rPr>
              <a:t>0</a:t>
            </a:r>
            <a:endParaRPr lang="en-US" sz="1350" dirty="0"/>
          </a:p>
        </p:txBody>
      </p:sp>
      <p:sp>
        <p:nvSpPr>
          <p:cNvPr id="25" name="Shape 23"/>
          <p:cNvSpPr/>
          <p:nvPr/>
        </p:nvSpPr>
        <p:spPr>
          <a:xfrm>
            <a:off x="640080" y="4297680"/>
            <a:ext cx="10972800" cy="960120"/>
          </a:xfrm>
          <a:prstGeom prst="roundRect">
            <a:avLst>
              <a:gd name="adj" fmla="val 8571"/>
            </a:avLst>
          </a:prstGeom>
          <a:solidFill>
            <a:srgbClr val="FBEAE4"/>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6" name="Text 24"/>
          <p:cNvSpPr/>
          <p:nvPr/>
        </p:nvSpPr>
        <p:spPr>
          <a:xfrm>
            <a:off x="914400" y="4453128"/>
            <a:ext cx="10424160" cy="685800"/>
          </a:xfrm>
          <a:prstGeom prst="rect">
            <a:avLst/>
          </a:prstGeom>
          <a:noFill/>
          <a:ln/>
        </p:spPr>
        <p:txBody>
          <a:bodyPr wrap="square" lIns="0" tIns="0" rIns="0" bIns="0" rtlCol="0" anchor="ctr"/>
          <a:lstStyle/>
          <a:p>
            <a:pPr indent="0" marL="0">
              <a:lnSpc>
                <a:spcPts val="1900"/>
              </a:lnSpc>
              <a:buNone/>
            </a:pPr>
            <a:r>
              <a:rPr lang="en-US" sz="1350" b="1" dirty="0">
                <a:solidFill>
                  <a:srgbClr val="0F2E3D"/>
                </a:solidFill>
                <a:latin typeface="Courier New" pitchFamily="34" charset="0"/>
                <a:ea typeface="Courier New" pitchFamily="34" charset="-122"/>
                <a:cs typeface="Courier New" pitchFamily="34" charset="-120"/>
              </a:rPr>
              <a:t>ABC-01-01-003  ·  ALT  24 → 72 U/L  (range 7–56)  ·  Drug A</a:t>
            </a:r>
            <a:pPr indent="0" marL="0">
              <a:lnSpc>
                <a:spcPts val="1900"/>
              </a:lnSpc>
              <a:buNone/>
            </a:pPr>
            <a:endParaRPr lang="en-US" sz="1350" dirty="0"/>
          </a:p>
          <a:p>
            <a:pPr indent="0" marL="0">
              <a:lnSpc>
                <a:spcPts val="1900"/>
              </a:lnSpc>
              <a:buNone/>
            </a:pPr>
            <a:r>
              <a:rPr lang="en-US" sz="1350" dirty="0">
                <a:solidFill>
                  <a:srgbClr val="5A7682"/>
                </a:solidFill>
                <a:latin typeface="Calibri" pitchFamily="34" charset="0"/>
                <a:ea typeface="Calibri" pitchFamily="34" charset="-122"/>
                <a:cs typeface="Calibri" pitchFamily="34" charset="-120"/>
              </a:rPr>
              <a:t>A liver enzyme crossing the upper limit on active treatment — exactly the signal a hepatotoxicity review exists to find.</a:t>
            </a:r>
            <a:endParaRPr lang="en-US" sz="1350" dirty="0"/>
          </a:p>
        </p:txBody>
      </p:sp>
      <p:sp>
        <p:nvSpPr>
          <p:cNvPr id="27" name="Shape 25"/>
          <p:cNvSpPr/>
          <p:nvPr/>
        </p:nvSpPr>
        <p:spPr>
          <a:xfrm>
            <a:off x="640080" y="5440680"/>
            <a:ext cx="10972800" cy="914400"/>
          </a:xfrm>
          <a:prstGeom prst="roundRect">
            <a:avLst>
              <a:gd name="adj" fmla="val 9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8" name="Text 26"/>
          <p:cNvSpPr/>
          <p:nvPr/>
        </p:nvSpPr>
        <p:spPr>
          <a:xfrm>
            <a:off x="914400" y="5596128"/>
            <a:ext cx="10424160" cy="640080"/>
          </a:xfrm>
          <a:prstGeom prst="rect">
            <a:avLst/>
          </a:prstGeom>
          <a:noFill/>
          <a:ln/>
        </p:spPr>
        <p:txBody>
          <a:bodyPr wrap="square" lIns="0" tIns="0" rIns="0" bIns="0" rtlCol="0" anchor="ctr"/>
          <a:lstStyle/>
          <a:p>
            <a:pPr indent="0" marL="0">
              <a:lnSpc>
                <a:spcPts val="1900"/>
              </a:lnSpc>
              <a:buNone/>
            </a:pPr>
            <a:r>
              <a:rPr lang="en-US" sz="1350" b="1" dirty="0">
                <a:solidFill>
                  <a:srgbClr val="0F2E3D"/>
                </a:solidFill>
                <a:latin typeface="Calibri" pitchFamily="34" charset="0"/>
                <a:ea typeface="Calibri" pitchFamily="34" charset="-122"/>
                <a:cs typeface="Calibri" pitchFamily="34" charset="-120"/>
              </a:rPr>
              <a:t>The diagonal means “stayed in the same category”. Off-diagonal means the result CROSSED A CLINICAL BOUNDARY </a:t>
            </a:r>
            <a:pPr indent="0" marL="0">
              <a:lnSpc>
                <a:spcPts val="1900"/>
              </a:lnSpc>
              <a:buNone/>
            </a:pPr>
            <a:r>
              <a:rPr lang="en-US" sz="1350" dirty="0">
                <a:solidFill>
                  <a:srgbClr val="5A7682"/>
                </a:solidFill>
                <a:latin typeface="Calibri" pitchFamily="34" charset="0"/>
                <a:ea typeface="Calibri" pitchFamily="34" charset="-122"/>
                <a:cs typeface="Calibri" pitchFamily="34" charset="-120"/>
              </a:rPr>
              <a:t>— the point at which a number stops being reassuring and starts requiring explanation.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CRITERION FLAGS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Blank is not 'N'</a:t>
            </a:r>
            <a:endParaRPr lang="en-US" sz="3000" dirty="0"/>
          </a:p>
        </p:txBody>
      </p:sp>
      <p:sp>
        <p:nvSpPr>
          <p:cNvPr id="4" name="Shape 2"/>
          <p:cNvSpPr/>
          <p:nvPr/>
        </p:nvSpPr>
        <p:spPr>
          <a:xfrm>
            <a:off x="640080" y="1508760"/>
            <a:ext cx="10972800" cy="1774444"/>
          </a:xfrm>
          <a:prstGeom prst="roundRect">
            <a:avLst>
              <a:gd name="adj" fmla="val 4123"/>
            </a:avLst>
          </a:prstGeom>
          <a:solidFill>
            <a:srgbClr val="13323F"/>
          </a:solidFill>
          <a:ln w="19050">
            <a:solidFill>
              <a:srgbClr val="0E7C86"/>
            </a:solidFill>
            <a:prstDash val="solid"/>
          </a:ln>
        </p:spPr>
      </p:sp>
      <p:sp>
        <p:nvSpPr>
          <p:cNvPr id="5" name="Text 3"/>
          <p:cNvSpPr/>
          <p:nvPr/>
        </p:nvSpPr>
        <p:spPr>
          <a:xfrm>
            <a:off x="868680" y="1600200"/>
            <a:ext cx="5486400" cy="320040"/>
          </a:xfrm>
          <a:prstGeom prst="rect">
            <a:avLst/>
          </a:prstGeom>
          <a:noFill/>
          <a:ln/>
        </p:spPr>
        <p:txBody>
          <a:bodyPr wrap="square" lIns="0" tIns="0" rIns="0" bIns="0" rtlCol="0" anchor="ctr"/>
          <a:lstStyle/>
          <a:p>
            <a:pPr indent="0" marL="0">
              <a:buNone/>
            </a:pPr>
            <a:r>
              <a:rPr lang="en-US" sz="1400" b="1" dirty="0">
                <a:solidFill>
                  <a:srgbClr val="0E7C86"/>
                </a:solidFill>
                <a:latin typeface="Cambria" pitchFamily="34" charset="0"/>
                <a:ea typeface="Cambria" pitchFamily="34" charset="-122"/>
                <a:cs typeface="Cambria" pitchFamily="34" charset="-120"/>
              </a:rPr>
              <a:t>THE CRITERION</a:t>
            </a:r>
            <a:endParaRPr lang="en-US" sz="1400" dirty="0"/>
          </a:p>
        </p:txBody>
      </p:sp>
      <p:sp>
        <p:nvSpPr>
          <p:cNvPr id="6" name="Text 4"/>
          <p:cNvSpPr/>
          <p:nvPr/>
        </p:nvSpPr>
        <p:spPr>
          <a:xfrm>
            <a:off x="868680" y="1965960"/>
            <a:ext cx="10561320" cy="12075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if paramcd = 'ALT' then do;</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crit1 = 'ALT &gt; ULN';</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if aval &gt; anrhi then crit1fl = 'Y'; else crit1fl = 'N';</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end;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 every other parameter: BLANK */</a:t>
            </a:r>
            <a:endParaRPr lang="en-US" sz="1200" dirty="0"/>
          </a:p>
        </p:txBody>
      </p:sp>
      <p:sp>
        <p:nvSpPr>
          <p:cNvPr id="7" name="Shape 5"/>
          <p:cNvSpPr/>
          <p:nvPr/>
        </p:nvSpPr>
        <p:spPr>
          <a:xfrm>
            <a:off x="640080" y="3200400"/>
            <a:ext cx="5394960" cy="1371600"/>
          </a:xfrm>
          <a:prstGeom prst="roundRect">
            <a:avLst>
              <a:gd name="adj" fmla="val 6000"/>
            </a:avLst>
          </a:prstGeom>
          <a:solidFill>
            <a:srgbClr val="E8F4F1"/>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8" name="Text 6"/>
          <p:cNvSpPr/>
          <p:nvPr/>
        </p:nvSpPr>
        <p:spPr>
          <a:xfrm>
            <a:off x="914400" y="3346704"/>
            <a:ext cx="4846320" cy="320040"/>
          </a:xfrm>
          <a:prstGeom prst="rect">
            <a:avLst/>
          </a:prstGeom>
          <a:noFill/>
          <a:ln/>
        </p:spPr>
        <p:txBody>
          <a:bodyPr wrap="square" lIns="0" tIns="0" rIns="0" bIns="0" rtlCol="0" anchor="ctr"/>
          <a:lstStyle/>
          <a:p>
            <a:pPr indent="0" marL="0">
              <a:buNone/>
            </a:pPr>
            <a:r>
              <a:rPr lang="en-US" sz="1500" b="1" dirty="0">
                <a:solidFill>
                  <a:srgbClr val="1FA8A0"/>
                </a:solidFill>
                <a:latin typeface="Cambria" pitchFamily="34" charset="0"/>
                <a:ea typeface="Cambria" pitchFamily="34" charset="-122"/>
                <a:cs typeface="Cambria" pitchFamily="34" charset="-120"/>
              </a:rPr>
              <a:t>Correct — blank off-parameter</a:t>
            </a:r>
            <a:endParaRPr lang="en-US" sz="1500" dirty="0"/>
          </a:p>
        </p:txBody>
      </p:sp>
      <p:sp>
        <p:nvSpPr>
          <p:cNvPr id="9" name="Text 7"/>
          <p:cNvSpPr/>
          <p:nvPr/>
        </p:nvSpPr>
        <p:spPr>
          <a:xfrm>
            <a:off x="914400" y="3703320"/>
            <a:ext cx="4846320" cy="411480"/>
          </a:xfrm>
          <a:prstGeom prst="rect">
            <a:avLst/>
          </a:prstGeom>
          <a:noFill/>
          <a:ln/>
        </p:spPr>
        <p:txBody>
          <a:bodyPr wrap="square" lIns="0" tIns="0" rIns="0" bIns="0" rtlCol="0" anchor="ctr"/>
          <a:lstStyle/>
          <a:p>
            <a:pPr indent="0" marL="0">
              <a:buNone/>
            </a:pPr>
            <a:r>
              <a:rPr lang="en-US" sz="1700" b="1" dirty="0">
                <a:solidFill>
                  <a:srgbClr val="0F2E3D"/>
                </a:solidFill>
                <a:latin typeface="Courier New" pitchFamily="34" charset="0"/>
                <a:ea typeface="Courier New" pitchFamily="34" charset="-122"/>
                <a:cs typeface="Courier New" pitchFamily="34" charset="-120"/>
              </a:rPr>
              <a:t>1 of 8 evaluated  =  12.5%</a:t>
            </a:r>
            <a:endParaRPr lang="en-US" sz="1700" dirty="0"/>
          </a:p>
        </p:txBody>
      </p:sp>
      <p:sp>
        <p:nvSpPr>
          <p:cNvPr id="10" name="Text 8"/>
          <p:cNvSpPr/>
          <p:nvPr/>
        </p:nvSpPr>
        <p:spPr>
          <a:xfrm>
            <a:off x="914400" y="4160520"/>
            <a:ext cx="4846320" cy="320040"/>
          </a:xfrm>
          <a:prstGeom prst="rect">
            <a:avLst/>
          </a:prstGeom>
          <a:noFill/>
          <a:ln/>
        </p:spPr>
        <p:txBody>
          <a:bodyPr wrap="square" lIns="0" tIns="0" rIns="0" bIns="0" rtlCol="0" anchor="ctr"/>
          <a:lstStyle/>
          <a:p>
            <a:pPr indent="0" marL="0">
              <a:buNone/>
            </a:pPr>
            <a:r>
              <a:rPr lang="en-US" sz="1250" i="1" dirty="0">
                <a:solidFill>
                  <a:srgbClr val="5A7682"/>
                </a:solidFill>
                <a:latin typeface="Calibri" pitchFamily="34" charset="0"/>
                <a:ea typeface="Calibri" pitchFamily="34" charset="-122"/>
                <a:cs typeface="Calibri" pitchFamily="34" charset="-120"/>
              </a:rPr>
              <a:t>Only ALT records were evaluated.</a:t>
            </a:r>
            <a:endParaRPr lang="en-US" sz="1250" dirty="0"/>
          </a:p>
        </p:txBody>
      </p:sp>
      <p:sp>
        <p:nvSpPr>
          <p:cNvPr id="11" name="Shape 9"/>
          <p:cNvSpPr/>
          <p:nvPr/>
        </p:nvSpPr>
        <p:spPr>
          <a:xfrm>
            <a:off x="6309360" y="3200400"/>
            <a:ext cx="5303520" cy="1371600"/>
          </a:xfrm>
          <a:prstGeom prst="roundRect">
            <a:avLst>
              <a:gd name="adj" fmla="val 6000"/>
            </a:avLst>
          </a:prstGeom>
          <a:solidFill>
            <a:srgbClr val="FBEAE4"/>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10"/>
          <p:cNvSpPr/>
          <p:nvPr/>
        </p:nvSpPr>
        <p:spPr>
          <a:xfrm>
            <a:off x="6583680" y="3346704"/>
            <a:ext cx="4754880" cy="320040"/>
          </a:xfrm>
          <a:prstGeom prst="rect">
            <a:avLst/>
          </a:prstGeom>
          <a:noFill/>
          <a:ln/>
        </p:spPr>
        <p:txBody>
          <a:bodyPr wrap="square" lIns="0" tIns="0" rIns="0" bIns="0" rtlCol="0" anchor="ctr"/>
          <a:lstStyle/>
          <a:p>
            <a:pPr indent="0" marL="0">
              <a:buNone/>
            </a:pPr>
            <a:r>
              <a:rPr lang="en-US" sz="1500" b="1" dirty="0">
                <a:solidFill>
                  <a:srgbClr val="C4442E"/>
                </a:solidFill>
                <a:latin typeface="Cambria" pitchFamily="34" charset="0"/>
                <a:ea typeface="Cambria" pitchFamily="34" charset="-122"/>
                <a:cs typeface="Cambria" pitchFamily="34" charset="-120"/>
              </a:rPr>
              <a:t>Wrong — 'N' everywhere</a:t>
            </a:r>
            <a:endParaRPr lang="en-US" sz="1500" dirty="0"/>
          </a:p>
        </p:txBody>
      </p:sp>
      <p:sp>
        <p:nvSpPr>
          <p:cNvPr id="13" name="Text 11"/>
          <p:cNvSpPr/>
          <p:nvPr/>
        </p:nvSpPr>
        <p:spPr>
          <a:xfrm>
            <a:off x="6583680" y="3703320"/>
            <a:ext cx="4754880" cy="411480"/>
          </a:xfrm>
          <a:prstGeom prst="rect">
            <a:avLst/>
          </a:prstGeom>
          <a:noFill/>
          <a:ln/>
        </p:spPr>
        <p:txBody>
          <a:bodyPr wrap="square" lIns="0" tIns="0" rIns="0" bIns="0" rtlCol="0" anchor="ctr"/>
          <a:lstStyle/>
          <a:p>
            <a:pPr indent="0" marL="0">
              <a:buNone/>
            </a:pPr>
            <a:r>
              <a:rPr lang="en-US" sz="1700" b="1" dirty="0">
                <a:solidFill>
                  <a:srgbClr val="0F2E3D"/>
                </a:solidFill>
                <a:latin typeface="Courier New" pitchFamily="34" charset="0"/>
                <a:ea typeface="Courier New" pitchFamily="34" charset="-122"/>
                <a:cs typeface="Courier New" pitchFamily="34" charset="-120"/>
              </a:rPr>
              <a:t>1 of 48 evaluated  =  2.1%</a:t>
            </a:r>
            <a:endParaRPr lang="en-US" sz="1700" dirty="0"/>
          </a:p>
        </p:txBody>
      </p:sp>
      <p:sp>
        <p:nvSpPr>
          <p:cNvPr id="14" name="Text 12"/>
          <p:cNvSpPr/>
          <p:nvPr/>
        </p:nvSpPr>
        <p:spPr>
          <a:xfrm>
            <a:off x="6583680" y="4160520"/>
            <a:ext cx="4754880" cy="320040"/>
          </a:xfrm>
          <a:prstGeom prst="rect">
            <a:avLst/>
          </a:prstGeom>
          <a:noFill/>
          <a:ln/>
        </p:spPr>
        <p:txBody>
          <a:bodyPr wrap="square" lIns="0" tIns="0" rIns="0" bIns="0" rtlCol="0" anchor="ctr"/>
          <a:lstStyle/>
          <a:p>
            <a:pPr indent="0" marL="0">
              <a:buNone/>
            </a:pPr>
            <a:r>
              <a:rPr lang="en-US" sz="1250" i="1" dirty="0">
                <a:solidFill>
                  <a:srgbClr val="C4442E"/>
                </a:solidFill>
                <a:latin typeface="Calibri" pitchFamily="34" charset="0"/>
                <a:ea typeface="Calibri" pitchFamily="34" charset="-122"/>
                <a:cs typeface="Calibri" pitchFamily="34" charset="-120"/>
              </a:rPr>
              <a:t>The rate collapses by a factor of six.</a:t>
            </a:r>
            <a:endParaRPr lang="en-US" sz="1250" dirty="0"/>
          </a:p>
        </p:txBody>
      </p:sp>
      <p:sp>
        <p:nvSpPr>
          <p:cNvPr id="15" name="Shape 13"/>
          <p:cNvSpPr/>
          <p:nvPr/>
        </p:nvSpPr>
        <p:spPr>
          <a:xfrm>
            <a:off x="640080" y="4800600"/>
            <a:ext cx="10972800" cy="1463040"/>
          </a:xfrm>
          <a:prstGeom prst="roundRect">
            <a:avLst>
              <a:gd name="adj" fmla="val 562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6" name="Text 14"/>
          <p:cNvSpPr/>
          <p:nvPr/>
        </p:nvSpPr>
        <p:spPr>
          <a:xfrm>
            <a:off x="914400" y="4956048"/>
            <a:ext cx="10424160" cy="3200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'N' on a creatinine record asserts something false:</a:t>
            </a:r>
            <a:endParaRPr lang="en-US" sz="1400" dirty="0"/>
          </a:p>
        </p:txBody>
      </p:sp>
      <p:sp>
        <p:nvSpPr>
          <p:cNvPr id="17" name="Text 15"/>
          <p:cNvSpPr/>
          <p:nvPr/>
        </p:nvSpPr>
        <p:spPr>
          <a:xfrm>
            <a:off x="914400" y="5303520"/>
            <a:ext cx="10424160" cy="320040"/>
          </a:xfrm>
          <a:prstGeom prst="rect">
            <a:avLst/>
          </a:prstGeom>
          <a:noFill/>
          <a:ln/>
        </p:spPr>
        <p:txBody>
          <a:bodyPr wrap="square" lIns="0" tIns="0" rIns="0" bIns="0" rtlCol="0" anchor="ctr"/>
          <a:lstStyle/>
          <a:p>
            <a:pPr indent="0" marL="0">
              <a:buNone/>
            </a:pPr>
            <a:r>
              <a:rPr lang="en-US" sz="1400" i="1" dirty="0">
                <a:solidFill>
                  <a:srgbClr val="C4442E"/>
                </a:solidFill>
                <a:latin typeface="Calibri" pitchFamily="34" charset="0"/>
                <a:ea typeface="Calibri" pitchFamily="34" charset="-122"/>
                <a:cs typeface="Calibri" pitchFamily="34" charset="-120"/>
              </a:rPr>
              <a:t>“This record was evaluated against criterion 1 — ALT &gt; ULN — and did not meet it.”</a:t>
            </a:r>
            <a:endParaRPr lang="en-US" sz="1400" dirty="0"/>
          </a:p>
        </p:txBody>
      </p:sp>
      <p:sp>
        <p:nvSpPr>
          <p:cNvPr id="18" name="Text 16"/>
          <p:cNvSpPr/>
          <p:nvPr/>
        </p:nvSpPr>
        <p:spPr>
          <a:xfrm>
            <a:off x="914400" y="5669280"/>
            <a:ext cx="10424160" cy="502920"/>
          </a:xfrm>
          <a:prstGeom prst="rect">
            <a:avLst/>
          </a:prstGeom>
          <a:noFill/>
          <a:ln/>
        </p:spPr>
        <p:txBody>
          <a:bodyPr wrap="square" lIns="0" tIns="0" rIns="0" bIns="0" rtlCol="0" anchor="ctr"/>
          <a:lstStyle/>
          <a:p>
            <a:pPr indent="0" marL="0">
              <a:lnSpc>
                <a:spcPts val="1800"/>
              </a:lnSpc>
              <a:buNone/>
            </a:pPr>
            <a:r>
              <a:rPr lang="en-US" sz="1300" dirty="0">
                <a:solidFill>
                  <a:srgbClr val="5A7682"/>
                </a:solidFill>
                <a:latin typeface="Calibri" pitchFamily="34" charset="0"/>
                <a:ea typeface="Calibri" pitchFamily="34" charset="-122"/>
                <a:cs typeface="Calibri" pitchFamily="34" charset="-120"/>
              </a:rPr>
              <a:t>ADaM needs THREE states — met (Y), evaluated and not met (N), not evaluated (blank). Collapsing the third into the second destroys it permanently: nothing distinguishes a real N from a manufactured one.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9326880" y="4206240"/>
            <a:ext cx="4572000" cy="4572000"/>
          </a:xfrm>
          <a:prstGeom prst="ellipse">
            <a:avLst/>
          </a:prstGeom>
          <a:solidFill>
            <a:srgbClr val="133B4C"/>
          </a:solidFill>
          <a:ln/>
        </p:spPr>
      </p:sp>
      <p:sp>
        <p:nvSpPr>
          <p:cNvPr id="3" name="Shape 1"/>
          <p:cNvSpPr/>
          <p:nvPr/>
        </p:nvSpPr>
        <p:spPr>
          <a:xfrm>
            <a:off x="10241280" y="5120640"/>
            <a:ext cx="2743200" cy="2743200"/>
          </a:xfrm>
          <a:prstGeom prst="ellipse">
            <a:avLst/>
          </a:prstGeom>
          <a:solidFill>
            <a:srgbClr val="0E7C86"/>
          </a:solidFill>
          <a:ln/>
        </p:spPr>
      </p:sp>
      <p:sp>
        <p:nvSpPr>
          <p:cNvPr id="4" name="Text 2"/>
          <p:cNvSpPr/>
          <p:nvPr/>
        </p:nvSpPr>
        <p:spPr>
          <a:xfrm>
            <a:off x="640080" y="1280160"/>
            <a:ext cx="10058400" cy="320040"/>
          </a:xfrm>
          <a:prstGeom prst="rect">
            <a:avLst/>
          </a:prstGeom>
          <a:noFill/>
          <a:ln/>
        </p:spPr>
        <p:txBody>
          <a:bodyPr wrap="square" lIns="0" tIns="0" rIns="0" bIns="0" rtlCol="0" anchor="ctr"/>
          <a:lstStyle/>
          <a:p>
            <a:pPr indent="0" marL="0">
              <a:buNone/>
            </a:pPr>
            <a:r>
              <a:rPr lang="en-US" sz="1300" b="1" spc="200" kern="0" dirty="0">
                <a:solidFill>
                  <a:srgbClr val="6FC8B4"/>
                </a:solidFill>
                <a:latin typeface="Calibri" pitchFamily="34" charset="0"/>
                <a:ea typeface="Calibri" pitchFamily="34" charset="-122"/>
                <a:cs typeface="Calibri" pitchFamily="34" charset="-120"/>
              </a:rPr>
              <a:t>WHAT'S NEXT</a:t>
            </a:r>
            <a:endParaRPr lang="en-US" sz="1300" dirty="0"/>
          </a:p>
        </p:txBody>
      </p:sp>
      <p:sp>
        <p:nvSpPr>
          <p:cNvPr id="5" name="Text 3"/>
          <p:cNvSpPr/>
          <p:nvPr/>
        </p:nvSpPr>
        <p:spPr>
          <a:xfrm>
            <a:off x="603504" y="164592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48 rows, 4 subjects, one abnormal</a:t>
            </a:r>
            <a:endParaRPr lang="en-US" sz="3200" dirty="0"/>
          </a:p>
        </p:txBody>
      </p:sp>
      <p:sp>
        <p:nvSpPr>
          <p:cNvPr id="6" name="Shape 4"/>
          <p:cNvSpPr/>
          <p:nvPr/>
        </p:nvSpPr>
        <p:spPr>
          <a:xfrm>
            <a:off x="640080" y="2743200"/>
            <a:ext cx="566928" cy="566928"/>
          </a:xfrm>
          <a:prstGeom prst="ellipse">
            <a:avLst/>
          </a:prstGeom>
          <a:solidFill>
            <a:srgbClr val="E8833A"/>
          </a:solidFill>
          <a:ln/>
        </p:spPr>
      </p:sp>
      <p:sp>
        <p:nvSpPr>
          <p:cNvPr id="7" name="Text 5"/>
          <p:cNvSpPr/>
          <p:nvPr/>
        </p:nvSpPr>
        <p:spPr>
          <a:xfrm>
            <a:off x="640080" y="274320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1417320" y="2724912"/>
            <a:ext cx="9875520" cy="8229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1 · Notebook 17   </a:t>
            </a:r>
            <a:pPr indent="0" marL="0">
              <a:buNone/>
            </a:pPr>
            <a:r>
              <a:rPr lang="en-US" sz="1350" dirty="0">
                <a:solidFill>
                  <a:srgbClr val="C7DCE0"/>
                </a:solidFill>
                <a:latin typeface="Calibri" pitchFamily="34" charset="0"/>
                <a:ea typeface="Calibri" pitchFamily="34" charset="-122"/>
                <a:cs typeface="Calibri" pitchFamily="34" charset="-120"/>
              </a:rPr>
              <a:t>Build ADLB. The BDS skeleton from yesterday, plus ranges, shifts and the criterion flag.</a:t>
            </a:r>
            <a:endParaRPr lang="en-US" sz="1700" dirty="0"/>
          </a:p>
        </p:txBody>
      </p:sp>
      <p:sp>
        <p:nvSpPr>
          <p:cNvPr id="9" name="Shape 7"/>
          <p:cNvSpPr/>
          <p:nvPr/>
        </p:nvSpPr>
        <p:spPr>
          <a:xfrm>
            <a:off x="640080" y="3749040"/>
            <a:ext cx="566928" cy="566928"/>
          </a:xfrm>
          <a:prstGeom prst="ellipse">
            <a:avLst/>
          </a:prstGeom>
          <a:solidFill>
            <a:srgbClr val="0E7C86"/>
          </a:solidFill>
          <a:ln/>
        </p:spPr>
      </p:sp>
      <p:sp>
        <p:nvSpPr>
          <p:cNvPr id="10" name="Text 8"/>
          <p:cNvSpPr/>
          <p:nvPr/>
        </p:nvSpPr>
        <p:spPr>
          <a:xfrm>
            <a:off x="640080" y="374904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417320" y="3730752"/>
            <a:ext cx="9875520" cy="8229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2 · Exercise 1   </a:t>
            </a:r>
            <a:pPr indent="0" marL="0">
              <a:buNone/>
            </a:pPr>
            <a:r>
              <a:rPr lang="en-US" sz="1350" dirty="0">
                <a:solidFill>
                  <a:srgbClr val="C7DCE0"/>
                </a:solidFill>
                <a:latin typeface="Calibri" pitchFamily="34" charset="0"/>
                <a:ea typeface="Calibri" pitchFamily="34" charset="-122"/>
                <a:cs typeface="Calibri" pitchFamily="34" charset="-120"/>
              </a:rPr>
              <a:t>Compute the same percentage with both denominators. 25.0% and 33.3% — one is defensible.</a:t>
            </a:r>
            <a:endParaRPr lang="en-US" sz="1700" dirty="0"/>
          </a:p>
        </p:txBody>
      </p:sp>
      <p:sp>
        <p:nvSpPr>
          <p:cNvPr id="12" name="Shape 10"/>
          <p:cNvSpPr/>
          <p:nvPr/>
        </p:nvSpPr>
        <p:spPr>
          <a:xfrm>
            <a:off x="640080" y="4754880"/>
            <a:ext cx="566928" cy="566928"/>
          </a:xfrm>
          <a:prstGeom prst="ellipse">
            <a:avLst/>
          </a:prstGeom>
          <a:solidFill>
            <a:srgbClr val="6FC8B4"/>
          </a:solidFill>
          <a:ln/>
        </p:spPr>
      </p:sp>
      <p:sp>
        <p:nvSpPr>
          <p:cNvPr id="13" name="Text 11"/>
          <p:cNvSpPr/>
          <p:nvPr/>
        </p:nvSpPr>
        <p:spPr>
          <a:xfrm>
            <a:off x="640080" y="475488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3</a:t>
            </a:r>
            <a:endParaRPr lang="en-US" sz="1700" dirty="0"/>
          </a:p>
        </p:txBody>
      </p:sp>
      <p:sp>
        <p:nvSpPr>
          <p:cNvPr id="14" name="Text 12"/>
          <p:cNvSpPr/>
          <p:nvPr/>
        </p:nvSpPr>
        <p:spPr>
          <a:xfrm>
            <a:off x="1417320" y="4736592"/>
            <a:ext cx="9875520" cy="8229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3 · Exercise 5   </a:t>
            </a:r>
            <a:pPr indent="0" marL="0">
              <a:buNone/>
            </a:pPr>
            <a:r>
              <a:rPr lang="en-US" sz="1350" dirty="0">
                <a:solidFill>
                  <a:srgbClr val="C7DCE0"/>
                </a:solidFill>
                <a:latin typeface="Calibri" pitchFamily="34" charset="0"/>
                <a:ea typeface="Calibri" pitchFamily="34" charset="-122"/>
                <a:cs typeface="Calibri" pitchFamily="34" charset="-120"/>
              </a:rPr>
              <a:t>Write the rule for when ADaM should re-derive an upstream flag and when it should read it.</a:t>
            </a:r>
            <a:endParaRPr lang="en-US" sz="1700" dirty="0"/>
          </a:p>
        </p:txBody>
      </p:sp>
      <p:sp>
        <p:nvSpPr>
          <p:cNvPr id="15" name="Text 13"/>
          <p:cNvSpPr/>
          <p:nvPr/>
        </p:nvSpPr>
        <p:spPr>
          <a:xfrm>
            <a:off x="640080" y="5943600"/>
            <a:ext cx="10515600" cy="548640"/>
          </a:xfrm>
          <a:prstGeom prst="rect">
            <a:avLst/>
          </a:prstGeom>
          <a:noFill/>
          <a:ln/>
        </p:spPr>
        <p:txBody>
          <a:bodyPr wrap="square" lIns="0" tIns="0" rIns="0" bIns="0" rtlCol="0" anchor="ctr"/>
          <a:lstStyle/>
          <a:p>
            <a:pPr indent="0" marL="0">
              <a:buNone/>
            </a:pPr>
            <a:r>
              <a:rPr lang="en-US" sz="1400" i="1" dirty="0">
                <a:solidFill>
                  <a:srgbClr val="6FC8B4"/>
                </a:solidFill>
                <a:latin typeface="Calibri" pitchFamily="34" charset="0"/>
                <a:ea typeface="Calibri" pitchFamily="34" charset="-122"/>
                <a:cs typeface="Calibri" pitchFamily="34" charset="-120"/>
              </a:rPr>
              <a:t>Tomorrow: a dataset that keeps every subject — including the ones nothing happened to — and a flag that runs backwards.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Lab Data: Ranges, Shifts and Criterion Flags</dc:title>
  <dc:subject>PptxGenJS Presentation</dc:subject>
  <dc:creator>Clinical Programming Bootcamp</dc:creator>
  <cp:lastModifiedBy>Clinical Programming Bootcamp</cp:lastModifiedBy>
  <cp:revision>1</cp:revision>
  <dcterms:created xsi:type="dcterms:W3CDTF">2026-07-20T21:38:00Z</dcterms:created>
  <dcterms:modified xsi:type="dcterms:W3CDTF">2026-07-20T21:38:00Z</dcterms:modified>
</cp:coreProperties>
</file>