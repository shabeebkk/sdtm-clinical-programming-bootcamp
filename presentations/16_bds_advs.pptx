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16. Learn this skeleton properly and ADLB tomorrow is the same thing plus three columns. Emphasise that BDS is the workhorse — if they only remember one ADaM structure after the course, it should be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4 is where the silent bugs live. Goal 3 is the one that generates arguments in real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BASE column on the Screening row: BASE is on EVERY row of the parameter, not just the baseline row. That two-different-scopes idea is what the notebook implements with two separate merges, and it is the single most common place trainees get stuck.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Windowing IS present in ABC-01, and it is worth showing live: in ADVS the Week 4 visit falls on study day 28 for most subjects, day 29 for one, and day 20 for ABC-01-01-004 — who discontinued early, so their final visit happened eight days ahead of schedule. Screening spans days -9 to -11. All of them map to one AVISIT. That is exactly what AVISIT is for: three different actual days, one analysis visit, one column in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5 has them write the reply to a colleague who insists BMI is 'derived' so DTYPE should say so. The killer counter-argument: by that reading, CHG would make every post-baseline row a derived record too. The test is not 'was arithmetic involved' but 'is this row a substitute for an observation'.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numbers on this slide were computed from ABC-01, not invented. The −0.3375 to −0.1688 shift is exactly half because the study has as many baseline records as post-baseline ones. The 'always toward the null' argument is the one worth having them repeat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columns of numbers come from actually running it. The 'before' case is the important one: 48 rows deleted either way, but one of them silently removes an entire parameter. Same lesson as TRTEMFL in ADAE — keep the row, flag it, subset at analysis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HEIGHT having no CHG anywhere is correct, not missing data — it has one record, that record is its baseline, and a baseline has nothing to change from. Trainees will flag it as a bug; let them, then walk it back. End of Module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33B4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2926080" cy="2926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137160"/>
            <a:ext cx="1554480" cy="155448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PROGRAMMING BOOTCAMP  ·  MODULE 16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22860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Data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FC8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subject per parameter per visit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behind nearly every efficacy dataset you will ever build.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Notebook 16 (SAS) — Build ADVS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 you can…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92224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BDS skeleton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PARAMCD / PARAM / PARAMN, AVAL, AVISIT — and say what each is for.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16352"/>
            <a:ext cx="548640" cy="548640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770632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AVISIT from VISIT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explain why a study keeps both.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84048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7947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derived parameter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know why DTYPE and SRCDOM stay empty on it.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72584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864608"/>
            <a:ext cx="548640" cy="548640"/>
          </a:xfrm>
          <a:prstGeom prst="ellipse">
            <a:avLst/>
          </a:prstGeom>
          <a:solidFill>
            <a:srgbClr val="0F2E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64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81888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BASE, CHG and PCHG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two rules that quietly bias results.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696712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888736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888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5843016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ANL01FL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exclude records without deleting them.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SDTM VS is already tall — BDS re-labels it for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subject, one parameter, three visits — and the columns a table needs, already on the row.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solidFill>
            <a:srgbClr val="0F2E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PARAMCD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4884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72200" y="2011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ABLFL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9536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78408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ANL01FL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10881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E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SYSBP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48840" y="24688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94760" y="24688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24688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06640" y="2468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0" y="246888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784080" y="24688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2944368"/>
            <a:ext cx="10881360" cy="475488"/>
          </a:xfrm>
          <a:prstGeom prst="rect">
            <a:avLst/>
          </a:prstGeom>
          <a:solidFill>
            <a:srgbClr val="E8F4F1"/>
          </a:solidFill>
          <a:ln w="6350">
            <a:solidFill>
              <a:srgbClr val="CFDE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443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SYSBP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148840" y="29443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794760" y="29443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29443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72200" y="29443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06640" y="2944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95360" y="29443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784080" y="29443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3419856"/>
            <a:ext cx="10881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E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4198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SYSBP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148840" y="341985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794760" y="34198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0" y="341985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72200" y="341985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406640" y="34198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95360" y="341985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784080" y="34198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was collected and is KEPT — it is simply not flagged for analysis.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40080" y="457200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4400" y="47183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variables carry the parameter — and they must be one-to-one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4400" y="5120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PARAMCD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key you subset on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  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prints as the row label — so it carries the UNIT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PARAMN 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controls print ORDER — without it, Diastolic sorts above Systolic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AVISIT is an analysis visit, not a collected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76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CRF collected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     VISITNUM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SCREENING      1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      2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        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analysis reports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AVISIT     AVISITN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Screening      0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      1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         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different numbers. Both are kept.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10972800" cy="1737360"/>
          </a:xfrm>
          <a:prstGeom prst="roundRect">
            <a:avLst>
              <a:gd name="adj" fmla="val 4737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61772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AVISITN drives sort order and column order in every table.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chosen to suit the table, not the CRF.
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visits can also WINDOW (a Week 4 visit collected on day 26 or day 31 still reports as Week 4), MERGE, or DROP collected visits entirely. Keeping both columns means a reviewer can always see what was collected AND how it was analysed — which is the whole traceability argument in miniature.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PARAMETERS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exists in no SDTM domain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72800" cy="1558544"/>
          </a:xfrm>
          <a:prstGeom prst="roundRect">
            <a:avLst>
              <a:gd name="adj" fmla="val 4694"/>
            </a:avLst>
          </a:prstGeom>
          <a:solidFill>
            <a:srgbClr val="13323F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PARAMCD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561320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PARAMCD = 'BMI'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    = round( weight / (HEIGHTBL/100)**2 , 0.01 )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visit's weight  ·  the subject's BASELINE height  ·  height is measured once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063240"/>
            <a:ext cx="82296" cy="1417320"/>
          </a:xfrm>
          <a:prstGeom prst="rect">
            <a:avLst/>
          </a:prstGeom>
          <a:solidFill>
            <a:srgbClr val="1FA8A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912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 stays EMPTY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6301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identifies a derived RECORD WITHIN a parameter — LOCF, a replicate average. A whole new parameter is not that.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33832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it and a reviewer concludes these rows were imputed. They were not.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617720"/>
            <a:ext cx="82296" cy="1417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7457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SRCDOM / SRCSEQ stay EMPTY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5184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comes from a weight record AND a height record AND ADSL. There is no single source row to name.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49377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just the weight row would be a false trail. The blank is information.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PARAMETER (new PARAMCD, DTYPE null)  ≠  derived RECORD (existing PARAMCD, DTYPE populated).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quietly bias results if you get them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72800" cy="2057400"/>
          </a:xfrm>
          <a:prstGeom prst="roundRect">
            <a:avLst>
              <a:gd name="adj" fmla="val 4000"/>
            </a:avLst>
          </a:prstGeom>
          <a:solidFill>
            <a:srgbClr val="FBEAE4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82296" cy="2057400"/>
          </a:xfrm>
          <a:prstGeom prst="rect">
            <a:avLst/>
          </a:prstGeom>
          <a:solidFill>
            <a:srgbClr val="C444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190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 CHG at baseline is BLANK, not zero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214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record's change from baseline is UNDEFINED. Writing 0 puts it in the mean-change column.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WEIGHT, mean change from baseline:   </a:t>
            </a:r>
            <a:pPr indent="0" marL="0">
              <a:buNone/>
            </a:pPr>
            <a:r>
              <a:rPr lang="en-US" sz="1400" b="1" dirty="0">
                <a:solidFill>
                  <a:srgbClr val="1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−0.3375 kg</a:t>
            </a:r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correct        </a:t>
            </a:r>
            <a:pPr indent="0" marL="0">
              <a:buNone/>
            </a:pPr>
            <a:r>
              <a:rPr lang="en-US" sz="1400" b="1" dirty="0">
                <a:solidFill>
                  <a:srgbClr val="C444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−0.1688 kg</a:t>
            </a:r>
            <a:pPr indent="0" marL="0">
              <a:buNone/>
            </a:pPr>
            <a:r>
              <a:rPr lang="en-US" sz="12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zeros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add nothing to the numerator and increase the denominator — so the bias is ALWAYS toward the null. It never invents a signal; it only ever hides 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840480"/>
            <a:ext cx="82296" cy="2011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0050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 Rounding is specified, not incidental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434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69.8 − 70.2  =  -0.4000000000000057</a:t>
            </a:r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</a:rPr>
              <a:t>     in SAS and in Python alike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60120" y="4846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names the precision — ROUND(CHG, 0.0001) — and both implementations apply it, so PROC COMPARE is exactly clean rather than nearly clean.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5349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Tolerated numerical noise trains people to ignore PROC COMPARE — and then the run where a difference is 0.4 gets waved through too.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ANL01FL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 records without deleting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48 Screening rows. Same count, two orders, two completely different outcomes.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394960" cy="109728"/>
          </a:xfrm>
          <a:prstGeom prst="rect">
            <a:avLst/>
          </a:prstGeom>
          <a:solidFill>
            <a:srgbClr val="1FA8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deriving ABLFL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     152 → 104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baselines  56 →  56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      8 →   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— and pointless. ANL01FL already did this, without discarding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92024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920240"/>
            <a:ext cx="5303520" cy="109728"/>
          </a:xfrm>
          <a:prstGeom prst="rect">
            <a:avLst/>
          </a:prstGeom>
          <a:solidFill>
            <a:srgbClr val="C4442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deriving ABLFL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     152 → 104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baselines  56 →  48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      8 →   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4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destroyed completely. No error. It looks like a study that never measured height.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7365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order decides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rule is a statement about TIME, and it can only be evaluated against the full history.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first throws away the evidence the rule needs — and the rule then reports, correctly and silently, that there is no baseline.
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is reversible and self-documenting. Filtering is destructive and silent.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ADaM is full of flags rather than filtered datasets.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572000" cy="4572000"/>
          </a:xfrm>
          <a:prstGeom prst="ellipse">
            <a:avLst/>
          </a:prstGeom>
          <a:solidFill>
            <a:srgbClr val="133B4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2743200" cy="2743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645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 rows, and one of them has no change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72491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Notebook 16   </a:t>
            </a:r>
            <a:pPr indent="0" marL="0"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ADVS: 128 observed rows plus 24 derived BMI records.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73075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30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7124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Check the baselines   </a:t>
            </a:r>
            <a:pPr indent="0" marL="0"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FREQ of PARAMCD × AVISIT where ABLFL='Y'. HEIGHT must show Screening.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718304"/>
            <a:ext cx="566928" cy="566928"/>
          </a:xfrm>
          <a:prstGeom prst="ellipse">
            <a:avLst/>
          </a:prstGeom>
          <a:solidFill>
            <a:srgbClr val="6FC8B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18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70001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Exercise 4   </a:t>
            </a:r>
            <a:pPr indent="0" marL="0"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Screening rows twice, in two different orders. Watch HEIGHT vanish.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the same skeleton, three more columns — and only half the study has any data at all.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 Structure: One Row per Subject per Parameter per Visit</dc:title>
  <dc:subject>PptxGenJS Presentation</dc:subject>
  <dc:creator>Clinical Programming Bootcamp</dc:creator>
  <cp:lastModifiedBy>Clinical Programming Bootcamp</cp:lastModifiedBy>
  <cp:revision>1</cp:revision>
  <dcterms:created xsi:type="dcterms:W3CDTF">2026-07-20T21:33:57Z</dcterms:created>
  <dcterms:modified xsi:type="dcterms:W3CDTF">2026-07-20T21:33:57Z</dcterms:modified>
</cp:coreProperties>
</file>