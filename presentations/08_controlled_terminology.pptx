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08. Trainees have met CT piecemeal since Day 4 — SEX in DM, four flavours in AE, LBTEST in LB. This module names the thing and gives them the general method. The framing that lands: CT is what makes a reviewer able to pool YOUR study with fifty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4 is the one with professional consequences. Every mapping SELECT they have written so far ends with an otherwise branch that blanks the value — fine for a teaching dataset, dangerous in production. Notebook 10 has them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German 'leichte' is not a joke — multinational trials really do get local-language free text when a field is not constrained at entry. Emphasise the poolability argument: CT is not tidiness for its own sake, it is what lets a reviewer ask one question across fifty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payoff for four days of domain building — it collects everything they have already done into one picture and names the pattern. Ask which they think was hardest to catch; the answer is LBTEST, precisely because it mostly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Trainees often assume the NCI code goes in the data. It does not — the dataset carries the submission value only. The codelist identity travels in define.xml. Mention that C66731 is the real NCI code for the Severity codelist, so they can look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commonest real-world mistake is extending a NON-extensible codelist because the data 'needed' it — that is a guaranteed Pinnacle 21 finding. The second commonest is extending an extensible one lazily, creating a synonym for a term that already exists, which quietly breaks poolability. Both come from not reading the published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them map each of the eight ABC-01 variables from slide 4 onto one of these four. AEOUT and SEX are decode; RACE/ETHNIC/AESEV/AEREL are normalise; LBTEST is rename; AETRTEM and all the --DY variables are derive. The point of the closing line: LBTEST sits in a column where five of six values normalise perfectly.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transferable habit in the module. The notebooks so far all use the silent form because it keeps the teaching example short — say that explicitly so nobody thinks it is the model. Notebook 10 has them convert it. In LB the otherwise branch already writes an ERROR; point at it as the pattern to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dates shown are illustrative of the quarterly cadence — check the current NCI-EVS release list for real ones rather than quoting these. The pinning rule is the point: trainees assume 'use the latest', which is wrong mid-study. Also stress that this deck is itself a copy and will go stale; the NCI-EVS download is authoritative.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 FORMAT with CNTLIN is the classic SAS answer and is what Notebook 10 builds. The deeper point is the shift from code to data: a lookup table can be reviewed by a non-programmer, diffed between CT versions, and attached to the spec. A SELECT block can only be read by someone who reads SAS.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Trainees assume everything coded is CDISC-controlled. AEREL is the counter-example in their own dataset. The takeaway: 'sponsor-defined' is a documentation obligation, not a licence to be loose. This also foreshadows Deck 12, where define.xml is covered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Mistake 5 is the one that surprises experienced people — inheriting a format catalogue feels efficient and quietly imports an old CT version. Send them into Notebook 10 with mistakes 1 and 2 as the things to fix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133B4C"/>
          </a:solidFill>
          <a:ln/>
        </p:spPr>
      </p:sp>
      <p:sp>
        <p:nvSpPr>
          <p:cNvPr id="3" name="Shape 1"/>
          <p:cNvSpPr/>
          <p:nvPr/>
        </p:nvSpPr>
        <p:spPr>
          <a:xfrm>
            <a:off x="9784080" y="-548640"/>
            <a:ext cx="2926080" cy="2926080"/>
          </a:xfrm>
          <a:prstGeom prst="ellipse">
            <a:avLst/>
          </a:prstGeom>
          <a:solidFill>
            <a:srgbClr val="E8833A"/>
          </a:solidFill>
          <a:ln/>
        </p:spPr>
      </p:sp>
      <p:sp>
        <p:nvSpPr>
          <p:cNvPr id="4" name="Shape 2"/>
          <p:cNvSpPr/>
          <p:nvPr/>
        </p:nvSpPr>
        <p:spPr>
          <a:xfrm>
            <a:off x="10469880" y="137160"/>
            <a:ext cx="1554480" cy="1554480"/>
          </a:xfrm>
          <a:prstGeom prst="ellipse">
            <a:avLst/>
          </a:prstGeom>
          <a:solidFill>
            <a:srgbClr val="1FA8A0"/>
          </a:solidFill>
          <a:ln/>
        </p:spPr>
      </p:sp>
      <p:sp>
        <p:nvSpPr>
          <p:cNvPr id="5" name="Text 3"/>
          <p:cNvSpPr/>
          <p:nvPr/>
        </p:nvSpPr>
        <p:spPr>
          <a:xfrm>
            <a:off x="640080" y="1828800"/>
            <a:ext cx="8229600" cy="365760"/>
          </a:xfrm>
          <a:prstGeom prst="rect">
            <a:avLst/>
          </a:prstGeom>
          <a:noFill/>
          <a:ln/>
        </p:spPr>
        <p:txBody>
          <a:bodyPr wrap="square" lIns="0" tIns="0" rIns="0" bIns="0" rtlCol="0" anchor="ctr"/>
          <a:lstStyle/>
          <a:p>
            <a:pPr indent="0" marL="0">
              <a:buNone/>
            </a:pPr>
            <a:r>
              <a:rPr lang="en-US" sz="1400" b="1" spc="200" kern="0" dirty="0">
                <a:solidFill>
                  <a:srgbClr val="6FC8B4"/>
                </a:solidFill>
                <a:latin typeface="Calibri" pitchFamily="34" charset="0"/>
                <a:ea typeface="Calibri" pitchFamily="34" charset="-122"/>
                <a:cs typeface="Calibri" pitchFamily="34" charset="-120"/>
              </a:rPr>
              <a:t>CLINICAL PROGRAMMING BOOTCAMP  ·  MODULE 08</a:t>
            </a:r>
            <a:endParaRPr lang="en-US" sz="1400" dirty="0"/>
          </a:p>
        </p:txBody>
      </p:sp>
      <p:sp>
        <p:nvSpPr>
          <p:cNvPr id="6" name="Text 4"/>
          <p:cNvSpPr/>
          <p:nvPr/>
        </p:nvSpPr>
        <p:spPr>
          <a:xfrm>
            <a:off x="603504" y="2286000"/>
            <a:ext cx="8778240" cy="1554480"/>
          </a:xfrm>
          <a:prstGeom prst="rect">
            <a:avLst/>
          </a:prstGeom>
          <a:noFill/>
          <a:ln/>
        </p:spPr>
        <p:txBody>
          <a:bodyPr wrap="square" lIns="0" tIns="0" rIns="0" bIns="0" rtlCol="0" anchor="ctr"/>
          <a:lstStyle/>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Controlled</a:t>
            </a:r>
            <a:endParaRPr lang="en-US" sz="4400" dirty="0"/>
          </a:p>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Terminology</a:t>
            </a:r>
            <a:endParaRPr lang="en-US" sz="4400" dirty="0"/>
          </a:p>
        </p:txBody>
      </p:sp>
      <p:sp>
        <p:nvSpPr>
          <p:cNvPr id="7" name="Text 5"/>
          <p:cNvSpPr/>
          <p:nvPr/>
        </p:nvSpPr>
        <p:spPr>
          <a:xfrm>
            <a:off x="640080" y="3886200"/>
            <a:ext cx="8778240" cy="548640"/>
          </a:xfrm>
          <a:prstGeom prst="rect">
            <a:avLst/>
          </a:prstGeom>
          <a:noFill/>
          <a:ln/>
        </p:spPr>
        <p:txBody>
          <a:bodyPr wrap="square" lIns="0" tIns="0" rIns="0" bIns="0" rtlCol="0" anchor="ctr"/>
          <a:lstStyle/>
          <a:p>
            <a:pPr indent="0" marL="0">
              <a:buNone/>
            </a:pPr>
            <a:r>
              <a:rPr lang="en-US" sz="2200" dirty="0">
                <a:solidFill>
                  <a:srgbClr val="6FC8B4"/>
                </a:solidFill>
                <a:latin typeface="Cambria" pitchFamily="34" charset="0"/>
                <a:ea typeface="Cambria" pitchFamily="34" charset="-122"/>
                <a:cs typeface="Cambria" pitchFamily="34" charset="-120"/>
              </a:rPr>
              <a:t>Making every study say the same thing the same way</a:t>
            </a:r>
            <a:endParaRPr lang="en-US" sz="2200" dirty="0"/>
          </a:p>
        </p:txBody>
      </p:sp>
      <p:sp>
        <p:nvSpPr>
          <p:cNvPr id="8" name="Text 6"/>
          <p:cNvSpPr/>
          <p:nvPr/>
        </p:nvSpPr>
        <p:spPr>
          <a:xfrm>
            <a:off x="640080" y="4572000"/>
            <a:ext cx="8412480" cy="822960"/>
          </a:xfrm>
          <a:prstGeom prst="rect">
            <a:avLst/>
          </a:prstGeom>
          <a:noFill/>
          <a:ln/>
        </p:spPr>
        <p:txBody>
          <a:bodyPr wrap="square" lIns="0" tIns="0" rIns="0" bIns="0" rtlCol="0" anchor="ctr"/>
          <a:lstStyle/>
          <a:p>
            <a:pPr indent="0" marL="0">
              <a:buNone/>
            </a:pPr>
            <a:r>
              <a:rPr lang="en-US" sz="1600" dirty="0">
                <a:solidFill>
                  <a:srgbClr val="C7DCE0"/>
                </a:solidFill>
                <a:latin typeface="Calibri" pitchFamily="34" charset="0"/>
                <a:ea typeface="Calibri" pitchFamily="34" charset="-122"/>
                <a:cs typeface="Calibri" pitchFamily="34" charset="-120"/>
              </a:rPr>
              <a:t>You have already applied CT in five domains. This module explains what you were actually doing — and how it works when there are 200 values instead of 6.</a:t>
            </a:r>
            <a:endParaRPr lang="en-US" sz="1600" dirty="0"/>
          </a:p>
        </p:txBody>
      </p:sp>
      <p:sp>
        <p:nvSpPr>
          <p:cNvPr id="9" name="Text 7"/>
          <p:cNvSpPr/>
          <p:nvPr/>
        </p:nvSpPr>
        <p:spPr>
          <a:xfrm>
            <a:off x="640080" y="5943600"/>
            <a:ext cx="10972800" cy="365760"/>
          </a:xfrm>
          <a:prstGeom prst="rect">
            <a:avLst/>
          </a:prstGeom>
          <a:noFill/>
          <a:ln/>
        </p:spPr>
        <p:txBody>
          <a:bodyPr wrap="square" lIns="0" tIns="0" rIns="0" bIns="0" rtlCol="0" anchor="ctr"/>
          <a:lstStyle/>
          <a:p>
            <a:pPr indent="0" marL="0">
              <a:buNone/>
            </a:pPr>
            <a:r>
              <a:rPr lang="en-US" sz="1200" i="1" dirty="0">
                <a:solidFill>
                  <a:srgbClr val="5A7682"/>
                </a:solidFill>
                <a:latin typeface="Calibri" pitchFamily="34" charset="0"/>
                <a:ea typeface="Calibri" pitchFamily="34" charset="-122"/>
                <a:cs typeface="Calibri" pitchFamily="34" charset="-120"/>
              </a:rPr>
              <a:t>Hands-on: Notebook 10 · Applying Controlled Terminology (SAS)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MODULE GOALS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By the end of this module you can…</a:t>
            </a:r>
            <a:endParaRPr lang="en-US" sz="3000" dirty="0"/>
          </a:p>
        </p:txBody>
      </p:sp>
      <p:sp>
        <p:nvSpPr>
          <p:cNvPr id="4" name="Shape 2"/>
          <p:cNvSpPr/>
          <p:nvPr/>
        </p:nvSpPr>
        <p:spPr>
          <a:xfrm>
            <a:off x="640080" y="160020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868680" y="1792224"/>
            <a:ext cx="548640" cy="548640"/>
          </a:xfrm>
          <a:prstGeom prst="ellipse">
            <a:avLst/>
          </a:prstGeom>
          <a:solidFill>
            <a:srgbClr val="0E7C86"/>
          </a:solidFill>
          <a:ln/>
        </p:spPr>
      </p:sp>
      <p:sp>
        <p:nvSpPr>
          <p:cNvPr id="6" name="Text 4"/>
          <p:cNvSpPr/>
          <p:nvPr/>
        </p:nvSpPr>
        <p:spPr>
          <a:xfrm>
            <a:off x="868680" y="179222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600200" y="174650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Say what a codelist is  </a:t>
            </a:r>
            <a:pPr indent="0" marL="0">
              <a:buNone/>
            </a:pPr>
            <a:r>
              <a:rPr lang="en-US" sz="1350" dirty="0">
                <a:solidFill>
                  <a:srgbClr val="5A7682"/>
                </a:solidFill>
                <a:latin typeface="Calibri" pitchFamily="34" charset="0"/>
                <a:ea typeface="Calibri" pitchFamily="34" charset="-122"/>
                <a:cs typeface="Calibri" pitchFamily="34" charset="-120"/>
              </a:rPr>
              <a:t>and where the authoritative version comes from.</a:t>
            </a:r>
            <a:endParaRPr lang="en-US" sz="1600" dirty="0"/>
          </a:p>
        </p:txBody>
      </p:sp>
      <p:sp>
        <p:nvSpPr>
          <p:cNvPr id="8" name="Shape 6"/>
          <p:cNvSpPr/>
          <p:nvPr/>
        </p:nvSpPr>
        <p:spPr>
          <a:xfrm>
            <a:off x="640080" y="2606040"/>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868680" y="2798064"/>
            <a:ext cx="548640" cy="548640"/>
          </a:xfrm>
          <a:prstGeom prst="ellipse">
            <a:avLst/>
          </a:prstGeom>
          <a:solidFill>
            <a:srgbClr val="1FA8A0"/>
          </a:solidFill>
          <a:ln/>
        </p:spPr>
      </p:sp>
      <p:sp>
        <p:nvSpPr>
          <p:cNvPr id="10" name="Text 8"/>
          <p:cNvSpPr/>
          <p:nvPr/>
        </p:nvSpPr>
        <p:spPr>
          <a:xfrm>
            <a:off x="868680" y="279806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1" name="Text 9"/>
          <p:cNvSpPr/>
          <p:nvPr/>
        </p:nvSpPr>
        <p:spPr>
          <a:xfrm>
            <a:off x="1600200" y="275234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Tell extensible from non-extensible  </a:t>
            </a:r>
            <a:pPr indent="0" marL="0">
              <a:buNone/>
            </a:pPr>
            <a:r>
              <a:rPr lang="en-US" sz="1350" dirty="0">
                <a:solidFill>
                  <a:srgbClr val="5A7682"/>
                </a:solidFill>
                <a:latin typeface="Calibri" pitchFamily="34" charset="0"/>
                <a:ea typeface="Calibri" pitchFamily="34" charset="-122"/>
                <a:cs typeface="Calibri" pitchFamily="34" charset="-120"/>
              </a:rPr>
              <a:t>and know which one you may add a value to.</a:t>
            </a:r>
            <a:endParaRPr lang="en-US" sz="1600" dirty="0"/>
          </a:p>
        </p:txBody>
      </p:sp>
      <p:sp>
        <p:nvSpPr>
          <p:cNvPr id="12" name="Shape 10"/>
          <p:cNvSpPr/>
          <p:nvPr/>
        </p:nvSpPr>
        <p:spPr>
          <a:xfrm>
            <a:off x="640080" y="361188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868680" y="3803904"/>
            <a:ext cx="548640" cy="548640"/>
          </a:xfrm>
          <a:prstGeom prst="ellipse">
            <a:avLst/>
          </a:prstGeom>
          <a:solidFill>
            <a:srgbClr val="E8833A"/>
          </a:solidFill>
          <a:ln/>
        </p:spPr>
      </p:sp>
      <p:sp>
        <p:nvSpPr>
          <p:cNvPr id="14" name="Text 12"/>
          <p:cNvSpPr/>
          <p:nvPr/>
        </p:nvSpPr>
        <p:spPr>
          <a:xfrm>
            <a:off x="868680" y="380390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5" name="Text 13"/>
          <p:cNvSpPr/>
          <p:nvPr/>
        </p:nvSpPr>
        <p:spPr>
          <a:xfrm>
            <a:off x="1600200" y="375818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Recognise the four kinds of CT work  </a:t>
            </a:r>
            <a:pPr indent="0" marL="0">
              <a:buNone/>
            </a:pPr>
            <a:r>
              <a:rPr lang="en-US" sz="1350" dirty="0">
                <a:solidFill>
                  <a:srgbClr val="5A7682"/>
                </a:solidFill>
                <a:latin typeface="Calibri" pitchFamily="34" charset="0"/>
                <a:ea typeface="Calibri" pitchFamily="34" charset="-122"/>
                <a:cs typeface="Calibri" pitchFamily="34" charset="-120"/>
              </a:rPr>
              <a:t>decode, normalise, rename, derive — you have done all four already.</a:t>
            </a:r>
            <a:endParaRPr lang="en-US" sz="1600" dirty="0"/>
          </a:p>
        </p:txBody>
      </p:sp>
      <p:sp>
        <p:nvSpPr>
          <p:cNvPr id="16" name="Shape 14"/>
          <p:cNvSpPr/>
          <p:nvPr/>
        </p:nvSpPr>
        <p:spPr>
          <a:xfrm>
            <a:off x="640080" y="4617720"/>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868680" y="4809744"/>
            <a:ext cx="548640" cy="548640"/>
          </a:xfrm>
          <a:prstGeom prst="ellipse">
            <a:avLst/>
          </a:prstGeom>
          <a:solidFill>
            <a:srgbClr val="0F2E3D"/>
          </a:solidFill>
          <a:ln/>
        </p:spPr>
      </p:sp>
      <p:sp>
        <p:nvSpPr>
          <p:cNvPr id="18" name="Text 16"/>
          <p:cNvSpPr/>
          <p:nvPr/>
        </p:nvSpPr>
        <p:spPr>
          <a:xfrm>
            <a:off x="868680" y="480974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9" name="Text 17"/>
          <p:cNvSpPr/>
          <p:nvPr/>
        </p:nvSpPr>
        <p:spPr>
          <a:xfrm>
            <a:off x="1600200" y="476402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Write mapping code that fails loudly  </a:t>
            </a:r>
            <a:pPr indent="0" marL="0">
              <a:buNone/>
            </a:pPr>
            <a:r>
              <a:rPr lang="en-US" sz="1350" dirty="0">
                <a:solidFill>
                  <a:srgbClr val="5A7682"/>
                </a:solidFill>
                <a:latin typeface="Calibri" pitchFamily="34" charset="0"/>
                <a:ea typeface="Calibri" pitchFamily="34" charset="-122"/>
                <a:cs typeface="Calibri" pitchFamily="34" charset="-120"/>
              </a:rPr>
              <a:t>instead of silently blanking what it does not recognise.</a:t>
            </a:r>
            <a:endParaRPr lang="en-US" sz="1600" dirty="0"/>
          </a:p>
        </p:txBody>
      </p:sp>
      <p:sp>
        <p:nvSpPr>
          <p:cNvPr id="20" name="Shape 18"/>
          <p:cNvSpPr/>
          <p:nvPr/>
        </p:nvSpPr>
        <p:spPr>
          <a:xfrm>
            <a:off x="640080" y="562356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868680" y="5815584"/>
            <a:ext cx="548640" cy="548640"/>
          </a:xfrm>
          <a:prstGeom prst="ellipse">
            <a:avLst/>
          </a:prstGeom>
          <a:solidFill>
            <a:srgbClr val="0E7C86"/>
          </a:solidFill>
          <a:ln/>
        </p:spPr>
      </p:sp>
      <p:sp>
        <p:nvSpPr>
          <p:cNvPr id="22" name="Text 20"/>
          <p:cNvSpPr/>
          <p:nvPr/>
        </p:nvSpPr>
        <p:spPr>
          <a:xfrm>
            <a:off x="868680" y="581558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3" name="Text 21"/>
          <p:cNvSpPr/>
          <p:nvPr/>
        </p:nvSpPr>
        <p:spPr>
          <a:xfrm>
            <a:off x="1600200" y="576986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Explain CT versioning  </a:t>
            </a:r>
            <a:pPr indent="0" marL="0">
              <a:buNone/>
            </a:pPr>
            <a:r>
              <a:rPr lang="en-US" sz="1350" dirty="0">
                <a:solidFill>
                  <a:srgbClr val="5A7682"/>
                </a:solidFill>
                <a:latin typeface="Calibri" pitchFamily="34" charset="0"/>
                <a:ea typeface="Calibri" pitchFamily="34" charset="-122"/>
                <a:cs typeface="Calibri" pitchFamily="34" charset="-120"/>
              </a:rPr>
              <a:t>why a study pins a dated release and never drifts.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Six sites, one concept, six spellings</a:t>
            </a:r>
            <a:endParaRPr lang="en-US" sz="3000" dirty="0"/>
          </a:p>
        </p:txBody>
      </p:sp>
      <p:sp>
        <p:nvSpPr>
          <p:cNvPr id="4" name="Shape 2"/>
          <p:cNvSpPr/>
          <p:nvPr/>
        </p:nvSpPr>
        <p:spPr>
          <a:xfrm>
            <a:off x="640080" y="1645920"/>
            <a:ext cx="5394960" cy="3108960"/>
          </a:xfrm>
          <a:prstGeom prst="roundRect">
            <a:avLst>
              <a:gd name="adj" fmla="val 2647"/>
            </a:avLst>
          </a:prstGeom>
          <a:solidFill>
            <a:srgbClr val="FDF1E7"/>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810512"/>
            <a:ext cx="4846320" cy="365760"/>
          </a:xfrm>
          <a:prstGeom prst="rect">
            <a:avLst/>
          </a:prstGeom>
          <a:noFill/>
          <a:ln/>
        </p:spPr>
        <p:txBody>
          <a:bodyPr wrap="square" lIns="0" tIns="0" rIns="0" bIns="0" rtlCol="0" anchor="ctr"/>
          <a:lstStyle/>
          <a:p>
            <a:pPr indent="0" marL="0">
              <a:buNone/>
            </a:pPr>
            <a:r>
              <a:rPr lang="en-US" sz="1700" b="1" dirty="0">
                <a:solidFill>
                  <a:srgbClr val="B5651A"/>
                </a:solidFill>
                <a:latin typeface="Cambria" pitchFamily="34" charset="0"/>
                <a:ea typeface="Cambria" pitchFamily="34" charset="-122"/>
                <a:cs typeface="Cambria" pitchFamily="34" charset="-120"/>
              </a:rPr>
              <a:t>Without controlled terminology</a:t>
            </a:r>
            <a:endParaRPr lang="en-US" sz="1700" dirty="0"/>
          </a:p>
        </p:txBody>
      </p:sp>
      <p:sp>
        <p:nvSpPr>
          <p:cNvPr id="6" name="Text 4"/>
          <p:cNvSpPr/>
          <p:nvPr/>
        </p:nvSpPr>
        <p:spPr>
          <a:xfrm>
            <a:off x="1051560" y="2286000"/>
            <a:ext cx="4480560" cy="347472"/>
          </a:xfrm>
          <a:prstGeom prst="rect">
            <a:avLst/>
          </a:prstGeom>
          <a:noFill/>
          <a:ln/>
        </p:spPr>
        <p:txBody>
          <a:bodyPr wrap="square" lIns="0" tIns="0" rIns="0" bIns="0" rtlCol="0" anchor="ctr"/>
          <a:lstStyle/>
          <a:p>
            <a:pPr indent="0" marL="0">
              <a:buNone/>
            </a:pPr>
            <a:r>
              <a:rPr lang="en-US" sz="1300" dirty="0">
                <a:solidFill>
                  <a:srgbClr val="0F2E3D"/>
                </a:solidFill>
                <a:latin typeface="Courier New" pitchFamily="34" charset="0"/>
                <a:ea typeface="Courier New" pitchFamily="34" charset="-122"/>
                <a:cs typeface="Courier New" pitchFamily="34" charset="-120"/>
              </a:rPr>
              <a:t>"Mild"</a:t>
            </a:r>
            <a:endParaRPr lang="en-US" sz="1300" dirty="0"/>
          </a:p>
        </p:txBody>
      </p:sp>
      <p:sp>
        <p:nvSpPr>
          <p:cNvPr id="7" name="Text 5"/>
          <p:cNvSpPr/>
          <p:nvPr/>
        </p:nvSpPr>
        <p:spPr>
          <a:xfrm>
            <a:off x="1051560" y="2670048"/>
            <a:ext cx="4480560" cy="347472"/>
          </a:xfrm>
          <a:prstGeom prst="rect">
            <a:avLst/>
          </a:prstGeom>
          <a:noFill/>
          <a:ln/>
        </p:spPr>
        <p:txBody>
          <a:bodyPr wrap="square" lIns="0" tIns="0" rIns="0" bIns="0" rtlCol="0" anchor="ctr"/>
          <a:lstStyle/>
          <a:p>
            <a:pPr indent="0" marL="0">
              <a:buNone/>
            </a:pPr>
            <a:r>
              <a:rPr lang="en-US" sz="1300" dirty="0">
                <a:solidFill>
                  <a:srgbClr val="0F2E3D"/>
                </a:solidFill>
                <a:latin typeface="Courier New" pitchFamily="34" charset="0"/>
                <a:ea typeface="Courier New" pitchFamily="34" charset="-122"/>
                <a:cs typeface="Courier New" pitchFamily="34" charset="-120"/>
              </a:rPr>
              <a:t>"mild"</a:t>
            </a:r>
            <a:endParaRPr lang="en-US" sz="1300" dirty="0"/>
          </a:p>
        </p:txBody>
      </p:sp>
      <p:sp>
        <p:nvSpPr>
          <p:cNvPr id="8" name="Text 6"/>
          <p:cNvSpPr/>
          <p:nvPr/>
        </p:nvSpPr>
        <p:spPr>
          <a:xfrm>
            <a:off x="1051560" y="3054096"/>
            <a:ext cx="4480560" cy="347472"/>
          </a:xfrm>
          <a:prstGeom prst="rect">
            <a:avLst/>
          </a:prstGeom>
          <a:noFill/>
          <a:ln/>
        </p:spPr>
        <p:txBody>
          <a:bodyPr wrap="square" lIns="0" tIns="0" rIns="0" bIns="0" rtlCol="0" anchor="ctr"/>
          <a:lstStyle/>
          <a:p>
            <a:pPr indent="0" marL="0">
              <a:buNone/>
            </a:pPr>
            <a:r>
              <a:rPr lang="en-US" sz="1300" dirty="0">
                <a:solidFill>
                  <a:srgbClr val="0F2E3D"/>
                </a:solidFill>
                <a:latin typeface="Courier New" pitchFamily="34" charset="0"/>
                <a:ea typeface="Courier New" pitchFamily="34" charset="-122"/>
                <a:cs typeface="Courier New" pitchFamily="34" charset="-120"/>
              </a:rPr>
              <a:t>"MILD"</a:t>
            </a:r>
            <a:endParaRPr lang="en-US" sz="1300" dirty="0"/>
          </a:p>
        </p:txBody>
      </p:sp>
      <p:sp>
        <p:nvSpPr>
          <p:cNvPr id="9" name="Text 7"/>
          <p:cNvSpPr/>
          <p:nvPr/>
        </p:nvSpPr>
        <p:spPr>
          <a:xfrm>
            <a:off x="1051560" y="3438144"/>
            <a:ext cx="4480560" cy="347472"/>
          </a:xfrm>
          <a:prstGeom prst="rect">
            <a:avLst/>
          </a:prstGeom>
          <a:noFill/>
          <a:ln/>
        </p:spPr>
        <p:txBody>
          <a:bodyPr wrap="square" lIns="0" tIns="0" rIns="0" bIns="0" rtlCol="0" anchor="ctr"/>
          <a:lstStyle/>
          <a:p>
            <a:pPr indent="0" marL="0">
              <a:buNone/>
            </a:pPr>
            <a:r>
              <a:rPr lang="en-US" sz="1300" dirty="0">
                <a:solidFill>
                  <a:srgbClr val="0F2E3D"/>
                </a:solidFill>
                <a:latin typeface="Courier New" pitchFamily="34" charset="0"/>
                <a:ea typeface="Courier New" pitchFamily="34" charset="-122"/>
                <a:cs typeface="Courier New" pitchFamily="34" charset="-120"/>
              </a:rPr>
              <a:t>"1 - Mild"</a:t>
            </a:r>
            <a:endParaRPr lang="en-US" sz="1300" dirty="0"/>
          </a:p>
        </p:txBody>
      </p:sp>
      <p:sp>
        <p:nvSpPr>
          <p:cNvPr id="10" name="Text 8"/>
          <p:cNvSpPr/>
          <p:nvPr/>
        </p:nvSpPr>
        <p:spPr>
          <a:xfrm>
            <a:off x="1051560" y="3822192"/>
            <a:ext cx="4480560" cy="347472"/>
          </a:xfrm>
          <a:prstGeom prst="rect">
            <a:avLst/>
          </a:prstGeom>
          <a:noFill/>
          <a:ln/>
        </p:spPr>
        <p:txBody>
          <a:bodyPr wrap="square" lIns="0" tIns="0" rIns="0" bIns="0" rtlCol="0" anchor="ctr"/>
          <a:lstStyle/>
          <a:p>
            <a:pPr indent="0" marL="0">
              <a:buNone/>
            </a:pPr>
            <a:r>
              <a:rPr lang="en-US" sz="1300" dirty="0">
                <a:solidFill>
                  <a:srgbClr val="0F2E3D"/>
                </a:solidFill>
                <a:latin typeface="Courier New" pitchFamily="34" charset="0"/>
                <a:ea typeface="Courier New" pitchFamily="34" charset="-122"/>
                <a:cs typeface="Courier New" pitchFamily="34" charset="-120"/>
              </a:rPr>
              <a:t>"Grade 1"</a:t>
            </a:r>
            <a:endParaRPr lang="en-US" sz="1300" dirty="0"/>
          </a:p>
        </p:txBody>
      </p:sp>
      <p:sp>
        <p:nvSpPr>
          <p:cNvPr id="11" name="Text 9"/>
          <p:cNvSpPr/>
          <p:nvPr/>
        </p:nvSpPr>
        <p:spPr>
          <a:xfrm>
            <a:off x="1051560" y="4206240"/>
            <a:ext cx="4480560" cy="347472"/>
          </a:xfrm>
          <a:prstGeom prst="rect">
            <a:avLst/>
          </a:prstGeom>
          <a:noFill/>
          <a:ln/>
        </p:spPr>
        <p:txBody>
          <a:bodyPr wrap="square" lIns="0" tIns="0" rIns="0" bIns="0" rtlCol="0" anchor="ctr"/>
          <a:lstStyle/>
          <a:p>
            <a:pPr indent="0" marL="0">
              <a:buNone/>
            </a:pPr>
            <a:r>
              <a:rPr lang="en-US" sz="1300" dirty="0">
                <a:solidFill>
                  <a:srgbClr val="0F2E3D"/>
                </a:solidFill>
                <a:latin typeface="Courier New" pitchFamily="34" charset="0"/>
                <a:ea typeface="Courier New" pitchFamily="34" charset="-122"/>
                <a:cs typeface="Courier New" pitchFamily="34" charset="-120"/>
              </a:rPr>
              <a:t>"leichte"</a:t>
            </a:r>
            <a:endParaRPr lang="en-US" sz="1300" dirty="0"/>
          </a:p>
        </p:txBody>
      </p:sp>
      <p:sp>
        <p:nvSpPr>
          <p:cNvPr id="12" name="Text 10"/>
          <p:cNvSpPr/>
          <p:nvPr/>
        </p:nvSpPr>
        <p:spPr>
          <a:xfrm>
            <a:off x="914400" y="4617720"/>
            <a:ext cx="4846320" cy="365760"/>
          </a:xfrm>
          <a:prstGeom prst="rect">
            <a:avLst/>
          </a:prstGeom>
          <a:noFill/>
          <a:ln/>
        </p:spPr>
        <p:txBody>
          <a:bodyPr wrap="square" lIns="0" tIns="0" rIns="0" bIns="0" rtlCol="0" anchor="ctr"/>
          <a:lstStyle/>
          <a:p>
            <a:pPr indent="0" marL="0">
              <a:buNone/>
            </a:pPr>
            <a:r>
              <a:rPr lang="en-US" sz="1250" i="1" dirty="0">
                <a:solidFill>
                  <a:srgbClr val="B5651A"/>
                </a:solidFill>
                <a:latin typeface="Calibri" pitchFamily="34" charset="0"/>
                <a:ea typeface="Calibri" pitchFamily="34" charset="-122"/>
                <a:cs typeface="Calibri" pitchFamily="34" charset="-120"/>
              </a:rPr>
              <a:t>Six values. One concept. No way to count them together.</a:t>
            </a:r>
            <a:endParaRPr lang="en-US" sz="1250" dirty="0"/>
          </a:p>
        </p:txBody>
      </p:sp>
      <p:sp>
        <p:nvSpPr>
          <p:cNvPr id="13" name="Shape 11"/>
          <p:cNvSpPr/>
          <p:nvPr/>
        </p:nvSpPr>
        <p:spPr>
          <a:xfrm>
            <a:off x="6217920" y="1645920"/>
            <a:ext cx="5394960" cy="3108960"/>
          </a:xfrm>
          <a:prstGeom prst="roundRect">
            <a:avLst>
              <a:gd name="adj" fmla="val 2647"/>
            </a:avLst>
          </a:prstGeom>
          <a:solidFill>
            <a:srgbClr val="E7F4F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4" name="Text 12"/>
          <p:cNvSpPr/>
          <p:nvPr/>
        </p:nvSpPr>
        <p:spPr>
          <a:xfrm>
            <a:off x="6492240" y="1810512"/>
            <a:ext cx="4846320" cy="365760"/>
          </a:xfrm>
          <a:prstGeom prst="rect">
            <a:avLst/>
          </a:prstGeom>
          <a:noFill/>
          <a:ln/>
        </p:spPr>
        <p:txBody>
          <a:bodyPr wrap="square" lIns="0" tIns="0" rIns="0" bIns="0" rtlCol="0" anchor="ctr"/>
          <a:lstStyle/>
          <a:p>
            <a:pPr indent="0" marL="0">
              <a:buNone/>
            </a:pPr>
            <a:r>
              <a:rPr lang="en-US" sz="1700" b="1" dirty="0">
                <a:solidFill>
                  <a:srgbClr val="0E7C86"/>
                </a:solidFill>
                <a:latin typeface="Cambria" pitchFamily="34" charset="0"/>
                <a:ea typeface="Cambria" pitchFamily="34" charset="-122"/>
                <a:cs typeface="Cambria" pitchFamily="34" charset="-120"/>
              </a:rPr>
              <a:t>With controlled terminology</a:t>
            </a:r>
            <a:endParaRPr lang="en-US" sz="1700" dirty="0"/>
          </a:p>
        </p:txBody>
      </p:sp>
      <p:sp>
        <p:nvSpPr>
          <p:cNvPr id="15" name="Text 13"/>
          <p:cNvSpPr/>
          <p:nvPr/>
        </p:nvSpPr>
        <p:spPr>
          <a:xfrm>
            <a:off x="6629400" y="2468880"/>
            <a:ext cx="4572000" cy="640080"/>
          </a:xfrm>
          <a:prstGeom prst="rect">
            <a:avLst/>
          </a:prstGeom>
          <a:noFill/>
          <a:ln/>
        </p:spPr>
        <p:txBody>
          <a:bodyPr wrap="square" lIns="0" tIns="0" rIns="0" bIns="0" rtlCol="0" anchor="ctr"/>
          <a:lstStyle/>
          <a:p>
            <a:pPr indent="0" marL="0">
              <a:buNone/>
            </a:pPr>
            <a:r>
              <a:rPr lang="en-US" sz="2600" b="1" dirty="0">
                <a:solidFill>
                  <a:srgbClr val="0F2E3D"/>
                </a:solidFill>
                <a:latin typeface="Courier New" pitchFamily="34" charset="0"/>
                <a:ea typeface="Courier New" pitchFamily="34" charset="-122"/>
                <a:cs typeface="Courier New" pitchFamily="34" charset="-120"/>
              </a:rPr>
              <a:t>MILD</a:t>
            </a:r>
            <a:endParaRPr lang="en-US" sz="2600" dirty="0"/>
          </a:p>
        </p:txBody>
      </p:sp>
      <p:sp>
        <p:nvSpPr>
          <p:cNvPr id="16" name="Text 14"/>
          <p:cNvSpPr/>
          <p:nvPr/>
        </p:nvSpPr>
        <p:spPr>
          <a:xfrm>
            <a:off x="6492240" y="3291840"/>
            <a:ext cx="4846320" cy="91440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One submission value, defined by CDISC, spelled and cased exactly this way in every study, by every sponsor, worldwide.</a:t>
            </a:r>
            <a:endParaRPr lang="en-US" sz="1300" dirty="0"/>
          </a:p>
        </p:txBody>
      </p:sp>
      <p:sp>
        <p:nvSpPr>
          <p:cNvPr id="17" name="Shape 15"/>
          <p:cNvSpPr/>
          <p:nvPr/>
        </p:nvSpPr>
        <p:spPr>
          <a:xfrm>
            <a:off x="640080" y="5029200"/>
            <a:ext cx="10972800" cy="1280160"/>
          </a:xfrm>
          <a:prstGeom prst="roundRect">
            <a:avLst>
              <a:gd name="adj" fmla="val 6429"/>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8" name="Text 16"/>
          <p:cNvSpPr/>
          <p:nvPr/>
        </p:nvSpPr>
        <p:spPr>
          <a:xfrm>
            <a:off x="914400" y="5166360"/>
            <a:ext cx="10424160" cy="320040"/>
          </a:xfrm>
          <a:prstGeom prst="rect">
            <a:avLst/>
          </a:prstGeom>
          <a:noFill/>
          <a:ln/>
        </p:spPr>
        <p:txBody>
          <a:bodyPr wrap="square" lIns="0" tIns="0" rIns="0" bIns="0" rtlCol="0" anchor="ctr"/>
          <a:lstStyle/>
          <a:p>
            <a:pPr indent="0" marL="0">
              <a:buNone/>
            </a:pPr>
            <a:r>
              <a:rPr lang="en-US" sz="1600" b="1" dirty="0">
                <a:solidFill>
                  <a:srgbClr val="0F2E3D"/>
                </a:solidFill>
                <a:latin typeface="Cambria" pitchFamily="34" charset="0"/>
                <a:ea typeface="Cambria" pitchFamily="34" charset="-122"/>
                <a:cs typeface="Cambria" pitchFamily="34" charset="-120"/>
              </a:rPr>
              <a:t>Why a regulator cares</a:t>
            </a:r>
            <a:endParaRPr lang="en-US" sz="1600" dirty="0"/>
          </a:p>
        </p:txBody>
      </p:sp>
      <p:sp>
        <p:nvSpPr>
          <p:cNvPr id="19" name="Text 17"/>
          <p:cNvSpPr/>
          <p:nvPr/>
        </p:nvSpPr>
        <p:spPr>
          <a:xfrm>
            <a:off x="914400" y="5532120"/>
            <a:ext cx="10424160" cy="68580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A reviewer assessing a safety signal wants every severe event across every study of this drug class — dozens of submissions from different sponsors. That query only works if all of them wrote SEVERE the same way. CT is what makes your study POOLABLE with everyone else's.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YOU HAVE ALREADY DONE THIS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Every coded variable in ABC-01 — and all eight changed</a:t>
            </a:r>
            <a:endParaRPr lang="en-US" sz="3000" dirty="0"/>
          </a:p>
        </p:txBody>
      </p:sp>
      <p:sp>
        <p:nvSpPr>
          <p:cNvPr id="4" name="Shape 2"/>
          <p:cNvSpPr/>
          <p:nvPr/>
        </p:nvSpPr>
        <p:spPr>
          <a:xfrm>
            <a:off x="640080" y="1645920"/>
            <a:ext cx="1371600" cy="329184"/>
          </a:xfrm>
          <a:prstGeom prst="rect">
            <a:avLst/>
          </a:prstGeom>
          <a:solidFill>
            <a:srgbClr val="0F2E3D"/>
          </a:solidFill>
          <a:ln w="9525">
            <a:solidFill>
              <a:srgbClr val="CFDEE1"/>
            </a:solidFill>
            <a:prstDash val="solid"/>
          </a:ln>
        </p:spPr>
      </p:sp>
      <p:sp>
        <p:nvSpPr>
          <p:cNvPr id="5" name="Text 3"/>
          <p:cNvSpPr/>
          <p:nvPr/>
        </p:nvSpPr>
        <p:spPr>
          <a:xfrm>
            <a:off x="694944" y="1645920"/>
            <a:ext cx="1261872" cy="32918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p>
        </p:txBody>
      </p:sp>
      <p:sp>
        <p:nvSpPr>
          <p:cNvPr id="6" name="Shape 4"/>
          <p:cNvSpPr/>
          <p:nvPr/>
        </p:nvSpPr>
        <p:spPr>
          <a:xfrm>
            <a:off x="2011680" y="1645920"/>
            <a:ext cx="914400" cy="329184"/>
          </a:xfrm>
          <a:prstGeom prst="rect">
            <a:avLst/>
          </a:prstGeom>
          <a:solidFill>
            <a:srgbClr val="0F2E3D"/>
          </a:solidFill>
          <a:ln w="9525">
            <a:solidFill>
              <a:srgbClr val="CFDEE1"/>
            </a:solidFill>
            <a:prstDash val="solid"/>
          </a:ln>
        </p:spPr>
      </p:sp>
      <p:sp>
        <p:nvSpPr>
          <p:cNvPr id="7" name="Text 5"/>
          <p:cNvSpPr/>
          <p:nvPr/>
        </p:nvSpPr>
        <p:spPr>
          <a:xfrm>
            <a:off x="2066544" y="1645920"/>
            <a:ext cx="804672" cy="32918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Domain</a:t>
            </a:r>
            <a:endParaRPr lang="en-US" sz="1100" dirty="0"/>
          </a:p>
        </p:txBody>
      </p:sp>
      <p:sp>
        <p:nvSpPr>
          <p:cNvPr id="8" name="Shape 6"/>
          <p:cNvSpPr/>
          <p:nvPr/>
        </p:nvSpPr>
        <p:spPr>
          <a:xfrm>
            <a:off x="2926080" y="1645920"/>
            <a:ext cx="3931920" cy="329184"/>
          </a:xfrm>
          <a:prstGeom prst="rect">
            <a:avLst/>
          </a:prstGeom>
          <a:solidFill>
            <a:srgbClr val="0F2E3D"/>
          </a:solidFill>
          <a:ln w="9525">
            <a:solidFill>
              <a:srgbClr val="CFDEE1"/>
            </a:solidFill>
            <a:prstDash val="solid"/>
          </a:ln>
        </p:spPr>
      </p:sp>
      <p:sp>
        <p:nvSpPr>
          <p:cNvPr id="9" name="Text 7"/>
          <p:cNvSpPr/>
          <p:nvPr/>
        </p:nvSpPr>
        <p:spPr>
          <a:xfrm>
            <a:off x="2980944" y="1645920"/>
            <a:ext cx="3822192" cy="32918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Raw values as collected</a:t>
            </a:r>
            <a:endParaRPr lang="en-US" sz="1100" dirty="0"/>
          </a:p>
        </p:txBody>
      </p:sp>
      <p:sp>
        <p:nvSpPr>
          <p:cNvPr id="10" name="Shape 8"/>
          <p:cNvSpPr/>
          <p:nvPr/>
        </p:nvSpPr>
        <p:spPr>
          <a:xfrm>
            <a:off x="6858000" y="1645920"/>
            <a:ext cx="3200400" cy="329184"/>
          </a:xfrm>
          <a:prstGeom prst="rect">
            <a:avLst/>
          </a:prstGeom>
          <a:solidFill>
            <a:srgbClr val="0F2E3D"/>
          </a:solidFill>
          <a:ln w="9525">
            <a:solidFill>
              <a:srgbClr val="CFDEE1"/>
            </a:solidFill>
            <a:prstDash val="solid"/>
          </a:ln>
        </p:spPr>
      </p:sp>
      <p:sp>
        <p:nvSpPr>
          <p:cNvPr id="11" name="Text 9"/>
          <p:cNvSpPr/>
          <p:nvPr/>
        </p:nvSpPr>
        <p:spPr>
          <a:xfrm>
            <a:off x="6912864" y="1645920"/>
            <a:ext cx="3090672" cy="32918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SDTM submission values</a:t>
            </a:r>
            <a:endParaRPr lang="en-US" sz="1100" dirty="0"/>
          </a:p>
        </p:txBody>
      </p:sp>
      <p:sp>
        <p:nvSpPr>
          <p:cNvPr id="12" name="Shape 10"/>
          <p:cNvSpPr/>
          <p:nvPr/>
        </p:nvSpPr>
        <p:spPr>
          <a:xfrm>
            <a:off x="10058400" y="1645920"/>
            <a:ext cx="1554480" cy="329184"/>
          </a:xfrm>
          <a:prstGeom prst="rect">
            <a:avLst/>
          </a:prstGeom>
          <a:solidFill>
            <a:srgbClr val="0F2E3D"/>
          </a:solidFill>
          <a:ln w="9525">
            <a:solidFill>
              <a:srgbClr val="CFDEE1"/>
            </a:solidFill>
            <a:prstDash val="solid"/>
          </a:ln>
        </p:spPr>
      </p:sp>
      <p:sp>
        <p:nvSpPr>
          <p:cNvPr id="13" name="Text 11"/>
          <p:cNvSpPr/>
          <p:nvPr/>
        </p:nvSpPr>
        <p:spPr>
          <a:xfrm>
            <a:off x="10113264" y="1645920"/>
            <a:ext cx="1444752" cy="329184"/>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Kind</a:t>
            </a:r>
            <a:endParaRPr lang="en-US" sz="1100" dirty="0"/>
          </a:p>
        </p:txBody>
      </p:sp>
      <p:sp>
        <p:nvSpPr>
          <p:cNvPr id="14" name="Shape 12"/>
          <p:cNvSpPr/>
          <p:nvPr/>
        </p:nvSpPr>
        <p:spPr>
          <a:xfrm>
            <a:off x="640080" y="1975104"/>
            <a:ext cx="1371600" cy="329184"/>
          </a:xfrm>
          <a:prstGeom prst="rect">
            <a:avLst/>
          </a:prstGeom>
          <a:solidFill>
            <a:srgbClr val="F3F7F8"/>
          </a:solidFill>
          <a:ln w="9525">
            <a:solidFill>
              <a:srgbClr val="CFDEE1"/>
            </a:solidFill>
            <a:prstDash val="solid"/>
          </a:ln>
        </p:spPr>
      </p:sp>
      <p:sp>
        <p:nvSpPr>
          <p:cNvPr id="15" name="Text 13"/>
          <p:cNvSpPr/>
          <p:nvPr/>
        </p:nvSpPr>
        <p:spPr>
          <a:xfrm>
            <a:off x="694944" y="1975104"/>
            <a:ext cx="12618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SEX</a:t>
            </a:r>
            <a:endParaRPr lang="en-US" sz="1100" dirty="0"/>
          </a:p>
        </p:txBody>
      </p:sp>
      <p:sp>
        <p:nvSpPr>
          <p:cNvPr id="16" name="Shape 14"/>
          <p:cNvSpPr/>
          <p:nvPr/>
        </p:nvSpPr>
        <p:spPr>
          <a:xfrm>
            <a:off x="2011680" y="1975104"/>
            <a:ext cx="914400" cy="329184"/>
          </a:xfrm>
          <a:prstGeom prst="rect">
            <a:avLst/>
          </a:prstGeom>
          <a:solidFill>
            <a:srgbClr val="F3F7F8"/>
          </a:solidFill>
          <a:ln w="9525">
            <a:solidFill>
              <a:srgbClr val="CFDEE1"/>
            </a:solidFill>
            <a:prstDash val="solid"/>
          </a:ln>
        </p:spPr>
      </p:sp>
      <p:sp>
        <p:nvSpPr>
          <p:cNvPr id="17" name="Text 15"/>
          <p:cNvSpPr/>
          <p:nvPr/>
        </p:nvSpPr>
        <p:spPr>
          <a:xfrm>
            <a:off x="2066544" y="1975104"/>
            <a:ext cx="8046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DM</a:t>
            </a:r>
            <a:endParaRPr lang="en-US" sz="1100" dirty="0"/>
          </a:p>
        </p:txBody>
      </p:sp>
      <p:sp>
        <p:nvSpPr>
          <p:cNvPr id="18" name="Shape 16"/>
          <p:cNvSpPr/>
          <p:nvPr/>
        </p:nvSpPr>
        <p:spPr>
          <a:xfrm>
            <a:off x="2926080" y="1975104"/>
            <a:ext cx="3931920" cy="329184"/>
          </a:xfrm>
          <a:prstGeom prst="rect">
            <a:avLst/>
          </a:prstGeom>
          <a:solidFill>
            <a:srgbClr val="F3F7F8"/>
          </a:solidFill>
          <a:ln w="9525">
            <a:solidFill>
              <a:srgbClr val="CFDEE1"/>
            </a:solidFill>
            <a:prstDash val="solid"/>
          </a:ln>
        </p:spPr>
      </p:sp>
      <p:sp>
        <p:nvSpPr>
          <p:cNvPr id="19" name="Text 17"/>
          <p:cNvSpPr/>
          <p:nvPr/>
        </p:nvSpPr>
        <p:spPr>
          <a:xfrm>
            <a:off x="2980944" y="1975104"/>
            <a:ext cx="382219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1 · 2</a:t>
            </a:r>
            <a:endParaRPr lang="en-US" sz="1100" dirty="0"/>
          </a:p>
        </p:txBody>
      </p:sp>
      <p:sp>
        <p:nvSpPr>
          <p:cNvPr id="20" name="Shape 18"/>
          <p:cNvSpPr/>
          <p:nvPr/>
        </p:nvSpPr>
        <p:spPr>
          <a:xfrm>
            <a:off x="6858000" y="1975104"/>
            <a:ext cx="3200400" cy="329184"/>
          </a:xfrm>
          <a:prstGeom prst="rect">
            <a:avLst/>
          </a:prstGeom>
          <a:solidFill>
            <a:srgbClr val="F3F7F8"/>
          </a:solidFill>
          <a:ln w="9525">
            <a:solidFill>
              <a:srgbClr val="CFDEE1"/>
            </a:solidFill>
            <a:prstDash val="solid"/>
          </a:ln>
        </p:spPr>
      </p:sp>
      <p:sp>
        <p:nvSpPr>
          <p:cNvPr id="21" name="Text 19"/>
          <p:cNvSpPr/>
          <p:nvPr/>
        </p:nvSpPr>
        <p:spPr>
          <a:xfrm>
            <a:off x="6912864" y="1975104"/>
            <a:ext cx="30906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M · F</a:t>
            </a:r>
            <a:endParaRPr lang="en-US" sz="1100" dirty="0"/>
          </a:p>
        </p:txBody>
      </p:sp>
      <p:sp>
        <p:nvSpPr>
          <p:cNvPr id="22" name="Shape 20"/>
          <p:cNvSpPr/>
          <p:nvPr/>
        </p:nvSpPr>
        <p:spPr>
          <a:xfrm>
            <a:off x="10058400" y="1975104"/>
            <a:ext cx="1554480" cy="329184"/>
          </a:xfrm>
          <a:prstGeom prst="rect">
            <a:avLst/>
          </a:prstGeom>
          <a:solidFill>
            <a:srgbClr val="F3F7F8"/>
          </a:solidFill>
          <a:ln w="9525">
            <a:solidFill>
              <a:srgbClr val="CFDEE1"/>
            </a:solidFill>
            <a:prstDash val="solid"/>
          </a:ln>
        </p:spPr>
      </p:sp>
      <p:sp>
        <p:nvSpPr>
          <p:cNvPr id="23" name="Text 21"/>
          <p:cNvSpPr/>
          <p:nvPr/>
        </p:nvSpPr>
        <p:spPr>
          <a:xfrm>
            <a:off x="10113264" y="1975104"/>
            <a:ext cx="144475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decode</a:t>
            </a:r>
            <a:endParaRPr lang="en-US" sz="1100" dirty="0"/>
          </a:p>
        </p:txBody>
      </p:sp>
      <p:sp>
        <p:nvSpPr>
          <p:cNvPr id="24" name="Shape 22"/>
          <p:cNvSpPr/>
          <p:nvPr/>
        </p:nvSpPr>
        <p:spPr>
          <a:xfrm>
            <a:off x="640080" y="2304288"/>
            <a:ext cx="1371600" cy="329184"/>
          </a:xfrm>
          <a:prstGeom prst="rect">
            <a:avLst/>
          </a:prstGeom>
          <a:solidFill>
            <a:srgbClr val="FFFFFF"/>
          </a:solidFill>
          <a:ln w="9525">
            <a:solidFill>
              <a:srgbClr val="CFDEE1"/>
            </a:solidFill>
            <a:prstDash val="solid"/>
          </a:ln>
        </p:spPr>
      </p:sp>
      <p:sp>
        <p:nvSpPr>
          <p:cNvPr id="25" name="Text 23"/>
          <p:cNvSpPr/>
          <p:nvPr/>
        </p:nvSpPr>
        <p:spPr>
          <a:xfrm>
            <a:off x="694944" y="2304288"/>
            <a:ext cx="12618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RACE</a:t>
            </a:r>
            <a:endParaRPr lang="en-US" sz="1100" dirty="0"/>
          </a:p>
        </p:txBody>
      </p:sp>
      <p:sp>
        <p:nvSpPr>
          <p:cNvPr id="26" name="Shape 24"/>
          <p:cNvSpPr/>
          <p:nvPr/>
        </p:nvSpPr>
        <p:spPr>
          <a:xfrm>
            <a:off x="2011680" y="2304288"/>
            <a:ext cx="914400" cy="329184"/>
          </a:xfrm>
          <a:prstGeom prst="rect">
            <a:avLst/>
          </a:prstGeom>
          <a:solidFill>
            <a:srgbClr val="FFFFFF"/>
          </a:solidFill>
          <a:ln w="9525">
            <a:solidFill>
              <a:srgbClr val="CFDEE1"/>
            </a:solidFill>
            <a:prstDash val="solid"/>
          </a:ln>
        </p:spPr>
      </p:sp>
      <p:sp>
        <p:nvSpPr>
          <p:cNvPr id="27" name="Text 25"/>
          <p:cNvSpPr/>
          <p:nvPr/>
        </p:nvSpPr>
        <p:spPr>
          <a:xfrm>
            <a:off x="2066544" y="2304288"/>
            <a:ext cx="8046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DM</a:t>
            </a:r>
            <a:endParaRPr lang="en-US" sz="1100" dirty="0"/>
          </a:p>
        </p:txBody>
      </p:sp>
      <p:sp>
        <p:nvSpPr>
          <p:cNvPr id="28" name="Shape 26"/>
          <p:cNvSpPr/>
          <p:nvPr/>
        </p:nvSpPr>
        <p:spPr>
          <a:xfrm>
            <a:off x="2926080" y="2304288"/>
            <a:ext cx="3931920" cy="329184"/>
          </a:xfrm>
          <a:prstGeom prst="rect">
            <a:avLst/>
          </a:prstGeom>
          <a:solidFill>
            <a:srgbClr val="FFFFFF"/>
          </a:solidFill>
          <a:ln w="9525">
            <a:solidFill>
              <a:srgbClr val="CFDEE1"/>
            </a:solidFill>
            <a:prstDash val="solid"/>
          </a:ln>
        </p:spPr>
      </p:sp>
      <p:sp>
        <p:nvSpPr>
          <p:cNvPr id="29" name="Text 27"/>
          <p:cNvSpPr/>
          <p:nvPr/>
        </p:nvSpPr>
        <p:spPr>
          <a:xfrm>
            <a:off x="2980944" y="2304288"/>
            <a:ext cx="382219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White · asian · 'White '</a:t>
            </a:r>
            <a:endParaRPr lang="en-US" sz="1100" dirty="0"/>
          </a:p>
        </p:txBody>
      </p:sp>
      <p:sp>
        <p:nvSpPr>
          <p:cNvPr id="30" name="Shape 28"/>
          <p:cNvSpPr/>
          <p:nvPr/>
        </p:nvSpPr>
        <p:spPr>
          <a:xfrm>
            <a:off x="6858000" y="2304288"/>
            <a:ext cx="3200400" cy="329184"/>
          </a:xfrm>
          <a:prstGeom prst="rect">
            <a:avLst/>
          </a:prstGeom>
          <a:solidFill>
            <a:srgbClr val="FFFFFF"/>
          </a:solidFill>
          <a:ln w="9525">
            <a:solidFill>
              <a:srgbClr val="CFDEE1"/>
            </a:solidFill>
            <a:prstDash val="solid"/>
          </a:ln>
        </p:spPr>
      </p:sp>
      <p:sp>
        <p:nvSpPr>
          <p:cNvPr id="31" name="Text 29"/>
          <p:cNvSpPr/>
          <p:nvPr/>
        </p:nvSpPr>
        <p:spPr>
          <a:xfrm>
            <a:off x="6912864" y="2304288"/>
            <a:ext cx="30906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WHITE · ASIAN · …</a:t>
            </a:r>
            <a:endParaRPr lang="en-US" sz="1100" dirty="0"/>
          </a:p>
        </p:txBody>
      </p:sp>
      <p:sp>
        <p:nvSpPr>
          <p:cNvPr id="32" name="Shape 30"/>
          <p:cNvSpPr/>
          <p:nvPr/>
        </p:nvSpPr>
        <p:spPr>
          <a:xfrm>
            <a:off x="10058400" y="2304288"/>
            <a:ext cx="1554480" cy="329184"/>
          </a:xfrm>
          <a:prstGeom prst="rect">
            <a:avLst/>
          </a:prstGeom>
          <a:solidFill>
            <a:srgbClr val="FFFFFF"/>
          </a:solidFill>
          <a:ln w="9525">
            <a:solidFill>
              <a:srgbClr val="CFDEE1"/>
            </a:solidFill>
            <a:prstDash val="solid"/>
          </a:ln>
        </p:spPr>
      </p:sp>
      <p:sp>
        <p:nvSpPr>
          <p:cNvPr id="33" name="Text 31"/>
          <p:cNvSpPr/>
          <p:nvPr/>
        </p:nvSpPr>
        <p:spPr>
          <a:xfrm>
            <a:off x="10113264" y="2304288"/>
            <a:ext cx="144475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normalise</a:t>
            </a:r>
            <a:endParaRPr lang="en-US" sz="1100" dirty="0"/>
          </a:p>
        </p:txBody>
      </p:sp>
      <p:sp>
        <p:nvSpPr>
          <p:cNvPr id="34" name="Shape 32"/>
          <p:cNvSpPr/>
          <p:nvPr/>
        </p:nvSpPr>
        <p:spPr>
          <a:xfrm>
            <a:off x="640080" y="2633472"/>
            <a:ext cx="1371600" cy="329184"/>
          </a:xfrm>
          <a:prstGeom prst="rect">
            <a:avLst/>
          </a:prstGeom>
          <a:solidFill>
            <a:srgbClr val="F3F7F8"/>
          </a:solidFill>
          <a:ln w="9525">
            <a:solidFill>
              <a:srgbClr val="CFDEE1"/>
            </a:solidFill>
            <a:prstDash val="solid"/>
          </a:ln>
        </p:spPr>
      </p:sp>
      <p:sp>
        <p:nvSpPr>
          <p:cNvPr id="35" name="Text 33"/>
          <p:cNvSpPr/>
          <p:nvPr/>
        </p:nvSpPr>
        <p:spPr>
          <a:xfrm>
            <a:off x="694944" y="2633472"/>
            <a:ext cx="12618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ETHNIC</a:t>
            </a:r>
            <a:endParaRPr lang="en-US" sz="1100" dirty="0"/>
          </a:p>
        </p:txBody>
      </p:sp>
      <p:sp>
        <p:nvSpPr>
          <p:cNvPr id="36" name="Shape 34"/>
          <p:cNvSpPr/>
          <p:nvPr/>
        </p:nvSpPr>
        <p:spPr>
          <a:xfrm>
            <a:off x="2011680" y="2633472"/>
            <a:ext cx="914400" cy="329184"/>
          </a:xfrm>
          <a:prstGeom prst="rect">
            <a:avLst/>
          </a:prstGeom>
          <a:solidFill>
            <a:srgbClr val="F3F7F8"/>
          </a:solidFill>
          <a:ln w="9525">
            <a:solidFill>
              <a:srgbClr val="CFDEE1"/>
            </a:solidFill>
            <a:prstDash val="solid"/>
          </a:ln>
        </p:spPr>
      </p:sp>
      <p:sp>
        <p:nvSpPr>
          <p:cNvPr id="37" name="Text 35"/>
          <p:cNvSpPr/>
          <p:nvPr/>
        </p:nvSpPr>
        <p:spPr>
          <a:xfrm>
            <a:off x="2066544" y="2633472"/>
            <a:ext cx="8046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DM</a:t>
            </a:r>
            <a:endParaRPr lang="en-US" sz="1100" dirty="0"/>
          </a:p>
        </p:txBody>
      </p:sp>
      <p:sp>
        <p:nvSpPr>
          <p:cNvPr id="38" name="Shape 36"/>
          <p:cNvSpPr/>
          <p:nvPr/>
        </p:nvSpPr>
        <p:spPr>
          <a:xfrm>
            <a:off x="2926080" y="2633472"/>
            <a:ext cx="3931920" cy="329184"/>
          </a:xfrm>
          <a:prstGeom prst="rect">
            <a:avLst/>
          </a:prstGeom>
          <a:solidFill>
            <a:srgbClr val="F3F7F8"/>
          </a:solidFill>
          <a:ln w="9525">
            <a:solidFill>
              <a:srgbClr val="CFDEE1"/>
            </a:solidFill>
            <a:prstDash val="solid"/>
          </a:ln>
        </p:spPr>
      </p:sp>
      <p:sp>
        <p:nvSpPr>
          <p:cNvPr id="39" name="Text 37"/>
          <p:cNvSpPr/>
          <p:nvPr/>
        </p:nvSpPr>
        <p:spPr>
          <a:xfrm>
            <a:off x="2980944" y="2633472"/>
            <a:ext cx="382219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Not Hispanic or Latino</a:t>
            </a:r>
            <a:endParaRPr lang="en-US" sz="1100" dirty="0"/>
          </a:p>
        </p:txBody>
      </p:sp>
      <p:sp>
        <p:nvSpPr>
          <p:cNvPr id="40" name="Shape 38"/>
          <p:cNvSpPr/>
          <p:nvPr/>
        </p:nvSpPr>
        <p:spPr>
          <a:xfrm>
            <a:off x="6858000" y="2633472"/>
            <a:ext cx="3200400" cy="329184"/>
          </a:xfrm>
          <a:prstGeom prst="rect">
            <a:avLst/>
          </a:prstGeom>
          <a:solidFill>
            <a:srgbClr val="F3F7F8"/>
          </a:solidFill>
          <a:ln w="9525">
            <a:solidFill>
              <a:srgbClr val="CFDEE1"/>
            </a:solidFill>
            <a:prstDash val="solid"/>
          </a:ln>
        </p:spPr>
      </p:sp>
      <p:sp>
        <p:nvSpPr>
          <p:cNvPr id="41" name="Text 39"/>
          <p:cNvSpPr/>
          <p:nvPr/>
        </p:nvSpPr>
        <p:spPr>
          <a:xfrm>
            <a:off x="6912864" y="2633472"/>
            <a:ext cx="30906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NOT HISPANIC OR LATINO</a:t>
            </a:r>
            <a:endParaRPr lang="en-US" sz="1100" dirty="0"/>
          </a:p>
        </p:txBody>
      </p:sp>
      <p:sp>
        <p:nvSpPr>
          <p:cNvPr id="42" name="Shape 40"/>
          <p:cNvSpPr/>
          <p:nvPr/>
        </p:nvSpPr>
        <p:spPr>
          <a:xfrm>
            <a:off x="10058400" y="2633472"/>
            <a:ext cx="1554480" cy="329184"/>
          </a:xfrm>
          <a:prstGeom prst="rect">
            <a:avLst/>
          </a:prstGeom>
          <a:solidFill>
            <a:srgbClr val="F3F7F8"/>
          </a:solidFill>
          <a:ln w="9525">
            <a:solidFill>
              <a:srgbClr val="CFDEE1"/>
            </a:solidFill>
            <a:prstDash val="solid"/>
          </a:ln>
        </p:spPr>
      </p:sp>
      <p:sp>
        <p:nvSpPr>
          <p:cNvPr id="43" name="Text 41"/>
          <p:cNvSpPr/>
          <p:nvPr/>
        </p:nvSpPr>
        <p:spPr>
          <a:xfrm>
            <a:off x="10113264" y="2633472"/>
            <a:ext cx="144475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normalise</a:t>
            </a:r>
            <a:endParaRPr lang="en-US" sz="1100" dirty="0"/>
          </a:p>
        </p:txBody>
      </p:sp>
      <p:sp>
        <p:nvSpPr>
          <p:cNvPr id="44" name="Shape 42"/>
          <p:cNvSpPr/>
          <p:nvPr/>
        </p:nvSpPr>
        <p:spPr>
          <a:xfrm>
            <a:off x="640080" y="2962656"/>
            <a:ext cx="1371600" cy="329184"/>
          </a:xfrm>
          <a:prstGeom prst="rect">
            <a:avLst/>
          </a:prstGeom>
          <a:solidFill>
            <a:srgbClr val="FFFFFF"/>
          </a:solidFill>
          <a:ln w="9525">
            <a:solidFill>
              <a:srgbClr val="CFDEE1"/>
            </a:solidFill>
            <a:prstDash val="solid"/>
          </a:ln>
        </p:spPr>
      </p:sp>
      <p:sp>
        <p:nvSpPr>
          <p:cNvPr id="45" name="Text 43"/>
          <p:cNvSpPr/>
          <p:nvPr/>
        </p:nvSpPr>
        <p:spPr>
          <a:xfrm>
            <a:off x="694944" y="2962656"/>
            <a:ext cx="12618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AESEV</a:t>
            </a:r>
            <a:endParaRPr lang="en-US" sz="1100" dirty="0"/>
          </a:p>
        </p:txBody>
      </p:sp>
      <p:sp>
        <p:nvSpPr>
          <p:cNvPr id="46" name="Shape 44"/>
          <p:cNvSpPr/>
          <p:nvPr/>
        </p:nvSpPr>
        <p:spPr>
          <a:xfrm>
            <a:off x="2011680" y="2962656"/>
            <a:ext cx="914400" cy="329184"/>
          </a:xfrm>
          <a:prstGeom prst="rect">
            <a:avLst/>
          </a:prstGeom>
          <a:solidFill>
            <a:srgbClr val="FFFFFF"/>
          </a:solidFill>
          <a:ln w="9525">
            <a:solidFill>
              <a:srgbClr val="CFDEE1"/>
            </a:solidFill>
            <a:prstDash val="solid"/>
          </a:ln>
        </p:spPr>
      </p:sp>
      <p:sp>
        <p:nvSpPr>
          <p:cNvPr id="47" name="Text 45"/>
          <p:cNvSpPr/>
          <p:nvPr/>
        </p:nvSpPr>
        <p:spPr>
          <a:xfrm>
            <a:off x="2066544" y="2962656"/>
            <a:ext cx="8046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AE</a:t>
            </a:r>
            <a:endParaRPr lang="en-US" sz="1100" dirty="0"/>
          </a:p>
        </p:txBody>
      </p:sp>
      <p:sp>
        <p:nvSpPr>
          <p:cNvPr id="48" name="Shape 46"/>
          <p:cNvSpPr/>
          <p:nvPr/>
        </p:nvSpPr>
        <p:spPr>
          <a:xfrm>
            <a:off x="2926080" y="2962656"/>
            <a:ext cx="3931920" cy="329184"/>
          </a:xfrm>
          <a:prstGeom prst="rect">
            <a:avLst/>
          </a:prstGeom>
          <a:solidFill>
            <a:srgbClr val="FFFFFF"/>
          </a:solidFill>
          <a:ln w="9525">
            <a:solidFill>
              <a:srgbClr val="CFDEE1"/>
            </a:solidFill>
            <a:prstDash val="solid"/>
          </a:ln>
        </p:spPr>
      </p:sp>
      <p:sp>
        <p:nvSpPr>
          <p:cNvPr id="49" name="Text 47"/>
          <p:cNvSpPr/>
          <p:nvPr/>
        </p:nvSpPr>
        <p:spPr>
          <a:xfrm>
            <a:off x="2980944" y="2962656"/>
            <a:ext cx="382219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mild · Mild · severe</a:t>
            </a:r>
            <a:endParaRPr lang="en-US" sz="1100" dirty="0"/>
          </a:p>
        </p:txBody>
      </p:sp>
      <p:sp>
        <p:nvSpPr>
          <p:cNvPr id="50" name="Shape 48"/>
          <p:cNvSpPr/>
          <p:nvPr/>
        </p:nvSpPr>
        <p:spPr>
          <a:xfrm>
            <a:off x="6858000" y="2962656"/>
            <a:ext cx="3200400" cy="329184"/>
          </a:xfrm>
          <a:prstGeom prst="rect">
            <a:avLst/>
          </a:prstGeom>
          <a:solidFill>
            <a:srgbClr val="FFFFFF"/>
          </a:solidFill>
          <a:ln w="9525">
            <a:solidFill>
              <a:srgbClr val="CFDEE1"/>
            </a:solidFill>
            <a:prstDash val="solid"/>
          </a:ln>
        </p:spPr>
      </p:sp>
      <p:sp>
        <p:nvSpPr>
          <p:cNvPr id="51" name="Text 49"/>
          <p:cNvSpPr/>
          <p:nvPr/>
        </p:nvSpPr>
        <p:spPr>
          <a:xfrm>
            <a:off x="6912864" y="2962656"/>
            <a:ext cx="30906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MILD · MODERATE · SEVERE</a:t>
            </a:r>
            <a:endParaRPr lang="en-US" sz="1100" dirty="0"/>
          </a:p>
        </p:txBody>
      </p:sp>
      <p:sp>
        <p:nvSpPr>
          <p:cNvPr id="52" name="Shape 50"/>
          <p:cNvSpPr/>
          <p:nvPr/>
        </p:nvSpPr>
        <p:spPr>
          <a:xfrm>
            <a:off x="10058400" y="2962656"/>
            <a:ext cx="1554480" cy="329184"/>
          </a:xfrm>
          <a:prstGeom prst="rect">
            <a:avLst/>
          </a:prstGeom>
          <a:solidFill>
            <a:srgbClr val="FFFFFF"/>
          </a:solidFill>
          <a:ln w="9525">
            <a:solidFill>
              <a:srgbClr val="CFDEE1"/>
            </a:solidFill>
            <a:prstDash val="solid"/>
          </a:ln>
        </p:spPr>
      </p:sp>
      <p:sp>
        <p:nvSpPr>
          <p:cNvPr id="53" name="Text 51"/>
          <p:cNvSpPr/>
          <p:nvPr/>
        </p:nvSpPr>
        <p:spPr>
          <a:xfrm>
            <a:off x="10113264" y="2962656"/>
            <a:ext cx="144475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normalise</a:t>
            </a:r>
            <a:endParaRPr lang="en-US" sz="1100" dirty="0"/>
          </a:p>
        </p:txBody>
      </p:sp>
      <p:sp>
        <p:nvSpPr>
          <p:cNvPr id="54" name="Shape 52"/>
          <p:cNvSpPr/>
          <p:nvPr/>
        </p:nvSpPr>
        <p:spPr>
          <a:xfrm>
            <a:off x="640080" y="3291840"/>
            <a:ext cx="1371600" cy="329184"/>
          </a:xfrm>
          <a:prstGeom prst="rect">
            <a:avLst/>
          </a:prstGeom>
          <a:solidFill>
            <a:srgbClr val="F3F7F8"/>
          </a:solidFill>
          <a:ln w="9525">
            <a:solidFill>
              <a:srgbClr val="CFDEE1"/>
            </a:solidFill>
            <a:prstDash val="solid"/>
          </a:ln>
        </p:spPr>
      </p:sp>
      <p:sp>
        <p:nvSpPr>
          <p:cNvPr id="55" name="Text 53"/>
          <p:cNvSpPr/>
          <p:nvPr/>
        </p:nvSpPr>
        <p:spPr>
          <a:xfrm>
            <a:off x="694944" y="3291840"/>
            <a:ext cx="12618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AESER</a:t>
            </a:r>
            <a:endParaRPr lang="en-US" sz="1100" dirty="0"/>
          </a:p>
        </p:txBody>
      </p:sp>
      <p:sp>
        <p:nvSpPr>
          <p:cNvPr id="56" name="Shape 54"/>
          <p:cNvSpPr/>
          <p:nvPr/>
        </p:nvSpPr>
        <p:spPr>
          <a:xfrm>
            <a:off x="2011680" y="3291840"/>
            <a:ext cx="914400" cy="329184"/>
          </a:xfrm>
          <a:prstGeom prst="rect">
            <a:avLst/>
          </a:prstGeom>
          <a:solidFill>
            <a:srgbClr val="F3F7F8"/>
          </a:solidFill>
          <a:ln w="9525">
            <a:solidFill>
              <a:srgbClr val="CFDEE1"/>
            </a:solidFill>
            <a:prstDash val="solid"/>
          </a:ln>
        </p:spPr>
      </p:sp>
      <p:sp>
        <p:nvSpPr>
          <p:cNvPr id="57" name="Text 55"/>
          <p:cNvSpPr/>
          <p:nvPr/>
        </p:nvSpPr>
        <p:spPr>
          <a:xfrm>
            <a:off x="2066544" y="3291840"/>
            <a:ext cx="8046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AE</a:t>
            </a:r>
            <a:endParaRPr lang="en-US" sz="1100" dirty="0"/>
          </a:p>
        </p:txBody>
      </p:sp>
      <p:sp>
        <p:nvSpPr>
          <p:cNvPr id="58" name="Shape 56"/>
          <p:cNvSpPr/>
          <p:nvPr/>
        </p:nvSpPr>
        <p:spPr>
          <a:xfrm>
            <a:off x="2926080" y="3291840"/>
            <a:ext cx="3931920" cy="329184"/>
          </a:xfrm>
          <a:prstGeom prst="rect">
            <a:avLst/>
          </a:prstGeom>
          <a:solidFill>
            <a:srgbClr val="F3F7F8"/>
          </a:solidFill>
          <a:ln w="9525">
            <a:solidFill>
              <a:srgbClr val="CFDEE1"/>
            </a:solidFill>
            <a:prstDash val="solid"/>
          </a:ln>
        </p:spPr>
      </p:sp>
      <p:sp>
        <p:nvSpPr>
          <p:cNvPr id="59" name="Text 57"/>
          <p:cNvSpPr/>
          <p:nvPr/>
        </p:nvSpPr>
        <p:spPr>
          <a:xfrm>
            <a:off x="2980944" y="3291840"/>
            <a:ext cx="382219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No · N · Yes</a:t>
            </a:r>
            <a:endParaRPr lang="en-US" sz="1100" dirty="0"/>
          </a:p>
        </p:txBody>
      </p:sp>
      <p:sp>
        <p:nvSpPr>
          <p:cNvPr id="60" name="Shape 58"/>
          <p:cNvSpPr/>
          <p:nvPr/>
        </p:nvSpPr>
        <p:spPr>
          <a:xfrm>
            <a:off x="6858000" y="3291840"/>
            <a:ext cx="3200400" cy="329184"/>
          </a:xfrm>
          <a:prstGeom prst="rect">
            <a:avLst/>
          </a:prstGeom>
          <a:solidFill>
            <a:srgbClr val="F3F7F8"/>
          </a:solidFill>
          <a:ln w="9525">
            <a:solidFill>
              <a:srgbClr val="CFDEE1"/>
            </a:solidFill>
            <a:prstDash val="solid"/>
          </a:ln>
        </p:spPr>
      </p:sp>
      <p:sp>
        <p:nvSpPr>
          <p:cNvPr id="61" name="Text 59"/>
          <p:cNvSpPr/>
          <p:nvPr/>
        </p:nvSpPr>
        <p:spPr>
          <a:xfrm>
            <a:off x="6912864" y="3291840"/>
            <a:ext cx="30906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N · Y</a:t>
            </a:r>
            <a:endParaRPr lang="en-US" sz="1100" dirty="0"/>
          </a:p>
        </p:txBody>
      </p:sp>
      <p:sp>
        <p:nvSpPr>
          <p:cNvPr id="62" name="Shape 60"/>
          <p:cNvSpPr/>
          <p:nvPr/>
        </p:nvSpPr>
        <p:spPr>
          <a:xfrm>
            <a:off x="10058400" y="3291840"/>
            <a:ext cx="1554480" cy="329184"/>
          </a:xfrm>
          <a:prstGeom prst="rect">
            <a:avLst/>
          </a:prstGeom>
          <a:solidFill>
            <a:srgbClr val="F3F7F8"/>
          </a:solidFill>
          <a:ln w="9525">
            <a:solidFill>
              <a:srgbClr val="CFDEE1"/>
            </a:solidFill>
            <a:prstDash val="solid"/>
          </a:ln>
        </p:spPr>
      </p:sp>
      <p:sp>
        <p:nvSpPr>
          <p:cNvPr id="63" name="Text 61"/>
          <p:cNvSpPr/>
          <p:nvPr/>
        </p:nvSpPr>
        <p:spPr>
          <a:xfrm>
            <a:off x="10113264" y="3291840"/>
            <a:ext cx="144475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decode</a:t>
            </a:r>
            <a:endParaRPr lang="en-US" sz="1100" dirty="0"/>
          </a:p>
        </p:txBody>
      </p:sp>
      <p:sp>
        <p:nvSpPr>
          <p:cNvPr id="64" name="Shape 62"/>
          <p:cNvSpPr/>
          <p:nvPr/>
        </p:nvSpPr>
        <p:spPr>
          <a:xfrm>
            <a:off x="640080" y="3621024"/>
            <a:ext cx="1371600" cy="329184"/>
          </a:xfrm>
          <a:prstGeom prst="rect">
            <a:avLst/>
          </a:prstGeom>
          <a:solidFill>
            <a:srgbClr val="FFFFFF"/>
          </a:solidFill>
          <a:ln w="9525">
            <a:solidFill>
              <a:srgbClr val="CFDEE1"/>
            </a:solidFill>
            <a:prstDash val="solid"/>
          </a:ln>
        </p:spPr>
      </p:sp>
      <p:sp>
        <p:nvSpPr>
          <p:cNvPr id="65" name="Text 63"/>
          <p:cNvSpPr/>
          <p:nvPr/>
        </p:nvSpPr>
        <p:spPr>
          <a:xfrm>
            <a:off x="694944" y="3621024"/>
            <a:ext cx="12618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AEREL</a:t>
            </a:r>
            <a:endParaRPr lang="en-US" sz="1100" dirty="0"/>
          </a:p>
        </p:txBody>
      </p:sp>
      <p:sp>
        <p:nvSpPr>
          <p:cNvPr id="66" name="Shape 64"/>
          <p:cNvSpPr/>
          <p:nvPr/>
        </p:nvSpPr>
        <p:spPr>
          <a:xfrm>
            <a:off x="2011680" y="3621024"/>
            <a:ext cx="914400" cy="329184"/>
          </a:xfrm>
          <a:prstGeom prst="rect">
            <a:avLst/>
          </a:prstGeom>
          <a:solidFill>
            <a:srgbClr val="FFFFFF"/>
          </a:solidFill>
          <a:ln w="9525">
            <a:solidFill>
              <a:srgbClr val="CFDEE1"/>
            </a:solidFill>
            <a:prstDash val="solid"/>
          </a:ln>
        </p:spPr>
      </p:sp>
      <p:sp>
        <p:nvSpPr>
          <p:cNvPr id="67" name="Text 65"/>
          <p:cNvSpPr/>
          <p:nvPr/>
        </p:nvSpPr>
        <p:spPr>
          <a:xfrm>
            <a:off x="2066544" y="3621024"/>
            <a:ext cx="8046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AE</a:t>
            </a:r>
            <a:endParaRPr lang="en-US" sz="1100" dirty="0"/>
          </a:p>
        </p:txBody>
      </p:sp>
      <p:sp>
        <p:nvSpPr>
          <p:cNvPr id="68" name="Shape 66"/>
          <p:cNvSpPr/>
          <p:nvPr/>
        </p:nvSpPr>
        <p:spPr>
          <a:xfrm>
            <a:off x="2926080" y="3621024"/>
            <a:ext cx="3931920" cy="329184"/>
          </a:xfrm>
          <a:prstGeom prst="rect">
            <a:avLst/>
          </a:prstGeom>
          <a:solidFill>
            <a:srgbClr val="FFFFFF"/>
          </a:solidFill>
          <a:ln w="9525">
            <a:solidFill>
              <a:srgbClr val="CFDEE1"/>
            </a:solidFill>
            <a:prstDash val="solid"/>
          </a:ln>
        </p:spPr>
      </p:sp>
      <p:sp>
        <p:nvSpPr>
          <p:cNvPr id="69" name="Text 67"/>
          <p:cNvSpPr/>
          <p:nvPr/>
        </p:nvSpPr>
        <p:spPr>
          <a:xfrm>
            <a:off x="2980944" y="3621024"/>
            <a:ext cx="382219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Possibly related</a:t>
            </a:r>
            <a:endParaRPr lang="en-US" sz="1100" dirty="0"/>
          </a:p>
        </p:txBody>
      </p:sp>
      <p:sp>
        <p:nvSpPr>
          <p:cNvPr id="70" name="Shape 68"/>
          <p:cNvSpPr/>
          <p:nvPr/>
        </p:nvSpPr>
        <p:spPr>
          <a:xfrm>
            <a:off x="6858000" y="3621024"/>
            <a:ext cx="3200400" cy="329184"/>
          </a:xfrm>
          <a:prstGeom prst="rect">
            <a:avLst/>
          </a:prstGeom>
          <a:solidFill>
            <a:srgbClr val="FFFFFF"/>
          </a:solidFill>
          <a:ln w="9525">
            <a:solidFill>
              <a:srgbClr val="CFDEE1"/>
            </a:solidFill>
            <a:prstDash val="solid"/>
          </a:ln>
        </p:spPr>
      </p:sp>
      <p:sp>
        <p:nvSpPr>
          <p:cNvPr id="71" name="Text 69"/>
          <p:cNvSpPr/>
          <p:nvPr/>
        </p:nvSpPr>
        <p:spPr>
          <a:xfrm>
            <a:off x="6912864" y="3621024"/>
            <a:ext cx="30906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POSSIBLY RELATED</a:t>
            </a:r>
            <a:endParaRPr lang="en-US" sz="1100" dirty="0"/>
          </a:p>
        </p:txBody>
      </p:sp>
      <p:sp>
        <p:nvSpPr>
          <p:cNvPr id="72" name="Shape 70"/>
          <p:cNvSpPr/>
          <p:nvPr/>
        </p:nvSpPr>
        <p:spPr>
          <a:xfrm>
            <a:off x="10058400" y="3621024"/>
            <a:ext cx="1554480" cy="329184"/>
          </a:xfrm>
          <a:prstGeom prst="rect">
            <a:avLst/>
          </a:prstGeom>
          <a:solidFill>
            <a:srgbClr val="FFFFFF"/>
          </a:solidFill>
          <a:ln w="9525">
            <a:solidFill>
              <a:srgbClr val="CFDEE1"/>
            </a:solidFill>
            <a:prstDash val="solid"/>
          </a:ln>
        </p:spPr>
      </p:sp>
      <p:sp>
        <p:nvSpPr>
          <p:cNvPr id="73" name="Text 71"/>
          <p:cNvSpPr/>
          <p:nvPr/>
        </p:nvSpPr>
        <p:spPr>
          <a:xfrm>
            <a:off x="10113264" y="3621024"/>
            <a:ext cx="144475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normalise</a:t>
            </a:r>
            <a:endParaRPr lang="en-US" sz="1100" dirty="0"/>
          </a:p>
        </p:txBody>
      </p:sp>
      <p:sp>
        <p:nvSpPr>
          <p:cNvPr id="74" name="Shape 72"/>
          <p:cNvSpPr/>
          <p:nvPr/>
        </p:nvSpPr>
        <p:spPr>
          <a:xfrm>
            <a:off x="640080" y="3950208"/>
            <a:ext cx="1371600" cy="329184"/>
          </a:xfrm>
          <a:prstGeom prst="rect">
            <a:avLst/>
          </a:prstGeom>
          <a:solidFill>
            <a:srgbClr val="F3F7F8"/>
          </a:solidFill>
          <a:ln w="9525">
            <a:solidFill>
              <a:srgbClr val="CFDEE1"/>
            </a:solidFill>
            <a:prstDash val="solid"/>
          </a:ln>
        </p:spPr>
      </p:sp>
      <p:sp>
        <p:nvSpPr>
          <p:cNvPr id="75" name="Text 73"/>
          <p:cNvSpPr/>
          <p:nvPr/>
        </p:nvSpPr>
        <p:spPr>
          <a:xfrm>
            <a:off x="694944" y="3950208"/>
            <a:ext cx="12618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AEOUT</a:t>
            </a:r>
            <a:endParaRPr lang="en-US" sz="1100" dirty="0"/>
          </a:p>
        </p:txBody>
      </p:sp>
      <p:sp>
        <p:nvSpPr>
          <p:cNvPr id="76" name="Shape 74"/>
          <p:cNvSpPr/>
          <p:nvPr/>
        </p:nvSpPr>
        <p:spPr>
          <a:xfrm>
            <a:off x="2011680" y="3950208"/>
            <a:ext cx="914400" cy="329184"/>
          </a:xfrm>
          <a:prstGeom prst="rect">
            <a:avLst/>
          </a:prstGeom>
          <a:solidFill>
            <a:srgbClr val="F3F7F8"/>
          </a:solidFill>
          <a:ln w="9525">
            <a:solidFill>
              <a:srgbClr val="CFDEE1"/>
            </a:solidFill>
            <a:prstDash val="solid"/>
          </a:ln>
        </p:spPr>
      </p:sp>
      <p:sp>
        <p:nvSpPr>
          <p:cNvPr id="77" name="Text 75"/>
          <p:cNvSpPr/>
          <p:nvPr/>
        </p:nvSpPr>
        <p:spPr>
          <a:xfrm>
            <a:off x="2066544" y="3950208"/>
            <a:ext cx="8046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AE</a:t>
            </a:r>
            <a:endParaRPr lang="en-US" sz="1100" dirty="0"/>
          </a:p>
        </p:txBody>
      </p:sp>
      <p:sp>
        <p:nvSpPr>
          <p:cNvPr id="78" name="Shape 76"/>
          <p:cNvSpPr/>
          <p:nvPr/>
        </p:nvSpPr>
        <p:spPr>
          <a:xfrm>
            <a:off x="2926080" y="3950208"/>
            <a:ext cx="3931920" cy="329184"/>
          </a:xfrm>
          <a:prstGeom prst="rect">
            <a:avLst/>
          </a:prstGeom>
          <a:solidFill>
            <a:srgbClr val="F3F7F8"/>
          </a:solidFill>
          <a:ln w="9525">
            <a:solidFill>
              <a:srgbClr val="CFDEE1"/>
            </a:solidFill>
            <a:prstDash val="solid"/>
          </a:ln>
        </p:spPr>
      </p:sp>
      <p:sp>
        <p:nvSpPr>
          <p:cNvPr id="79" name="Text 77"/>
          <p:cNvSpPr/>
          <p:nvPr/>
        </p:nvSpPr>
        <p:spPr>
          <a:xfrm>
            <a:off x="2980944" y="3950208"/>
            <a:ext cx="382219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1 · 2 · 3</a:t>
            </a:r>
            <a:endParaRPr lang="en-US" sz="1100" dirty="0"/>
          </a:p>
        </p:txBody>
      </p:sp>
      <p:sp>
        <p:nvSpPr>
          <p:cNvPr id="80" name="Shape 78"/>
          <p:cNvSpPr/>
          <p:nvPr/>
        </p:nvSpPr>
        <p:spPr>
          <a:xfrm>
            <a:off x="6858000" y="3950208"/>
            <a:ext cx="3200400" cy="329184"/>
          </a:xfrm>
          <a:prstGeom prst="rect">
            <a:avLst/>
          </a:prstGeom>
          <a:solidFill>
            <a:srgbClr val="F3F7F8"/>
          </a:solidFill>
          <a:ln w="9525">
            <a:solidFill>
              <a:srgbClr val="CFDEE1"/>
            </a:solidFill>
            <a:prstDash val="solid"/>
          </a:ln>
        </p:spPr>
      </p:sp>
      <p:sp>
        <p:nvSpPr>
          <p:cNvPr id="81" name="Text 79"/>
          <p:cNvSpPr/>
          <p:nvPr/>
        </p:nvSpPr>
        <p:spPr>
          <a:xfrm>
            <a:off x="6912864" y="3950208"/>
            <a:ext cx="309067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RECOVERED/RESOLVED · …</a:t>
            </a:r>
            <a:endParaRPr lang="en-US" sz="1100" dirty="0"/>
          </a:p>
        </p:txBody>
      </p:sp>
      <p:sp>
        <p:nvSpPr>
          <p:cNvPr id="82" name="Shape 80"/>
          <p:cNvSpPr/>
          <p:nvPr/>
        </p:nvSpPr>
        <p:spPr>
          <a:xfrm>
            <a:off x="10058400" y="3950208"/>
            <a:ext cx="1554480" cy="329184"/>
          </a:xfrm>
          <a:prstGeom prst="rect">
            <a:avLst/>
          </a:prstGeom>
          <a:solidFill>
            <a:srgbClr val="F3F7F8"/>
          </a:solidFill>
          <a:ln w="9525">
            <a:solidFill>
              <a:srgbClr val="CFDEE1"/>
            </a:solidFill>
            <a:prstDash val="solid"/>
          </a:ln>
        </p:spPr>
      </p:sp>
      <p:sp>
        <p:nvSpPr>
          <p:cNvPr id="83" name="Text 81"/>
          <p:cNvSpPr/>
          <p:nvPr/>
        </p:nvSpPr>
        <p:spPr>
          <a:xfrm>
            <a:off x="10113264" y="3950208"/>
            <a:ext cx="1444752" cy="329184"/>
          </a:xfrm>
          <a:prstGeom prst="rect">
            <a:avLst/>
          </a:prstGeom>
          <a:noFill/>
          <a:ln/>
        </p:spPr>
        <p:txBody>
          <a:bodyPr wrap="square" lIns="0" tIns="0" rIns="0" bIns="0" rtlCol="0" anchor="ctr"/>
          <a:lstStyle/>
          <a:p>
            <a:pPr algn="l" indent="0" marL="0">
              <a:buNone/>
            </a:pPr>
            <a:r>
              <a:rPr lang="en-US" sz="1100" dirty="0">
                <a:solidFill>
                  <a:srgbClr val="0F2E3D"/>
                </a:solidFill>
                <a:latin typeface="Calibri" pitchFamily="34" charset="0"/>
                <a:ea typeface="Calibri" pitchFamily="34" charset="-122"/>
                <a:cs typeface="Calibri" pitchFamily="34" charset="-120"/>
              </a:rPr>
              <a:t>decode</a:t>
            </a:r>
            <a:endParaRPr lang="en-US" sz="1100" dirty="0"/>
          </a:p>
        </p:txBody>
      </p:sp>
      <p:sp>
        <p:nvSpPr>
          <p:cNvPr id="84" name="Shape 82"/>
          <p:cNvSpPr/>
          <p:nvPr/>
        </p:nvSpPr>
        <p:spPr>
          <a:xfrm>
            <a:off x="640080" y="4279392"/>
            <a:ext cx="1371600" cy="329184"/>
          </a:xfrm>
          <a:prstGeom prst="rect">
            <a:avLst/>
          </a:prstGeom>
          <a:solidFill>
            <a:srgbClr val="FFFFFF"/>
          </a:solidFill>
          <a:ln w="9525">
            <a:solidFill>
              <a:srgbClr val="CFDEE1"/>
            </a:solidFill>
            <a:prstDash val="solid"/>
          </a:ln>
        </p:spPr>
      </p:sp>
      <p:sp>
        <p:nvSpPr>
          <p:cNvPr id="85" name="Text 83"/>
          <p:cNvSpPr/>
          <p:nvPr/>
        </p:nvSpPr>
        <p:spPr>
          <a:xfrm>
            <a:off x="694944" y="4279392"/>
            <a:ext cx="1261872" cy="329184"/>
          </a:xfrm>
          <a:prstGeom prst="rect">
            <a:avLst/>
          </a:prstGeom>
          <a:noFill/>
          <a:ln/>
        </p:spPr>
        <p:txBody>
          <a:bodyPr wrap="square" lIns="0" tIns="0" rIns="0" bIns="0" rtlCol="0" anchor="ctr"/>
          <a:lstStyle/>
          <a:p>
            <a:pPr algn="l" indent="0" marL="0">
              <a:buNone/>
            </a:pPr>
            <a:r>
              <a:rPr lang="en-US" sz="1100" b="1" dirty="0">
                <a:solidFill>
                  <a:srgbClr val="0F2E3D"/>
                </a:solidFill>
                <a:latin typeface="Calibri" pitchFamily="34" charset="0"/>
                <a:ea typeface="Calibri" pitchFamily="34" charset="-122"/>
                <a:cs typeface="Calibri" pitchFamily="34" charset="-120"/>
              </a:rPr>
              <a:t>LBTEST</a:t>
            </a:r>
            <a:endParaRPr lang="en-US" sz="1100" dirty="0"/>
          </a:p>
        </p:txBody>
      </p:sp>
      <p:sp>
        <p:nvSpPr>
          <p:cNvPr id="86" name="Shape 84"/>
          <p:cNvSpPr/>
          <p:nvPr/>
        </p:nvSpPr>
        <p:spPr>
          <a:xfrm>
            <a:off x="2011680" y="4279392"/>
            <a:ext cx="914400" cy="329184"/>
          </a:xfrm>
          <a:prstGeom prst="rect">
            <a:avLst/>
          </a:prstGeom>
          <a:solidFill>
            <a:srgbClr val="FFFFFF"/>
          </a:solidFill>
          <a:ln w="9525">
            <a:solidFill>
              <a:srgbClr val="CFDEE1"/>
            </a:solidFill>
            <a:prstDash val="solid"/>
          </a:ln>
        </p:spPr>
      </p:sp>
      <p:sp>
        <p:nvSpPr>
          <p:cNvPr id="87" name="Text 85"/>
          <p:cNvSpPr/>
          <p:nvPr/>
        </p:nvSpPr>
        <p:spPr>
          <a:xfrm>
            <a:off x="2066544" y="4279392"/>
            <a:ext cx="804672" cy="329184"/>
          </a:xfrm>
          <a:prstGeom prst="rect">
            <a:avLst/>
          </a:prstGeom>
          <a:noFill/>
          <a:ln/>
        </p:spPr>
        <p:txBody>
          <a:bodyPr wrap="square" lIns="0" tIns="0" rIns="0" bIns="0" rtlCol="0" anchor="ctr"/>
          <a:lstStyle/>
          <a:p>
            <a:pPr algn="l" indent="0" marL="0">
              <a:buNone/>
            </a:pPr>
            <a:r>
              <a:rPr lang="en-US" sz="1100" b="1" dirty="0">
                <a:solidFill>
                  <a:srgbClr val="0F2E3D"/>
                </a:solidFill>
                <a:latin typeface="Calibri" pitchFamily="34" charset="0"/>
                <a:ea typeface="Calibri" pitchFamily="34" charset="-122"/>
                <a:cs typeface="Calibri" pitchFamily="34" charset="-120"/>
              </a:rPr>
              <a:t>LB</a:t>
            </a:r>
            <a:endParaRPr lang="en-US" sz="1100" dirty="0"/>
          </a:p>
        </p:txBody>
      </p:sp>
      <p:sp>
        <p:nvSpPr>
          <p:cNvPr id="88" name="Shape 86"/>
          <p:cNvSpPr/>
          <p:nvPr/>
        </p:nvSpPr>
        <p:spPr>
          <a:xfrm>
            <a:off x="2926080" y="4279392"/>
            <a:ext cx="3931920" cy="329184"/>
          </a:xfrm>
          <a:prstGeom prst="rect">
            <a:avLst/>
          </a:prstGeom>
          <a:solidFill>
            <a:srgbClr val="FFFFFF"/>
          </a:solidFill>
          <a:ln w="9525">
            <a:solidFill>
              <a:srgbClr val="CFDEE1"/>
            </a:solidFill>
            <a:prstDash val="solid"/>
          </a:ln>
        </p:spPr>
      </p:sp>
      <p:sp>
        <p:nvSpPr>
          <p:cNvPr id="89" name="Text 87"/>
          <p:cNvSpPr/>
          <p:nvPr/>
        </p:nvSpPr>
        <p:spPr>
          <a:xfrm>
            <a:off x="2980944" y="4279392"/>
            <a:ext cx="3822192" cy="329184"/>
          </a:xfrm>
          <a:prstGeom prst="rect">
            <a:avLst/>
          </a:prstGeom>
          <a:noFill/>
          <a:ln/>
        </p:spPr>
        <p:txBody>
          <a:bodyPr wrap="square" lIns="0" tIns="0" rIns="0" bIns="0" rtlCol="0" anchor="ctr"/>
          <a:lstStyle/>
          <a:p>
            <a:pPr algn="l" indent="0" marL="0">
              <a:buNone/>
            </a:pPr>
            <a:r>
              <a:rPr lang="en-US" sz="1100" b="1" dirty="0">
                <a:solidFill>
                  <a:srgbClr val="C0455B"/>
                </a:solidFill>
                <a:latin typeface="Calibri" pitchFamily="34" charset="0"/>
                <a:ea typeface="Calibri" pitchFamily="34" charset="-122"/>
                <a:cs typeface="Calibri" pitchFamily="34" charset="-120"/>
              </a:rPr>
              <a:t>White Blood Cells</a:t>
            </a:r>
            <a:endParaRPr lang="en-US" sz="1100" dirty="0"/>
          </a:p>
        </p:txBody>
      </p:sp>
      <p:sp>
        <p:nvSpPr>
          <p:cNvPr id="90" name="Shape 88"/>
          <p:cNvSpPr/>
          <p:nvPr/>
        </p:nvSpPr>
        <p:spPr>
          <a:xfrm>
            <a:off x="6858000" y="4279392"/>
            <a:ext cx="3200400" cy="329184"/>
          </a:xfrm>
          <a:prstGeom prst="rect">
            <a:avLst/>
          </a:prstGeom>
          <a:solidFill>
            <a:srgbClr val="FFFFFF"/>
          </a:solidFill>
          <a:ln w="9525">
            <a:solidFill>
              <a:srgbClr val="CFDEE1"/>
            </a:solidFill>
            <a:prstDash val="solid"/>
          </a:ln>
        </p:spPr>
      </p:sp>
      <p:sp>
        <p:nvSpPr>
          <p:cNvPr id="91" name="Text 89"/>
          <p:cNvSpPr/>
          <p:nvPr/>
        </p:nvSpPr>
        <p:spPr>
          <a:xfrm>
            <a:off x="6912864" y="4279392"/>
            <a:ext cx="3090672" cy="329184"/>
          </a:xfrm>
          <a:prstGeom prst="rect">
            <a:avLst/>
          </a:prstGeom>
          <a:noFill/>
          <a:ln/>
        </p:spPr>
        <p:txBody>
          <a:bodyPr wrap="square" lIns="0" tIns="0" rIns="0" bIns="0" rtlCol="0" anchor="ctr"/>
          <a:lstStyle/>
          <a:p>
            <a:pPr algn="l" indent="0" marL="0">
              <a:buNone/>
            </a:pPr>
            <a:r>
              <a:rPr lang="en-US" sz="1100" b="1" dirty="0">
                <a:solidFill>
                  <a:srgbClr val="C0455B"/>
                </a:solidFill>
                <a:latin typeface="Calibri" pitchFamily="34" charset="0"/>
                <a:ea typeface="Calibri" pitchFamily="34" charset="-122"/>
                <a:cs typeface="Calibri" pitchFamily="34" charset="-120"/>
              </a:rPr>
              <a:t>Leukocytes</a:t>
            </a:r>
            <a:endParaRPr lang="en-US" sz="1100" dirty="0"/>
          </a:p>
        </p:txBody>
      </p:sp>
      <p:sp>
        <p:nvSpPr>
          <p:cNvPr id="92" name="Shape 90"/>
          <p:cNvSpPr/>
          <p:nvPr/>
        </p:nvSpPr>
        <p:spPr>
          <a:xfrm>
            <a:off x="10058400" y="4279392"/>
            <a:ext cx="1554480" cy="329184"/>
          </a:xfrm>
          <a:prstGeom prst="rect">
            <a:avLst/>
          </a:prstGeom>
          <a:solidFill>
            <a:srgbClr val="FFFFFF"/>
          </a:solidFill>
          <a:ln w="9525">
            <a:solidFill>
              <a:srgbClr val="CFDEE1"/>
            </a:solidFill>
            <a:prstDash val="solid"/>
          </a:ln>
        </p:spPr>
      </p:sp>
      <p:sp>
        <p:nvSpPr>
          <p:cNvPr id="93" name="Text 91"/>
          <p:cNvSpPr/>
          <p:nvPr/>
        </p:nvSpPr>
        <p:spPr>
          <a:xfrm>
            <a:off x="10113264" y="4279392"/>
            <a:ext cx="1444752" cy="329184"/>
          </a:xfrm>
          <a:prstGeom prst="rect">
            <a:avLst/>
          </a:prstGeom>
          <a:noFill/>
          <a:ln/>
        </p:spPr>
        <p:txBody>
          <a:bodyPr wrap="square" lIns="0" tIns="0" rIns="0" bIns="0" rtlCol="0" anchor="ctr"/>
          <a:lstStyle/>
          <a:p>
            <a:pPr algn="l" indent="0" marL="0">
              <a:buNone/>
            </a:pPr>
            <a:r>
              <a:rPr lang="en-US" sz="1100" b="1" dirty="0">
                <a:solidFill>
                  <a:srgbClr val="C0455B"/>
                </a:solidFill>
                <a:latin typeface="Calibri" pitchFamily="34" charset="0"/>
                <a:ea typeface="Calibri" pitchFamily="34" charset="-122"/>
                <a:cs typeface="Calibri" pitchFamily="34" charset="-120"/>
              </a:rPr>
              <a:t>RENAME</a:t>
            </a:r>
            <a:endParaRPr lang="en-US" sz="1100" dirty="0"/>
          </a:p>
        </p:txBody>
      </p:sp>
      <p:sp>
        <p:nvSpPr>
          <p:cNvPr id="94" name="Shape 92"/>
          <p:cNvSpPr/>
          <p:nvPr/>
        </p:nvSpPr>
        <p:spPr>
          <a:xfrm>
            <a:off x="640080" y="4892040"/>
            <a:ext cx="10972800" cy="1417320"/>
          </a:xfrm>
          <a:prstGeom prst="roundRect">
            <a:avLst>
              <a:gd name="adj" fmla="val 5806"/>
            </a:avLst>
          </a:prstGeom>
          <a:solidFill>
            <a:srgbClr val="E7F4F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5" name="Text 93"/>
          <p:cNvSpPr/>
          <p:nvPr/>
        </p:nvSpPr>
        <p:spPr>
          <a:xfrm>
            <a:off x="914400" y="5029200"/>
            <a:ext cx="10424160" cy="3200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Not one of the eight passes through unchanged.</a:t>
            </a:r>
            <a:endParaRPr lang="en-US" sz="1600" dirty="0"/>
          </a:p>
        </p:txBody>
      </p:sp>
      <p:sp>
        <p:nvSpPr>
          <p:cNvPr id="96" name="Text 94"/>
          <p:cNvSpPr/>
          <p:nvPr/>
        </p:nvSpPr>
        <p:spPr>
          <a:xfrm>
            <a:off x="914400" y="5394960"/>
            <a:ext cx="10424160" cy="868680"/>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That is the normal state of affairs: raw data is what the site could type, SDTM is what the standard requires. The last row is the one that bites — five of six lab tests map to themselves, so a programmer who spot-checks two rows concludes the column needs no mapping at all, and ships "White Blood Cells" into a submission.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WHAT A CODELIST ACTUALLY IS</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Four things, and only one of them goes in your dataset</a:t>
            </a:r>
            <a:endParaRPr lang="en-US" sz="3000" dirty="0"/>
          </a:p>
        </p:txBody>
      </p:sp>
      <p:sp>
        <p:nvSpPr>
          <p:cNvPr id="4" name="Shape 2"/>
          <p:cNvSpPr/>
          <p:nvPr/>
        </p:nvSpPr>
        <p:spPr>
          <a:xfrm>
            <a:off x="640080" y="1874520"/>
            <a:ext cx="10972800" cy="960120"/>
          </a:xfrm>
          <a:prstGeom prst="roundRect">
            <a:avLst>
              <a:gd name="adj" fmla="val 7619"/>
            </a:avLst>
          </a:prstGeom>
          <a:solidFill>
            <a:srgbClr val="163B4B"/>
          </a:solidFill>
          <a:ln w="12700">
            <a:solidFill>
              <a:srgbClr val="6FC8B4"/>
            </a:solidFill>
            <a:prstDash val="solid"/>
          </a:ln>
        </p:spPr>
      </p:sp>
      <p:sp>
        <p:nvSpPr>
          <p:cNvPr id="5" name="Text 3"/>
          <p:cNvSpPr/>
          <p:nvPr/>
        </p:nvSpPr>
        <p:spPr>
          <a:xfrm>
            <a:off x="914400" y="2002536"/>
            <a:ext cx="2651760" cy="320040"/>
          </a:xfrm>
          <a:prstGeom prst="rect">
            <a:avLst/>
          </a:prstGeom>
          <a:noFill/>
          <a:ln/>
        </p:spPr>
        <p:txBody>
          <a:bodyPr wrap="square" lIns="0" tIns="0" rIns="0" bIns="0" rtlCol="0" anchor="ctr"/>
          <a:lstStyle/>
          <a:p>
            <a:pPr indent="0" marL="0">
              <a:buNone/>
            </a:pPr>
            <a:r>
              <a:rPr lang="en-US" sz="1500" b="1" dirty="0">
                <a:solidFill>
                  <a:srgbClr val="6FC8B4"/>
                </a:solidFill>
                <a:latin typeface="Cambria" pitchFamily="34" charset="0"/>
                <a:ea typeface="Cambria" pitchFamily="34" charset="-122"/>
                <a:cs typeface="Cambria" pitchFamily="34" charset="-120"/>
              </a:rPr>
              <a:t>NCI code</a:t>
            </a:r>
            <a:endParaRPr lang="en-US" sz="1500" dirty="0"/>
          </a:p>
        </p:txBody>
      </p:sp>
      <p:sp>
        <p:nvSpPr>
          <p:cNvPr id="6" name="Text 4"/>
          <p:cNvSpPr/>
          <p:nvPr/>
        </p:nvSpPr>
        <p:spPr>
          <a:xfrm>
            <a:off x="914400" y="2350008"/>
            <a:ext cx="2651760" cy="36576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C66731</a:t>
            </a:r>
            <a:endParaRPr lang="en-US" sz="1300" dirty="0"/>
          </a:p>
        </p:txBody>
      </p:sp>
      <p:sp>
        <p:nvSpPr>
          <p:cNvPr id="7" name="Text 5"/>
          <p:cNvSpPr/>
          <p:nvPr/>
        </p:nvSpPr>
        <p:spPr>
          <a:xfrm>
            <a:off x="3840480" y="2103120"/>
            <a:ext cx="7498080" cy="548640"/>
          </a:xfrm>
          <a:prstGeom prst="rect">
            <a:avLst/>
          </a:prstGeom>
          <a:noFill/>
          <a:ln/>
        </p:spPr>
        <p:txBody>
          <a:bodyPr wrap="square" lIns="0" tIns="0" rIns="0" bIns="0" rtlCol="0" anchor="ctr"/>
          <a:lstStyle/>
          <a:p>
            <a:pPr indent="0" marL="0">
              <a:buNone/>
            </a:pPr>
            <a:r>
              <a:rPr lang="en-US" sz="1250" dirty="0">
                <a:solidFill>
                  <a:srgbClr val="DCEBEF"/>
                </a:solidFill>
                <a:latin typeface="Calibri" pitchFamily="34" charset="0"/>
                <a:ea typeface="Calibri" pitchFamily="34" charset="-122"/>
                <a:cs typeface="Calibri" pitchFamily="34" charset="-120"/>
              </a:rPr>
              <a:t>The permanent identifier for the CODELIST itself. Never changes, even if the name does.</a:t>
            </a:r>
            <a:endParaRPr lang="en-US" sz="1250" dirty="0"/>
          </a:p>
        </p:txBody>
      </p:sp>
      <p:sp>
        <p:nvSpPr>
          <p:cNvPr id="8" name="Shape 6"/>
          <p:cNvSpPr/>
          <p:nvPr/>
        </p:nvSpPr>
        <p:spPr>
          <a:xfrm>
            <a:off x="640080" y="2926080"/>
            <a:ext cx="10972800" cy="960120"/>
          </a:xfrm>
          <a:prstGeom prst="roundRect">
            <a:avLst>
              <a:gd name="adj" fmla="val 7619"/>
            </a:avLst>
          </a:prstGeom>
          <a:solidFill>
            <a:srgbClr val="1A4152"/>
          </a:solidFill>
          <a:ln w="25400">
            <a:solidFill>
              <a:srgbClr val="E8833A"/>
            </a:solidFill>
            <a:prstDash val="solid"/>
          </a:ln>
        </p:spPr>
      </p:sp>
      <p:sp>
        <p:nvSpPr>
          <p:cNvPr id="9" name="Text 7"/>
          <p:cNvSpPr/>
          <p:nvPr/>
        </p:nvSpPr>
        <p:spPr>
          <a:xfrm>
            <a:off x="914400" y="3054096"/>
            <a:ext cx="2651760" cy="320040"/>
          </a:xfrm>
          <a:prstGeom prst="rect">
            <a:avLst/>
          </a:prstGeom>
          <a:noFill/>
          <a:ln/>
        </p:spPr>
        <p:txBody>
          <a:bodyPr wrap="square" lIns="0" tIns="0" rIns="0" bIns="0" rtlCol="0" anchor="ctr"/>
          <a:lstStyle/>
          <a:p>
            <a:pPr indent="0" marL="0">
              <a:buNone/>
            </a:pPr>
            <a:r>
              <a:rPr lang="en-US" sz="1500" b="1" dirty="0">
                <a:solidFill>
                  <a:srgbClr val="E8833A"/>
                </a:solidFill>
                <a:latin typeface="Cambria" pitchFamily="34" charset="0"/>
                <a:ea typeface="Cambria" pitchFamily="34" charset="-122"/>
                <a:cs typeface="Cambria" pitchFamily="34" charset="-120"/>
              </a:rPr>
              <a:t>Submission value</a:t>
            </a:r>
            <a:endParaRPr lang="en-US" sz="1500" dirty="0"/>
          </a:p>
        </p:txBody>
      </p:sp>
      <p:sp>
        <p:nvSpPr>
          <p:cNvPr id="10" name="Text 8"/>
          <p:cNvSpPr/>
          <p:nvPr/>
        </p:nvSpPr>
        <p:spPr>
          <a:xfrm>
            <a:off x="914400" y="3401568"/>
            <a:ext cx="2651760" cy="36576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MILD</a:t>
            </a:r>
            <a:endParaRPr lang="en-US" sz="1300" dirty="0"/>
          </a:p>
        </p:txBody>
      </p:sp>
      <p:sp>
        <p:nvSpPr>
          <p:cNvPr id="11" name="Text 9"/>
          <p:cNvSpPr/>
          <p:nvPr/>
        </p:nvSpPr>
        <p:spPr>
          <a:xfrm>
            <a:off x="3840480" y="3154680"/>
            <a:ext cx="7498080" cy="548640"/>
          </a:xfrm>
          <a:prstGeom prst="rect">
            <a:avLst/>
          </a:prstGeom>
          <a:noFill/>
          <a:ln/>
        </p:spPr>
        <p:txBody>
          <a:bodyPr wrap="square" lIns="0" tIns="0" rIns="0" bIns="0" rtlCol="0" anchor="ctr"/>
          <a:lstStyle/>
          <a:p>
            <a:pPr indent="0" marL="0">
              <a:buNone/>
            </a:pPr>
            <a:r>
              <a:rPr lang="en-US" sz="1250" dirty="0">
                <a:solidFill>
                  <a:srgbClr val="DCEBEF"/>
                </a:solidFill>
                <a:latin typeface="Calibri" pitchFamily="34" charset="0"/>
                <a:ea typeface="Calibri" pitchFamily="34" charset="-122"/>
                <a:cs typeface="Calibri" pitchFamily="34" charset="-120"/>
              </a:rPr>
              <a:t>The string you put IN THE DATASET. Exact spelling, exact case.</a:t>
            </a:r>
            <a:endParaRPr lang="en-US" sz="1250" dirty="0"/>
          </a:p>
        </p:txBody>
      </p:sp>
      <p:sp>
        <p:nvSpPr>
          <p:cNvPr id="12" name="Shape 10"/>
          <p:cNvSpPr/>
          <p:nvPr/>
        </p:nvSpPr>
        <p:spPr>
          <a:xfrm>
            <a:off x="640080" y="3977640"/>
            <a:ext cx="10972800" cy="960120"/>
          </a:xfrm>
          <a:prstGeom prst="roundRect">
            <a:avLst>
              <a:gd name="adj" fmla="val 7619"/>
            </a:avLst>
          </a:prstGeom>
          <a:solidFill>
            <a:srgbClr val="163B4B"/>
          </a:solidFill>
          <a:ln w="12700">
            <a:solidFill>
              <a:srgbClr val="1FA8A0"/>
            </a:solidFill>
            <a:prstDash val="solid"/>
          </a:ln>
        </p:spPr>
      </p:sp>
      <p:sp>
        <p:nvSpPr>
          <p:cNvPr id="13" name="Text 11"/>
          <p:cNvSpPr/>
          <p:nvPr/>
        </p:nvSpPr>
        <p:spPr>
          <a:xfrm>
            <a:off x="914400" y="4105656"/>
            <a:ext cx="2651760" cy="320040"/>
          </a:xfrm>
          <a:prstGeom prst="rect">
            <a:avLst/>
          </a:prstGeom>
          <a:noFill/>
          <a:ln/>
        </p:spPr>
        <p:txBody>
          <a:bodyPr wrap="square" lIns="0" tIns="0" rIns="0" bIns="0" rtlCol="0" anchor="ctr"/>
          <a:lstStyle/>
          <a:p>
            <a:pPr indent="0" marL="0">
              <a:buNone/>
            </a:pPr>
            <a:r>
              <a:rPr lang="en-US" sz="1500" b="1" dirty="0">
                <a:solidFill>
                  <a:srgbClr val="1FA8A0"/>
                </a:solidFill>
                <a:latin typeface="Cambria" pitchFamily="34" charset="0"/>
                <a:ea typeface="Cambria" pitchFamily="34" charset="-122"/>
                <a:cs typeface="Cambria" pitchFamily="34" charset="-120"/>
              </a:rPr>
              <a:t>Preferred term</a:t>
            </a:r>
            <a:endParaRPr lang="en-US" sz="1500" dirty="0"/>
          </a:p>
        </p:txBody>
      </p:sp>
      <p:sp>
        <p:nvSpPr>
          <p:cNvPr id="14" name="Text 12"/>
          <p:cNvSpPr/>
          <p:nvPr/>
        </p:nvSpPr>
        <p:spPr>
          <a:xfrm>
            <a:off x="914400" y="4453128"/>
            <a:ext cx="2651760" cy="36576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Mild Adverse Event</a:t>
            </a:r>
            <a:endParaRPr lang="en-US" sz="1300" dirty="0"/>
          </a:p>
        </p:txBody>
      </p:sp>
      <p:sp>
        <p:nvSpPr>
          <p:cNvPr id="15" name="Text 13"/>
          <p:cNvSpPr/>
          <p:nvPr/>
        </p:nvSpPr>
        <p:spPr>
          <a:xfrm>
            <a:off x="3840480" y="4206240"/>
            <a:ext cx="7498080" cy="548640"/>
          </a:xfrm>
          <a:prstGeom prst="rect">
            <a:avLst/>
          </a:prstGeom>
          <a:noFill/>
          <a:ln/>
        </p:spPr>
        <p:txBody>
          <a:bodyPr wrap="square" lIns="0" tIns="0" rIns="0" bIns="0" rtlCol="0" anchor="ctr"/>
          <a:lstStyle/>
          <a:p>
            <a:pPr indent="0" marL="0">
              <a:buNone/>
            </a:pPr>
            <a:r>
              <a:rPr lang="en-US" sz="1250" dirty="0">
                <a:solidFill>
                  <a:srgbClr val="DCEBEF"/>
                </a:solidFill>
                <a:latin typeface="Calibri" pitchFamily="34" charset="0"/>
                <a:ea typeface="Calibri" pitchFamily="34" charset="-122"/>
                <a:cs typeface="Calibri" pitchFamily="34" charset="-120"/>
              </a:rPr>
              <a:t>The human-readable name. Documentation only — never submitted.</a:t>
            </a:r>
            <a:endParaRPr lang="en-US" sz="1250" dirty="0"/>
          </a:p>
        </p:txBody>
      </p:sp>
      <p:sp>
        <p:nvSpPr>
          <p:cNvPr id="16" name="Shape 14"/>
          <p:cNvSpPr/>
          <p:nvPr/>
        </p:nvSpPr>
        <p:spPr>
          <a:xfrm>
            <a:off x="640080" y="5029200"/>
            <a:ext cx="10972800" cy="960120"/>
          </a:xfrm>
          <a:prstGeom prst="roundRect">
            <a:avLst>
              <a:gd name="adj" fmla="val 7619"/>
            </a:avLst>
          </a:prstGeom>
          <a:solidFill>
            <a:srgbClr val="163B4B"/>
          </a:solidFill>
          <a:ln w="12700">
            <a:solidFill>
              <a:srgbClr val="0E7C86"/>
            </a:solidFill>
            <a:prstDash val="solid"/>
          </a:ln>
        </p:spPr>
      </p:sp>
      <p:sp>
        <p:nvSpPr>
          <p:cNvPr id="17" name="Text 15"/>
          <p:cNvSpPr/>
          <p:nvPr/>
        </p:nvSpPr>
        <p:spPr>
          <a:xfrm>
            <a:off x="914400" y="5157216"/>
            <a:ext cx="2651760" cy="320040"/>
          </a:xfrm>
          <a:prstGeom prst="rect">
            <a:avLst/>
          </a:prstGeom>
          <a:noFill/>
          <a:ln/>
        </p:spPr>
        <p:txBody>
          <a:bodyPr wrap="square" lIns="0" tIns="0" rIns="0" bIns="0" rtlCol="0" anchor="ctr"/>
          <a:lstStyle/>
          <a:p>
            <a:pPr indent="0" marL="0">
              <a:buNone/>
            </a:pPr>
            <a:r>
              <a:rPr lang="en-US" sz="1500" b="1" dirty="0">
                <a:solidFill>
                  <a:srgbClr val="0E7C86"/>
                </a:solidFill>
                <a:latin typeface="Cambria" pitchFamily="34" charset="0"/>
                <a:ea typeface="Cambria" pitchFamily="34" charset="-122"/>
                <a:cs typeface="Cambria" pitchFamily="34" charset="-120"/>
              </a:rPr>
              <a:t>Definition</a:t>
            </a:r>
            <a:endParaRPr lang="en-US" sz="1500" dirty="0"/>
          </a:p>
        </p:txBody>
      </p:sp>
      <p:sp>
        <p:nvSpPr>
          <p:cNvPr id="18" name="Text 16"/>
          <p:cNvSpPr/>
          <p:nvPr/>
        </p:nvSpPr>
        <p:spPr>
          <a:xfrm>
            <a:off x="914400" y="5504688"/>
            <a:ext cx="2651760" cy="365760"/>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"An adverse event…"</a:t>
            </a:r>
            <a:endParaRPr lang="en-US" sz="1300" dirty="0"/>
          </a:p>
        </p:txBody>
      </p:sp>
      <p:sp>
        <p:nvSpPr>
          <p:cNvPr id="19" name="Text 17"/>
          <p:cNvSpPr/>
          <p:nvPr/>
        </p:nvSpPr>
        <p:spPr>
          <a:xfrm>
            <a:off x="3840480" y="5257800"/>
            <a:ext cx="7498080" cy="548640"/>
          </a:xfrm>
          <a:prstGeom prst="rect">
            <a:avLst/>
          </a:prstGeom>
          <a:noFill/>
          <a:ln/>
        </p:spPr>
        <p:txBody>
          <a:bodyPr wrap="square" lIns="0" tIns="0" rIns="0" bIns="0" rtlCol="0" anchor="ctr"/>
          <a:lstStyle/>
          <a:p>
            <a:pPr indent="0" marL="0">
              <a:buNone/>
            </a:pPr>
            <a:r>
              <a:rPr lang="en-US" sz="1250" dirty="0">
                <a:solidFill>
                  <a:srgbClr val="DCEBEF"/>
                </a:solidFill>
                <a:latin typeface="Calibri" pitchFamily="34" charset="0"/>
                <a:ea typeface="Calibri" pitchFamily="34" charset="-122"/>
                <a:cs typeface="Calibri" pitchFamily="34" charset="-120"/>
              </a:rPr>
              <a:t>What the term means. Settles arguments about which value applies.</a:t>
            </a:r>
            <a:endParaRPr lang="en-US" sz="1250" dirty="0"/>
          </a:p>
        </p:txBody>
      </p:sp>
      <p:sp>
        <p:nvSpPr>
          <p:cNvPr id="20" name="Text 18"/>
          <p:cNvSpPr/>
          <p:nvPr/>
        </p:nvSpPr>
        <p:spPr>
          <a:xfrm>
            <a:off x="640080" y="6172200"/>
            <a:ext cx="10972800" cy="502920"/>
          </a:xfrm>
          <a:prstGeom prst="rect">
            <a:avLst/>
          </a:prstGeom>
          <a:noFill/>
          <a:ln/>
        </p:spPr>
        <p:txBody>
          <a:bodyPr wrap="square" lIns="0" tIns="0" rIns="0" bIns="0" rtlCol="0" anchor="ctr"/>
          <a:lstStyle/>
          <a:p>
            <a:pPr indent="0" marL="0">
              <a:buNone/>
            </a:pPr>
            <a:r>
              <a:rPr lang="en-US" sz="1300" i="1" dirty="0">
                <a:solidFill>
                  <a:srgbClr val="6FC8B4"/>
                </a:solidFill>
                <a:latin typeface="Calibri" pitchFamily="34" charset="0"/>
                <a:ea typeface="Calibri" pitchFamily="34" charset="-122"/>
                <a:cs typeface="Calibri" pitchFamily="34" charset="-120"/>
              </a:rPr>
              <a:t>Only the SUBMISSION VALUE goes in the dataset. The rest is metadata — it lives in define.xml, which is how a reviewer knows which codelist a variable draws from.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RULE THAT CATCHES PEOPLE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May you add a value of your own?</a:t>
            </a:r>
            <a:endParaRPr lang="en-US" sz="3000" dirty="0"/>
          </a:p>
        </p:txBody>
      </p:sp>
      <p:sp>
        <p:nvSpPr>
          <p:cNvPr id="4" name="Shape 2"/>
          <p:cNvSpPr/>
          <p:nvPr/>
        </p:nvSpPr>
        <p:spPr>
          <a:xfrm>
            <a:off x="640080" y="1645920"/>
            <a:ext cx="5394960" cy="3749040"/>
          </a:xfrm>
          <a:prstGeom prst="roundRect">
            <a:avLst>
              <a:gd name="adj" fmla="val 2195"/>
            </a:avLst>
          </a:prstGeom>
          <a:solidFill>
            <a:srgbClr val="FDECEE"/>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640080" y="1645920"/>
            <a:ext cx="82296" cy="3749040"/>
          </a:xfrm>
          <a:prstGeom prst="rect">
            <a:avLst/>
          </a:prstGeom>
          <a:solidFill>
            <a:srgbClr val="C0455B"/>
          </a:solidFill>
          <a:ln/>
        </p:spPr>
      </p:sp>
      <p:sp>
        <p:nvSpPr>
          <p:cNvPr id="6" name="Text 4"/>
          <p:cNvSpPr/>
          <p:nvPr/>
        </p:nvSpPr>
        <p:spPr>
          <a:xfrm>
            <a:off x="914400" y="1828800"/>
            <a:ext cx="4846320" cy="411480"/>
          </a:xfrm>
          <a:prstGeom prst="rect">
            <a:avLst/>
          </a:prstGeom>
          <a:noFill/>
          <a:ln/>
        </p:spPr>
        <p:txBody>
          <a:bodyPr wrap="square" lIns="0" tIns="0" rIns="0" bIns="0" rtlCol="0" anchor="ctr"/>
          <a:lstStyle/>
          <a:p>
            <a:pPr indent="0" marL="0">
              <a:buNone/>
            </a:pPr>
            <a:r>
              <a:rPr lang="en-US" sz="1900" b="1" dirty="0">
                <a:solidFill>
                  <a:srgbClr val="C0455B"/>
                </a:solidFill>
                <a:latin typeface="Cambria" pitchFamily="34" charset="0"/>
                <a:ea typeface="Cambria" pitchFamily="34" charset="-122"/>
                <a:cs typeface="Cambria" pitchFamily="34" charset="-120"/>
              </a:rPr>
              <a:t>NON-EXTENSIBLE</a:t>
            </a:r>
            <a:endParaRPr lang="en-US" sz="1900" dirty="0"/>
          </a:p>
        </p:txBody>
      </p:sp>
      <p:sp>
        <p:nvSpPr>
          <p:cNvPr id="7" name="Text 5"/>
          <p:cNvSpPr/>
          <p:nvPr/>
        </p:nvSpPr>
        <p:spPr>
          <a:xfrm>
            <a:off x="914400" y="2286000"/>
            <a:ext cx="4846320" cy="548640"/>
          </a:xfrm>
          <a:prstGeom prst="rect">
            <a:avLst/>
          </a:prstGeom>
          <a:noFill/>
          <a:ln/>
        </p:spPr>
        <p:txBody>
          <a:bodyPr wrap="square" lIns="0" tIns="0" rIns="0" bIns="0" rtlCol="0" anchor="ctr"/>
          <a:lstStyle/>
          <a:p>
            <a:pPr indent="0" marL="0">
              <a:buNone/>
            </a:pPr>
            <a:r>
              <a:rPr lang="en-US" sz="1350" b="1" dirty="0">
                <a:solidFill>
                  <a:srgbClr val="0F2E3D"/>
                </a:solidFill>
                <a:latin typeface="Calibri" pitchFamily="34" charset="0"/>
                <a:ea typeface="Calibri" pitchFamily="34" charset="-122"/>
                <a:cs typeface="Calibri" pitchFamily="34" charset="-120"/>
              </a:rPr>
              <a:t>The list is CLOSED. You may use only the values CDISC published.</a:t>
            </a:r>
            <a:endParaRPr lang="en-US" sz="1350" dirty="0"/>
          </a:p>
        </p:txBody>
      </p:sp>
      <p:sp>
        <p:nvSpPr>
          <p:cNvPr id="8" name="Text 6"/>
          <p:cNvSpPr/>
          <p:nvPr/>
        </p:nvSpPr>
        <p:spPr>
          <a:xfrm>
            <a:off x="914400" y="2880360"/>
            <a:ext cx="4846320" cy="274320"/>
          </a:xfrm>
          <a:prstGeom prst="rect">
            <a:avLst/>
          </a:prstGeom>
          <a:noFill/>
          <a:ln/>
        </p:spPr>
        <p:txBody>
          <a:bodyPr wrap="square" lIns="0" tIns="0" rIns="0" bIns="0" rtlCol="0" anchor="ctr"/>
          <a:lstStyle/>
          <a:p>
            <a:pPr indent="0" marL="0">
              <a:buNone/>
            </a:pPr>
            <a:r>
              <a:rPr lang="en-US" sz="1100" b="1" spc="100" kern="0" dirty="0">
                <a:solidFill>
                  <a:srgbClr val="5A7682"/>
                </a:solidFill>
                <a:latin typeface="Calibri" pitchFamily="34" charset="0"/>
                <a:ea typeface="Calibri" pitchFamily="34" charset="-122"/>
                <a:cs typeface="Calibri" pitchFamily="34" charset="-120"/>
              </a:rPr>
              <a:t>Examples in ABC-01</a:t>
            </a:r>
            <a:endParaRPr lang="en-US" sz="1100" dirty="0"/>
          </a:p>
        </p:txBody>
      </p:sp>
      <p:sp>
        <p:nvSpPr>
          <p:cNvPr id="9" name="Text 7"/>
          <p:cNvSpPr/>
          <p:nvPr/>
        </p:nvSpPr>
        <p:spPr>
          <a:xfrm>
            <a:off x="914400" y="3200400"/>
            <a:ext cx="4846320" cy="347472"/>
          </a:xfrm>
          <a:prstGeom prst="rect">
            <a:avLst/>
          </a:prstGeom>
          <a:noFill/>
          <a:ln/>
        </p:spPr>
        <p:txBody>
          <a:bodyPr wrap="square" lIns="0" tIns="0" rIns="0" bIns="0" rtlCol="0" anchor="ctr"/>
          <a:lstStyle/>
          <a:p>
            <a:pPr indent="0" marL="0">
              <a:buNone/>
            </a:pPr>
            <a:r>
              <a:rPr lang="en-US" sz="1250" b="1" dirty="0">
                <a:solidFill>
                  <a:srgbClr val="C0455B"/>
                </a:solidFill>
                <a:latin typeface="Courier New" pitchFamily="34" charset="0"/>
                <a:ea typeface="Courier New" pitchFamily="34" charset="-122"/>
                <a:cs typeface="Courier New" pitchFamily="34" charset="-120"/>
              </a:rPr>
              <a:t>SEX   </a:t>
            </a:r>
            <a:pPr indent="0" marL="0">
              <a:buNone/>
            </a:pPr>
            <a:r>
              <a:rPr lang="en-US" sz="1150" dirty="0">
                <a:solidFill>
                  <a:srgbClr val="5A7682"/>
                </a:solidFill>
                <a:latin typeface="Courier New" pitchFamily="34" charset="0"/>
                <a:ea typeface="Courier New" pitchFamily="34" charset="-122"/>
                <a:cs typeface="Courier New" pitchFamily="34" charset="-120"/>
              </a:rPr>
              <a:t>M · F · U · UNDIFFERENTIATED</a:t>
            </a:r>
            <a:endParaRPr lang="en-US" sz="1250" dirty="0"/>
          </a:p>
        </p:txBody>
      </p:sp>
      <p:sp>
        <p:nvSpPr>
          <p:cNvPr id="10" name="Text 8"/>
          <p:cNvSpPr/>
          <p:nvPr/>
        </p:nvSpPr>
        <p:spPr>
          <a:xfrm>
            <a:off x="914400" y="3584448"/>
            <a:ext cx="4846320" cy="347472"/>
          </a:xfrm>
          <a:prstGeom prst="rect">
            <a:avLst/>
          </a:prstGeom>
          <a:noFill/>
          <a:ln/>
        </p:spPr>
        <p:txBody>
          <a:bodyPr wrap="square" lIns="0" tIns="0" rIns="0" bIns="0" rtlCol="0" anchor="ctr"/>
          <a:lstStyle/>
          <a:p>
            <a:pPr indent="0" marL="0">
              <a:buNone/>
            </a:pPr>
            <a:r>
              <a:rPr lang="en-US" sz="1250" b="1" dirty="0">
                <a:solidFill>
                  <a:srgbClr val="C0455B"/>
                </a:solidFill>
                <a:latin typeface="Courier New" pitchFamily="34" charset="0"/>
                <a:ea typeface="Courier New" pitchFamily="34" charset="-122"/>
                <a:cs typeface="Courier New" pitchFamily="34" charset="-120"/>
              </a:rPr>
              <a:t>NY (AESER)   </a:t>
            </a:r>
            <a:pPr indent="0" marL="0">
              <a:buNone/>
            </a:pPr>
            <a:r>
              <a:rPr lang="en-US" sz="1150" dirty="0">
                <a:solidFill>
                  <a:srgbClr val="5A7682"/>
                </a:solidFill>
                <a:latin typeface="Courier New" pitchFamily="34" charset="0"/>
                <a:ea typeface="Courier New" pitchFamily="34" charset="-122"/>
                <a:cs typeface="Courier New" pitchFamily="34" charset="-120"/>
              </a:rPr>
              <a:t>N · Y · NA · U</a:t>
            </a:r>
            <a:endParaRPr lang="en-US" sz="1250" dirty="0"/>
          </a:p>
        </p:txBody>
      </p:sp>
      <p:sp>
        <p:nvSpPr>
          <p:cNvPr id="11" name="Text 9"/>
          <p:cNvSpPr/>
          <p:nvPr/>
        </p:nvSpPr>
        <p:spPr>
          <a:xfrm>
            <a:off x="914400" y="3968496"/>
            <a:ext cx="4846320" cy="347472"/>
          </a:xfrm>
          <a:prstGeom prst="rect">
            <a:avLst/>
          </a:prstGeom>
          <a:noFill/>
          <a:ln/>
        </p:spPr>
        <p:txBody>
          <a:bodyPr wrap="square" lIns="0" tIns="0" rIns="0" bIns="0" rtlCol="0" anchor="ctr"/>
          <a:lstStyle/>
          <a:p>
            <a:pPr indent="0" marL="0">
              <a:buNone/>
            </a:pPr>
            <a:r>
              <a:rPr lang="en-US" sz="1250" b="1" dirty="0">
                <a:solidFill>
                  <a:srgbClr val="C0455B"/>
                </a:solidFill>
                <a:latin typeface="Courier New" pitchFamily="34" charset="0"/>
                <a:ea typeface="Courier New" pitchFamily="34" charset="-122"/>
                <a:cs typeface="Courier New" pitchFamily="34" charset="-120"/>
              </a:rPr>
              <a:t>AESEV   </a:t>
            </a:r>
            <a:pPr indent="0" marL="0">
              <a:buNone/>
            </a:pPr>
            <a:r>
              <a:rPr lang="en-US" sz="1150" dirty="0">
                <a:solidFill>
                  <a:srgbClr val="5A7682"/>
                </a:solidFill>
                <a:latin typeface="Courier New" pitchFamily="34" charset="0"/>
                <a:ea typeface="Courier New" pitchFamily="34" charset="-122"/>
                <a:cs typeface="Courier New" pitchFamily="34" charset="-120"/>
              </a:rPr>
              <a:t>MILD · MODERATE · SEVERE</a:t>
            </a:r>
            <a:endParaRPr lang="en-US" sz="1250" dirty="0"/>
          </a:p>
        </p:txBody>
      </p:sp>
      <p:sp>
        <p:nvSpPr>
          <p:cNvPr id="12" name="Text 10"/>
          <p:cNvSpPr/>
          <p:nvPr/>
        </p:nvSpPr>
        <p:spPr>
          <a:xfrm>
            <a:off x="914400" y="4480560"/>
            <a:ext cx="4846320" cy="777240"/>
          </a:xfrm>
          <a:prstGeom prst="rect">
            <a:avLst/>
          </a:prstGeom>
          <a:noFill/>
          <a:ln/>
        </p:spPr>
        <p:txBody>
          <a:bodyPr wrap="square" lIns="0" tIns="0" rIns="0" bIns="0" rtlCol="0" anchor="ctr"/>
          <a:lstStyle/>
          <a:p>
            <a:pPr indent="0" marL="0">
              <a:buNone/>
            </a:pPr>
            <a:r>
              <a:rPr lang="en-US" sz="1250" dirty="0">
                <a:solidFill>
                  <a:srgbClr val="C0455B"/>
                </a:solidFill>
                <a:latin typeface="Calibri" pitchFamily="34" charset="0"/>
                <a:ea typeface="Calibri" pitchFamily="34" charset="-122"/>
                <a:cs typeface="Calibri" pitchFamily="34" charset="-120"/>
              </a:rPr>
              <a:t>A value outside the list is a CONFORMANCE ERROR. There is no "our study uses Grade 1" — you map to MILD or you fail validation.</a:t>
            </a:r>
            <a:endParaRPr lang="en-US" sz="1250" dirty="0"/>
          </a:p>
        </p:txBody>
      </p:sp>
      <p:sp>
        <p:nvSpPr>
          <p:cNvPr id="13" name="Shape 11"/>
          <p:cNvSpPr/>
          <p:nvPr/>
        </p:nvSpPr>
        <p:spPr>
          <a:xfrm>
            <a:off x="6217920" y="1645920"/>
            <a:ext cx="5394960" cy="3749040"/>
          </a:xfrm>
          <a:prstGeom prst="roundRect">
            <a:avLst>
              <a:gd name="adj" fmla="val 2195"/>
            </a:avLst>
          </a:prstGeom>
          <a:solidFill>
            <a:srgbClr val="E7F4F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4" name="Shape 12"/>
          <p:cNvSpPr/>
          <p:nvPr/>
        </p:nvSpPr>
        <p:spPr>
          <a:xfrm>
            <a:off x="6217920" y="1645920"/>
            <a:ext cx="82296" cy="3749040"/>
          </a:xfrm>
          <a:prstGeom prst="rect">
            <a:avLst/>
          </a:prstGeom>
          <a:solidFill>
            <a:srgbClr val="0E7C86"/>
          </a:solidFill>
          <a:ln/>
        </p:spPr>
      </p:sp>
      <p:sp>
        <p:nvSpPr>
          <p:cNvPr id="15" name="Text 13"/>
          <p:cNvSpPr/>
          <p:nvPr/>
        </p:nvSpPr>
        <p:spPr>
          <a:xfrm>
            <a:off x="6492240" y="1828800"/>
            <a:ext cx="4846320" cy="411480"/>
          </a:xfrm>
          <a:prstGeom prst="rect">
            <a:avLst/>
          </a:prstGeom>
          <a:noFill/>
          <a:ln/>
        </p:spPr>
        <p:txBody>
          <a:bodyPr wrap="square" lIns="0" tIns="0" rIns="0" bIns="0" rtlCol="0" anchor="ctr"/>
          <a:lstStyle/>
          <a:p>
            <a:pPr indent="0" marL="0">
              <a:buNone/>
            </a:pPr>
            <a:r>
              <a:rPr lang="en-US" sz="1900" b="1" dirty="0">
                <a:solidFill>
                  <a:srgbClr val="0E7C86"/>
                </a:solidFill>
                <a:latin typeface="Cambria" pitchFamily="34" charset="0"/>
                <a:ea typeface="Cambria" pitchFamily="34" charset="-122"/>
                <a:cs typeface="Cambria" pitchFamily="34" charset="-120"/>
              </a:rPr>
              <a:t>EXTENSIBLE</a:t>
            </a:r>
            <a:endParaRPr lang="en-US" sz="1900" dirty="0"/>
          </a:p>
        </p:txBody>
      </p:sp>
      <p:sp>
        <p:nvSpPr>
          <p:cNvPr id="16" name="Text 14"/>
          <p:cNvSpPr/>
          <p:nvPr/>
        </p:nvSpPr>
        <p:spPr>
          <a:xfrm>
            <a:off x="6492240" y="2286000"/>
            <a:ext cx="4846320" cy="548640"/>
          </a:xfrm>
          <a:prstGeom prst="rect">
            <a:avLst/>
          </a:prstGeom>
          <a:noFill/>
          <a:ln/>
        </p:spPr>
        <p:txBody>
          <a:bodyPr wrap="square" lIns="0" tIns="0" rIns="0" bIns="0" rtlCol="0" anchor="ctr"/>
          <a:lstStyle/>
          <a:p>
            <a:pPr indent="0" marL="0">
              <a:buNone/>
            </a:pPr>
            <a:r>
              <a:rPr lang="en-US" sz="1350" b="1" dirty="0">
                <a:solidFill>
                  <a:srgbClr val="0F2E3D"/>
                </a:solidFill>
                <a:latin typeface="Calibri" pitchFamily="34" charset="0"/>
                <a:ea typeface="Calibri" pitchFamily="34" charset="-122"/>
                <a:cs typeface="Calibri" pitchFamily="34" charset="-120"/>
              </a:rPr>
              <a:t>The list is a STARTING POINT. You may add a study-specific value.</a:t>
            </a:r>
            <a:endParaRPr lang="en-US" sz="1350" dirty="0"/>
          </a:p>
        </p:txBody>
      </p:sp>
      <p:sp>
        <p:nvSpPr>
          <p:cNvPr id="17" name="Text 15"/>
          <p:cNvSpPr/>
          <p:nvPr/>
        </p:nvSpPr>
        <p:spPr>
          <a:xfrm>
            <a:off x="6492240" y="2880360"/>
            <a:ext cx="4846320" cy="274320"/>
          </a:xfrm>
          <a:prstGeom prst="rect">
            <a:avLst/>
          </a:prstGeom>
          <a:noFill/>
          <a:ln/>
        </p:spPr>
        <p:txBody>
          <a:bodyPr wrap="square" lIns="0" tIns="0" rIns="0" bIns="0" rtlCol="0" anchor="ctr"/>
          <a:lstStyle/>
          <a:p>
            <a:pPr indent="0" marL="0">
              <a:buNone/>
            </a:pPr>
            <a:r>
              <a:rPr lang="en-US" sz="1100" b="1" spc="100" kern="0" dirty="0">
                <a:solidFill>
                  <a:srgbClr val="5A7682"/>
                </a:solidFill>
                <a:latin typeface="Calibri" pitchFamily="34" charset="0"/>
                <a:ea typeface="Calibri" pitchFamily="34" charset="-122"/>
                <a:cs typeface="Calibri" pitchFamily="34" charset="-120"/>
              </a:rPr>
              <a:t>Examples in ABC-01</a:t>
            </a:r>
            <a:endParaRPr lang="en-US" sz="1100" dirty="0"/>
          </a:p>
        </p:txBody>
      </p:sp>
      <p:sp>
        <p:nvSpPr>
          <p:cNvPr id="18" name="Text 16"/>
          <p:cNvSpPr/>
          <p:nvPr/>
        </p:nvSpPr>
        <p:spPr>
          <a:xfrm>
            <a:off x="6492240" y="3200400"/>
            <a:ext cx="4846320" cy="347472"/>
          </a:xfrm>
          <a:prstGeom prst="rect">
            <a:avLst/>
          </a:prstGeom>
          <a:noFill/>
          <a:ln/>
        </p:spPr>
        <p:txBody>
          <a:bodyPr wrap="square" lIns="0" tIns="0" rIns="0" bIns="0" rtlCol="0" anchor="ctr"/>
          <a:lstStyle/>
          <a:p>
            <a:pPr indent="0" marL="0">
              <a:buNone/>
            </a:pPr>
            <a:r>
              <a:rPr lang="en-US" sz="1250" b="1" dirty="0">
                <a:solidFill>
                  <a:srgbClr val="0E7C86"/>
                </a:solidFill>
                <a:latin typeface="Courier New" pitchFamily="34" charset="0"/>
                <a:ea typeface="Courier New" pitchFamily="34" charset="-122"/>
                <a:cs typeface="Courier New" pitchFamily="34" charset="-120"/>
              </a:rPr>
              <a:t>RACE   </a:t>
            </a:r>
            <a:pPr indent="0" marL="0">
              <a:buNone/>
            </a:pPr>
            <a:r>
              <a:rPr lang="en-US" sz="1150" dirty="0">
                <a:solidFill>
                  <a:srgbClr val="5A7682"/>
                </a:solidFill>
                <a:latin typeface="Courier New" pitchFamily="34" charset="0"/>
                <a:ea typeface="Courier New" pitchFamily="34" charset="-122"/>
                <a:cs typeface="Courier New" pitchFamily="34" charset="-120"/>
              </a:rPr>
              <a:t>WHITE · ASIAN · …</a:t>
            </a:r>
            <a:endParaRPr lang="en-US" sz="1250" dirty="0"/>
          </a:p>
        </p:txBody>
      </p:sp>
      <p:sp>
        <p:nvSpPr>
          <p:cNvPr id="19" name="Text 17"/>
          <p:cNvSpPr/>
          <p:nvPr/>
        </p:nvSpPr>
        <p:spPr>
          <a:xfrm>
            <a:off x="6492240" y="3584448"/>
            <a:ext cx="4846320" cy="347472"/>
          </a:xfrm>
          <a:prstGeom prst="rect">
            <a:avLst/>
          </a:prstGeom>
          <a:noFill/>
          <a:ln/>
        </p:spPr>
        <p:txBody>
          <a:bodyPr wrap="square" lIns="0" tIns="0" rIns="0" bIns="0" rtlCol="0" anchor="ctr"/>
          <a:lstStyle/>
          <a:p>
            <a:pPr indent="0" marL="0">
              <a:buNone/>
            </a:pPr>
            <a:r>
              <a:rPr lang="en-US" sz="1250" b="1" dirty="0">
                <a:solidFill>
                  <a:srgbClr val="0E7C86"/>
                </a:solidFill>
                <a:latin typeface="Courier New" pitchFamily="34" charset="0"/>
                <a:ea typeface="Courier New" pitchFamily="34" charset="-122"/>
                <a:cs typeface="Courier New" pitchFamily="34" charset="-120"/>
              </a:rPr>
              <a:t>LBTEST   </a:t>
            </a:r>
            <a:pPr indent="0" marL="0">
              <a:buNone/>
            </a:pPr>
            <a:r>
              <a:rPr lang="en-US" sz="1150" dirty="0">
                <a:solidFill>
                  <a:srgbClr val="5A7682"/>
                </a:solidFill>
                <a:latin typeface="Courier New" pitchFamily="34" charset="0"/>
                <a:ea typeface="Courier New" pitchFamily="34" charset="-122"/>
                <a:cs typeface="Courier New" pitchFamily="34" charset="-120"/>
              </a:rPr>
              <a:t>hundreds of tests</a:t>
            </a:r>
            <a:endParaRPr lang="en-US" sz="1250" dirty="0"/>
          </a:p>
        </p:txBody>
      </p:sp>
      <p:sp>
        <p:nvSpPr>
          <p:cNvPr id="20" name="Text 18"/>
          <p:cNvSpPr/>
          <p:nvPr/>
        </p:nvSpPr>
        <p:spPr>
          <a:xfrm>
            <a:off x="6492240" y="3968496"/>
            <a:ext cx="4846320" cy="347472"/>
          </a:xfrm>
          <a:prstGeom prst="rect">
            <a:avLst/>
          </a:prstGeom>
          <a:noFill/>
          <a:ln/>
        </p:spPr>
        <p:txBody>
          <a:bodyPr wrap="square" lIns="0" tIns="0" rIns="0" bIns="0" rtlCol="0" anchor="ctr"/>
          <a:lstStyle/>
          <a:p>
            <a:pPr indent="0" marL="0">
              <a:buNone/>
            </a:pPr>
            <a:r>
              <a:rPr lang="en-US" sz="1250" b="1" dirty="0">
                <a:solidFill>
                  <a:srgbClr val="0E7C86"/>
                </a:solidFill>
                <a:latin typeface="Courier New" pitchFamily="34" charset="0"/>
                <a:ea typeface="Courier New" pitchFamily="34" charset="-122"/>
                <a:cs typeface="Courier New" pitchFamily="34" charset="-120"/>
              </a:rPr>
              <a:t>UNIT   </a:t>
            </a:r>
            <a:pPr indent="0" marL="0">
              <a:buNone/>
            </a:pPr>
            <a:r>
              <a:rPr lang="en-US" sz="1150" dirty="0">
                <a:solidFill>
                  <a:srgbClr val="5A7682"/>
                </a:solidFill>
                <a:latin typeface="Courier New" pitchFamily="34" charset="0"/>
                <a:ea typeface="Courier New" pitchFamily="34" charset="-122"/>
                <a:cs typeface="Courier New" pitchFamily="34" charset="-120"/>
              </a:rPr>
              <a:t>mg · kg · % · IU</a:t>
            </a:r>
            <a:endParaRPr lang="en-US" sz="1250" dirty="0"/>
          </a:p>
        </p:txBody>
      </p:sp>
      <p:sp>
        <p:nvSpPr>
          <p:cNvPr id="21" name="Text 19"/>
          <p:cNvSpPr/>
          <p:nvPr/>
        </p:nvSpPr>
        <p:spPr>
          <a:xfrm>
            <a:off x="6492240" y="4480560"/>
            <a:ext cx="4846320" cy="822960"/>
          </a:xfrm>
          <a:prstGeom prst="rect">
            <a:avLst/>
          </a:prstGeom>
          <a:noFill/>
          <a:ln/>
        </p:spPr>
        <p:txBody>
          <a:bodyPr wrap="square" lIns="0" tIns="0" rIns="0" bIns="0" rtlCol="0" anchor="ctr"/>
          <a:lstStyle/>
          <a:p>
            <a:pPr indent="0" marL="0">
              <a:buNone/>
            </a:pPr>
            <a:r>
              <a:rPr lang="en-US" sz="1250" dirty="0">
                <a:solidFill>
                  <a:srgbClr val="0E7C86"/>
                </a:solidFill>
                <a:latin typeface="Calibri" pitchFamily="34" charset="0"/>
                <a:ea typeface="Calibri" pitchFamily="34" charset="-122"/>
                <a:cs typeface="Calibri" pitchFamily="34" charset="-120"/>
              </a:rPr>
              <a:t>But adding is a LAST RESORT. Search the published list properly first — most "we need a new value" turns out to be a term that already exists under a different name.</a:t>
            </a:r>
            <a:endParaRPr lang="en-US" sz="1250" dirty="0"/>
          </a:p>
        </p:txBody>
      </p:sp>
      <p:sp>
        <p:nvSpPr>
          <p:cNvPr id="22" name="Text 20"/>
          <p:cNvSpPr/>
          <p:nvPr/>
        </p:nvSpPr>
        <p:spPr>
          <a:xfrm>
            <a:off x="640080" y="5623560"/>
            <a:ext cx="10972800" cy="457200"/>
          </a:xfrm>
          <a:prstGeom prst="rect">
            <a:avLst/>
          </a:prstGeom>
          <a:noFill/>
          <a:ln/>
        </p:spPr>
        <p:txBody>
          <a:bodyPr wrap="square" lIns="0" tIns="0" rIns="0" bIns="0" rtlCol="0" anchor="ctr"/>
          <a:lstStyle/>
          <a:p>
            <a:pPr indent="0" marL="0">
              <a:buNone/>
            </a:pPr>
            <a:r>
              <a:rPr lang="en-US" sz="1300" i="1" dirty="0">
                <a:solidFill>
                  <a:srgbClr val="0F2E3D"/>
                </a:solidFill>
                <a:latin typeface="Calibri" pitchFamily="34" charset="0"/>
                <a:ea typeface="Calibri" pitchFamily="34" charset="-122"/>
                <a:cs typeface="Calibri" pitchFamily="34" charset="-120"/>
              </a:rPr>
              <a:t>How do you know which one a codelist is? The CT release says so, and define.xml records it per variable. Never guess — check.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FOUR KINDS OF WORK</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Every CT mapping you will ever write is one of these</a:t>
            </a:r>
            <a:endParaRPr lang="en-US" sz="3000" dirty="0"/>
          </a:p>
        </p:txBody>
      </p:sp>
      <p:sp>
        <p:nvSpPr>
          <p:cNvPr id="4" name="Shape 2"/>
          <p:cNvSpPr/>
          <p:nvPr/>
        </p:nvSpPr>
        <p:spPr>
          <a:xfrm>
            <a:off x="640080" y="1828800"/>
            <a:ext cx="10972800" cy="1024128"/>
          </a:xfrm>
          <a:prstGeom prst="roundRect">
            <a:avLst>
              <a:gd name="adj" fmla="val 7143"/>
            </a:avLst>
          </a:prstGeom>
          <a:solidFill>
            <a:srgbClr val="163B4B"/>
          </a:solidFill>
          <a:ln w="16510">
            <a:solidFill>
              <a:srgbClr val="E8833A"/>
            </a:solidFill>
            <a:prstDash val="solid"/>
          </a:ln>
        </p:spPr>
      </p:sp>
      <p:sp>
        <p:nvSpPr>
          <p:cNvPr id="5" name="Text 3"/>
          <p:cNvSpPr/>
          <p:nvPr/>
        </p:nvSpPr>
        <p:spPr>
          <a:xfrm>
            <a:off x="914400" y="1975104"/>
            <a:ext cx="2103120" cy="347472"/>
          </a:xfrm>
          <a:prstGeom prst="rect">
            <a:avLst/>
          </a:prstGeom>
          <a:noFill/>
          <a:ln/>
        </p:spPr>
        <p:txBody>
          <a:bodyPr wrap="square" lIns="0" tIns="0" rIns="0" bIns="0" rtlCol="0" anchor="ctr"/>
          <a:lstStyle/>
          <a:p>
            <a:pPr indent="0" marL="0">
              <a:buNone/>
            </a:pPr>
            <a:r>
              <a:rPr lang="en-US" sz="1600" b="1" dirty="0">
                <a:solidFill>
                  <a:srgbClr val="E8833A"/>
                </a:solidFill>
                <a:latin typeface="Cambria" pitchFamily="34" charset="0"/>
                <a:ea typeface="Cambria" pitchFamily="34" charset="-122"/>
                <a:cs typeface="Cambria" pitchFamily="34" charset="-120"/>
              </a:rPr>
              <a:t>DECODE</a:t>
            </a:r>
            <a:endParaRPr lang="en-US" sz="1600" dirty="0"/>
          </a:p>
        </p:txBody>
      </p:sp>
      <p:sp>
        <p:nvSpPr>
          <p:cNvPr id="6" name="Text 4"/>
          <p:cNvSpPr/>
          <p:nvPr/>
        </p:nvSpPr>
        <p:spPr>
          <a:xfrm>
            <a:off x="914400" y="2359152"/>
            <a:ext cx="2286000" cy="320040"/>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A code stands for a term</a:t>
            </a:r>
            <a:endParaRPr lang="en-US" sz="1150" dirty="0"/>
          </a:p>
        </p:txBody>
      </p:sp>
      <p:sp>
        <p:nvSpPr>
          <p:cNvPr id="7" name="Text 5"/>
          <p:cNvSpPr/>
          <p:nvPr/>
        </p:nvSpPr>
        <p:spPr>
          <a:xfrm>
            <a:off x="3383280" y="1956816"/>
            <a:ext cx="7955280" cy="36576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SEX 1 -&gt; M      AEOUT 3 -&gt; NOT RECOVERED/NOT RESOLVED</a:t>
            </a:r>
            <a:endParaRPr lang="en-US" sz="1200" dirty="0"/>
          </a:p>
        </p:txBody>
      </p:sp>
      <p:sp>
        <p:nvSpPr>
          <p:cNvPr id="8" name="Text 6"/>
          <p:cNvSpPr/>
          <p:nvPr/>
        </p:nvSpPr>
        <p:spPr>
          <a:xfrm>
            <a:off x="3383280" y="2359152"/>
            <a:ext cx="7955280" cy="384048"/>
          </a:xfrm>
          <a:prstGeom prst="rect">
            <a:avLst/>
          </a:prstGeom>
          <a:noFill/>
          <a:ln/>
        </p:spPr>
        <p:txBody>
          <a:bodyPr wrap="square" lIns="0" tIns="0" rIns="0" bIns="0" rtlCol="0" anchor="ctr"/>
          <a:lstStyle/>
          <a:p>
            <a:pPr indent="0" marL="0">
              <a:buNone/>
            </a:pPr>
            <a:r>
              <a:rPr lang="en-US" sz="1200" dirty="0">
                <a:solidFill>
                  <a:srgbClr val="AFCBD3"/>
                </a:solidFill>
                <a:latin typeface="Calibri" pitchFamily="34" charset="0"/>
                <a:ea typeface="Calibri" pitchFamily="34" charset="-122"/>
                <a:cs typeface="Calibri" pitchFamily="34" charset="-120"/>
              </a:rPr>
              <a:t>The raw value is meaningless on its own. You NEED the data dictionary.</a:t>
            </a:r>
            <a:endParaRPr lang="en-US" sz="1200" dirty="0"/>
          </a:p>
        </p:txBody>
      </p:sp>
      <p:sp>
        <p:nvSpPr>
          <p:cNvPr id="9" name="Shape 7"/>
          <p:cNvSpPr/>
          <p:nvPr/>
        </p:nvSpPr>
        <p:spPr>
          <a:xfrm>
            <a:off x="640080" y="2944368"/>
            <a:ext cx="10972800" cy="1024128"/>
          </a:xfrm>
          <a:prstGeom prst="roundRect">
            <a:avLst>
              <a:gd name="adj" fmla="val 7143"/>
            </a:avLst>
          </a:prstGeom>
          <a:solidFill>
            <a:srgbClr val="163B4B"/>
          </a:solidFill>
          <a:ln w="16510">
            <a:solidFill>
              <a:srgbClr val="1FA8A0"/>
            </a:solidFill>
            <a:prstDash val="solid"/>
          </a:ln>
        </p:spPr>
      </p:sp>
      <p:sp>
        <p:nvSpPr>
          <p:cNvPr id="10" name="Text 8"/>
          <p:cNvSpPr/>
          <p:nvPr/>
        </p:nvSpPr>
        <p:spPr>
          <a:xfrm>
            <a:off x="914400" y="3090672"/>
            <a:ext cx="2103120" cy="347472"/>
          </a:xfrm>
          <a:prstGeom prst="rect">
            <a:avLst/>
          </a:prstGeom>
          <a:noFill/>
          <a:ln/>
        </p:spPr>
        <p:txBody>
          <a:bodyPr wrap="square" lIns="0" tIns="0" rIns="0" bIns="0" rtlCol="0" anchor="ctr"/>
          <a:lstStyle/>
          <a:p>
            <a:pPr indent="0" marL="0">
              <a:buNone/>
            </a:pPr>
            <a:r>
              <a:rPr lang="en-US" sz="1600" b="1" dirty="0">
                <a:solidFill>
                  <a:srgbClr val="1FA8A0"/>
                </a:solidFill>
                <a:latin typeface="Cambria" pitchFamily="34" charset="0"/>
                <a:ea typeface="Cambria" pitchFamily="34" charset="-122"/>
                <a:cs typeface="Cambria" pitchFamily="34" charset="-120"/>
              </a:rPr>
              <a:t>NORMALISE</a:t>
            </a:r>
            <a:endParaRPr lang="en-US" sz="1600" dirty="0"/>
          </a:p>
        </p:txBody>
      </p:sp>
      <p:sp>
        <p:nvSpPr>
          <p:cNvPr id="11" name="Text 9"/>
          <p:cNvSpPr/>
          <p:nvPr/>
        </p:nvSpPr>
        <p:spPr>
          <a:xfrm>
            <a:off x="914400" y="3474720"/>
            <a:ext cx="2286000" cy="320040"/>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Right term, wrong shape</a:t>
            </a:r>
            <a:endParaRPr lang="en-US" sz="1150" dirty="0"/>
          </a:p>
        </p:txBody>
      </p:sp>
      <p:sp>
        <p:nvSpPr>
          <p:cNvPr id="12" name="Text 10"/>
          <p:cNvSpPr/>
          <p:nvPr/>
        </p:nvSpPr>
        <p:spPr>
          <a:xfrm>
            <a:off x="3383280" y="3072384"/>
            <a:ext cx="7955280" cy="36576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'mild' -&gt; MILD      'White ' -&gt; WHITE</a:t>
            </a:r>
            <a:endParaRPr lang="en-US" sz="1200" dirty="0"/>
          </a:p>
        </p:txBody>
      </p:sp>
      <p:sp>
        <p:nvSpPr>
          <p:cNvPr id="13" name="Text 11"/>
          <p:cNvSpPr/>
          <p:nvPr/>
        </p:nvSpPr>
        <p:spPr>
          <a:xfrm>
            <a:off x="3383280" y="3474720"/>
            <a:ext cx="7955280" cy="384048"/>
          </a:xfrm>
          <a:prstGeom prst="rect">
            <a:avLst/>
          </a:prstGeom>
          <a:noFill/>
          <a:ln/>
        </p:spPr>
        <p:txBody>
          <a:bodyPr wrap="square" lIns="0" tIns="0" rIns="0" bIns="0" rtlCol="0" anchor="ctr"/>
          <a:lstStyle/>
          <a:p>
            <a:pPr indent="0" marL="0">
              <a:buNone/>
            </a:pPr>
            <a:r>
              <a:rPr lang="en-US" sz="1200" dirty="0">
                <a:solidFill>
                  <a:srgbClr val="AFCBD3"/>
                </a:solidFill>
                <a:latin typeface="Calibri" pitchFamily="34" charset="0"/>
                <a:ea typeface="Calibri" pitchFamily="34" charset="-122"/>
                <a:cs typeface="Calibri" pitchFamily="34" charset="-120"/>
              </a:rPr>
              <a:t>Trim and upper-case. Easy — and the easiest to do carelessly.</a:t>
            </a:r>
            <a:endParaRPr lang="en-US" sz="1200" dirty="0"/>
          </a:p>
        </p:txBody>
      </p:sp>
      <p:sp>
        <p:nvSpPr>
          <p:cNvPr id="14" name="Shape 12"/>
          <p:cNvSpPr/>
          <p:nvPr/>
        </p:nvSpPr>
        <p:spPr>
          <a:xfrm>
            <a:off x="640080" y="4059936"/>
            <a:ext cx="10972800" cy="1024128"/>
          </a:xfrm>
          <a:prstGeom prst="roundRect">
            <a:avLst>
              <a:gd name="adj" fmla="val 7143"/>
            </a:avLst>
          </a:prstGeom>
          <a:solidFill>
            <a:srgbClr val="163B4B"/>
          </a:solidFill>
          <a:ln w="16510">
            <a:solidFill>
              <a:srgbClr val="C0455B"/>
            </a:solidFill>
            <a:prstDash val="solid"/>
          </a:ln>
        </p:spPr>
      </p:sp>
      <p:sp>
        <p:nvSpPr>
          <p:cNvPr id="15" name="Text 13"/>
          <p:cNvSpPr/>
          <p:nvPr/>
        </p:nvSpPr>
        <p:spPr>
          <a:xfrm>
            <a:off x="914400" y="4206240"/>
            <a:ext cx="2103120" cy="347472"/>
          </a:xfrm>
          <a:prstGeom prst="rect">
            <a:avLst/>
          </a:prstGeom>
          <a:noFill/>
          <a:ln/>
        </p:spPr>
        <p:txBody>
          <a:bodyPr wrap="square" lIns="0" tIns="0" rIns="0" bIns="0" rtlCol="0" anchor="ctr"/>
          <a:lstStyle/>
          <a:p>
            <a:pPr indent="0" marL="0">
              <a:buNone/>
            </a:pPr>
            <a:r>
              <a:rPr lang="en-US" sz="1600" b="1" dirty="0">
                <a:solidFill>
                  <a:srgbClr val="C0455B"/>
                </a:solidFill>
                <a:latin typeface="Cambria" pitchFamily="34" charset="0"/>
                <a:ea typeface="Cambria" pitchFamily="34" charset="-122"/>
                <a:cs typeface="Cambria" pitchFamily="34" charset="-120"/>
              </a:rPr>
              <a:t>RENAME</a:t>
            </a:r>
            <a:endParaRPr lang="en-US" sz="1600" dirty="0"/>
          </a:p>
        </p:txBody>
      </p:sp>
      <p:sp>
        <p:nvSpPr>
          <p:cNvPr id="16" name="Text 14"/>
          <p:cNvSpPr/>
          <p:nvPr/>
        </p:nvSpPr>
        <p:spPr>
          <a:xfrm>
            <a:off x="914400" y="4590288"/>
            <a:ext cx="2286000" cy="320040"/>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Different term entirely</a:t>
            </a:r>
            <a:endParaRPr lang="en-US" sz="1150" dirty="0"/>
          </a:p>
        </p:txBody>
      </p:sp>
      <p:sp>
        <p:nvSpPr>
          <p:cNvPr id="17" name="Text 15"/>
          <p:cNvSpPr/>
          <p:nvPr/>
        </p:nvSpPr>
        <p:spPr>
          <a:xfrm>
            <a:off x="3383280" y="4187952"/>
            <a:ext cx="7955280" cy="36576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'White Blood Cells' -&gt; Leukocytes</a:t>
            </a:r>
            <a:endParaRPr lang="en-US" sz="1200" dirty="0"/>
          </a:p>
        </p:txBody>
      </p:sp>
      <p:sp>
        <p:nvSpPr>
          <p:cNvPr id="18" name="Text 16"/>
          <p:cNvSpPr/>
          <p:nvPr/>
        </p:nvSpPr>
        <p:spPr>
          <a:xfrm>
            <a:off x="3383280" y="4590288"/>
            <a:ext cx="7955280" cy="384048"/>
          </a:xfrm>
          <a:prstGeom prst="rect">
            <a:avLst/>
          </a:prstGeom>
          <a:noFill/>
          <a:ln/>
        </p:spPr>
        <p:txBody>
          <a:bodyPr wrap="square" lIns="0" tIns="0" rIns="0" bIns="0" rtlCol="0" anchor="ctr"/>
          <a:lstStyle/>
          <a:p>
            <a:pPr indent="0" marL="0">
              <a:buNone/>
            </a:pPr>
            <a:r>
              <a:rPr lang="en-US" sz="1200" dirty="0">
                <a:solidFill>
                  <a:srgbClr val="AFCBD3"/>
                </a:solidFill>
                <a:latin typeface="Calibri" pitchFamily="34" charset="0"/>
                <a:ea typeface="Calibri" pitchFamily="34" charset="-122"/>
                <a:cs typeface="Calibri" pitchFamily="34" charset="-120"/>
              </a:rPr>
              <a:t>Only a lookup finds these. No string rule will ever produce them.</a:t>
            </a:r>
            <a:endParaRPr lang="en-US" sz="1200" dirty="0"/>
          </a:p>
        </p:txBody>
      </p:sp>
      <p:sp>
        <p:nvSpPr>
          <p:cNvPr id="19" name="Shape 17"/>
          <p:cNvSpPr/>
          <p:nvPr/>
        </p:nvSpPr>
        <p:spPr>
          <a:xfrm>
            <a:off x="640080" y="5175504"/>
            <a:ext cx="10972800" cy="1024128"/>
          </a:xfrm>
          <a:prstGeom prst="roundRect">
            <a:avLst>
              <a:gd name="adj" fmla="val 7143"/>
            </a:avLst>
          </a:prstGeom>
          <a:solidFill>
            <a:srgbClr val="163B4B"/>
          </a:solidFill>
          <a:ln w="16510">
            <a:solidFill>
              <a:srgbClr val="6FC8B4"/>
            </a:solidFill>
            <a:prstDash val="solid"/>
          </a:ln>
        </p:spPr>
      </p:sp>
      <p:sp>
        <p:nvSpPr>
          <p:cNvPr id="20" name="Text 18"/>
          <p:cNvSpPr/>
          <p:nvPr/>
        </p:nvSpPr>
        <p:spPr>
          <a:xfrm>
            <a:off x="914400" y="5321808"/>
            <a:ext cx="2103120" cy="347472"/>
          </a:xfrm>
          <a:prstGeom prst="rect">
            <a:avLst/>
          </a:prstGeom>
          <a:noFill/>
          <a:ln/>
        </p:spPr>
        <p:txBody>
          <a:bodyPr wrap="square" lIns="0" tIns="0" rIns="0" bIns="0" rtlCol="0" anchor="ctr"/>
          <a:lstStyle/>
          <a:p>
            <a:pPr indent="0" marL="0">
              <a:buNone/>
            </a:pPr>
            <a:r>
              <a:rPr lang="en-US" sz="1600" b="1" dirty="0">
                <a:solidFill>
                  <a:srgbClr val="6FC8B4"/>
                </a:solidFill>
                <a:latin typeface="Cambria" pitchFamily="34" charset="0"/>
                <a:ea typeface="Cambria" pitchFamily="34" charset="-122"/>
                <a:cs typeface="Cambria" pitchFamily="34" charset="-120"/>
              </a:rPr>
              <a:t>DERIVE</a:t>
            </a:r>
            <a:endParaRPr lang="en-US" sz="1600" dirty="0"/>
          </a:p>
        </p:txBody>
      </p:sp>
      <p:sp>
        <p:nvSpPr>
          <p:cNvPr id="21" name="Text 19"/>
          <p:cNvSpPr/>
          <p:nvPr/>
        </p:nvSpPr>
        <p:spPr>
          <a:xfrm>
            <a:off x="914400" y="5705856"/>
            <a:ext cx="2286000" cy="320040"/>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Not collected at all</a:t>
            </a:r>
            <a:endParaRPr lang="en-US" sz="1150" dirty="0"/>
          </a:p>
        </p:txBody>
      </p:sp>
      <p:sp>
        <p:nvSpPr>
          <p:cNvPr id="22" name="Text 20"/>
          <p:cNvSpPr/>
          <p:nvPr/>
        </p:nvSpPr>
        <p:spPr>
          <a:xfrm>
            <a:off x="3383280" y="5303520"/>
            <a:ext cx="7955280" cy="365760"/>
          </a:xfrm>
          <a:prstGeom prst="rect">
            <a:avLst/>
          </a:prstGeom>
          <a:noFill/>
          <a:ln/>
        </p:spPr>
        <p:txBody>
          <a:bodyPr wrap="square" lIns="0" tIns="0" rIns="0" bIns="0" rtlCol="0" anchor="ctr"/>
          <a:lstStyle/>
          <a:p>
            <a:pPr indent="0" marL="0">
              <a:buNone/>
            </a:pPr>
            <a:r>
              <a:rPr lang="en-US" sz="1200" dirty="0">
                <a:solidFill>
                  <a:srgbClr val="FFFFFF"/>
                </a:solidFill>
                <a:latin typeface="Courier New" pitchFamily="34" charset="0"/>
                <a:ea typeface="Courier New" pitchFamily="34" charset="-122"/>
                <a:cs typeface="Courier New" pitchFamily="34" charset="-120"/>
              </a:rPr>
              <a:t>AESTDY &gt;= 1 -&gt; AETRTEM = Y</a:t>
            </a:r>
            <a:endParaRPr lang="en-US" sz="1200" dirty="0"/>
          </a:p>
        </p:txBody>
      </p:sp>
      <p:sp>
        <p:nvSpPr>
          <p:cNvPr id="23" name="Text 21"/>
          <p:cNvSpPr/>
          <p:nvPr/>
        </p:nvSpPr>
        <p:spPr>
          <a:xfrm>
            <a:off x="3383280" y="5705856"/>
            <a:ext cx="7955280" cy="384048"/>
          </a:xfrm>
          <a:prstGeom prst="rect">
            <a:avLst/>
          </a:prstGeom>
          <a:noFill/>
          <a:ln/>
        </p:spPr>
        <p:txBody>
          <a:bodyPr wrap="square" lIns="0" tIns="0" rIns="0" bIns="0" rtlCol="0" anchor="ctr"/>
          <a:lstStyle/>
          <a:p>
            <a:pPr indent="0" marL="0">
              <a:buNone/>
            </a:pPr>
            <a:r>
              <a:rPr lang="en-US" sz="1200" dirty="0">
                <a:solidFill>
                  <a:srgbClr val="AFCBD3"/>
                </a:solidFill>
                <a:latin typeface="Calibri" pitchFamily="34" charset="0"/>
                <a:ea typeface="Calibri" pitchFamily="34" charset="-122"/>
                <a:cs typeface="Calibri" pitchFamily="34" charset="-120"/>
              </a:rPr>
              <a:t>The value is computed from other variables, not mapped from one.</a:t>
            </a:r>
            <a:endParaRPr lang="en-US" sz="1200" dirty="0"/>
          </a:p>
        </p:txBody>
      </p:sp>
      <p:sp>
        <p:nvSpPr>
          <p:cNvPr id="24" name="Text 22"/>
          <p:cNvSpPr/>
          <p:nvPr/>
        </p:nvSpPr>
        <p:spPr>
          <a:xfrm>
            <a:off x="640080" y="6309360"/>
            <a:ext cx="10972800" cy="457200"/>
          </a:xfrm>
          <a:prstGeom prst="rect">
            <a:avLst/>
          </a:prstGeom>
          <a:noFill/>
          <a:ln/>
        </p:spPr>
        <p:txBody>
          <a:bodyPr wrap="square" lIns="0" tIns="0" rIns="0" bIns="0" rtlCol="0" anchor="ctr"/>
          <a:lstStyle/>
          <a:p>
            <a:pPr indent="0" marL="0">
              <a:buNone/>
            </a:pPr>
            <a:r>
              <a:rPr lang="en-US" sz="1300" i="1" dirty="0">
                <a:solidFill>
                  <a:srgbClr val="6FC8B4"/>
                </a:solidFill>
                <a:latin typeface="Calibri" pitchFamily="34" charset="0"/>
                <a:ea typeface="Calibri" pitchFamily="34" charset="-122"/>
                <a:cs typeface="Calibri" pitchFamily="34" charset="-120"/>
              </a:rPr>
              <a:t>The danger rises down the list. NORMALISE looks trivial, so people stop checking — and RENAME hides inside a column that mostly normalises cleanly.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HABIT THAT MATTERS MOST</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What does your code do with a value it has never seen?</a:t>
            </a:r>
            <a:endParaRPr lang="en-US" sz="3000" dirty="0"/>
          </a:p>
        </p:txBody>
      </p:sp>
      <p:sp>
        <p:nvSpPr>
          <p:cNvPr id="4" name="Shape 2"/>
          <p:cNvSpPr/>
          <p:nvPr/>
        </p:nvSpPr>
        <p:spPr>
          <a:xfrm>
            <a:off x="640080" y="1600200"/>
            <a:ext cx="5394960" cy="1990344"/>
          </a:xfrm>
          <a:prstGeom prst="roundRect">
            <a:avLst>
              <a:gd name="adj" fmla="val 3675"/>
            </a:avLst>
          </a:prstGeom>
          <a:solidFill>
            <a:srgbClr val="13323F"/>
          </a:solidFill>
          <a:ln w="19050">
            <a:solidFill>
              <a:srgbClr val="C0455B"/>
            </a:solidFill>
            <a:prstDash val="solid"/>
          </a:ln>
        </p:spPr>
      </p:sp>
      <p:sp>
        <p:nvSpPr>
          <p:cNvPr id="5" name="Text 3"/>
          <p:cNvSpPr/>
          <p:nvPr/>
        </p:nvSpPr>
        <p:spPr>
          <a:xfrm>
            <a:off x="868680" y="1691640"/>
            <a:ext cx="5486400" cy="320040"/>
          </a:xfrm>
          <a:prstGeom prst="rect">
            <a:avLst/>
          </a:prstGeom>
          <a:noFill/>
          <a:ln/>
        </p:spPr>
        <p:txBody>
          <a:bodyPr wrap="square" lIns="0" tIns="0" rIns="0" bIns="0" rtlCol="0" anchor="ctr"/>
          <a:lstStyle/>
          <a:p>
            <a:pPr indent="0" marL="0">
              <a:buNone/>
            </a:pPr>
            <a:r>
              <a:rPr lang="en-US" sz="1400" b="1" dirty="0">
                <a:solidFill>
                  <a:srgbClr val="C0455B"/>
                </a:solidFill>
                <a:latin typeface="Cambria" pitchFamily="34" charset="0"/>
                <a:ea typeface="Cambria" pitchFamily="34" charset="-122"/>
                <a:cs typeface="Cambria" pitchFamily="34" charset="-120"/>
              </a:rPr>
              <a:t>What you have been writing</a:t>
            </a:r>
            <a:endParaRPr lang="en-US" sz="1400" dirty="0"/>
          </a:p>
        </p:txBody>
      </p:sp>
      <p:sp>
        <p:nvSpPr>
          <p:cNvPr id="6" name="Text 4"/>
          <p:cNvSpPr/>
          <p:nvPr/>
        </p:nvSpPr>
        <p:spPr>
          <a:xfrm>
            <a:off x="868680" y="2057400"/>
            <a:ext cx="4983480" cy="14234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select (strip(aeout));</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when ("1") aeout_c = "RECOVERED/RESOLVED";</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when ("2") aeout_c = "RECOVERING/RESOLVING";</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otherwise  aeout_c =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end;</a:t>
            </a:r>
            <a:endParaRPr lang="en-US" sz="1200" dirty="0"/>
          </a:p>
        </p:txBody>
      </p:sp>
      <p:sp>
        <p:nvSpPr>
          <p:cNvPr id="7" name="Shape 5"/>
          <p:cNvSpPr/>
          <p:nvPr/>
        </p:nvSpPr>
        <p:spPr>
          <a:xfrm>
            <a:off x="6217920" y="1600200"/>
            <a:ext cx="5394960" cy="2853944"/>
          </a:xfrm>
          <a:prstGeom prst="roundRect">
            <a:avLst>
              <a:gd name="adj" fmla="val 2563"/>
            </a:avLst>
          </a:prstGeom>
          <a:solidFill>
            <a:srgbClr val="13323F"/>
          </a:solidFill>
          <a:ln w="19050">
            <a:solidFill>
              <a:srgbClr val="0E7C86"/>
            </a:solidFill>
            <a:prstDash val="solid"/>
          </a:ln>
        </p:spPr>
      </p:sp>
      <p:sp>
        <p:nvSpPr>
          <p:cNvPr id="8" name="Text 6"/>
          <p:cNvSpPr/>
          <p:nvPr/>
        </p:nvSpPr>
        <p:spPr>
          <a:xfrm>
            <a:off x="6446520" y="1691640"/>
            <a:ext cx="5486400" cy="320040"/>
          </a:xfrm>
          <a:prstGeom prst="rect">
            <a:avLst/>
          </a:prstGeom>
          <a:noFill/>
          <a:ln/>
        </p:spPr>
        <p:txBody>
          <a:bodyPr wrap="square" lIns="0" tIns="0" rIns="0" bIns="0" rtlCol="0" anchor="ctr"/>
          <a:lstStyle/>
          <a:p>
            <a:pPr indent="0" marL="0">
              <a:buNone/>
            </a:pPr>
            <a:r>
              <a:rPr lang="en-US" sz="1400" b="1" dirty="0">
                <a:solidFill>
                  <a:srgbClr val="0E7C86"/>
                </a:solidFill>
                <a:latin typeface="Cambria" pitchFamily="34" charset="0"/>
                <a:ea typeface="Cambria" pitchFamily="34" charset="-122"/>
                <a:cs typeface="Cambria" pitchFamily="34" charset="-120"/>
              </a:rPr>
              <a:t>What production code writes</a:t>
            </a:r>
            <a:endParaRPr lang="en-US" sz="1400" dirty="0"/>
          </a:p>
        </p:txBody>
      </p:sp>
      <p:sp>
        <p:nvSpPr>
          <p:cNvPr id="9" name="Text 7"/>
          <p:cNvSpPr/>
          <p:nvPr/>
        </p:nvSpPr>
        <p:spPr>
          <a:xfrm>
            <a:off x="6446520" y="2057400"/>
            <a:ext cx="4983480" cy="22870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select (strip(aeout));</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when ("1") aeout_c = "RECOVERED/RESOLVED";</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when ("2") aeout_c = "RECOVERING/RESOLVING";</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otherwise do;</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aeout_c =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put "ERROR: unmapped AEOUT &gt;" aeout</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"&lt; for " usubjid=;</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end;</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end;</a:t>
            </a:r>
            <a:endParaRPr lang="en-US" sz="1200" dirty="0"/>
          </a:p>
        </p:txBody>
      </p:sp>
      <p:sp>
        <p:nvSpPr>
          <p:cNvPr id="10" name="Shape 8"/>
          <p:cNvSpPr/>
          <p:nvPr/>
        </p:nvSpPr>
        <p:spPr>
          <a:xfrm>
            <a:off x="640080" y="4069080"/>
            <a:ext cx="5394960" cy="1965960"/>
          </a:xfrm>
          <a:prstGeom prst="roundRect">
            <a:avLst>
              <a:gd name="adj" fmla="val 4186"/>
            </a:avLst>
          </a:prstGeom>
          <a:solidFill>
            <a:srgbClr val="FDECEE"/>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Text 9"/>
          <p:cNvSpPr/>
          <p:nvPr/>
        </p:nvSpPr>
        <p:spPr>
          <a:xfrm>
            <a:off x="914400" y="4206240"/>
            <a:ext cx="4846320" cy="320040"/>
          </a:xfrm>
          <a:prstGeom prst="rect">
            <a:avLst/>
          </a:prstGeom>
          <a:noFill/>
          <a:ln/>
        </p:spPr>
        <p:txBody>
          <a:bodyPr wrap="square" lIns="0" tIns="0" rIns="0" bIns="0" rtlCol="0" anchor="ctr"/>
          <a:lstStyle/>
          <a:p>
            <a:pPr indent="0" marL="0">
              <a:buNone/>
            </a:pPr>
            <a:r>
              <a:rPr lang="en-US" sz="1600" b="1" dirty="0">
                <a:solidFill>
                  <a:srgbClr val="C0455B"/>
                </a:solidFill>
                <a:latin typeface="Cambria" pitchFamily="34" charset="0"/>
                <a:ea typeface="Cambria" pitchFamily="34" charset="-122"/>
                <a:cs typeface="Cambria" pitchFamily="34" charset="-120"/>
              </a:rPr>
              <a:t>Silent blanking</a:t>
            </a:r>
            <a:endParaRPr lang="en-US" sz="1600" dirty="0"/>
          </a:p>
        </p:txBody>
      </p:sp>
      <p:sp>
        <p:nvSpPr>
          <p:cNvPr id="12" name="Text 10"/>
          <p:cNvSpPr/>
          <p:nvPr/>
        </p:nvSpPr>
        <p:spPr>
          <a:xfrm>
            <a:off x="914400" y="4572000"/>
            <a:ext cx="4846320" cy="1325880"/>
          </a:xfrm>
          <a:prstGeom prst="rect">
            <a:avLst/>
          </a:prstGeom>
          <a:noFill/>
          <a:ln/>
        </p:spPr>
        <p:txBody>
          <a:bodyPr wrap="square" lIns="0" tIns="0" rIns="0" bIns="0" rtlCol="0" anchor="ctr"/>
          <a:lstStyle/>
          <a:p>
            <a:pPr indent="0" marL="0">
              <a:lnSpc>
                <a:spcPts val="1600"/>
              </a:lnSpc>
              <a:buNone/>
            </a:pPr>
            <a:r>
              <a:rPr lang="en-US" sz="1250" dirty="0">
                <a:solidFill>
                  <a:srgbClr val="0F2E3D"/>
                </a:solidFill>
                <a:latin typeface="Calibri" pitchFamily="34" charset="0"/>
                <a:ea typeface="Calibri" pitchFamily="34" charset="-122"/>
                <a:cs typeface="Calibri" pitchFamily="34" charset="-120"/>
              </a:rPr>
              <a:t>A new code 6 appears in next month's extract. Your program turns it into a blank and reports success. The dataset looks CLEANER than one with a visible problem — and the information is gone.</a:t>
            </a:r>
            <a:endParaRPr lang="en-US" sz="1250" dirty="0"/>
          </a:p>
          <a:p>
            <a:pPr indent="0" marL="0">
              <a:lnSpc>
                <a:spcPts val="1600"/>
              </a:lnSpc>
              <a:buNone/>
            </a:pPr>
            <a:endParaRPr lang="en-US" sz="1250" dirty="0"/>
          </a:p>
          <a:p>
            <a:pPr indent="0" marL="0">
              <a:lnSpc>
                <a:spcPts val="1600"/>
              </a:lnSpc>
              <a:buNone/>
            </a:pPr>
            <a:r>
              <a:rPr lang="en-US" sz="1250" dirty="0">
                <a:solidFill>
                  <a:srgbClr val="0F2E3D"/>
                </a:solidFill>
                <a:latin typeface="Calibri" pitchFamily="34" charset="0"/>
                <a:ea typeface="Calibri" pitchFamily="34" charset="-122"/>
                <a:cs typeface="Calibri" pitchFamily="34" charset="-120"/>
              </a:rPr>
              <a:t>Worst of both worlds.</a:t>
            </a:r>
            <a:endParaRPr lang="en-US" sz="1250" dirty="0"/>
          </a:p>
        </p:txBody>
      </p:sp>
      <p:sp>
        <p:nvSpPr>
          <p:cNvPr id="13" name="Shape 11"/>
          <p:cNvSpPr/>
          <p:nvPr/>
        </p:nvSpPr>
        <p:spPr>
          <a:xfrm>
            <a:off x="6217920" y="4069080"/>
            <a:ext cx="5394960" cy="1965960"/>
          </a:xfrm>
          <a:prstGeom prst="roundRect">
            <a:avLst>
              <a:gd name="adj" fmla="val 4186"/>
            </a:avLst>
          </a:prstGeom>
          <a:solidFill>
            <a:srgbClr val="E7F4F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4" name="Text 12"/>
          <p:cNvSpPr/>
          <p:nvPr/>
        </p:nvSpPr>
        <p:spPr>
          <a:xfrm>
            <a:off x="6492240" y="4206240"/>
            <a:ext cx="4846320" cy="32004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Failing loudly</a:t>
            </a:r>
            <a:endParaRPr lang="en-US" sz="1600" dirty="0"/>
          </a:p>
        </p:txBody>
      </p:sp>
      <p:sp>
        <p:nvSpPr>
          <p:cNvPr id="15" name="Text 13"/>
          <p:cNvSpPr/>
          <p:nvPr/>
        </p:nvSpPr>
        <p:spPr>
          <a:xfrm>
            <a:off x="6492240" y="4572000"/>
            <a:ext cx="4846320" cy="1371600"/>
          </a:xfrm>
          <a:prstGeom prst="rect">
            <a:avLst/>
          </a:prstGeom>
          <a:noFill/>
          <a:ln/>
        </p:spPr>
        <p:txBody>
          <a:bodyPr wrap="square" lIns="0" tIns="0" rIns="0" bIns="0" rtlCol="0" anchor="ctr"/>
          <a:lstStyle/>
          <a:p>
            <a:pPr indent="0" marL="0">
              <a:lnSpc>
                <a:spcPts val="1600"/>
              </a:lnSpc>
              <a:buNone/>
            </a:pPr>
            <a:r>
              <a:rPr lang="en-US" sz="1250" dirty="0">
                <a:solidFill>
                  <a:srgbClr val="0F2E3D"/>
                </a:solidFill>
                <a:latin typeface="Calibri" pitchFamily="34" charset="0"/>
                <a:ea typeface="Calibri" pitchFamily="34" charset="-122"/>
                <a:cs typeface="Calibri" pitchFamily="34" charset="-120"/>
              </a:rPr>
              <a:t>The same code 6 writes ERROR to the log with the subject id. Someone reads it, asks the data manager, and finds out the CRF gained an option nobody told you about.</a:t>
            </a:r>
            <a:endParaRPr lang="en-US" sz="1250" dirty="0"/>
          </a:p>
          <a:p>
            <a:pPr indent="0" marL="0">
              <a:lnSpc>
                <a:spcPts val="1600"/>
              </a:lnSpc>
              <a:buNone/>
            </a:pPr>
            <a:endParaRPr lang="en-US" sz="1250" dirty="0"/>
          </a:p>
          <a:p>
            <a:pPr indent="0" marL="0">
              <a:lnSpc>
                <a:spcPts val="1600"/>
              </a:lnSpc>
              <a:buNone/>
            </a:pPr>
            <a:r>
              <a:rPr lang="en-US" sz="1250" dirty="0">
                <a:solidFill>
                  <a:srgbClr val="0F2E3D"/>
                </a:solidFill>
                <a:latin typeface="Calibri" pitchFamily="34" charset="0"/>
                <a:ea typeface="Calibri" pitchFamily="34" charset="-122"/>
                <a:cs typeface="Calibri" pitchFamily="34" charset="-120"/>
              </a:rPr>
              <a:t>A new value is a SPEC CHANGE, not something a mapping program should absorb.</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CT HAS A DATE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The standard moves; your study must not</a:t>
            </a:r>
            <a:endParaRPr lang="en-US" sz="3000" dirty="0"/>
          </a:p>
        </p:txBody>
      </p:sp>
      <p:sp>
        <p:nvSpPr>
          <p:cNvPr id="4" name="Text 2"/>
          <p:cNvSpPr/>
          <p:nvPr/>
        </p:nvSpPr>
        <p:spPr>
          <a:xfrm>
            <a:off x="640080" y="1572768"/>
            <a:ext cx="10972800" cy="365760"/>
          </a:xfrm>
          <a:prstGeom prst="rect">
            <a:avLst/>
          </a:prstGeom>
          <a:noFill/>
          <a:ln/>
        </p:spPr>
        <p:txBody>
          <a:bodyPr wrap="square" lIns="0" tIns="0" rIns="0" bIns="0" rtlCol="0" anchor="ctr"/>
          <a:lstStyle/>
          <a:p>
            <a:pPr indent="0" marL="0">
              <a:buNone/>
            </a:pPr>
            <a:r>
              <a:rPr lang="en-US" sz="1400" dirty="0">
                <a:solidFill>
                  <a:srgbClr val="5A7682"/>
                </a:solidFill>
                <a:latin typeface="Calibri" pitchFamily="34" charset="0"/>
                <a:ea typeface="Calibri" pitchFamily="34" charset="-122"/>
                <a:cs typeface="Calibri" pitchFamily="34" charset="-120"/>
              </a:rPr>
              <a:t>CDISC publishes Controlled Terminology QUARTERLY. Terms are added, definitions clarified, occasionally a term is retired.</a:t>
            </a:r>
            <a:endParaRPr lang="en-US" sz="1400" dirty="0"/>
          </a:p>
        </p:txBody>
      </p:sp>
      <p:sp>
        <p:nvSpPr>
          <p:cNvPr id="5" name="Shape 3"/>
          <p:cNvSpPr/>
          <p:nvPr/>
        </p:nvSpPr>
        <p:spPr>
          <a:xfrm>
            <a:off x="640080" y="2103120"/>
            <a:ext cx="2606040" cy="1051560"/>
          </a:xfrm>
          <a:prstGeom prst="roundRect">
            <a:avLst>
              <a:gd name="adj" fmla="val 6957"/>
            </a:avLst>
          </a:prstGeom>
          <a:solidFill>
            <a:srgbClr val="F3F7F8"/>
          </a:solidFill>
          <a:ln w="12700">
            <a:solidFill>
              <a:srgbClr val="CFDEE1"/>
            </a:solidFill>
            <a:prstDash val="solid"/>
          </a:ln>
        </p:spPr>
      </p:sp>
      <p:sp>
        <p:nvSpPr>
          <p:cNvPr id="6" name="Text 4"/>
          <p:cNvSpPr/>
          <p:nvPr/>
        </p:nvSpPr>
        <p:spPr>
          <a:xfrm>
            <a:off x="640080" y="2286000"/>
            <a:ext cx="2606040" cy="365760"/>
          </a:xfrm>
          <a:prstGeom prst="rect">
            <a:avLst/>
          </a:prstGeom>
          <a:noFill/>
          <a:ln/>
        </p:spPr>
        <p:txBody>
          <a:bodyPr wrap="square" lIns="0" tIns="0" rIns="0" bIns="0" rtlCol="0" anchor="ctr"/>
          <a:lstStyle/>
          <a:p>
            <a:pPr algn="ctr" indent="0" marL="0">
              <a:buNone/>
            </a:pPr>
            <a:r>
              <a:rPr lang="en-US" sz="1500" b="1" dirty="0">
                <a:solidFill>
                  <a:srgbClr val="0F2E3D"/>
                </a:solidFill>
                <a:latin typeface="Courier New" pitchFamily="34" charset="0"/>
                <a:ea typeface="Courier New" pitchFamily="34" charset="-122"/>
                <a:cs typeface="Courier New" pitchFamily="34" charset="-120"/>
              </a:rPr>
              <a:t>2023-12-15</a:t>
            </a:r>
            <a:endParaRPr lang="en-US" sz="1500" dirty="0"/>
          </a:p>
        </p:txBody>
      </p:sp>
      <p:sp>
        <p:nvSpPr>
          <p:cNvPr id="7" name="Text 5"/>
          <p:cNvSpPr/>
          <p:nvPr/>
        </p:nvSpPr>
        <p:spPr>
          <a:xfrm>
            <a:off x="640080" y="2697480"/>
            <a:ext cx="2606040" cy="320040"/>
          </a:xfrm>
          <a:prstGeom prst="rect">
            <a:avLst/>
          </a:prstGeom>
          <a:noFill/>
          <a:ln/>
        </p:spPr>
        <p:txBody>
          <a:bodyPr wrap="square" lIns="0" tIns="0" rIns="0" bIns="0" rtlCol="0" anchor="ctr"/>
          <a:lstStyle/>
          <a:p>
            <a:pPr algn="ctr" indent="0" marL="0">
              <a:buNone/>
            </a:pPr>
            <a:r>
              <a:rPr lang="en-US" sz="1100" dirty="0">
                <a:solidFill>
                  <a:srgbClr val="5A7682"/>
                </a:solidFill>
                <a:latin typeface="Calibri" pitchFamily="34" charset="0"/>
                <a:ea typeface="Calibri" pitchFamily="34" charset="-122"/>
                <a:cs typeface="Calibri" pitchFamily="34" charset="-120"/>
              </a:rPr>
              <a:t>release</a:t>
            </a:r>
            <a:endParaRPr lang="en-US" sz="1100" dirty="0"/>
          </a:p>
        </p:txBody>
      </p:sp>
      <p:sp>
        <p:nvSpPr>
          <p:cNvPr id="8" name="Shape 6"/>
          <p:cNvSpPr/>
          <p:nvPr/>
        </p:nvSpPr>
        <p:spPr>
          <a:xfrm>
            <a:off x="3474720" y="2103120"/>
            <a:ext cx="2606040" cy="1051560"/>
          </a:xfrm>
          <a:prstGeom prst="roundRect">
            <a:avLst>
              <a:gd name="adj" fmla="val 6957"/>
            </a:avLst>
          </a:prstGeom>
          <a:solidFill>
            <a:srgbClr val="E7F4F2"/>
          </a:solidFill>
          <a:ln w="31750">
            <a:solidFill>
              <a:srgbClr val="0E7C86"/>
            </a:solidFill>
            <a:prstDash val="solid"/>
          </a:ln>
        </p:spPr>
      </p:sp>
      <p:sp>
        <p:nvSpPr>
          <p:cNvPr id="9" name="Text 7"/>
          <p:cNvSpPr/>
          <p:nvPr/>
        </p:nvSpPr>
        <p:spPr>
          <a:xfrm>
            <a:off x="3474720" y="2286000"/>
            <a:ext cx="2606040" cy="365760"/>
          </a:xfrm>
          <a:prstGeom prst="rect">
            <a:avLst/>
          </a:prstGeom>
          <a:noFill/>
          <a:ln/>
        </p:spPr>
        <p:txBody>
          <a:bodyPr wrap="square" lIns="0" tIns="0" rIns="0" bIns="0" rtlCol="0" anchor="ctr"/>
          <a:lstStyle/>
          <a:p>
            <a:pPr algn="ctr" indent="0" marL="0">
              <a:buNone/>
            </a:pPr>
            <a:r>
              <a:rPr lang="en-US" sz="1500" b="1" dirty="0">
                <a:solidFill>
                  <a:srgbClr val="0E7C86"/>
                </a:solidFill>
                <a:latin typeface="Courier New" pitchFamily="34" charset="0"/>
                <a:ea typeface="Courier New" pitchFamily="34" charset="-122"/>
                <a:cs typeface="Courier New" pitchFamily="34" charset="-120"/>
              </a:rPr>
              <a:t>2024-03-29</a:t>
            </a:r>
            <a:endParaRPr lang="en-US" sz="1500" dirty="0"/>
          </a:p>
        </p:txBody>
      </p:sp>
      <p:sp>
        <p:nvSpPr>
          <p:cNvPr id="10" name="Text 8"/>
          <p:cNvSpPr/>
          <p:nvPr/>
        </p:nvSpPr>
        <p:spPr>
          <a:xfrm>
            <a:off x="3474720" y="2697480"/>
            <a:ext cx="2606040" cy="32004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 ABC-01 pins this</a:t>
            </a:r>
            <a:endParaRPr lang="en-US" sz="1200" dirty="0"/>
          </a:p>
        </p:txBody>
      </p:sp>
      <p:sp>
        <p:nvSpPr>
          <p:cNvPr id="11" name="Shape 9"/>
          <p:cNvSpPr/>
          <p:nvPr/>
        </p:nvSpPr>
        <p:spPr>
          <a:xfrm>
            <a:off x="6309360" y="2103120"/>
            <a:ext cx="2606040" cy="1051560"/>
          </a:xfrm>
          <a:prstGeom prst="roundRect">
            <a:avLst>
              <a:gd name="adj" fmla="val 6957"/>
            </a:avLst>
          </a:prstGeom>
          <a:solidFill>
            <a:srgbClr val="F3F7F8"/>
          </a:solidFill>
          <a:ln w="12700">
            <a:solidFill>
              <a:srgbClr val="CFDEE1"/>
            </a:solidFill>
            <a:prstDash val="solid"/>
          </a:ln>
        </p:spPr>
      </p:sp>
      <p:sp>
        <p:nvSpPr>
          <p:cNvPr id="12" name="Text 10"/>
          <p:cNvSpPr/>
          <p:nvPr/>
        </p:nvSpPr>
        <p:spPr>
          <a:xfrm>
            <a:off x="6309360" y="2286000"/>
            <a:ext cx="2606040" cy="365760"/>
          </a:xfrm>
          <a:prstGeom prst="rect">
            <a:avLst/>
          </a:prstGeom>
          <a:noFill/>
          <a:ln/>
        </p:spPr>
        <p:txBody>
          <a:bodyPr wrap="square" lIns="0" tIns="0" rIns="0" bIns="0" rtlCol="0" anchor="ctr"/>
          <a:lstStyle/>
          <a:p>
            <a:pPr algn="ctr" indent="0" marL="0">
              <a:buNone/>
            </a:pPr>
            <a:r>
              <a:rPr lang="en-US" sz="1500" b="1" dirty="0">
                <a:solidFill>
                  <a:srgbClr val="0F2E3D"/>
                </a:solidFill>
                <a:latin typeface="Courier New" pitchFamily="34" charset="0"/>
                <a:ea typeface="Courier New" pitchFamily="34" charset="-122"/>
                <a:cs typeface="Courier New" pitchFamily="34" charset="-120"/>
              </a:rPr>
              <a:t>2024-06-28</a:t>
            </a:r>
            <a:endParaRPr lang="en-US" sz="1500" dirty="0"/>
          </a:p>
        </p:txBody>
      </p:sp>
      <p:sp>
        <p:nvSpPr>
          <p:cNvPr id="13" name="Text 11"/>
          <p:cNvSpPr/>
          <p:nvPr/>
        </p:nvSpPr>
        <p:spPr>
          <a:xfrm>
            <a:off x="6309360" y="2697480"/>
            <a:ext cx="2606040" cy="320040"/>
          </a:xfrm>
          <a:prstGeom prst="rect">
            <a:avLst/>
          </a:prstGeom>
          <a:noFill/>
          <a:ln/>
        </p:spPr>
        <p:txBody>
          <a:bodyPr wrap="square" lIns="0" tIns="0" rIns="0" bIns="0" rtlCol="0" anchor="ctr"/>
          <a:lstStyle/>
          <a:p>
            <a:pPr algn="ctr" indent="0" marL="0">
              <a:buNone/>
            </a:pPr>
            <a:r>
              <a:rPr lang="en-US" sz="1100" dirty="0">
                <a:solidFill>
                  <a:srgbClr val="5A7682"/>
                </a:solidFill>
                <a:latin typeface="Calibri" pitchFamily="34" charset="0"/>
                <a:ea typeface="Calibri" pitchFamily="34" charset="-122"/>
                <a:cs typeface="Calibri" pitchFamily="34" charset="-120"/>
              </a:rPr>
              <a:t>release</a:t>
            </a:r>
            <a:endParaRPr lang="en-US" sz="1100" dirty="0"/>
          </a:p>
        </p:txBody>
      </p:sp>
      <p:sp>
        <p:nvSpPr>
          <p:cNvPr id="14" name="Shape 12"/>
          <p:cNvSpPr/>
          <p:nvPr/>
        </p:nvSpPr>
        <p:spPr>
          <a:xfrm>
            <a:off x="9144000" y="2103120"/>
            <a:ext cx="2606040" cy="1051560"/>
          </a:xfrm>
          <a:prstGeom prst="roundRect">
            <a:avLst>
              <a:gd name="adj" fmla="val 6957"/>
            </a:avLst>
          </a:prstGeom>
          <a:solidFill>
            <a:srgbClr val="F3F7F8"/>
          </a:solidFill>
          <a:ln w="12700">
            <a:solidFill>
              <a:srgbClr val="CFDEE1"/>
            </a:solidFill>
            <a:prstDash val="solid"/>
          </a:ln>
        </p:spPr>
      </p:sp>
      <p:sp>
        <p:nvSpPr>
          <p:cNvPr id="15" name="Text 13"/>
          <p:cNvSpPr/>
          <p:nvPr/>
        </p:nvSpPr>
        <p:spPr>
          <a:xfrm>
            <a:off x="9144000" y="2286000"/>
            <a:ext cx="2606040" cy="365760"/>
          </a:xfrm>
          <a:prstGeom prst="rect">
            <a:avLst/>
          </a:prstGeom>
          <a:noFill/>
          <a:ln/>
        </p:spPr>
        <p:txBody>
          <a:bodyPr wrap="square" lIns="0" tIns="0" rIns="0" bIns="0" rtlCol="0" anchor="ctr"/>
          <a:lstStyle/>
          <a:p>
            <a:pPr algn="ctr" indent="0" marL="0">
              <a:buNone/>
            </a:pPr>
            <a:r>
              <a:rPr lang="en-US" sz="1500" b="1" dirty="0">
                <a:solidFill>
                  <a:srgbClr val="0F2E3D"/>
                </a:solidFill>
                <a:latin typeface="Courier New" pitchFamily="34" charset="0"/>
                <a:ea typeface="Courier New" pitchFamily="34" charset="-122"/>
                <a:cs typeface="Courier New" pitchFamily="34" charset="-120"/>
              </a:rPr>
              <a:t>2024-09-27</a:t>
            </a:r>
            <a:endParaRPr lang="en-US" sz="1500" dirty="0"/>
          </a:p>
        </p:txBody>
      </p:sp>
      <p:sp>
        <p:nvSpPr>
          <p:cNvPr id="16" name="Text 14"/>
          <p:cNvSpPr/>
          <p:nvPr/>
        </p:nvSpPr>
        <p:spPr>
          <a:xfrm>
            <a:off x="9144000" y="2697480"/>
            <a:ext cx="2606040" cy="320040"/>
          </a:xfrm>
          <a:prstGeom prst="rect">
            <a:avLst/>
          </a:prstGeom>
          <a:noFill/>
          <a:ln/>
        </p:spPr>
        <p:txBody>
          <a:bodyPr wrap="square" lIns="0" tIns="0" rIns="0" bIns="0" rtlCol="0" anchor="ctr"/>
          <a:lstStyle/>
          <a:p>
            <a:pPr algn="ctr" indent="0" marL="0">
              <a:buNone/>
            </a:pPr>
            <a:r>
              <a:rPr lang="en-US" sz="1100" dirty="0">
                <a:solidFill>
                  <a:srgbClr val="5A7682"/>
                </a:solidFill>
                <a:latin typeface="Calibri" pitchFamily="34" charset="0"/>
                <a:ea typeface="Calibri" pitchFamily="34" charset="-122"/>
                <a:cs typeface="Calibri" pitchFamily="34" charset="-120"/>
              </a:rPr>
              <a:t>release</a:t>
            </a:r>
            <a:endParaRPr lang="en-US" sz="1100" dirty="0"/>
          </a:p>
        </p:txBody>
      </p:sp>
      <p:sp>
        <p:nvSpPr>
          <p:cNvPr id="17" name="Shape 15"/>
          <p:cNvSpPr/>
          <p:nvPr/>
        </p:nvSpPr>
        <p:spPr>
          <a:xfrm>
            <a:off x="640080" y="3429000"/>
            <a:ext cx="10972800" cy="1280160"/>
          </a:xfrm>
          <a:prstGeom prst="roundRect">
            <a:avLst>
              <a:gd name="adj" fmla="val 6429"/>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8" name="Text 16"/>
          <p:cNvSpPr/>
          <p:nvPr/>
        </p:nvSpPr>
        <p:spPr>
          <a:xfrm>
            <a:off x="914400" y="3566160"/>
            <a:ext cx="10424160" cy="320040"/>
          </a:xfrm>
          <a:prstGeom prst="rect">
            <a:avLst/>
          </a:prstGeom>
          <a:noFill/>
          <a:ln/>
        </p:spPr>
        <p:txBody>
          <a:bodyPr wrap="square" lIns="0" tIns="0" rIns="0" bIns="0" rtlCol="0" anchor="ctr"/>
          <a:lstStyle/>
          <a:p>
            <a:pPr indent="0" marL="0">
              <a:buNone/>
            </a:pPr>
            <a:r>
              <a:rPr lang="en-US" sz="1600" b="1" dirty="0">
                <a:solidFill>
                  <a:srgbClr val="0F2E3D"/>
                </a:solidFill>
                <a:latin typeface="Cambria" pitchFamily="34" charset="0"/>
                <a:ea typeface="Cambria" pitchFamily="34" charset="-122"/>
                <a:cs typeface="Cambria" pitchFamily="34" charset="-120"/>
              </a:rPr>
              <a:t>A study pins ONE dated release and uses it for the study's whole life.</a:t>
            </a:r>
            <a:endParaRPr lang="en-US" sz="1600" dirty="0"/>
          </a:p>
        </p:txBody>
      </p:sp>
      <p:sp>
        <p:nvSpPr>
          <p:cNvPr id="19" name="Text 17"/>
          <p:cNvSpPr/>
          <p:nvPr/>
        </p:nvSpPr>
        <p:spPr>
          <a:xfrm>
            <a:off x="914400" y="3931920"/>
            <a:ext cx="10424160" cy="68580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The version is recorded in define.xml. A trial that ran for four years was mapped against the CT release chosen at the start — not whatever came out last quarter. Changing mid-study would make early and late data incomparable, which is exactly what CT exists to prevent.</a:t>
            </a:r>
            <a:endParaRPr lang="en-US" sz="1300" dirty="0"/>
          </a:p>
        </p:txBody>
      </p:sp>
      <p:sp>
        <p:nvSpPr>
          <p:cNvPr id="20" name="Shape 18"/>
          <p:cNvSpPr/>
          <p:nvPr/>
        </p:nvSpPr>
        <p:spPr>
          <a:xfrm>
            <a:off x="640080" y="4937760"/>
            <a:ext cx="10972800" cy="1371600"/>
          </a:xfrm>
          <a:prstGeom prst="roundRect">
            <a:avLst>
              <a:gd name="adj" fmla="val 6000"/>
            </a:avLst>
          </a:prstGeom>
          <a:solidFill>
            <a:srgbClr val="FDF1E7"/>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Text 19"/>
          <p:cNvSpPr/>
          <p:nvPr/>
        </p:nvSpPr>
        <p:spPr>
          <a:xfrm>
            <a:off x="914400" y="5074920"/>
            <a:ext cx="10424160" cy="320040"/>
          </a:xfrm>
          <a:prstGeom prst="rect">
            <a:avLst/>
          </a:prstGeom>
          <a:noFill/>
          <a:ln/>
        </p:spPr>
        <p:txBody>
          <a:bodyPr wrap="square" lIns="0" tIns="0" rIns="0" bIns="0" rtlCol="0" anchor="ctr"/>
          <a:lstStyle/>
          <a:p>
            <a:pPr indent="0" marL="0">
              <a:buNone/>
            </a:pPr>
            <a:r>
              <a:rPr lang="en-US" sz="1600" b="1" dirty="0">
                <a:solidFill>
                  <a:srgbClr val="B5651A"/>
                </a:solidFill>
                <a:latin typeface="Cambria" pitchFamily="34" charset="0"/>
                <a:ea typeface="Cambria" pitchFamily="34" charset="-122"/>
                <a:cs typeface="Cambria" pitchFamily="34" charset="-120"/>
              </a:rPr>
              <a:t>Where the authoritative list lives</a:t>
            </a:r>
            <a:endParaRPr lang="en-US" sz="1600" dirty="0"/>
          </a:p>
        </p:txBody>
      </p:sp>
      <p:sp>
        <p:nvSpPr>
          <p:cNvPr id="22" name="Text 20"/>
          <p:cNvSpPr/>
          <p:nvPr/>
        </p:nvSpPr>
        <p:spPr>
          <a:xfrm>
            <a:off x="914400" y="5440680"/>
            <a:ext cx="10424160" cy="777240"/>
          </a:xfrm>
          <a:prstGeom prst="rect">
            <a:avLst/>
          </a:prstGeom>
          <a:noFill/>
          <a:ln/>
        </p:spPr>
        <p:txBody>
          <a:bodyPr wrap="square" lIns="0" tIns="0" rIns="0" bIns="0" rtlCol="0" anchor="ctr"/>
          <a:lstStyle/>
          <a:p>
            <a:pPr indent="0" marL="0">
              <a:buNone/>
            </a:pPr>
            <a:r>
              <a:rPr lang="en-US" sz="1300" dirty="0">
                <a:solidFill>
                  <a:srgbClr val="0F2E3D"/>
                </a:solidFill>
                <a:latin typeface="Calibri" pitchFamily="34" charset="0"/>
                <a:ea typeface="Calibri" pitchFamily="34" charset="-122"/>
                <a:cs typeface="Calibri" pitchFamily="34" charset="-120"/>
              </a:rPr>
              <a:t>NCI Enterprise Vocabulary Services (NCI-EVS) publishes CDISC CT as downloadable files — text, Excel and OWL. That download is the source of truth. Not a colleague's spreadsheet, not last study's format catalogue, and not this deck: those are all copies, and copies go stale.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SIX VALUES VERSUS TWO HUNDRED</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method has to change</a:t>
            </a:r>
            <a:endParaRPr lang="en-US" sz="3000" dirty="0"/>
          </a:p>
        </p:txBody>
      </p:sp>
      <p:sp>
        <p:nvSpPr>
          <p:cNvPr id="4" name="Shape 2"/>
          <p:cNvSpPr/>
          <p:nvPr/>
        </p:nvSpPr>
        <p:spPr>
          <a:xfrm>
            <a:off x="640080" y="1783080"/>
            <a:ext cx="5349240" cy="2011680"/>
          </a:xfrm>
          <a:prstGeom prst="roundRect">
            <a:avLst>
              <a:gd name="adj" fmla="val 4091"/>
            </a:avLst>
          </a:prstGeom>
          <a:solidFill>
            <a:srgbClr val="163B4B"/>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920240"/>
            <a:ext cx="4754880" cy="320040"/>
          </a:xfrm>
          <a:prstGeom prst="rect">
            <a:avLst/>
          </a:prstGeom>
          <a:noFill/>
          <a:ln/>
        </p:spPr>
        <p:txBody>
          <a:bodyPr wrap="square" lIns="0" tIns="0" rIns="0" bIns="0" rtlCol="0" anchor="ctr"/>
          <a:lstStyle/>
          <a:p>
            <a:pPr indent="0" marL="0">
              <a:buNone/>
            </a:pPr>
            <a:r>
              <a:rPr lang="en-US" sz="1500" b="1" dirty="0">
                <a:solidFill>
                  <a:srgbClr val="6FC8B4"/>
                </a:solidFill>
                <a:latin typeface="Cambria" pitchFamily="34" charset="0"/>
                <a:ea typeface="Cambria" pitchFamily="34" charset="-122"/>
                <a:cs typeface="Cambria" pitchFamily="34" charset="-120"/>
              </a:rPr>
              <a:t>What you have done so far</a:t>
            </a:r>
            <a:endParaRPr lang="en-US" sz="1500" dirty="0"/>
          </a:p>
        </p:txBody>
      </p:sp>
      <p:sp>
        <p:nvSpPr>
          <p:cNvPr id="6" name="Text 4"/>
          <p:cNvSpPr/>
          <p:nvPr/>
        </p:nvSpPr>
        <p:spPr>
          <a:xfrm>
            <a:off x="914400" y="2286000"/>
            <a:ext cx="4754880" cy="1371600"/>
          </a:xfrm>
          <a:prstGeom prst="rect">
            <a:avLst/>
          </a:prstGeom>
          <a:noFill/>
          <a:ln/>
        </p:spPr>
        <p:txBody>
          <a:bodyPr wrap="square" lIns="0" tIns="0" rIns="0" bIns="0" rtlCol="0" anchor="ctr"/>
          <a:lstStyle/>
          <a:p>
            <a:pPr indent="0" marL="0">
              <a:lnSpc>
                <a:spcPts val="1600"/>
              </a:lnSpc>
              <a:buNone/>
            </a:pPr>
            <a:r>
              <a:rPr lang="en-US" sz="1250" dirty="0">
                <a:solidFill>
                  <a:srgbClr val="DCEBEF"/>
                </a:solidFill>
                <a:latin typeface="Calibri" pitchFamily="34" charset="0"/>
                <a:ea typeface="Calibri" pitchFamily="34" charset="-122"/>
                <a:cs typeface="Calibri" pitchFamily="34" charset="-120"/>
              </a:rPr>
              <a:t>A hard-coded SELECT with one WHEN per value.</a:t>
            </a:r>
            <a:endParaRPr lang="en-US" sz="1250" dirty="0"/>
          </a:p>
          <a:p>
            <a:pPr indent="0" marL="0">
              <a:lnSpc>
                <a:spcPts val="1600"/>
              </a:lnSpc>
              <a:buNone/>
            </a:pPr>
            <a:endParaRPr lang="en-US" sz="1250" dirty="0"/>
          </a:p>
          <a:p>
            <a:pPr indent="0" marL="0">
              <a:lnSpc>
                <a:spcPts val="1600"/>
              </a:lnSpc>
              <a:buNone/>
            </a:pPr>
            <a:r>
              <a:rPr lang="en-US" sz="1250" dirty="0">
                <a:solidFill>
                  <a:srgbClr val="DCEBEF"/>
                </a:solidFill>
                <a:latin typeface="Calibri" pitchFamily="34" charset="0"/>
                <a:ea typeface="Calibri" pitchFamily="34" charset="-122"/>
                <a:cs typeface="Calibri" pitchFamily="34" charset="-120"/>
              </a:rPr>
              <a:t>Perfectly fine for 6 values. Unreadable and unmaintainable at 200, and impossible to reconcile against a published list.</a:t>
            </a:r>
            <a:endParaRPr lang="en-US" sz="1250" dirty="0"/>
          </a:p>
        </p:txBody>
      </p:sp>
      <p:sp>
        <p:nvSpPr>
          <p:cNvPr id="7" name="Shape 5"/>
          <p:cNvSpPr/>
          <p:nvPr/>
        </p:nvSpPr>
        <p:spPr>
          <a:xfrm>
            <a:off x="6263640" y="1783080"/>
            <a:ext cx="5349240" cy="2011680"/>
          </a:xfrm>
          <a:prstGeom prst="roundRect">
            <a:avLst>
              <a:gd name="adj" fmla="val 4091"/>
            </a:avLst>
          </a:prstGeom>
          <a:solidFill>
            <a:srgbClr val="1A415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8" name="Text 6"/>
          <p:cNvSpPr/>
          <p:nvPr/>
        </p:nvSpPr>
        <p:spPr>
          <a:xfrm>
            <a:off x="6537960" y="1920240"/>
            <a:ext cx="4754880" cy="320040"/>
          </a:xfrm>
          <a:prstGeom prst="rect">
            <a:avLst/>
          </a:prstGeom>
          <a:noFill/>
          <a:ln/>
        </p:spPr>
        <p:txBody>
          <a:bodyPr wrap="square" lIns="0" tIns="0" rIns="0" bIns="0" rtlCol="0" anchor="ctr"/>
          <a:lstStyle/>
          <a:p>
            <a:pPr indent="0" marL="0">
              <a:buNone/>
            </a:pPr>
            <a:r>
              <a:rPr lang="en-US" sz="1500" b="1" dirty="0">
                <a:solidFill>
                  <a:srgbClr val="E8833A"/>
                </a:solidFill>
                <a:latin typeface="Cambria" pitchFamily="34" charset="0"/>
                <a:ea typeface="Cambria" pitchFamily="34" charset="-122"/>
                <a:cs typeface="Cambria" pitchFamily="34" charset="-120"/>
              </a:rPr>
              <a:t>What production does</a:t>
            </a:r>
            <a:endParaRPr lang="en-US" sz="1500" dirty="0"/>
          </a:p>
        </p:txBody>
      </p:sp>
      <p:sp>
        <p:nvSpPr>
          <p:cNvPr id="9" name="Text 7"/>
          <p:cNvSpPr/>
          <p:nvPr/>
        </p:nvSpPr>
        <p:spPr>
          <a:xfrm>
            <a:off x="6537960" y="2286000"/>
            <a:ext cx="4754880" cy="1371600"/>
          </a:xfrm>
          <a:prstGeom prst="rect">
            <a:avLst/>
          </a:prstGeom>
          <a:noFill/>
          <a:ln/>
        </p:spPr>
        <p:txBody>
          <a:bodyPr wrap="square" lIns="0" tIns="0" rIns="0" bIns="0" rtlCol="0" anchor="ctr"/>
          <a:lstStyle/>
          <a:p>
            <a:pPr indent="0" marL="0">
              <a:lnSpc>
                <a:spcPts val="1600"/>
              </a:lnSpc>
              <a:buNone/>
            </a:pPr>
            <a:r>
              <a:rPr lang="en-US" sz="1250" dirty="0">
                <a:solidFill>
                  <a:srgbClr val="DCEBEF"/>
                </a:solidFill>
                <a:latin typeface="Calibri" pitchFamily="34" charset="0"/>
                <a:ea typeface="Calibri" pitchFamily="34" charset="-122"/>
                <a:cs typeface="Calibri" pitchFamily="34" charset="-120"/>
              </a:rPr>
              <a:t>Keep the mapping as DATA, not code — a lookup dataset with one row per raw value.</a:t>
            </a:r>
            <a:endParaRPr lang="en-US" sz="1250" dirty="0"/>
          </a:p>
          <a:p>
            <a:pPr indent="0" marL="0">
              <a:lnSpc>
                <a:spcPts val="1600"/>
              </a:lnSpc>
              <a:buNone/>
            </a:pPr>
            <a:endParaRPr lang="en-US" sz="1250" dirty="0"/>
          </a:p>
          <a:p>
            <a:pPr indent="0" marL="0">
              <a:lnSpc>
                <a:spcPts val="1600"/>
              </a:lnSpc>
              <a:buNone/>
            </a:pPr>
            <a:r>
              <a:rPr lang="en-US" sz="1250" dirty="0">
                <a:solidFill>
                  <a:srgbClr val="DCEBEF"/>
                </a:solidFill>
                <a:latin typeface="Calibri" pitchFamily="34" charset="0"/>
                <a:ea typeface="Calibri" pitchFamily="34" charset="-122"/>
                <a:cs typeface="Calibri" pitchFamily="34" charset="-120"/>
              </a:rPr>
              <a:t>Then join. The mapping becomes something you can print, review, diff and sign off.</a:t>
            </a:r>
            <a:endParaRPr lang="en-US" sz="1250" dirty="0"/>
          </a:p>
        </p:txBody>
      </p:sp>
      <p:sp>
        <p:nvSpPr>
          <p:cNvPr id="10" name="Shape 8"/>
          <p:cNvSpPr/>
          <p:nvPr/>
        </p:nvSpPr>
        <p:spPr>
          <a:xfrm>
            <a:off x="640080" y="3977640"/>
            <a:ext cx="10972800" cy="2638044"/>
          </a:xfrm>
          <a:prstGeom prst="roundRect">
            <a:avLst>
              <a:gd name="adj" fmla="val 2773"/>
            </a:avLst>
          </a:prstGeom>
          <a:solidFill>
            <a:srgbClr val="13323F"/>
          </a:solidFill>
          <a:ln w="19050">
            <a:solidFill>
              <a:srgbClr val="E8833A"/>
            </a:solidFill>
            <a:prstDash val="solid"/>
          </a:ln>
        </p:spPr>
      </p:sp>
      <p:sp>
        <p:nvSpPr>
          <p:cNvPr id="11" name="Text 9"/>
          <p:cNvSpPr/>
          <p:nvPr/>
        </p:nvSpPr>
        <p:spPr>
          <a:xfrm>
            <a:off x="868680" y="4069080"/>
            <a:ext cx="5486400" cy="320040"/>
          </a:xfrm>
          <a:prstGeom prst="rect">
            <a:avLst/>
          </a:prstGeom>
          <a:noFill/>
          <a:ln/>
        </p:spPr>
        <p:txBody>
          <a:bodyPr wrap="square" lIns="0" tIns="0" rIns="0" bIns="0" rtlCol="0" anchor="ctr"/>
          <a:lstStyle/>
          <a:p>
            <a:pPr indent="0" marL="0">
              <a:buNone/>
            </a:pPr>
            <a:r>
              <a:rPr lang="en-US" sz="1400" b="1" dirty="0">
                <a:solidFill>
                  <a:srgbClr val="E8833A"/>
                </a:solidFill>
                <a:latin typeface="Cambria" pitchFamily="34" charset="0"/>
                <a:ea typeface="Cambria" pitchFamily="34" charset="-122"/>
                <a:cs typeface="Cambria" pitchFamily="34" charset="-120"/>
              </a:rPr>
              <a:t>SAS  ·  data-driven CT</a:t>
            </a:r>
            <a:endParaRPr lang="en-US" sz="1400" dirty="0"/>
          </a:p>
        </p:txBody>
      </p:sp>
      <p:sp>
        <p:nvSpPr>
          <p:cNvPr id="12" name="Text 10"/>
          <p:cNvSpPr/>
          <p:nvPr/>
        </p:nvSpPr>
        <p:spPr>
          <a:xfrm>
            <a:off x="868680" y="4434840"/>
            <a:ext cx="10561320" cy="20711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the mapping is a DATASET, not a hundred WHEN clauses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proc format cntlin = ct_lookup;   /* formats built from the list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run;</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aesev = put(strip(upcase(aesev_raw)), $sevmap.);</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anything the lookup missed is REPORTED, never blanked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proc sql;</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select distinct aesev_raw from raw</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where put(strip(upcase(aesev_raw)), $sevmap.) = "";  /* 0 rows */</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quit;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WHEN THERE IS NO CDISC CODELIST</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Sponsor-defined terminology</a:t>
            </a:r>
            <a:endParaRPr lang="en-US" sz="3000" dirty="0"/>
          </a:p>
        </p:txBody>
      </p:sp>
      <p:sp>
        <p:nvSpPr>
          <p:cNvPr id="4" name="Shape 2"/>
          <p:cNvSpPr/>
          <p:nvPr/>
        </p:nvSpPr>
        <p:spPr>
          <a:xfrm>
            <a:off x="640080" y="1691640"/>
            <a:ext cx="10972800" cy="1371600"/>
          </a:xfrm>
          <a:prstGeom prst="roundRect">
            <a:avLst>
              <a:gd name="adj" fmla="val 60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828800"/>
            <a:ext cx="10424160" cy="320040"/>
          </a:xfrm>
          <a:prstGeom prst="rect">
            <a:avLst/>
          </a:prstGeom>
          <a:noFill/>
          <a:ln/>
        </p:spPr>
        <p:txBody>
          <a:bodyPr wrap="square" lIns="0" tIns="0" rIns="0" bIns="0" rtlCol="0" anchor="ctr"/>
          <a:lstStyle/>
          <a:p>
            <a:pPr indent="0" marL="0">
              <a:buNone/>
            </a:pPr>
            <a:r>
              <a:rPr lang="en-US" sz="1600" b="1" dirty="0">
                <a:solidFill>
                  <a:srgbClr val="0F2E3D"/>
                </a:solidFill>
                <a:latin typeface="Cambria" pitchFamily="34" charset="0"/>
                <a:ea typeface="Cambria" pitchFamily="34" charset="-122"/>
                <a:cs typeface="Cambria" pitchFamily="34" charset="-120"/>
              </a:rPr>
              <a:t>AEREL is the example sitting in your own data.</a:t>
            </a:r>
            <a:endParaRPr lang="en-US" sz="1600" dirty="0"/>
          </a:p>
        </p:txBody>
      </p:sp>
      <p:sp>
        <p:nvSpPr>
          <p:cNvPr id="6" name="Text 4"/>
          <p:cNvSpPr/>
          <p:nvPr/>
        </p:nvSpPr>
        <p:spPr>
          <a:xfrm>
            <a:off x="914400" y="2194560"/>
            <a:ext cx="10424160" cy="77724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CDISC does not publish a relationship-to-study-treatment codelist, because sponsors genuinely differ: some use 2 categories, some 4, some 5. ABC-01 uses four — RELATED, POSSIBLY RELATED, UNLIKELY RELATED, NOT RELATED — and that choice comes from the PROTOCOL, not from CDISC.</a:t>
            </a:r>
            <a:endParaRPr lang="en-US" sz="1300" dirty="0"/>
          </a:p>
        </p:txBody>
      </p:sp>
      <p:sp>
        <p:nvSpPr>
          <p:cNvPr id="7" name="Shape 5"/>
          <p:cNvSpPr/>
          <p:nvPr/>
        </p:nvSpPr>
        <p:spPr>
          <a:xfrm>
            <a:off x="640080" y="3291840"/>
            <a:ext cx="2743200" cy="384048"/>
          </a:xfrm>
          <a:prstGeom prst="rect">
            <a:avLst/>
          </a:prstGeom>
          <a:solidFill>
            <a:srgbClr val="0F2E3D"/>
          </a:solidFill>
          <a:ln w="9525">
            <a:solidFill>
              <a:srgbClr val="CFDEE1"/>
            </a:solidFill>
            <a:prstDash val="solid"/>
          </a:ln>
        </p:spPr>
      </p:sp>
      <p:sp>
        <p:nvSpPr>
          <p:cNvPr id="8" name="Text 6"/>
          <p:cNvSpPr/>
          <p:nvPr/>
        </p:nvSpPr>
        <p:spPr>
          <a:xfrm>
            <a:off x="694944" y="3291840"/>
            <a:ext cx="2633472" cy="384048"/>
          </a:xfrm>
          <a:prstGeom prst="rect">
            <a:avLst/>
          </a:prstGeom>
          <a:noFill/>
          <a:ln/>
        </p:spPr>
        <p:txBody>
          <a:bodyPr wrap="square" lIns="0" tIns="0" rIns="0" bIns="0" rtlCol="0" anchor="ctr"/>
          <a:lstStyle/>
          <a:p>
            <a:pPr algn="l" indent="0" marL="0">
              <a:buNone/>
            </a:pPr>
            <a:endParaRPr lang="en-US" sz="1200" dirty="0"/>
          </a:p>
        </p:txBody>
      </p:sp>
      <p:sp>
        <p:nvSpPr>
          <p:cNvPr id="9" name="Shape 7"/>
          <p:cNvSpPr/>
          <p:nvPr/>
        </p:nvSpPr>
        <p:spPr>
          <a:xfrm>
            <a:off x="3383280" y="3291840"/>
            <a:ext cx="4114800" cy="384048"/>
          </a:xfrm>
          <a:prstGeom prst="rect">
            <a:avLst/>
          </a:prstGeom>
          <a:solidFill>
            <a:srgbClr val="0F2E3D"/>
          </a:solidFill>
          <a:ln w="9525">
            <a:solidFill>
              <a:srgbClr val="CFDEE1"/>
            </a:solidFill>
            <a:prstDash val="solid"/>
          </a:ln>
        </p:spPr>
      </p:sp>
      <p:sp>
        <p:nvSpPr>
          <p:cNvPr id="10" name="Text 8"/>
          <p:cNvSpPr/>
          <p:nvPr/>
        </p:nvSpPr>
        <p:spPr>
          <a:xfrm>
            <a:off x="3438144" y="3291840"/>
            <a:ext cx="4005072" cy="38404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CDISC codelist</a:t>
            </a:r>
            <a:endParaRPr lang="en-US" sz="1200" dirty="0"/>
          </a:p>
        </p:txBody>
      </p:sp>
      <p:sp>
        <p:nvSpPr>
          <p:cNvPr id="11" name="Shape 9"/>
          <p:cNvSpPr/>
          <p:nvPr/>
        </p:nvSpPr>
        <p:spPr>
          <a:xfrm>
            <a:off x="7498080" y="3291840"/>
            <a:ext cx="4114800" cy="384048"/>
          </a:xfrm>
          <a:prstGeom prst="rect">
            <a:avLst/>
          </a:prstGeom>
          <a:solidFill>
            <a:srgbClr val="0F2E3D"/>
          </a:solidFill>
          <a:ln w="9525">
            <a:solidFill>
              <a:srgbClr val="CFDEE1"/>
            </a:solidFill>
            <a:prstDash val="solid"/>
          </a:ln>
        </p:spPr>
      </p:sp>
      <p:sp>
        <p:nvSpPr>
          <p:cNvPr id="12" name="Text 10"/>
          <p:cNvSpPr/>
          <p:nvPr/>
        </p:nvSpPr>
        <p:spPr>
          <a:xfrm>
            <a:off x="7552944" y="3291840"/>
            <a:ext cx="4005072" cy="384048"/>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Sponsor-defined</a:t>
            </a:r>
            <a:endParaRPr lang="en-US" sz="1200" dirty="0"/>
          </a:p>
        </p:txBody>
      </p:sp>
      <p:sp>
        <p:nvSpPr>
          <p:cNvPr id="13" name="Shape 11"/>
          <p:cNvSpPr/>
          <p:nvPr/>
        </p:nvSpPr>
        <p:spPr>
          <a:xfrm>
            <a:off x="640080" y="3675888"/>
            <a:ext cx="2743200" cy="384048"/>
          </a:xfrm>
          <a:prstGeom prst="rect">
            <a:avLst/>
          </a:prstGeom>
          <a:solidFill>
            <a:srgbClr val="F3F7F8"/>
          </a:solidFill>
          <a:ln w="9525">
            <a:solidFill>
              <a:srgbClr val="CFDEE1"/>
            </a:solidFill>
            <a:prstDash val="solid"/>
          </a:ln>
        </p:spPr>
      </p:sp>
      <p:sp>
        <p:nvSpPr>
          <p:cNvPr id="14" name="Text 12"/>
          <p:cNvSpPr/>
          <p:nvPr/>
        </p:nvSpPr>
        <p:spPr>
          <a:xfrm>
            <a:off x="694944" y="3675888"/>
            <a:ext cx="2633472" cy="384048"/>
          </a:xfrm>
          <a:prstGeom prst="rect">
            <a:avLst/>
          </a:prstGeom>
          <a:noFill/>
          <a:ln/>
        </p:spPr>
        <p:txBody>
          <a:bodyPr wrap="square" lIns="0" tIns="0" rIns="0" bIns="0" rtlCol="0" anchor="ctr"/>
          <a:lstStyle/>
          <a:p>
            <a:pPr algn="l" indent="0" marL="0">
              <a:buNone/>
            </a:pPr>
            <a:r>
              <a:rPr lang="en-US" sz="1200" dirty="0">
                <a:solidFill>
                  <a:srgbClr val="0F2E3D"/>
                </a:solidFill>
                <a:latin typeface="Calibri" pitchFamily="34" charset="0"/>
                <a:ea typeface="Calibri" pitchFamily="34" charset="-122"/>
                <a:cs typeface="Calibri" pitchFamily="34" charset="-120"/>
              </a:rPr>
              <a:t>Who decides the values</a:t>
            </a:r>
            <a:endParaRPr lang="en-US" sz="1200" dirty="0"/>
          </a:p>
        </p:txBody>
      </p:sp>
      <p:sp>
        <p:nvSpPr>
          <p:cNvPr id="15" name="Shape 13"/>
          <p:cNvSpPr/>
          <p:nvPr/>
        </p:nvSpPr>
        <p:spPr>
          <a:xfrm>
            <a:off x="3383280" y="3675888"/>
            <a:ext cx="4114800" cy="384048"/>
          </a:xfrm>
          <a:prstGeom prst="rect">
            <a:avLst/>
          </a:prstGeom>
          <a:solidFill>
            <a:srgbClr val="F3F7F8"/>
          </a:solidFill>
          <a:ln w="9525">
            <a:solidFill>
              <a:srgbClr val="CFDEE1"/>
            </a:solidFill>
            <a:prstDash val="solid"/>
          </a:ln>
        </p:spPr>
      </p:sp>
      <p:sp>
        <p:nvSpPr>
          <p:cNvPr id="16" name="Text 14"/>
          <p:cNvSpPr/>
          <p:nvPr/>
        </p:nvSpPr>
        <p:spPr>
          <a:xfrm>
            <a:off x="3438144" y="3675888"/>
            <a:ext cx="4005072" cy="384048"/>
          </a:xfrm>
          <a:prstGeom prst="rect">
            <a:avLst/>
          </a:prstGeom>
          <a:noFill/>
          <a:ln/>
        </p:spPr>
        <p:txBody>
          <a:bodyPr wrap="square" lIns="0" tIns="0" rIns="0" bIns="0" rtlCol="0" anchor="ctr"/>
          <a:lstStyle/>
          <a:p>
            <a:pPr algn="l" indent="0" marL="0">
              <a:buNone/>
            </a:pPr>
            <a:r>
              <a:rPr lang="en-US" sz="1200" dirty="0">
                <a:solidFill>
                  <a:srgbClr val="0F2E3D"/>
                </a:solidFill>
                <a:latin typeface="Calibri" pitchFamily="34" charset="0"/>
                <a:ea typeface="Calibri" pitchFamily="34" charset="-122"/>
                <a:cs typeface="Calibri" pitchFamily="34" charset="-120"/>
              </a:rPr>
              <a:t>CDISC / NCI-EVS</a:t>
            </a:r>
            <a:endParaRPr lang="en-US" sz="1200" dirty="0"/>
          </a:p>
        </p:txBody>
      </p:sp>
      <p:sp>
        <p:nvSpPr>
          <p:cNvPr id="17" name="Shape 15"/>
          <p:cNvSpPr/>
          <p:nvPr/>
        </p:nvSpPr>
        <p:spPr>
          <a:xfrm>
            <a:off x="7498080" y="3675888"/>
            <a:ext cx="4114800" cy="384048"/>
          </a:xfrm>
          <a:prstGeom prst="rect">
            <a:avLst/>
          </a:prstGeom>
          <a:solidFill>
            <a:srgbClr val="F3F7F8"/>
          </a:solidFill>
          <a:ln w="9525">
            <a:solidFill>
              <a:srgbClr val="CFDEE1"/>
            </a:solidFill>
            <a:prstDash val="solid"/>
          </a:ln>
        </p:spPr>
      </p:sp>
      <p:sp>
        <p:nvSpPr>
          <p:cNvPr id="18" name="Text 16"/>
          <p:cNvSpPr/>
          <p:nvPr/>
        </p:nvSpPr>
        <p:spPr>
          <a:xfrm>
            <a:off x="7552944" y="3675888"/>
            <a:ext cx="4005072" cy="384048"/>
          </a:xfrm>
          <a:prstGeom prst="rect">
            <a:avLst/>
          </a:prstGeom>
          <a:noFill/>
          <a:ln/>
        </p:spPr>
        <p:txBody>
          <a:bodyPr wrap="square" lIns="0" tIns="0" rIns="0" bIns="0" rtlCol="0" anchor="ctr"/>
          <a:lstStyle/>
          <a:p>
            <a:pPr algn="l" indent="0" marL="0">
              <a:buNone/>
            </a:pPr>
            <a:r>
              <a:rPr lang="en-US" sz="1200" dirty="0">
                <a:solidFill>
                  <a:srgbClr val="0F2E3D"/>
                </a:solidFill>
                <a:latin typeface="Calibri" pitchFamily="34" charset="0"/>
                <a:ea typeface="Calibri" pitchFamily="34" charset="-122"/>
                <a:cs typeface="Calibri" pitchFamily="34" charset="-120"/>
              </a:rPr>
              <a:t>the sponsor, in the protocol</a:t>
            </a:r>
            <a:endParaRPr lang="en-US" sz="1200" dirty="0"/>
          </a:p>
        </p:txBody>
      </p:sp>
      <p:sp>
        <p:nvSpPr>
          <p:cNvPr id="19" name="Shape 17"/>
          <p:cNvSpPr/>
          <p:nvPr/>
        </p:nvSpPr>
        <p:spPr>
          <a:xfrm>
            <a:off x="640080" y="4059936"/>
            <a:ext cx="2743200" cy="384048"/>
          </a:xfrm>
          <a:prstGeom prst="rect">
            <a:avLst/>
          </a:prstGeom>
          <a:solidFill>
            <a:srgbClr val="FFFFFF"/>
          </a:solidFill>
          <a:ln w="9525">
            <a:solidFill>
              <a:srgbClr val="CFDEE1"/>
            </a:solidFill>
            <a:prstDash val="solid"/>
          </a:ln>
        </p:spPr>
      </p:sp>
      <p:sp>
        <p:nvSpPr>
          <p:cNvPr id="20" name="Text 18"/>
          <p:cNvSpPr/>
          <p:nvPr/>
        </p:nvSpPr>
        <p:spPr>
          <a:xfrm>
            <a:off x="694944" y="4059936"/>
            <a:ext cx="2633472" cy="384048"/>
          </a:xfrm>
          <a:prstGeom prst="rect">
            <a:avLst/>
          </a:prstGeom>
          <a:noFill/>
          <a:ln/>
        </p:spPr>
        <p:txBody>
          <a:bodyPr wrap="square" lIns="0" tIns="0" rIns="0" bIns="0" rtlCol="0" anchor="ctr"/>
          <a:lstStyle/>
          <a:p>
            <a:pPr algn="l" indent="0" marL="0">
              <a:buNone/>
            </a:pPr>
            <a:r>
              <a:rPr lang="en-US" sz="1200" dirty="0">
                <a:solidFill>
                  <a:srgbClr val="0F2E3D"/>
                </a:solidFill>
                <a:latin typeface="Calibri" pitchFamily="34" charset="0"/>
                <a:ea typeface="Calibri" pitchFamily="34" charset="-122"/>
                <a:cs typeface="Calibri" pitchFamily="34" charset="-120"/>
              </a:rPr>
              <a:t>Where it is documented</a:t>
            </a:r>
            <a:endParaRPr lang="en-US" sz="1200" dirty="0"/>
          </a:p>
        </p:txBody>
      </p:sp>
      <p:sp>
        <p:nvSpPr>
          <p:cNvPr id="21" name="Shape 19"/>
          <p:cNvSpPr/>
          <p:nvPr/>
        </p:nvSpPr>
        <p:spPr>
          <a:xfrm>
            <a:off x="3383280" y="4059936"/>
            <a:ext cx="4114800" cy="384048"/>
          </a:xfrm>
          <a:prstGeom prst="rect">
            <a:avLst/>
          </a:prstGeom>
          <a:solidFill>
            <a:srgbClr val="FFFFFF"/>
          </a:solidFill>
          <a:ln w="9525">
            <a:solidFill>
              <a:srgbClr val="CFDEE1"/>
            </a:solidFill>
            <a:prstDash val="solid"/>
          </a:ln>
        </p:spPr>
      </p:sp>
      <p:sp>
        <p:nvSpPr>
          <p:cNvPr id="22" name="Text 20"/>
          <p:cNvSpPr/>
          <p:nvPr/>
        </p:nvSpPr>
        <p:spPr>
          <a:xfrm>
            <a:off x="3438144" y="4059936"/>
            <a:ext cx="4005072" cy="384048"/>
          </a:xfrm>
          <a:prstGeom prst="rect">
            <a:avLst/>
          </a:prstGeom>
          <a:noFill/>
          <a:ln/>
        </p:spPr>
        <p:txBody>
          <a:bodyPr wrap="square" lIns="0" tIns="0" rIns="0" bIns="0" rtlCol="0" anchor="ctr"/>
          <a:lstStyle/>
          <a:p>
            <a:pPr algn="l" indent="0" marL="0">
              <a:buNone/>
            </a:pPr>
            <a:r>
              <a:rPr lang="en-US" sz="1200" dirty="0">
                <a:solidFill>
                  <a:srgbClr val="0F2E3D"/>
                </a:solidFill>
                <a:latin typeface="Calibri" pitchFamily="34" charset="0"/>
                <a:ea typeface="Calibri" pitchFamily="34" charset="-122"/>
                <a:cs typeface="Calibri" pitchFamily="34" charset="-120"/>
              </a:rPr>
              <a:t>the CT release</a:t>
            </a:r>
            <a:endParaRPr lang="en-US" sz="1200" dirty="0"/>
          </a:p>
        </p:txBody>
      </p:sp>
      <p:sp>
        <p:nvSpPr>
          <p:cNvPr id="23" name="Shape 21"/>
          <p:cNvSpPr/>
          <p:nvPr/>
        </p:nvSpPr>
        <p:spPr>
          <a:xfrm>
            <a:off x="7498080" y="4059936"/>
            <a:ext cx="4114800" cy="384048"/>
          </a:xfrm>
          <a:prstGeom prst="rect">
            <a:avLst/>
          </a:prstGeom>
          <a:solidFill>
            <a:srgbClr val="FFFFFF"/>
          </a:solidFill>
          <a:ln w="9525">
            <a:solidFill>
              <a:srgbClr val="CFDEE1"/>
            </a:solidFill>
            <a:prstDash val="solid"/>
          </a:ln>
        </p:spPr>
      </p:sp>
      <p:sp>
        <p:nvSpPr>
          <p:cNvPr id="24" name="Text 22"/>
          <p:cNvSpPr/>
          <p:nvPr/>
        </p:nvSpPr>
        <p:spPr>
          <a:xfrm>
            <a:off x="7552944" y="4059936"/>
            <a:ext cx="4005072" cy="384048"/>
          </a:xfrm>
          <a:prstGeom prst="rect">
            <a:avLst/>
          </a:prstGeom>
          <a:noFill/>
          <a:ln/>
        </p:spPr>
        <p:txBody>
          <a:bodyPr wrap="square" lIns="0" tIns="0" rIns="0" bIns="0" rtlCol="0" anchor="ctr"/>
          <a:lstStyle/>
          <a:p>
            <a:pPr algn="l" indent="0" marL="0">
              <a:buNone/>
            </a:pPr>
            <a:r>
              <a:rPr lang="en-US" sz="1200" dirty="0">
                <a:solidFill>
                  <a:srgbClr val="0F2E3D"/>
                </a:solidFill>
                <a:latin typeface="Calibri" pitchFamily="34" charset="0"/>
                <a:ea typeface="Calibri" pitchFamily="34" charset="-122"/>
                <a:cs typeface="Calibri" pitchFamily="34" charset="-120"/>
              </a:rPr>
              <a:t>**define.xml** — you must publish it</a:t>
            </a:r>
            <a:endParaRPr lang="en-US" sz="1200" dirty="0"/>
          </a:p>
        </p:txBody>
      </p:sp>
      <p:sp>
        <p:nvSpPr>
          <p:cNvPr id="25" name="Shape 23"/>
          <p:cNvSpPr/>
          <p:nvPr/>
        </p:nvSpPr>
        <p:spPr>
          <a:xfrm>
            <a:off x="640080" y="4443984"/>
            <a:ext cx="2743200" cy="384048"/>
          </a:xfrm>
          <a:prstGeom prst="rect">
            <a:avLst/>
          </a:prstGeom>
          <a:solidFill>
            <a:srgbClr val="F3F7F8"/>
          </a:solidFill>
          <a:ln w="9525">
            <a:solidFill>
              <a:srgbClr val="CFDEE1"/>
            </a:solidFill>
            <a:prstDash val="solid"/>
          </a:ln>
        </p:spPr>
      </p:sp>
      <p:sp>
        <p:nvSpPr>
          <p:cNvPr id="26" name="Text 24"/>
          <p:cNvSpPr/>
          <p:nvPr/>
        </p:nvSpPr>
        <p:spPr>
          <a:xfrm>
            <a:off x="694944" y="4443984"/>
            <a:ext cx="2633472" cy="384048"/>
          </a:xfrm>
          <a:prstGeom prst="rect">
            <a:avLst/>
          </a:prstGeom>
          <a:noFill/>
          <a:ln/>
        </p:spPr>
        <p:txBody>
          <a:bodyPr wrap="square" lIns="0" tIns="0" rIns="0" bIns="0" rtlCol="0" anchor="ctr"/>
          <a:lstStyle/>
          <a:p>
            <a:pPr algn="l" indent="0" marL="0">
              <a:buNone/>
            </a:pPr>
            <a:r>
              <a:rPr lang="en-US" sz="1200" dirty="0">
                <a:solidFill>
                  <a:srgbClr val="0F2E3D"/>
                </a:solidFill>
                <a:latin typeface="Calibri" pitchFamily="34" charset="0"/>
                <a:ea typeface="Calibri" pitchFamily="34" charset="-122"/>
                <a:cs typeface="Calibri" pitchFamily="34" charset="-120"/>
              </a:rPr>
              <a:t>May you invent a value</a:t>
            </a:r>
            <a:endParaRPr lang="en-US" sz="1200" dirty="0"/>
          </a:p>
        </p:txBody>
      </p:sp>
      <p:sp>
        <p:nvSpPr>
          <p:cNvPr id="27" name="Shape 25"/>
          <p:cNvSpPr/>
          <p:nvPr/>
        </p:nvSpPr>
        <p:spPr>
          <a:xfrm>
            <a:off x="3383280" y="4443984"/>
            <a:ext cx="4114800" cy="384048"/>
          </a:xfrm>
          <a:prstGeom prst="rect">
            <a:avLst/>
          </a:prstGeom>
          <a:solidFill>
            <a:srgbClr val="F3F7F8"/>
          </a:solidFill>
          <a:ln w="9525">
            <a:solidFill>
              <a:srgbClr val="CFDEE1"/>
            </a:solidFill>
            <a:prstDash val="solid"/>
          </a:ln>
        </p:spPr>
      </p:sp>
      <p:sp>
        <p:nvSpPr>
          <p:cNvPr id="28" name="Text 26"/>
          <p:cNvSpPr/>
          <p:nvPr/>
        </p:nvSpPr>
        <p:spPr>
          <a:xfrm>
            <a:off x="3438144" y="4443984"/>
            <a:ext cx="4005072" cy="384048"/>
          </a:xfrm>
          <a:prstGeom prst="rect">
            <a:avLst/>
          </a:prstGeom>
          <a:noFill/>
          <a:ln/>
        </p:spPr>
        <p:txBody>
          <a:bodyPr wrap="square" lIns="0" tIns="0" rIns="0" bIns="0" rtlCol="0" anchor="ctr"/>
          <a:lstStyle/>
          <a:p>
            <a:pPr algn="l" indent="0" marL="0">
              <a:buNone/>
            </a:pPr>
            <a:r>
              <a:rPr lang="en-US" sz="1200" dirty="0">
                <a:solidFill>
                  <a:srgbClr val="0F2E3D"/>
                </a:solidFill>
                <a:latin typeface="Calibri" pitchFamily="34" charset="0"/>
                <a:ea typeface="Calibri" pitchFamily="34" charset="-122"/>
                <a:cs typeface="Calibri" pitchFamily="34" charset="-120"/>
              </a:rPr>
              <a:t>only if extensible</a:t>
            </a:r>
            <a:endParaRPr lang="en-US" sz="1200" dirty="0"/>
          </a:p>
        </p:txBody>
      </p:sp>
      <p:sp>
        <p:nvSpPr>
          <p:cNvPr id="29" name="Shape 27"/>
          <p:cNvSpPr/>
          <p:nvPr/>
        </p:nvSpPr>
        <p:spPr>
          <a:xfrm>
            <a:off x="7498080" y="4443984"/>
            <a:ext cx="4114800" cy="384048"/>
          </a:xfrm>
          <a:prstGeom prst="rect">
            <a:avLst/>
          </a:prstGeom>
          <a:solidFill>
            <a:srgbClr val="F3F7F8"/>
          </a:solidFill>
          <a:ln w="9525">
            <a:solidFill>
              <a:srgbClr val="CFDEE1"/>
            </a:solidFill>
            <a:prstDash val="solid"/>
          </a:ln>
        </p:spPr>
      </p:sp>
      <p:sp>
        <p:nvSpPr>
          <p:cNvPr id="30" name="Text 28"/>
          <p:cNvSpPr/>
          <p:nvPr/>
        </p:nvSpPr>
        <p:spPr>
          <a:xfrm>
            <a:off x="7552944" y="4443984"/>
            <a:ext cx="4005072" cy="384048"/>
          </a:xfrm>
          <a:prstGeom prst="rect">
            <a:avLst/>
          </a:prstGeom>
          <a:noFill/>
          <a:ln/>
        </p:spPr>
        <p:txBody>
          <a:bodyPr wrap="square" lIns="0" tIns="0" rIns="0" bIns="0" rtlCol="0" anchor="ctr"/>
          <a:lstStyle/>
          <a:p>
            <a:pPr algn="l" indent="0" marL="0">
              <a:buNone/>
            </a:pPr>
            <a:r>
              <a:rPr lang="en-US" sz="1200" dirty="0">
                <a:solidFill>
                  <a:srgbClr val="0F2E3D"/>
                </a:solidFill>
                <a:latin typeface="Calibri" pitchFamily="34" charset="0"/>
                <a:ea typeface="Calibri" pitchFamily="34" charset="-122"/>
                <a:cs typeface="Calibri" pitchFamily="34" charset="-120"/>
              </a:rPr>
              <a:t>yes, but define it up front</a:t>
            </a:r>
            <a:endParaRPr lang="en-US" sz="1200" dirty="0"/>
          </a:p>
        </p:txBody>
      </p:sp>
      <p:sp>
        <p:nvSpPr>
          <p:cNvPr id="31" name="Shape 29"/>
          <p:cNvSpPr/>
          <p:nvPr/>
        </p:nvSpPr>
        <p:spPr>
          <a:xfrm>
            <a:off x="640080" y="4828032"/>
            <a:ext cx="2743200" cy="384048"/>
          </a:xfrm>
          <a:prstGeom prst="rect">
            <a:avLst/>
          </a:prstGeom>
          <a:solidFill>
            <a:srgbClr val="FFFFFF"/>
          </a:solidFill>
          <a:ln w="9525">
            <a:solidFill>
              <a:srgbClr val="CFDEE1"/>
            </a:solidFill>
            <a:prstDash val="solid"/>
          </a:ln>
        </p:spPr>
      </p:sp>
      <p:sp>
        <p:nvSpPr>
          <p:cNvPr id="32" name="Text 30"/>
          <p:cNvSpPr/>
          <p:nvPr/>
        </p:nvSpPr>
        <p:spPr>
          <a:xfrm>
            <a:off x="694944" y="4828032"/>
            <a:ext cx="2633472" cy="384048"/>
          </a:xfrm>
          <a:prstGeom prst="rect">
            <a:avLst/>
          </a:prstGeom>
          <a:noFill/>
          <a:ln/>
        </p:spPr>
        <p:txBody>
          <a:bodyPr wrap="square" lIns="0" tIns="0" rIns="0" bIns="0" rtlCol="0" anchor="ctr"/>
          <a:lstStyle/>
          <a:p>
            <a:pPr algn="l" indent="0" marL="0">
              <a:buNone/>
            </a:pPr>
            <a:r>
              <a:rPr lang="en-US" sz="1200" dirty="0">
                <a:solidFill>
                  <a:srgbClr val="0F2E3D"/>
                </a:solidFill>
                <a:latin typeface="Calibri" pitchFamily="34" charset="0"/>
                <a:ea typeface="Calibri" pitchFamily="34" charset="-122"/>
                <a:cs typeface="Calibri" pitchFamily="34" charset="-120"/>
              </a:rPr>
              <a:t>Validation checks it</a:t>
            </a:r>
            <a:endParaRPr lang="en-US" sz="1200" dirty="0"/>
          </a:p>
        </p:txBody>
      </p:sp>
      <p:sp>
        <p:nvSpPr>
          <p:cNvPr id="33" name="Shape 31"/>
          <p:cNvSpPr/>
          <p:nvPr/>
        </p:nvSpPr>
        <p:spPr>
          <a:xfrm>
            <a:off x="3383280" y="4828032"/>
            <a:ext cx="4114800" cy="384048"/>
          </a:xfrm>
          <a:prstGeom prst="rect">
            <a:avLst/>
          </a:prstGeom>
          <a:solidFill>
            <a:srgbClr val="FFFFFF"/>
          </a:solidFill>
          <a:ln w="9525">
            <a:solidFill>
              <a:srgbClr val="CFDEE1"/>
            </a:solidFill>
            <a:prstDash val="solid"/>
          </a:ln>
        </p:spPr>
      </p:sp>
      <p:sp>
        <p:nvSpPr>
          <p:cNvPr id="34" name="Text 32"/>
          <p:cNvSpPr/>
          <p:nvPr/>
        </p:nvSpPr>
        <p:spPr>
          <a:xfrm>
            <a:off x="3438144" y="4828032"/>
            <a:ext cx="4005072" cy="384048"/>
          </a:xfrm>
          <a:prstGeom prst="rect">
            <a:avLst/>
          </a:prstGeom>
          <a:noFill/>
          <a:ln/>
        </p:spPr>
        <p:txBody>
          <a:bodyPr wrap="square" lIns="0" tIns="0" rIns="0" bIns="0" rtlCol="0" anchor="ctr"/>
          <a:lstStyle/>
          <a:p>
            <a:pPr algn="l" indent="0" marL="0">
              <a:buNone/>
            </a:pPr>
            <a:r>
              <a:rPr lang="en-US" sz="1200" dirty="0">
                <a:solidFill>
                  <a:srgbClr val="0F2E3D"/>
                </a:solidFill>
                <a:latin typeface="Calibri" pitchFamily="34" charset="0"/>
                <a:ea typeface="Calibri" pitchFamily="34" charset="-122"/>
                <a:cs typeface="Calibri" pitchFamily="34" charset="-120"/>
              </a:rPr>
              <a:t>yes, automatically</a:t>
            </a:r>
            <a:endParaRPr lang="en-US" sz="1200" dirty="0"/>
          </a:p>
        </p:txBody>
      </p:sp>
      <p:sp>
        <p:nvSpPr>
          <p:cNvPr id="35" name="Shape 33"/>
          <p:cNvSpPr/>
          <p:nvPr/>
        </p:nvSpPr>
        <p:spPr>
          <a:xfrm>
            <a:off x="7498080" y="4828032"/>
            <a:ext cx="4114800" cy="384048"/>
          </a:xfrm>
          <a:prstGeom prst="rect">
            <a:avLst/>
          </a:prstGeom>
          <a:solidFill>
            <a:srgbClr val="FFFFFF"/>
          </a:solidFill>
          <a:ln w="9525">
            <a:solidFill>
              <a:srgbClr val="CFDEE1"/>
            </a:solidFill>
            <a:prstDash val="solid"/>
          </a:ln>
        </p:spPr>
      </p:sp>
      <p:sp>
        <p:nvSpPr>
          <p:cNvPr id="36" name="Text 34"/>
          <p:cNvSpPr/>
          <p:nvPr/>
        </p:nvSpPr>
        <p:spPr>
          <a:xfrm>
            <a:off x="7552944" y="4828032"/>
            <a:ext cx="4005072" cy="384048"/>
          </a:xfrm>
          <a:prstGeom prst="rect">
            <a:avLst/>
          </a:prstGeom>
          <a:noFill/>
          <a:ln/>
        </p:spPr>
        <p:txBody>
          <a:bodyPr wrap="square" lIns="0" tIns="0" rIns="0" bIns="0" rtlCol="0" anchor="ctr"/>
          <a:lstStyle/>
          <a:p>
            <a:pPr algn="l" indent="0" marL="0">
              <a:buNone/>
            </a:pPr>
            <a:r>
              <a:rPr lang="en-US" sz="1200" dirty="0">
                <a:solidFill>
                  <a:srgbClr val="0F2E3D"/>
                </a:solidFill>
                <a:latin typeface="Calibri" pitchFamily="34" charset="0"/>
                <a:ea typeface="Calibri" pitchFamily="34" charset="-122"/>
                <a:cs typeface="Calibri" pitchFamily="34" charset="-120"/>
              </a:rPr>
              <a:t>only against your own define.xml</a:t>
            </a:r>
            <a:endParaRPr lang="en-US" sz="1200" dirty="0"/>
          </a:p>
        </p:txBody>
      </p:sp>
      <p:sp>
        <p:nvSpPr>
          <p:cNvPr id="37" name="Shape 35"/>
          <p:cNvSpPr/>
          <p:nvPr/>
        </p:nvSpPr>
        <p:spPr>
          <a:xfrm>
            <a:off x="640080" y="5349240"/>
            <a:ext cx="10972800" cy="960120"/>
          </a:xfrm>
          <a:prstGeom prst="roundRect">
            <a:avLst>
              <a:gd name="adj" fmla="val 8571"/>
            </a:avLst>
          </a:prstGeom>
          <a:solidFill>
            <a:srgbClr val="E7F4F2"/>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38" name="Text 36"/>
          <p:cNvSpPr/>
          <p:nvPr/>
        </p:nvSpPr>
        <p:spPr>
          <a:xfrm>
            <a:off x="914400" y="5468112"/>
            <a:ext cx="10424160" cy="731520"/>
          </a:xfrm>
          <a:prstGeom prst="rect">
            <a:avLst/>
          </a:prstGeom>
          <a:noFill/>
          <a:ln/>
        </p:spPr>
        <p:txBody>
          <a:bodyPr wrap="square" lIns="0" tIns="0" rIns="0" bIns="0" rtlCol="0" anchor="ctr"/>
          <a:lstStyle/>
          <a:p>
            <a:pPr indent="0" marL="0">
              <a:buNone/>
            </a:pPr>
            <a:r>
              <a:rPr lang="en-US" sz="1300" b="1" dirty="0">
                <a:solidFill>
                  <a:srgbClr val="0E7C86"/>
                </a:solidFill>
                <a:latin typeface="Calibri" pitchFamily="34" charset="0"/>
                <a:ea typeface="Calibri" pitchFamily="34" charset="-122"/>
                <a:cs typeface="Calibri" pitchFamily="34" charset="-120"/>
              </a:rPr>
              <a:t>The obligation is the same.  </a:t>
            </a:r>
            <a:pPr indent="0" marL="0">
              <a:buNone/>
            </a:pPr>
            <a:r>
              <a:rPr lang="en-US" sz="1300" dirty="0">
                <a:solidFill>
                  <a:srgbClr val="0F2E3D"/>
                </a:solidFill>
                <a:latin typeface="Calibri" pitchFamily="34" charset="0"/>
                <a:ea typeface="Calibri" pitchFamily="34" charset="-122"/>
                <a:cs typeface="Calibri" pitchFamily="34" charset="-120"/>
              </a:rPr>
              <a:t>Sponsor-defined does not mean informal. The list must be fixed before data comes in, applied consistently, and published in define.xml — otherwise a reviewer has no way to know what "UNLIKELY RELATED" meant in your study.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BEFORE NOTEBOOK 10</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five that cost the most</a:t>
            </a:r>
            <a:endParaRPr lang="en-US" sz="3000" dirty="0"/>
          </a:p>
        </p:txBody>
      </p:sp>
      <p:sp>
        <p:nvSpPr>
          <p:cNvPr id="4" name="Shape 2"/>
          <p:cNvSpPr/>
          <p:nvPr/>
        </p:nvSpPr>
        <p:spPr>
          <a:xfrm>
            <a:off x="640080" y="1828800"/>
            <a:ext cx="10972800" cy="859536"/>
          </a:xfrm>
          <a:prstGeom prst="roundRect">
            <a:avLst>
              <a:gd name="adj" fmla="val 8511"/>
            </a:avLst>
          </a:prstGeom>
          <a:solidFill>
            <a:srgbClr val="1A4152"/>
          </a:solidFill>
          <a:ln w="12700">
            <a:solidFill>
              <a:srgbClr val="24576B"/>
            </a:solidFill>
            <a:prstDash val="solid"/>
          </a:ln>
        </p:spPr>
      </p:sp>
      <p:sp>
        <p:nvSpPr>
          <p:cNvPr id="5" name="Shape 3"/>
          <p:cNvSpPr/>
          <p:nvPr/>
        </p:nvSpPr>
        <p:spPr>
          <a:xfrm>
            <a:off x="868680" y="2011680"/>
            <a:ext cx="493776" cy="493776"/>
          </a:xfrm>
          <a:prstGeom prst="ellipse">
            <a:avLst/>
          </a:prstGeom>
          <a:solidFill>
            <a:srgbClr val="C0455B"/>
          </a:solidFill>
          <a:ln/>
        </p:spPr>
      </p:sp>
      <p:sp>
        <p:nvSpPr>
          <p:cNvPr id="6" name="Text 4"/>
          <p:cNvSpPr/>
          <p:nvPr/>
        </p:nvSpPr>
        <p:spPr>
          <a:xfrm>
            <a:off x="868680" y="2011680"/>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36192" y="1938528"/>
            <a:ext cx="365760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Spot-checking a column</a:t>
            </a:r>
            <a:endParaRPr lang="en-US" sz="1350" dirty="0"/>
          </a:p>
        </p:txBody>
      </p:sp>
      <p:sp>
        <p:nvSpPr>
          <p:cNvPr id="8" name="Text 6"/>
          <p:cNvSpPr/>
          <p:nvPr/>
        </p:nvSpPr>
        <p:spPr>
          <a:xfrm>
            <a:off x="1536192" y="2286000"/>
            <a:ext cx="6583680" cy="347472"/>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Five of six lab tests map to themselves. The sixth is Leukocytes.</a:t>
            </a:r>
            <a:endParaRPr lang="en-US" sz="1150" dirty="0"/>
          </a:p>
        </p:txBody>
      </p:sp>
      <p:sp>
        <p:nvSpPr>
          <p:cNvPr id="9" name="Text 7"/>
          <p:cNvSpPr/>
          <p:nvPr/>
        </p:nvSpPr>
        <p:spPr>
          <a:xfrm>
            <a:off x="8321040" y="2084832"/>
            <a:ext cx="3108960" cy="384048"/>
          </a:xfrm>
          <a:prstGeom prst="rect">
            <a:avLst/>
          </a:prstGeom>
          <a:noFill/>
          <a:ln/>
        </p:spPr>
        <p:txBody>
          <a:bodyPr wrap="square" lIns="0" tIns="0" rIns="0" bIns="0" rtlCol="0" anchor="ctr"/>
          <a:lstStyle/>
          <a:p>
            <a:pPr indent="0" marL="0">
              <a:buNone/>
            </a:pPr>
            <a:r>
              <a:rPr lang="en-US" sz="1150" i="1" dirty="0">
                <a:solidFill>
                  <a:srgbClr val="6FC8B4"/>
                </a:solidFill>
                <a:latin typeface="Calibri" pitchFamily="34" charset="0"/>
                <a:ea typeface="Calibri" pitchFamily="34" charset="-122"/>
                <a:cs typeface="Calibri" pitchFamily="34" charset="-120"/>
              </a:rPr>
              <a:t>→ check every value, every time</a:t>
            </a:r>
            <a:endParaRPr lang="en-US" sz="1150" dirty="0"/>
          </a:p>
        </p:txBody>
      </p:sp>
      <p:sp>
        <p:nvSpPr>
          <p:cNvPr id="10" name="Shape 8"/>
          <p:cNvSpPr/>
          <p:nvPr/>
        </p:nvSpPr>
        <p:spPr>
          <a:xfrm>
            <a:off x="640080" y="2761488"/>
            <a:ext cx="10972800" cy="859536"/>
          </a:xfrm>
          <a:prstGeom prst="roundRect">
            <a:avLst>
              <a:gd name="adj" fmla="val 8511"/>
            </a:avLst>
          </a:prstGeom>
          <a:solidFill>
            <a:srgbClr val="163B4B"/>
          </a:solidFill>
          <a:ln w="12700">
            <a:solidFill>
              <a:srgbClr val="24576B"/>
            </a:solidFill>
            <a:prstDash val="solid"/>
          </a:ln>
        </p:spPr>
      </p:sp>
      <p:sp>
        <p:nvSpPr>
          <p:cNvPr id="11" name="Shape 9"/>
          <p:cNvSpPr/>
          <p:nvPr/>
        </p:nvSpPr>
        <p:spPr>
          <a:xfrm>
            <a:off x="868680" y="2944368"/>
            <a:ext cx="493776" cy="493776"/>
          </a:xfrm>
          <a:prstGeom prst="ellipse">
            <a:avLst/>
          </a:prstGeom>
          <a:solidFill>
            <a:srgbClr val="E8833A"/>
          </a:solidFill>
          <a:ln/>
        </p:spPr>
      </p:sp>
      <p:sp>
        <p:nvSpPr>
          <p:cNvPr id="12" name="Text 10"/>
          <p:cNvSpPr/>
          <p:nvPr/>
        </p:nvSpPr>
        <p:spPr>
          <a:xfrm>
            <a:off x="868680" y="2944368"/>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36192" y="2871216"/>
            <a:ext cx="365760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Blanking the unrecognised</a:t>
            </a:r>
            <a:endParaRPr lang="en-US" sz="1350" dirty="0"/>
          </a:p>
        </p:txBody>
      </p:sp>
      <p:sp>
        <p:nvSpPr>
          <p:cNvPr id="14" name="Text 12"/>
          <p:cNvSpPr/>
          <p:nvPr/>
        </p:nvSpPr>
        <p:spPr>
          <a:xfrm>
            <a:off x="1536192" y="3218688"/>
            <a:ext cx="6583680" cy="347472"/>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A new code becomes a blank and the run reports success.</a:t>
            </a:r>
            <a:endParaRPr lang="en-US" sz="1150" dirty="0"/>
          </a:p>
        </p:txBody>
      </p:sp>
      <p:sp>
        <p:nvSpPr>
          <p:cNvPr id="15" name="Text 13"/>
          <p:cNvSpPr/>
          <p:nvPr/>
        </p:nvSpPr>
        <p:spPr>
          <a:xfrm>
            <a:off x="8321040" y="3017520"/>
            <a:ext cx="3108960" cy="384048"/>
          </a:xfrm>
          <a:prstGeom prst="rect">
            <a:avLst/>
          </a:prstGeom>
          <a:noFill/>
          <a:ln/>
        </p:spPr>
        <p:txBody>
          <a:bodyPr wrap="square" lIns="0" tIns="0" rIns="0" bIns="0" rtlCol="0" anchor="ctr"/>
          <a:lstStyle/>
          <a:p>
            <a:pPr indent="0" marL="0">
              <a:buNone/>
            </a:pPr>
            <a:r>
              <a:rPr lang="en-US" sz="1150" i="1" dirty="0">
                <a:solidFill>
                  <a:srgbClr val="6FC8B4"/>
                </a:solidFill>
                <a:latin typeface="Calibri" pitchFamily="34" charset="0"/>
                <a:ea typeface="Calibri" pitchFamily="34" charset="-122"/>
                <a:cs typeface="Calibri" pitchFamily="34" charset="-120"/>
              </a:rPr>
              <a:t>→ write ERROR to the log</a:t>
            </a:r>
            <a:endParaRPr lang="en-US" sz="1150" dirty="0"/>
          </a:p>
        </p:txBody>
      </p:sp>
      <p:sp>
        <p:nvSpPr>
          <p:cNvPr id="16" name="Shape 14"/>
          <p:cNvSpPr/>
          <p:nvPr/>
        </p:nvSpPr>
        <p:spPr>
          <a:xfrm>
            <a:off x="640080" y="3694176"/>
            <a:ext cx="10972800" cy="859536"/>
          </a:xfrm>
          <a:prstGeom prst="roundRect">
            <a:avLst>
              <a:gd name="adj" fmla="val 8511"/>
            </a:avLst>
          </a:prstGeom>
          <a:solidFill>
            <a:srgbClr val="1A4152"/>
          </a:solidFill>
          <a:ln w="12700">
            <a:solidFill>
              <a:srgbClr val="24576B"/>
            </a:solidFill>
            <a:prstDash val="solid"/>
          </a:ln>
        </p:spPr>
      </p:sp>
      <p:sp>
        <p:nvSpPr>
          <p:cNvPr id="17" name="Shape 15"/>
          <p:cNvSpPr/>
          <p:nvPr/>
        </p:nvSpPr>
        <p:spPr>
          <a:xfrm>
            <a:off x="868680" y="3877056"/>
            <a:ext cx="493776" cy="493776"/>
          </a:xfrm>
          <a:prstGeom prst="ellipse">
            <a:avLst/>
          </a:prstGeom>
          <a:solidFill>
            <a:srgbClr val="1FA8A0"/>
          </a:solidFill>
          <a:ln/>
        </p:spPr>
      </p:sp>
      <p:sp>
        <p:nvSpPr>
          <p:cNvPr id="18" name="Text 16"/>
          <p:cNvSpPr/>
          <p:nvPr/>
        </p:nvSpPr>
        <p:spPr>
          <a:xfrm>
            <a:off x="868680" y="3877056"/>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1536192" y="3803904"/>
            <a:ext cx="365760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Extending a closed codelist</a:t>
            </a:r>
            <a:endParaRPr lang="en-US" sz="1350" dirty="0"/>
          </a:p>
        </p:txBody>
      </p:sp>
      <p:sp>
        <p:nvSpPr>
          <p:cNvPr id="20" name="Text 18"/>
          <p:cNvSpPr/>
          <p:nvPr/>
        </p:nvSpPr>
        <p:spPr>
          <a:xfrm>
            <a:off x="1536192" y="4151376"/>
            <a:ext cx="6583680" cy="347472"/>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"Our study needs Grade 1" — SEX, AESEV and NY are non-extensible.</a:t>
            </a:r>
            <a:endParaRPr lang="en-US" sz="1150" dirty="0"/>
          </a:p>
        </p:txBody>
      </p:sp>
      <p:sp>
        <p:nvSpPr>
          <p:cNvPr id="21" name="Text 19"/>
          <p:cNvSpPr/>
          <p:nvPr/>
        </p:nvSpPr>
        <p:spPr>
          <a:xfrm>
            <a:off x="8321040" y="3950208"/>
            <a:ext cx="3108960" cy="384048"/>
          </a:xfrm>
          <a:prstGeom prst="rect">
            <a:avLst/>
          </a:prstGeom>
          <a:noFill/>
          <a:ln/>
        </p:spPr>
        <p:txBody>
          <a:bodyPr wrap="square" lIns="0" tIns="0" rIns="0" bIns="0" rtlCol="0" anchor="ctr"/>
          <a:lstStyle/>
          <a:p>
            <a:pPr indent="0" marL="0">
              <a:buNone/>
            </a:pPr>
            <a:r>
              <a:rPr lang="en-US" sz="1150" i="1" dirty="0">
                <a:solidFill>
                  <a:srgbClr val="6FC8B4"/>
                </a:solidFill>
                <a:latin typeface="Calibri" pitchFamily="34" charset="0"/>
                <a:ea typeface="Calibri" pitchFamily="34" charset="-122"/>
                <a:cs typeface="Calibri" pitchFamily="34" charset="-120"/>
              </a:rPr>
              <a:t>→ map to the published value</a:t>
            </a:r>
            <a:endParaRPr lang="en-US" sz="1150" dirty="0"/>
          </a:p>
        </p:txBody>
      </p:sp>
      <p:sp>
        <p:nvSpPr>
          <p:cNvPr id="22" name="Shape 20"/>
          <p:cNvSpPr/>
          <p:nvPr/>
        </p:nvSpPr>
        <p:spPr>
          <a:xfrm>
            <a:off x="640080" y="4626864"/>
            <a:ext cx="10972800" cy="859536"/>
          </a:xfrm>
          <a:prstGeom prst="roundRect">
            <a:avLst>
              <a:gd name="adj" fmla="val 8511"/>
            </a:avLst>
          </a:prstGeom>
          <a:solidFill>
            <a:srgbClr val="163B4B"/>
          </a:solidFill>
          <a:ln w="12700">
            <a:solidFill>
              <a:srgbClr val="24576B"/>
            </a:solidFill>
            <a:prstDash val="solid"/>
          </a:ln>
        </p:spPr>
      </p:sp>
      <p:sp>
        <p:nvSpPr>
          <p:cNvPr id="23" name="Shape 21"/>
          <p:cNvSpPr/>
          <p:nvPr/>
        </p:nvSpPr>
        <p:spPr>
          <a:xfrm>
            <a:off x="868680" y="4809744"/>
            <a:ext cx="493776" cy="493776"/>
          </a:xfrm>
          <a:prstGeom prst="ellipse">
            <a:avLst/>
          </a:prstGeom>
          <a:solidFill>
            <a:srgbClr val="0E7C86"/>
          </a:solidFill>
          <a:ln/>
        </p:spPr>
      </p:sp>
      <p:sp>
        <p:nvSpPr>
          <p:cNvPr id="24" name="Text 22"/>
          <p:cNvSpPr/>
          <p:nvPr/>
        </p:nvSpPr>
        <p:spPr>
          <a:xfrm>
            <a:off x="868680" y="4809744"/>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1536192" y="4736592"/>
            <a:ext cx="365760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Using the latest CT mid-study</a:t>
            </a:r>
            <a:endParaRPr lang="en-US" sz="1350" dirty="0"/>
          </a:p>
        </p:txBody>
      </p:sp>
      <p:sp>
        <p:nvSpPr>
          <p:cNvPr id="26" name="Text 24"/>
          <p:cNvSpPr/>
          <p:nvPr/>
        </p:nvSpPr>
        <p:spPr>
          <a:xfrm>
            <a:off x="1536192" y="5084064"/>
            <a:ext cx="6583680" cy="347472"/>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Early and late data stop being comparable.</a:t>
            </a:r>
            <a:endParaRPr lang="en-US" sz="1150" dirty="0"/>
          </a:p>
        </p:txBody>
      </p:sp>
      <p:sp>
        <p:nvSpPr>
          <p:cNvPr id="27" name="Text 25"/>
          <p:cNvSpPr/>
          <p:nvPr/>
        </p:nvSpPr>
        <p:spPr>
          <a:xfrm>
            <a:off x="8321040" y="4882896"/>
            <a:ext cx="3108960" cy="384048"/>
          </a:xfrm>
          <a:prstGeom prst="rect">
            <a:avLst/>
          </a:prstGeom>
          <a:noFill/>
          <a:ln/>
        </p:spPr>
        <p:txBody>
          <a:bodyPr wrap="square" lIns="0" tIns="0" rIns="0" bIns="0" rtlCol="0" anchor="ctr"/>
          <a:lstStyle/>
          <a:p>
            <a:pPr indent="0" marL="0">
              <a:buNone/>
            </a:pPr>
            <a:r>
              <a:rPr lang="en-US" sz="1150" i="1" dirty="0">
                <a:solidFill>
                  <a:srgbClr val="6FC8B4"/>
                </a:solidFill>
                <a:latin typeface="Calibri" pitchFamily="34" charset="0"/>
                <a:ea typeface="Calibri" pitchFamily="34" charset="-122"/>
                <a:cs typeface="Calibri" pitchFamily="34" charset="-120"/>
              </a:rPr>
              <a:t>→ pin the dated release</a:t>
            </a:r>
            <a:endParaRPr lang="en-US" sz="1150" dirty="0"/>
          </a:p>
        </p:txBody>
      </p:sp>
      <p:sp>
        <p:nvSpPr>
          <p:cNvPr id="28" name="Shape 26"/>
          <p:cNvSpPr/>
          <p:nvPr/>
        </p:nvSpPr>
        <p:spPr>
          <a:xfrm>
            <a:off x="640080" y="5559552"/>
            <a:ext cx="10972800" cy="859536"/>
          </a:xfrm>
          <a:prstGeom prst="roundRect">
            <a:avLst>
              <a:gd name="adj" fmla="val 8511"/>
            </a:avLst>
          </a:prstGeom>
          <a:solidFill>
            <a:srgbClr val="1A4152"/>
          </a:solidFill>
          <a:ln w="12700">
            <a:solidFill>
              <a:srgbClr val="24576B"/>
            </a:solidFill>
            <a:prstDash val="solid"/>
          </a:ln>
        </p:spPr>
      </p:sp>
      <p:sp>
        <p:nvSpPr>
          <p:cNvPr id="29" name="Shape 27"/>
          <p:cNvSpPr/>
          <p:nvPr/>
        </p:nvSpPr>
        <p:spPr>
          <a:xfrm>
            <a:off x="868680" y="5742432"/>
            <a:ext cx="493776" cy="493776"/>
          </a:xfrm>
          <a:prstGeom prst="ellipse">
            <a:avLst/>
          </a:prstGeom>
          <a:solidFill>
            <a:srgbClr val="6FC8B4"/>
          </a:solidFill>
          <a:ln/>
        </p:spPr>
      </p:sp>
      <p:sp>
        <p:nvSpPr>
          <p:cNvPr id="30" name="Text 28"/>
          <p:cNvSpPr/>
          <p:nvPr/>
        </p:nvSpPr>
        <p:spPr>
          <a:xfrm>
            <a:off x="868680" y="5742432"/>
            <a:ext cx="493776" cy="493776"/>
          </a:xfrm>
          <a:prstGeom prst="rect">
            <a:avLst/>
          </a:prstGeom>
          <a:noFill/>
          <a:ln/>
        </p:spPr>
        <p:txBody>
          <a:bodyPr wrap="square" lIns="0" tIns="0" rIns="0" bIns="0" rtlCol="0" anchor="ctr"/>
          <a:lstStyle/>
          <a:p>
            <a:pPr algn="ctr" indent="0" marL="0">
              <a:buNone/>
            </a:pPr>
            <a:r>
              <a:rPr lang="en-US" sz="1500" b="1" dirty="0">
                <a:solidFill>
                  <a:srgbClr val="0F2E3D"/>
                </a:solidFill>
                <a:latin typeface="Calibri" pitchFamily="34" charset="0"/>
                <a:ea typeface="Calibri" pitchFamily="34" charset="-122"/>
                <a:cs typeface="Calibri" pitchFamily="34" charset="-120"/>
              </a:rPr>
              <a:t>5</a:t>
            </a:r>
            <a:endParaRPr lang="en-US" sz="1500" dirty="0"/>
          </a:p>
        </p:txBody>
      </p:sp>
      <p:sp>
        <p:nvSpPr>
          <p:cNvPr id="31" name="Text 29"/>
          <p:cNvSpPr/>
          <p:nvPr/>
        </p:nvSpPr>
        <p:spPr>
          <a:xfrm>
            <a:off x="1536192" y="5669280"/>
            <a:ext cx="3657600" cy="34747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Copying a format catalogue</a:t>
            </a:r>
            <a:endParaRPr lang="en-US" sz="1350" dirty="0"/>
          </a:p>
        </p:txBody>
      </p:sp>
      <p:sp>
        <p:nvSpPr>
          <p:cNvPr id="32" name="Text 30"/>
          <p:cNvSpPr/>
          <p:nvPr/>
        </p:nvSpPr>
        <p:spPr>
          <a:xfrm>
            <a:off x="1536192" y="6016752"/>
            <a:ext cx="6583680" cy="347472"/>
          </a:xfrm>
          <a:prstGeom prst="rect">
            <a:avLst/>
          </a:prstGeom>
          <a:noFill/>
          <a:ln/>
        </p:spPr>
        <p:txBody>
          <a:bodyPr wrap="square" lIns="0" tIns="0" rIns="0" bIns="0" rtlCol="0" anchor="ctr"/>
          <a:lstStyle/>
          <a:p>
            <a:pPr indent="0" marL="0">
              <a:buNone/>
            </a:pPr>
            <a:r>
              <a:rPr lang="en-US" sz="1150" dirty="0">
                <a:solidFill>
                  <a:srgbClr val="AFCBD3"/>
                </a:solidFill>
                <a:latin typeface="Calibri" pitchFamily="34" charset="0"/>
                <a:ea typeface="Calibri" pitchFamily="34" charset="-122"/>
                <a:cs typeface="Calibri" pitchFamily="34" charset="-120"/>
              </a:rPr>
              <a:t>Last study's catalogue was built from an older CT release.</a:t>
            </a:r>
            <a:endParaRPr lang="en-US" sz="1150" dirty="0"/>
          </a:p>
        </p:txBody>
      </p:sp>
      <p:sp>
        <p:nvSpPr>
          <p:cNvPr id="33" name="Text 31"/>
          <p:cNvSpPr/>
          <p:nvPr/>
        </p:nvSpPr>
        <p:spPr>
          <a:xfrm>
            <a:off x="8321040" y="5815584"/>
            <a:ext cx="3108960" cy="384048"/>
          </a:xfrm>
          <a:prstGeom prst="rect">
            <a:avLst/>
          </a:prstGeom>
          <a:noFill/>
          <a:ln/>
        </p:spPr>
        <p:txBody>
          <a:bodyPr wrap="square" lIns="0" tIns="0" rIns="0" bIns="0" rtlCol="0" anchor="ctr"/>
          <a:lstStyle/>
          <a:p>
            <a:pPr indent="0" marL="0">
              <a:buNone/>
            </a:pPr>
            <a:r>
              <a:rPr lang="en-US" sz="1150" i="1" dirty="0">
                <a:solidFill>
                  <a:srgbClr val="6FC8B4"/>
                </a:solidFill>
                <a:latin typeface="Calibri" pitchFamily="34" charset="0"/>
                <a:ea typeface="Calibri" pitchFamily="34" charset="-122"/>
                <a:cs typeface="Calibri" pitchFamily="34" charset="-120"/>
              </a:rPr>
              <a:t>→ rebuild from the NCI-EVS download</a:t>
            </a:r>
            <a:endParaRPr lang="en-US" sz="1150" dirty="0"/>
          </a:p>
        </p:txBody>
      </p:sp>
      <p:sp>
        <p:nvSpPr>
          <p:cNvPr id="34" name="Text 32"/>
          <p:cNvSpPr/>
          <p:nvPr/>
        </p:nvSpPr>
        <p:spPr>
          <a:xfrm>
            <a:off x="640080" y="6263640"/>
            <a:ext cx="10972800" cy="365760"/>
          </a:xfrm>
          <a:prstGeom prst="rect">
            <a:avLst/>
          </a:prstGeom>
          <a:noFill/>
          <a:ln/>
        </p:spPr>
        <p:txBody>
          <a:bodyPr wrap="square" lIns="0" tIns="0" rIns="0" bIns="0" rtlCol="0" anchor="ctr"/>
          <a:lstStyle/>
          <a:p>
            <a:pPr indent="0" marL="0">
              <a:buNone/>
            </a:pPr>
            <a:r>
              <a:rPr lang="en-US" sz="1300" b="1" dirty="0">
                <a:solidFill>
                  <a:srgbClr val="6FC8B4"/>
                </a:solidFill>
                <a:latin typeface="Calibri" pitchFamily="34" charset="0"/>
                <a:ea typeface="Calibri" pitchFamily="34" charset="-122"/>
                <a:cs typeface="Calibri" pitchFamily="34" charset="-120"/>
              </a:rPr>
              <a:t>Next:  Notebook 10 · Applying Controlled Terminology   →   Deck 09 · Derivations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Controlled Terminology in Practice</dc:title>
  <dc:subject>PptxGenJS Presentation</dc:subject>
  <dc:creator>Clinical Programming Bootcamp</dc:creator>
  <cp:lastModifiedBy>Clinical Programming Bootcamp</cp:lastModifiedBy>
  <cp:revision>1</cp:revision>
  <dcterms:created xsi:type="dcterms:W3CDTF">2026-07-19T17:52:40Z</dcterms:created>
  <dcterms:modified xsi:type="dcterms:W3CDTF">2026-07-19T17:52:40Z</dcterms:modified>
</cp:coreProperties>
</file>