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15. The shape changes: ADSL was one row per subject, ADAE is one row per event, and a subject can contribute zero rows or five. That variable row count is what makes counting subjects a real problem, and it is the reason occurrence flags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3 is the traceability lesson and goal 4 is the arithmetic lesson. Goal 5 is the one that separates a programmer from a clinical programmer.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mistake is picking by topic. Push back on 'labs go in ADLB' — ask instead whether the thing repeats over visits or simply occurred. Protocol deviations catch people out: they feel like findings, but they either happened or did not, so they are OCCDS.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2 has them delete the row instead and discover that NO number in the safety summary changes — which is exactly what makes the mistake dangerous. The deliverable looks identical, so table QC cannot catch it. What breaks is reconciliation against SDTM and every question a medical monitor might ask about pre-existing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traceability principle made concrete. It generalises well beyond TRTEMFL: any time you are about to re-derive something an upstream dataset already computed, ask where the rule is documented and what happens when it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125% figure is real — computed from ABC-01. Four subjects have more than one treatment-emergent event, so counting rows double-counts three of them. Worth writing the arithmetic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real lesson: the code is wrong even when the data does not expose it. This is the same class of error as the SDTM track's RENAME collision — correct-looking output from incorrect code. Any 'if first.X' needs a sort key that is unique within the by-group, which is precisely why SDTM gives occurrence datasets an --SEQ.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ethical point explicitly: a study that picks the definition after seeing which one gives a nicer safety profile has produced a marketing document, not evidence. Note also that the conservative reading is the default because under-reporting a possible harm is the more dangerous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planting the denominator idea: ADAE has no rows for two subjects, and they are still in the safety population. In ADLB only half the study has data at all, and the same principle decides every percentage. End of Module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15</a:t>
            </a:r>
            <a:endParaRPr lang="en-US" sz="1400" dirty="0"/>
          </a:p>
        </p:txBody>
      </p:sp>
      <p:sp>
        <p:nvSpPr>
          <p:cNvPr id="6" name="Text 4"/>
          <p:cNvSpPr/>
          <p:nvPr/>
        </p:nvSpPr>
        <p:spPr>
          <a:xfrm>
            <a:off x="603504" y="2286000"/>
            <a:ext cx="87782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Occurrence Data</a:t>
            </a:r>
            <a:endParaRPr lang="en-US" sz="4400" dirty="0"/>
          </a:p>
        </p:txBody>
      </p:sp>
      <p:sp>
        <p:nvSpPr>
          <p:cNvPr id="7" name="Text 5"/>
          <p:cNvSpPr/>
          <p:nvPr/>
        </p:nvSpPr>
        <p:spPr>
          <a:xfrm>
            <a:off x="640080" y="3291840"/>
            <a:ext cx="8778240" cy="548640"/>
          </a:xfrm>
          <a:prstGeom prst="rect">
            <a:avLst/>
          </a:prstGeom>
          <a:noFill/>
          <a:ln/>
        </p:spPr>
        <p:txBody>
          <a:bodyPr wrap="square" lIns="0" tIns="0" rIns="0" bIns="0" rtlCol="0" anchor="ctr"/>
          <a:lstStyle/>
          <a:p>
            <a:pPr indent="0" marL="0">
              <a:buNone/>
            </a:pPr>
            <a:r>
              <a:rPr lang="en-US" sz="2600" dirty="0">
                <a:solidFill>
                  <a:srgbClr val="6FC8B4"/>
                </a:solidFill>
                <a:latin typeface="Cambria" pitchFamily="34" charset="0"/>
                <a:ea typeface="Cambria" pitchFamily="34" charset="-122"/>
                <a:cs typeface="Cambria" pitchFamily="34" charset="-120"/>
              </a:rPr>
              <a:t>ADAE and the safety tables it feeds</a:t>
            </a:r>
            <a:endParaRPr lang="en-US" sz="2600" dirty="0"/>
          </a:p>
        </p:txBody>
      </p:sp>
      <p:sp>
        <p:nvSpPr>
          <p:cNvPr id="8" name="Text 6"/>
          <p:cNvSpPr/>
          <p:nvPr/>
        </p:nvSpPr>
        <p:spPr>
          <a:xfrm>
            <a:off x="640080" y="4206240"/>
            <a:ext cx="8412480" cy="73152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One row per event. One flag decides what every safety table in the study reports.</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Notebook 15 (SAS) — Build ADAE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Recognise an occurrence dataset  </a:t>
            </a:r>
            <a:pPr indent="0" marL="0">
              <a:buNone/>
            </a:pPr>
            <a:r>
              <a:rPr lang="en-US" sz="1350" dirty="0">
                <a:solidFill>
                  <a:srgbClr val="5A7682"/>
                </a:solidFill>
                <a:latin typeface="Calibri" pitchFamily="34" charset="0"/>
                <a:ea typeface="Calibri" pitchFamily="34" charset="-122"/>
                <a:cs typeface="Calibri" pitchFamily="34" charset="-120"/>
              </a:rPr>
              <a:t>and pick OCCDS vs BDS by SHAPE, not by subject matter.</a:t>
            </a:r>
            <a:endParaRPr lang="en-US" sz="1600" dirty="0"/>
          </a:p>
        </p:txBody>
      </p:sp>
      <p:sp>
        <p:nvSpPr>
          <p:cNvPr id="8" name="Shape 6"/>
          <p:cNvSpPr/>
          <p:nvPr/>
        </p:nvSpPr>
        <p:spPr>
          <a:xfrm>
            <a:off x="640080" y="2624328"/>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816352"/>
            <a:ext cx="548640" cy="548640"/>
          </a:xfrm>
          <a:prstGeom prst="ellipse">
            <a:avLst/>
          </a:prstGeom>
          <a:solidFill>
            <a:srgbClr val="1FA8A0"/>
          </a:solidFill>
          <a:ln/>
        </p:spPr>
      </p:sp>
      <p:sp>
        <p:nvSpPr>
          <p:cNvPr id="10" name="Text 8"/>
          <p:cNvSpPr/>
          <p:nvPr/>
        </p:nvSpPr>
        <p:spPr>
          <a:xfrm>
            <a:off x="868680" y="281635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70632"/>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Derive the analysis variables  </a:t>
            </a:r>
            <a:pPr indent="0" marL="0">
              <a:buNone/>
            </a:pPr>
            <a:r>
              <a:rPr lang="en-US" sz="1350" dirty="0">
                <a:solidFill>
                  <a:srgbClr val="5A7682"/>
                </a:solidFill>
                <a:latin typeface="Calibri" pitchFamily="34" charset="0"/>
                <a:ea typeface="Calibri" pitchFamily="34" charset="-122"/>
                <a:cs typeface="Calibri" pitchFamily="34" charset="-120"/>
              </a:rPr>
              <a:t>ASTDY, ADURN, ASEVN, AREL — and know why each exists.</a:t>
            </a:r>
            <a:endParaRPr lang="en-US" sz="1600" dirty="0"/>
          </a:p>
        </p:txBody>
      </p:sp>
      <p:sp>
        <p:nvSpPr>
          <p:cNvPr id="12" name="Shape 10"/>
          <p:cNvSpPr/>
          <p:nvPr/>
        </p:nvSpPr>
        <p:spPr>
          <a:xfrm>
            <a:off x="640080" y="3648456"/>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40480"/>
            <a:ext cx="548640" cy="548640"/>
          </a:xfrm>
          <a:prstGeom prst="ellipse">
            <a:avLst/>
          </a:prstGeom>
          <a:solidFill>
            <a:srgbClr val="E8833A"/>
          </a:solidFill>
          <a:ln/>
        </p:spPr>
      </p:sp>
      <p:sp>
        <p:nvSpPr>
          <p:cNvPr id="14" name="Text 12"/>
          <p:cNvSpPr/>
          <p:nvPr/>
        </p:nvSpPr>
        <p:spPr>
          <a:xfrm>
            <a:off x="868680" y="384048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94760"/>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treatment-emergent  </a:t>
            </a:r>
            <a:pPr indent="0" marL="0">
              <a:buNone/>
            </a:pPr>
            <a:r>
              <a:rPr lang="en-US" sz="1350" dirty="0">
                <a:solidFill>
                  <a:srgbClr val="5A7682"/>
                </a:solidFill>
                <a:latin typeface="Calibri" pitchFamily="34" charset="0"/>
                <a:ea typeface="Calibri" pitchFamily="34" charset="-122"/>
                <a:cs typeface="Calibri" pitchFamily="34" charset="-120"/>
              </a:rPr>
              <a:t>and why ADAE reads the flag rather than recomputing it.</a:t>
            </a:r>
            <a:endParaRPr lang="en-US" sz="1600" dirty="0"/>
          </a:p>
        </p:txBody>
      </p:sp>
      <p:sp>
        <p:nvSpPr>
          <p:cNvPr id="16" name="Shape 14"/>
          <p:cNvSpPr/>
          <p:nvPr/>
        </p:nvSpPr>
        <p:spPr>
          <a:xfrm>
            <a:off x="640080" y="4672584"/>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64608"/>
            <a:ext cx="548640" cy="548640"/>
          </a:xfrm>
          <a:prstGeom prst="ellipse">
            <a:avLst/>
          </a:prstGeom>
          <a:solidFill>
            <a:srgbClr val="0F2E3D"/>
          </a:solidFill>
          <a:ln/>
        </p:spPr>
      </p:sp>
      <p:sp>
        <p:nvSpPr>
          <p:cNvPr id="18" name="Text 16"/>
          <p:cNvSpPr/>
          <p:nvPr/>
        </p:nvSpPr>
        <p:spPr>
          <a:xfrm>
            <a:off x="868680" y="486460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818888"/>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Set occurrence flags correctly  </a:t>
            </a:r>
            <a:pPr indent="0" marL="0">
              <a:buNone/>
            </a:pPr>
            <a:r>
              <a:rPr lang="en-US" sz="1350" dirty="0">
                <a:solidFill>
                  <a:srgbClr val="5A7682"/>
                </a:solidFill>
                <a:latin typeface="Calibri" pitchFamily="34" charset="0"/>
                <a:ea typeface="Calibri" pitchFamily="34" charset="-122"/>
                <a:cs typeface="Calibri" pitchFamily="34" charset="-120"/>
              </a:rPr>
              <a:t>so that counting flagged rows counts subjects.</a:t>
            </a:r>
            <a:endParaRPr lang="en-US" sz="1600" dirty="0"/>
          </a:p>
        </p:txBody>
      </p:sp>
      <p:sp>
        <p:nvSpPr>
          <p:cNvPr id="20" name="Shape 18"/>
          <p:cNvSpPr/>
          <p:nvPr/>
        </p:nvSpPr>
        <p:spPr>
          <a:xfrm>
            <a:off x="640080" y="5696712"/>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88736"/>
            <a:ext cx="548640" cy="548640"/>
          </a:xfrm>
          <a:prstGeom prst="ellipse">
            <a:avLst/>
          </a:prstGeom>
          <a:solidFill>
            <a:srgbClr val="0E7C86"/>
          </a:solidFill>
          <a:ln/>
        </p:spPr>
      </p:sp>
      <p:sp>
        <p:nvSpPr>
          <p:cNvPr id="22" name="Text 20"/>
          <p:cNvSpPr/>
          <p:nvPr/>
        </p:nvSpPr>
        <p:spPr>
          <a:xfrm>
            <a:off x="868680" y="58887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843016"/>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Defend a causality definition  </a:t>
            </a:r>
            <a:pPr indent="0" marL="0">
              <a:buNone/>
            </a:pPr>
            <a:r>
              <a:rPr lang="en-US" sz="1350" dirty="0">
                <a:solidFill>
                  <a:srgbClr val="5A7682"/>
                </a:solidFill>
                <a:latin typeface="Calibri" pitchFamily="34" charset="0"/>
                <a:ea typeface="Calibri" pitchFamily="34" charset="-122"/>
                <a:cs typeface="Calibri" pitchFamily="34" charset="-120"/>
              </a:rPr>
              <a:t>and say who decides it and when.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CHOOSING A STRUCTURE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Pick by shape, not by subject matter</a:t>
            </a:r>
            <a:endParaRPr lang="en-US" sz="3000" dirty="0"/>
          </a:p>
        </p:txBody>
      </p:sp>
      <p:sp>
        <p:nvSpPr>
          <p:cNvPr id="4" name="Shape 2"/>
          <p:cNvSpPr/>
          <p:nvPr/>
        </p:nvSpPr>
        <p:spPr>
          <a:xfrm>
            <a:off x="640080" y="1737360"/>
            <a:ext cx="10972800" cy="1143000"/>
          </a:xfrm>
          <a:prstGeom prst="roundRect">
            <a:avLst>
              <a:gd name="adj" fmla="val 72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737360"/>
            <a:ext cx="82296" cy="1143000"/>
          </a:xfrm>
          <a:prstGeom prst="rect">
            <a:avLst/>
          </a:prstGeom>
          <a:solidFill>
            <a:srgbClr val="0E7C86"/>
          </a:solidFill>
          <a:ln/>
        </p:spPr>
      </p:sp>
      <p:sp>
        <p:nvSpPr>
          <p:cNvPr id="6" name="Text 4"/>
          <p:cNvSpPr/>
          <p:nvPr/>
        </p:nvSpPr>
        <p:spPr>
          <a:xfrm>
            <a:off x="960120" y="1874520"/>
            <a:ext cx="4846320" cy="4572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Does it repeat over visits?</a:t>
            </a:r>
            <a:endParaRPr lang="en-US" sz="1550" dirty="0"/>
          </a:p>
        </p:txBody>
      </p:sp>
      <p:sp>
        <p:nvSpPr>
          <p:cNvPr id="7" name="Text 5"/>
          <p:cNvSpPr/>
          <p:nvPr/>
        </p:nvSpPr>
        <p:spPr>
          <a:xfrm>
            <a:off x="960120" y="2359152"/>
            <a:ext cx="7315200" cy="4114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blood pressure · haemoglobin · a questionnaire score</a:t>
            </a:r>
            <a:endParaRPr lang="en-US" sz="1300" dirty="0"/>
          </a:p>
        </p:txBody>
      </p:sp>
      <p:sp>
        <p:nvSpPr>
          <p:cNvPr id="8" name="Text 6"/>
          <p:cNvSpPr/>
          <p:nvPr/>
        </p:nvSpPr>
        <p:spPr>
          <a:xfrm>
            <a:off x="9052560" y="2011680"/>
            <a:ext cx="2286000" cy="54864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BDS</a:t>
            </a:r>
            <a:endParaRPr lang="en-US" sz="2400" dirty="0"/>
          </a:p>
        </p:txBody>
      </p:sp>
      <p:sp>
        <p:nvSpPr>
          <p:cNvPr id="9" name="Shape 7"/>
          <p:cNvSpPr/>
          <p:nvPr/>
        </p:nvSpPr>
        <p:spPr>
          <a:xfrm>
            <a:off x="640080" y="3017520"/>
            <a:ext cx="10972800" cy="1143000"/>
          </a:xfrm>
          <a:prstGeom prst="roundRect">
            <a:avLst>
              <a:gd name="adj" fmla="val 72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0080" y="3017520"/>
            <a:ext cx="82296" cy="1143000"/>
          </a:xfrm>
          <a:prstGeom prst="rect">
            <a:avLst/>
          </a:prstGeom>
          <a:solidFill>
            <a:srgbClr val="E8833A"/>
          </a:solidFill>
          <a:ln/>
        </p:spPr>
      </p:sp>
      <p:sp>
        <p:nvSpPr>
          <p:cNvPr id="11" name="Text 9"/>
          <p:cNvSpPr/>
          <p:nvPr/>
        </p:nvSpPr>
        <p:spPr>
          <a:xfrm>
            <a:off x="960120" y="3154680"/>
            <a:ext cx="4846320" cy="4572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Did it either occur, or not?</a:t>
            </a:r>
            <a:endParaRPr lang="en-US" sz="1550" dirty="0"/>
          </a:p>
        </p:txBody>
      </p:sp>
      <p:sp>
        <p:nvSpPr>
          <p:cNvPr id="12" name="Text 10"/>
          <p:cNvSpPr/>
          <p:nvPr/>
        </p:nvSpPr>
        <p:spPr>
          <a:xfrm>
            <a:off x="960120" y="3639312"/>
            <a:ext cx="7315200" cy="4114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adverse event · concomitant medication · protocol deviation</a:t>
            </a:r>
            <a:endParaRPr lang="en-US" sz="1300" dirty="0"/>
          </a:p>
        </p:txBody>
      </p:sp>
      <p:sp>
        <p:nvSpPr>
          <p:cNvPr id="13" name="Text 11"/>
          <p:cNvSpPr/>
          <p:nvPr/>
        </p:nvSpPr>
        <p:spPr>
          <a:xfrm>
            <a:off x="9052560" y="3291840"/>
            <a:ext cx="2286000" cy="548640"/>
          </a:xfrm>
          <a:prstGeom prst="rect">
            <a:avLst/>
          </a:prstGeom>
          <a:noFill/>
          <a:ln/>
        </p:spPr>
        <p:txBody>
          <a:bodyPr wrap="square" lIns="0" tIns="0" rIns="0" bIns="0" rtlCol="0" anchor="ctr"/>
          <a:lstStyle/>
          <a:p>
            <a:pPr algn="ctr" indent="0" marL="0">
              <a:buNone/>
            </a:pPr>
            <a:r>
              <a:rPr lang="en-US" sz="2400" b="1" dirty="0">
                <a:solidFill>
                  <a:srgbClr val="E8833A"/>
                </a:solidFill>
                <a:latin typeface="Cambria" pitchFamily="34" charset="0"/>
                <a:ea typeface="Cambria" pitchFamily="34" charset="-122"/>
                <a:cs typeface="Cambria" pitchFamily="34" charset="-120"/>
              </a:rPr>
              <a:t>OCCDS</a:t>
            </a:r>
            <a:endParaRPr lang="en-US" sz="2400" dirty="0"/>
          </a:p>
        </p:txBody>
      </p:sp>
      <p:sp>
        <p:nvSpPr>
          <p:cNvPr id="14" name="Shape 12"/>
          <p:cNvSpPr/>
          <p:nvPr/>
        </p:nvSpPr>
        <p:spPr>
          <a:xfrm>
            <a:off x="640080" y="4297680"/>
            <a:ext cx="10972800" cy="1143000"/>
          </a:xfrm>
          <a:prstGeom prst="roundRect">
            <a:avLst>
              <a:gd name="adj" fmla="val 72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640080" y="4297680"/>
            <a:ext cx="82296" cy="1143000"/>
          </a:xfrm>
          <a:prstGeom prst="rect">
            <a:avLst/>
          </a:prstGeom>
          <a:solidFill>
            <a:srgbClr val="1FA8A0"/>
          </a:solidFill>
          <a:ln/>
        </p:spPr>
      </p:sp>
      <p:sp>
        <p:nvSpPr>
          <p:cNvPr id="16" name="Text 14"/>
          <p:cNvSpPr/>
          <p:nvPr/>
        </p:nvSpPr>
        <p:spPr>
          <a:xfrm>
            <a:off x="960120" y="4434840"/>
            <a:ext cx="4846320" cy="45720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Is it one fact about the subject?</a:t>
            </a:r>
            <a:endParaRPr lang="en-US" sz="1550" dirty="0"/>
          </a:p>
        </p:txBody>
      </p:sp>
      <p:sp>
        <p:nvSpPr>
          <p:cNvPr id="17" name="Text 15"/>
          <p:cNvSpPr/>
          <p:nvPr/>
        </p:nvSpPr>
        <p:spPr>
          <a:xfrm>
            <a:off x="960120" y="4919472"/>
            <a:ext cx="7315200" cy="4114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treatment arm · age group · date of first dose</a:t>
            </a:r>
            <a:endParaRPr lang="en-US" sz="1300" dirty="0"/>
          </a:p>
        </p:txBody>
      </p:sp>
      <p:sp>
        <p:nvSpPr>
          <p:cNvPr id="18" name="Text 16"/>
          <p:cNvSpPr/>
          <p:nvPr/>
        </p:nvSpPr>
        <p:spPr>
          <a:xfrm>
            <a:off x="9052560" y="4572000"/>
            <a:ext cx="2286000" cy="548640"/>
          </a:xfrm>
          <a:prstGeom prst="rect">
            <a:avLst/>
          </a:prstGeom>
          <a:noFill/>
          <a:ln/>
        </p:spPr>
        <p:txBody>
          <a:bodyPr wrap="square" lIns="0" tIns="0" rIns="0" bIns="0" rtlCol="0" anchor="ctr"/>
          <a:lstStyle/>
          <a:p>
            <a:pPr algn="ctr" indent="0" marL="0">
              <a:buNone/>
            </a:pPr>
            <a:r>
              <a:rPr lang="en-US" sz="2400" b="1" dirty="0">
                <a:solidFill>
                  <a:srgbClr val="1FA8A0"/>
                </a:solidFill>
                <a:latin typeface="Cambria" pitchFamily="34" charset="0"/>
                <a:ea typeface="Cambria" pitchFamily="34" charset="-122"/>
                <a:cs typeface="Cambria" pitchFamily="34" charset="-120"/>
              </a:rPr>
              <a:t>ADSL</a:t>
            </a:r>
            <a:endParaRPr lang="en-US" sz="2400" dirty="0"/>
          </a:p>
        </p:txBody>
      </p:sp>
      <p:sp>
        <p:nvSpPr>
          <p:cNvPr id="19" name="Shape 17"/>
          <p:cNvSpPr/>
          <p:nvPr/>
        </p:nvSpPr>
        <p:spPr>
          <a:xfrm>
            <a:off x="640080" y="5623560"/>
            <a:ext cx="10972800" cy="777240"/>
          </a:xfrm>
          <a:prstGeom prst="roundRect">
            <a:avLst>
              <a:gd name="adj" fmla="val 1058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Text 18"/>
          <p:cNvSpPr/>
          <p:nvPr/>
        </p:nvSpPr>
        <p:spPr>
          <a:xfrm>
            <a:off x="914400" y="5760720"/>
            <a:ext cx="10424160" cy="5486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A vital sign measured only once is still BDS. </a:t>
            </a:r>
            <a:pPr indent="0" marL="0">
              <a:buNone/>
            </a:pPr>
            <a:r>
              <a:rPr lang="en-US" sz="1400" dirty="0">
                <a:solidFill>
                  <a:srgbClr val="5A7682"/>
                </a:solidFill>
                <a:latin typeface="Calibri" pitchFamily="34" charset="0"/>
                <a:ea typeface="Calibri" pitchFamily="34" charset="-122"/>
                <a:cs typeface="Calibri" pitchFamily="34" charset="-120"/>
              </a:rPr>
              <a:t>An adverse event is still OCCDS even though it has dates. The shape decides.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TREATMENT-EMERGENT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One row decides what every safety table reports</a:t>
            </a:r>
            <a:endParaRPr lang="en-US" sz="3000" dirty="0"/>
          </a:p>
        </p:txBody>
      </p:sp>
      <p:sp>
        <p:nvSpPr>
          <p:cNvPr id="4" name="Shape 2"/>
          <p:cNvSpPr/>
          <p:nvPr/>
        </p:nvSpPr>
        <p:spPr>
          <a:xfrm>
            <a:off x="640080" y="1554480"/>
            <a:ext cx="10972800" cy="1371600"/>
          </a:xfrm>
          <a:prstGeom prst="roundRect">
            <a:avLst>
              <a:gd name="adj" fmla="val 6000"/>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554480"/>
            <a:ext cx="82296" cy="1371600"/>
          </a:xfrm>
          <a:prstGeom prst="rect">
            <a:avLst/>
          </a:prstGeom>
          <a:solidFill>
            <a:srgbClr val="C4442E"/>
          </a:solidFill>
          <a:ln/>
        </p:spPr>
      </p:sp>
      <p:sp>
        <p:nvSpPr>
          <p:cNvPr id="6" name="Text 4"/>
          <p:cNvSpPr/>
          <p:nvPr/>
        </p:nvSpPr>
        <p:spPr>
          <a:xfrm>
            <a:off x="960120" y="1691640"/>
            <a:ext cx="7315200" cy="36576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ABC-01-01-002 · AESEQ 1 · Oropharyngeal pain</a:t>
            </a:r>
            <a:endParaRPr lang="en-US" sz="1500" dirty="0"/>
          </a:p>
        </p:txBody>
      </p:sp>
      <p:sp>
        <p:nvSpPr>
          <p:cNvPr id="7" name="Text 5"/>
          <p:cNvSpPr/>
          <p:nvPr/>
        </p:nvSpPr>
        <p:spPr>
          <a:xfrm>
            <a:off x="960120" y="2103120"/>
            <a:ext cx="7315200" cy="365760"/>
          </a:xfrm>
          <a:prstGeom prst="rect">
            <a:avLst/>
          </a:prstGeom>
          <a:noFill/>
          <a:ln/>
        </p:spPr>
        <p:txBody>
          <a:bodyPr wrap="square" lIns="0" tIns="0" rIns="0" bIns="0" rtlCol="0" anchor="ctr"/>
          <a:lstStyle/>
          <a:p>
            <a:pPr indent="0" marL="0">
              <a:buNone/>
            </a:pPr>
            <a:r>
              <a:rPr lang="en-US" sz="1500" dirty="0">
                <a:solidFill>
                  <a:srgbClr val="C4442E"/>
                </a:solidFill>
                <a:latin typeface="Calibri" pitchFamily="34" charset="0"/>
                <a:ea typeface="Calibri" pitchFamily="34" charset="-122"/>
                <a:cs typeface="Calibri" pitchFamily="34" charset="-120"/>
              </a:rPr>
              <a:t>Started study day −5. Five days BEFORE the first dose.</a:t>
            </a:r>
            <a:endParaRPr lang="en-US" sz="1500" dirty="0"/>
          </a:p>
        </p:txBody>
      </p:sp>
      <p:sp>
        <p:nvSpPr>
          <p:cNvPr id="8" name="Text 6"/>
          <p:cNvSpPr/>
          <p:nvPr/>
        </p:nvSpPr>
        <p:spPr>
          <a:xfrm>
            <a:off x="960120" y="2487168"/>
            <a:ext cx="7315200" cy="320040"/>
          </a:xfrm>
          <a:prstGeom prst="rect">
            <a:avLst/>
          </a:prstGeom>
          <a:noFill/>
          <a:ln/>
        </p:spPr>
        <p:txBody>
          <a:bodyPr wrap="square" lIns="0" tIns="0" rIns="0" bIns="0" rtlCol="0" anchor="ctr"/>
          <a:lstStyle/>
          <a:p>
            <a:pPr indent="0" marL="0">
              <a:buNone/>
            </a:pPr>
            <a:r>
              <a:rPr lang="en-US" sz="1350" i="1" dirty="0">
                <a:solidFill>
                  <a:srgbClr val="5A7682"/>
                </a:solidFill>
                <a:latin typeface="Calibri" pitchFamily="34" charset="0"/>
                <a:ea typeface="Calibri" pitchFamily="34" charset="-122"/>
                <a:cs typeface="Calibri" pitchFamily="34" charset="-120"/>
              </a:rPr>
              <a:t>A real event, reported by a real investigator.</a:t>
            </a:r>
            <a:endParaRPr lang="en-US" sz="1350" dirty="0"/>
          </a:p>
        </p:txBody>
      </p:sp>
      <p:sp>
        <p:nvSpPr>
          <p:cNvPr id="9" name="Text 7"/>
          <p:cNvSpPr/>
          <p:nvPr/>
        </p:nvSpPr>
        <p:spPr>
          <a:xfrm>
            <a:off x="8595360" y="1965960"/>
            <a:ext cx="2743200" cy="548640"/>
          </a:xfrm>
          <a:prstGeom prst="rect">
            <a:avLst/>
          </a:prstGeom>
          <a:noFill/>
          <a:ln/>
        </p:spPr>
        <p:txBody>
          <a:bodyPr wrap="square" lIns="0" tIns="0" rIns="0" bIns="0" rtlCol="0" anchor="ctr"/>
          <a:lstStyle/>
          <a:p>
            <a:pPr algn="ctr" indent="0" marL="0">
              <a:buNone/>
            </a:pPr>
            <a:r>
              <a:rPr lang="en-US" sz="2000" b="1" dirty="0">
                <a:solidFill>
                  <a:srgbClr val="C4442E"/>
                </a:solidFill>
                <a:latin typeface="Courier New" pitchFamily="34" charset="0"/>
                <a:ea typeface="Courier New" pitchFamily="34" charset="-122"/>
                <a:cs typeface="Courier New" pitchFamily="34" charset="-120"/>
              </a:rPr>
              <a:t>TRTEMFL = 'N'</a:t>
            </a:r>
            <a:endParaRPr lang="en-US" sz="2000" dirty="0"/>
          </a:p>
        </p:txBody>
      </p:sp>
      <p:sp>
        <p:nvSpPr>
          <p:cNvPr id="10" name="Shape 8"/>
          <p:cNvSpPr/>
          <p:nvPr/>
        </p:nvSpPr>
        <p:spPr>
          <a:xfrm>
            <a:off x="640080" y="3200400"/>
            <a:ext cx="3611880" cy="2103120"/>
          </a:xfrm>
          <a:prstGeom prst="roundRect">
            <a:avLst>
              <a:gd name="adj" fmla="val 391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640080" y="3200400"/>
            <a:ext cx="3611880" cy="100584"/>
          </a:xfrm>
          <a:prstGeom prst="rect">
            <a:avLst/>
          </a:prstGeom>
          <a:solidFill>
            <a:srgbClr val="1FA8A0"/>
          </a:solidFill>
          <a:ln/>
        </p:spPr>
      </p:sp>
      <p:sp>
        <p:nvSpPr>
          <p:cNvPr id="12" name="Text 10"/>
          <p:cNvSpPr/>
          <p:nvPr/>
        </p:nvSpPr>
        <p:spPr>
          <a:xfrm>
            <a:off x="896112" y="3429000"/>
            <a:ext cx="3108960" cy="685800"/>
          </a:xfrm>
          <a:prstGeom prst="rect">
            <a:avLst/>
          </a:prstGeom>
          <a:noFill/>
          <a:ln/>
        </p:spPr>
        <p:txBody>
          <a:bodyPr wrap="square" lIns="0" tIns="0" rIns="0" bIns="0" rtlCol="0" anchor="ctr"/>
          <a:lstStyle/>
          <a:p>
            <a:pPr indent="0" marL="0">
              <a:lnSpc>
                <a:spcPts val="1900"/>
              </a:lnSpc>
              <a:buNone/>
            </a:pPr>
            <a:r>
              <a:rPr lang="en-US" sz="1450" b="1" dirty="0">
                <a:solidFill>
                  <a:srgbClr val="0F2E3D"/>
                </a:solidFill>
                <a:latin typeface="Calibri" pitchFamily="34" charset="0"/>
                <a:ea typeface="Calibri" pitchFamily="34" charset="-122"/>
                <a:cs typeface="Calibri" pitchFamily="34" charset="-120"/>
              </a:rPr>
              <a:t>It STAYS in the dataset</a:t>
            </a:r>
            <a:endParaRPr lang="en-US" sz="1450" dirty="0"/>
          </a:p>
        </p:txBody>
      </p:sp>
      <p:sp>
        <p:nvSpPr>
          <p:cNvPr id="13" name="Text 11"/>
          <p:cNvSpPr/>
          <p:nvPr/>
        </p:nvSpPr>
        <p:spPr>
          <a:xfrm>
            <a:off x="896112" y="4160520"/>
            <a:ext cx="3108960" cy="105156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Deleting it breaks reconciliation with SDTM AE, and destroys every non-safety use of the data.</a:t>
            </a:r>
            <a:endParaRPr lang="en-US" sz="1250" dirty="0"/>
          </a:p>
        </p:txBody>
      </p:sp>
      <p:sp>
        <p:nvSpPr>
          <p:cNvPr id="14" name="Shape 12"/>
          <p:cNvSpPr/>
          <p:nvPr/>
        </p:nvSpPr>
        <p:spPr>
          <a:xfrm>
            <a:off x="4434840" y="3200400"/>
            <a:ext cx="3611880" cy="2103120"/>
          </a:xfrm>
          <a:prstGeom prst="roundRect">
            <a:avLst>
              <a:gd name="adj" fmla="val 391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4434840" y="3200400"/>
            <a:ext cx="3611880" cy="100584"/>
          </a:xfrm>
          <a:prstGeom prst="rect">
            <a:avLst/>
          </a:prstGeom>
          <a:solidFill>
            <a:srgbClr val="0E7C86"/>
          </a:solidFill>
          <a:ln/>
        </p:spPr>
      </p:sp>
      <p:sp>
        <p:nvSpPr>
          <p:cNvPr id="16" name="Text 14"/>
          <p:cNvSpPr/>
          <p:nvPr/>
        </p:nvSpPr>
        <p:spPr>
          <a:xfrm>
            <a:off x="4690872" y="3429000"/>
            <a:ext cx="3108960" cy="685800"/>
          </a:xfrm>
          <a:prstGeom prst="rect">
            <a:avLst/>
          </a:prstGeom>
          <a:noFill/>
          <a:ln/>
        </p:spPr>
        <p:txBody>
          <a:bodyPr wrap="square" lIns="0" tIns="0" rIns="0" bIns="0" rtlCol="0" anchor="ctr"/>
          <a:lstStyle/>
          <a:p>
            <a:pPr indent="0" marL="0">
              <a:lnSpc>
                <a:spcPts val="1900"/>
              </a:lnSpc>
              <a:buNone/>
            </a:pPr>
            <a:r>
              <a:rPr lang="en-US" sz="1450" b="1" dirty="0">
                <a:solidFill>
                  <a:srgbClr val="0F2E3D"/>
                </a:solidFill>
                <a:latin typeface="Calibri" pitchFamily="34" charset="0"/>
                <a:ea typeface="Calibri" pitchFamily="34" charset="-122"/>
                <a:cs typeface="Calibri" pitchFamily="34" charset="-120"/>
              </a:rPr>
              <a:t>It appears in NO safety table</a:t>
            </a:r>
            <a:endParaRPr lang="en-US" sz="1450" dirty="0"/>
          </a:p>
        </p:txBody>
      </p:sp>
      <p:sp>
        <p:nvSpPr>
          <p:cNvPr id="17" name="Text 15"/>
          <p:cNvSpPr/>
          <p:nvPr/>
        </p:nvSpPr>
        <p:spPr>
          <a:xfrm>
            <a:off x="4690872" y="4160520"/>
            <a:ext cx="3108960" cy="105156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Every safety table subsets on TRTEMFL = 'Y'. The drug cannot have caused what preceded it.</a:t>
            </a:r>
            <a:endParaRPr lang="en-US" sz="1250" dirty="0"/>
          </a:p>
        </p:txBody>
      </p:sp>
      <p:sp>
        <p:nvSpPr>
          <p:cNvPr id="18" name="Shape 16"/>
          <p:cNvSpPr/>
          <p:nvPr/>
        </p:nvSpPr>
        <p:spPr>
          <a:xfrm>
            <a:off x="8229600" y="3200400"/>
            <a:ext cx="3611880" cy="2103120"/>
          </a:xfrm>
          <a:prstGeom prst="roundRect">
            <a:avLst>
              <a:gd name="adj" fmla="val 391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7"/>
          <p:cNvSpPr/>
          <p:nvPr/>
        </p:nvSpPr>
        <p:spPr>
          <a:xfrm>
            <a:off x="8229600" y="3200400"/>
            <a:ext cx="3611880" cy="100584"/>
          </a:xfrm>
          <a:prstGeom prst="rect">
            <a:avLst/>
          </a:prstGeom>
          <a:solidFill>
            <a:srgbClr val="E8833A"/>
          </a:solidFill>
          <a:ln/>
        </p:spPr>
      </p:sp>
      <p:sp>
        <p:nvSpPr>
          <p:cNvPr id="20" name="Text 18"/>
          <p:cNvSpPr/>
          <p:nvPr/>
        </p:nvSpPr>
        <p:spPr>
          <a:xfrm>
            <a:off x="8485632" y="3429000"/>
            <a:ext cx="3108960" cy="685800"/>
          </a:xfrm>
          <a:prstGeom prst="rect">
            <a:avLst/>
          </a:prstGeom>
          <a:noFill/>
          <a:ln/>
        </p:spPr>
        <p:txBody>
          <a:bodyPr wrap="square" lIns="0" tIns="0" rIns="0" bIns="0" rtlCol="0" anchor="ctr"/>
          <a:lstStyle/>
          <a:p>
            <a:pPr indent="0" marL="0">
              <a:lnSpc>
                <a:spcPts val="1900"/>
              </a:lnSpc>
              <a:buNone/>
            </a:pPr>
            <a:r>
              <a:rPr lang="en-US" sz="1450" b="1" dirty="0">
                <a:solidFill>
                  <a:srgbClr val="0F2E3D"/>
                </a:solidFill>
                <a:latin typeface="Calibri" pitchFamily="34" charset="0"/>
                <a:ea typeface="Calibri" pitchFamily="34" charset="-122"/>
                <a:cs typeface="Calibri" pitchFamily="34" charset="-120"/>
              </a:rPr>
              <a:t>It carries NO occurrence flag</a:t>
            </a:r>
            <a:endParaRPr lang="en-US" sz="1450" dirty="0"/>
          </a:p>
        </p:txBody>
      </p:sp>
      <p:sp>
        <p:nvSpPr>
          <p:cNvPr id="21" name="Text 19"/>
          <p:cNvSpPr/>
          <p:nvPr/>
        </p:nvSpPr>
        <p:spPr>
          <a:xfrm>
            <a:off x="8485632" y="4160520"/>
            <a:ext cx="3108960" cy="1051560"/>
          </a:xfrm>
          <a:prstGeom prst="rect">
            <a:avLst/>
          </a:prstGeom>
          <a:noFill/>
          <a:ln/>
        </p:spPr>
        <p:txBody>
          <a:bodyPr wrap="square" lIns="0" tIns="0" rIns="0" bIns="0" rtlCol="0" anchor="ctr"/>
          <a:lstStyle/>
          <a:p>
            <a:pPr indent="0" marL="0">
              <a:lnSpc>
                <a:spcPts val="1700"/>
              </a:lnSpc>
              <a:buNone/>
            </a:pPr>
            <a:r>
              <a:rPr lang="en-US" sz="1250" dirty="0">
                <a:solidFill>
                  <a:srgbClr val="5A7682"/>
                </a:solidFill>
                <a:latin typeface="Calibri" pitchFamily="34" charset="0"/>
                <a:ea typeface="Calibri" pitchFamily="34" charset="-122"/>
                <a:cs typeface="Calibri" pitchFamily="34" charset="-120"/>
              </a:rPr>
              <a:t>AOCCFL and AOCCPFL are restricted to emergent events, or the flag would undo its own purpose.</a:t>
            </a:r>
            <a:endParaRPr lang="en-US" sz="1250" dirty="0"/>
          </a:p>
        </p:txBody>
      </p:sp>
      <p:sp>
        <p:nvSpPr>
          <p:cNvPr id="22" name="Text 20"/>
          <p:cNvSpPr/>
          <p:nvPr/>
        </p:nvSpPr>
        <p:spPr>
          <a:xfrm>
            <a:off x="640080" y="5532120"/>
            <a:ext cx="10972800" cy="457200"/>
          </a:xfrm>
          <a:prstGeom prst="rect">
            <a:avLst/>
          </a:prstGeom>
          <a:noFill/>
          <a:ln/>
        </p:spPr>
        <p:txBody>
          <a:bodyPr wrap="square" lIns="0" tIns="0" rIns="0" bIns="0" rtlCol="0" anchor="ctr"/>
          <a:lstStyle/>
          <a:p>
            <a:pPr indent="0" marL="0">
              <a:buNone/>
            </a:pPr>
            <a:r>
              <a:rPr lang="en-US" sz="1500" i="1" dirty="0">
                <a:solidFill>
                  <a:srgbClr val="0E7C86"/>
                </a:solidFill>
                <a:latin typeface="Calibri" pitchFamily="34" charset="0"/>
                <a:ea typeface="Calibri" pitchFamily="34" charset="-122"/>
                <a:cs typeface="Calibri" pitchFamily="34" charset="-120"/>
              </a:rPr>
              <a:t>Keep the row. Flag it. Subset at analysis time. That sentence is most of what ADaM 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TRACEABILITY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flag already exists — read it, do not rebuild it</a:t>
            </a:r>
            <a:endParaRPr lang="en-US" sz="3000" dirty="0"/>
          </a:p>
        </p:txBody>
      </p:sp>
      <p:sp>
        <p:nvSpPr>
          <p:cNvPr id="4" name="Shape 2"/>
          <p:cNvSpPr/>
          <p:nvPr/>
        </p:nvSpPr>
        <p:spPr>
          <a:xfrm>
            <a:off x="640080" y="1645920"/>
            <a:ext cx="5394960" cy="1920240"/>
          </a:xfrm>
          <a:prstGeom prst="roundRect">
            <a:avLst>
              <a:gd name="adj" fmla="val 428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28800"/>
            <a:ext cx="4846320" cy="36576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SDTM did this already</a:t>
            </a:r>
            <a:endParaRPr lang="en-US" sz="1700" dirty="0"/>
          </a:p>
        </p:txBody>
      </p:sp>
      <p:sp>
        <p:nvSpPr>
          <p:cNvPr id="6" name="Text 4"/>
          <p:cNvSpPr/>
          <p:nvPr/>
        </p:nvSpPr>
        <p:spPr>
          <a:xfrm>
            <a:off x="914400" y="2286000"/>
            <a:ext cx="4846320" cy="1188720"/>
          </a:xfrm>
          <a:prstGeom prst="rect">
            <a:avLst/>
          </a:prstGeom>
          <a:noFill/>
          <a:ln/>
        </p:spPr>
        <p:txBody>
          <a:bodyPr wrap="square" lIns="0" tIns="0" rIns="0" bIns="0" rtlCol="0" anchor="ctr"/>
          <a:lstStyle/>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SUPPAE.AETRTEM</a:t>
            </a:r>
            <a:endParaRPr lang="en-US" sz="1350" dirty="0"/>
          </a:p>
          <a:p>
            <a:pPr indent="0" marL="0">
              <a:lnSpc>
                <a:spcPts val="1900"/>
              </a:lnSpc>
              <a:buNone/>
            </a:pP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Derived once, in the tabulation</a:t>
            </a: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package, where it is documented</a:t>
            </a: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and where a reviewer can find it.</a:t>
            </a:r>
            <a:endParaRPr lang="en-US" sz="1350" dirty="0"/>
          </a:p>
        </p:txBody>
      </p:sp>
      <p:sp>
        <p:nvSpPr>
          <p:cNvPr id="7" name="Shape 5"/>
          <p:cNvSpPr/>
          <p:nvPr/>
        </p:nvSpPr>
        <p:spPr>
          <a:xfrm>
            <a:off x="6309360" y="1645920"/>
            <a:ext cx="5303520" cy="1920240"/>
          </a:xfrm>
          <a:prstGeom prst="roundRect">
            <a:avLst>
              <a:gd name="adj" fmla="val 428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583680" y="1828800"/>
            <a:ext cx="4754880" cy="365760"/>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ADaM reads it</a:t>
            </a:r>
            <a:endParaRPr lang="en-US" sz="1700" dirty="0"/>
          </a:p>
        </p:txBody>
      </p:sp>
      <p:sp>
        <p:nvSpPr>
          <p:cNvPr id="9" name="Text 7"/>
          <p:cNvSpPr/>
          <p:nvPr/>
        </p:nvSpPr>
        <p:spPr>
          <a:xfrm>
            <a:off x="6583680" y="2286000"/>
            <a:ext cx="4754880" cy="1188720"/>
          </a:xfrm>
          <a:prstGeom prst="rect">
            <a:avLst/>
          </a:prstGeom>
          <a:noFill/>
          <a:ln/>
        </p:spPr>
        <p:txBody>
          <a:bodyPr wrap="square" lIns="0" tIns="0" rIns="0" bIns="0" rtlCol="0" anchor="ctr"/>
          <a:lstStyle/>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trtemfl = qval;</a:t>
            </a:r>
            <a:endParaRPr lang="en-US" sz="1350" dirty="0"/>
          </a:p>
          <a:p>
            <a:pPr indent="0" marL="0">
              <a:lnSpc>
                <a:spcPts val="1900"/>
              </a:lnSpc>
              <a:buNone/>
            </a:pP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One derivation. One home.</a:t>
            </a: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If SDTM's rule is later refined,</a:t>
            </a:r>
            <a:endParaRPr lang="en-US" sz="1350" dirty="0"/>
          </a:p>
          <a:p>
            <a:pPr indent="0" marL="0">
              <a:lnSpc>
                <a:spcPts val="1900"/>
              </a:lnSpc>
              <a:buNone/>
            </a:pPr>
            <a:r>
              <a:rPr lang="en-US" sz="1350" dirty="0">
                <a:solidFill>
                  <a:srgbClr val="0F2E3D"/>
                </a:solidFill>
                <a:latin typeface="Calibri" pitchFamily="34" charset="0"/>
                <a:ea typeface="Calibri" pitchFamily="34" charset="-122"/>
                <a:cs typeface="Calibri" pitchFamily="34" charset="-120"/>
              </a:rPr>
              <a:t>ADaM inherits the refinement.</a:t>
            </a:r>
            <a:endParaRPr lang="en-US" sz="1350" dirty="0"/>
          </a:p>
        </p:txBody>
      </p:sp>
      <p:sp>
        <p:nvSpPr>
          <p:cNvPr id="10" name="Shape 8"/>
          <p:cNvSpPr/>
          <p:nvPr/>
        </p:nvSpPr>
        <p:spPr>
          <a:xfrm>
            <a:off x="640080" y="3840480"/>
            <a:ext cx="10972800" cy="1234440"/>
          </a:xfrm>
          <a:prstGeom prst="roundRect">
            <a:avLst>
              <a:gd name="adj" fmla="val 6667"/>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640080" y="3840480"/>
            <a:ext cx="82296" cy="1234440"/>
          </a:xfrm>
          <a:prstGeom prst="rect">
            <a:avLst/>
          </a:prstGeom>
          <a:solidFill>
            <a:srgbClr val="C4442E"/>
          </a:solidFill>
          <a:ln/>
        </p:spPr>
      </p:sp>
      <p:sp>
        <p:nvSpPr>
          <p:cNvPr id="12" name="Text 10"/>
          <p:cNvSpPr/>
          <p:nvPr/>
        </p:nvSpPr>
        <p:spPr>
          <a:xfrm>
            <a:off x="960120" y="4023360"/>
            <a:ext cx="10424160" cy="91440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alibri" pitchFamily="34" charset="0"/>
                <a:ea typeface="Calibri" pitchFamily="34" charset="-122"/>
                <a:cs typeface="Calibri" pitchFamily="34" charset="-120"/>
              </a:rPr>
              <a:t>Recompute it in ADaM and the two WILL eventually disagree.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Someone refines the SDTM rule for partial dates; ADaM keeps its own copy. Nothing errors. The tabulation and analysis packages simply disagree about which events were emergent — and a reviewer finds it before you do.</a:t>
            </a:r>
            <a:endParaRPr lang="en-US" sz="1350" dirty="0"/>
          </a:p>
        </p:txBody>
      </p:sp>
      <p:sp>
        <p:nvSpPr>
          <p:cNvPr id="13" name="Shape 11"/>
          <p:cNvSpPr/>
          <p:nvPr/>
        </p:nvSpPr>
        <p:spPr>
          <a:xfrm>
            <a:off x="640080" y="5349240"/>
            <a:ext cx="10972800" cy="868680"/>
          </a:xfrm>
          <a:prstGeom prst="roundRect">
            <a:avLst>
              <a:gd name="adj" fmla="val 947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914400" y="5504688"/>
            <a:ext cx="10424160" cy="640080"/>
          </a:xfrm>
          <a:prstGeom prst="rect">
            <a:avLst/>
          </a:prstGeom>
          <a:noFill/>
          <a:ln/>
        </p:spPr>
        <p:txBody>
          <a:bodyPr wrap="square" lIns="0" tIns="0" rIns="0" bIns="0" rtlCol="0" anchor="ctr"/>
          <a:lstStyle/>
          <a:p>
            <a:pPr indent="0" marL="0">
              <a:lnSpc>
                <a:spcPts val="1900"/>
              </a:lnSpc>
              <a:buNone/>
            </a:pPr>
            <a:r>
              <a:rPr lang="en-US" sz="1350" b="1" dirty="0">
                <a:solidFill>
                  <a:srgbClr val="0E7C86"/>
                </a:solidFill>
                <a:latin typeface="Calibri" pitchFamily="34" charset="0"/>
                <a:ea typeface="Calibri" pitchFamily="34" charset="-122"/>
                <a:cs typeface="Calibri" pitchFamily="34" charset="-120"/>
              </a:rPr>
              <a:t>But trust is not verification.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The notebook independently cross-checks the flag against the dates and requires zero mismatches. Reading a derived flag is right; assuming it is correct without ever testing it is not.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COUNTING</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Why AOCCFL exists</a:t>
            </a:r>
            <a:endParaRPr lang="en-US" sz="3000" dirty="0"/>
          </a:p>
        </p:txBody>
      </p:sp>
      <p:sp>
        <p:nvSpPr>
          <p:cNvPr id="4" name="Text 2"/>
          <p:cNvSpPr/>
          <p:nvPr/>
        </p:nvSpPr>
        <p:spPr>
          <a:xfrm>
            <a:off x="640080" y="1417320"/>
            <a:ext cx="10972800" cy="365760"/>
          </a:xfrm>
          <a:prstGeom prst="rect">
            <a:avLst/>
          </a:prstGeom>
          <a:noFill/>
          <a:ln/>
        </p:spPr>
        <p:txBody>
          <a:bodyPr wrap="square" lIns="0" tIns="0" rIns="0" bIns="0" rtlCol="0" anchor="ctr"/>
          <a:lstStyle/>
          <a:p>
            <a:pPr indent="0" marL="0">
              <a:buNone/>
            </a:pPr>
            <a:r>
              <a:rPr lang="en-US" sz="1500" dirty="0">
                <a:solidFill>
                  <a:srgbClr val="5A7682"/>
                </a:solidFill>
                <a:latin typeface="Calibri" pitchFamily="34" charset="0"/>
                <a:ea typeface="Calibri" pitchFamily="34" charset="-122"/>
                <a:cs typeface="Calibri" pitchFamily="34" charset="-120"/>
              </a:rPr>
              <a:t>The first line of every AE table is “subjects with at least one treatment-emergent event”.</a:t>
            </a:r>
            <a:endParaRPr lang="en-US" sz="1500" dirty="0"/>
          </a:p>
        </p:txBody>
      </p:sp>
      <p:sp>
        <p:nvSpPr>
          <p:cNvPr id="5" name="Text 3"/>
          <p:cNvSpPr/>
          <p:nvPr/>
        </p:nvSpPr>
        <p:spPr>
          <a:xfrm>
            <a:off x="640080" y="1783080"/>
            <a:ext cx="10972800" cy="365760"/>
          </a:xfrm>
          <a:prstGeom prst="rect">
            <a:avLst/>
          </a:prstGeom>
          <a:noFill/>
          <a:ln/>
        </p:spPr>
        <p:txBody>
          <a:bodyPr wrap="square" lIns="0" tIns="0" rIns="0" bIns="0" rtlCol="0" anchor="ctr"/>
          <a:lstStyle/>
          <a:p>
            <a:pPr indent="0" marL="0">
              <a:buNone/>
            </a:pPr>
            <a:r>
              <a:rPr lang="en-US" sz="1550" b="1" dirty="0">
                <a:solidFill>
                  <a:srgbClr val="0F2E3D"/>
                </a:solidFill>
                <a:latin typeface="Calibri" pitchFamily="34" charset="0"/>
                <a:ea typeface="Calibri" pitchFamily="34" charset="-122"/>
                <a:cs typeface="Calibri" pitchFamily="34" charset="-120"/>
              </a:rPr>
              <a:t>A subject with three events must contribute 1 to that number — not 3.</a:t>
            </a:r>
            <a:endParaRPr lang="en-US" sz="1550" dirty="0"/>
          </a:p>
        </p:txBody>
      </p:sp>
      <p:sp>
        <p:nvSpPr>
          <p:cNvPr id="6" name="Shape 4"/>
          <p:cNvSpPr/>
          <p:nvPr/>
        </p:nvSpPr>
        <p:spPr>
          <a:xfrm>
            <a:off x="640080" y="2377440"/>
            <a:ext cx="3611880" cy="2286000"/>
          </a:xfrm>
          <a:prstGeom prst="roundRect">
            <a:avLst>
              <a:gd name="adj" fmla="val 36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Shape 5"/>
          <p:cNvSpPr/>
          <p:nvPr/>
        </p:nvSpPr>
        <p:spPr>
          <a:xfrm>
            <a:off x="640080" y="2377440"/>
            <a:ext cx="3611880" cy="100584"/>
          </a:xfrm>
          <a:prstGeom prst="rect">
            <a:avLst/>
          </a:prstGeom>
          <a:solidFill>
            <a:srgbClr val="1FA8A0"/>
          </a:solidFill>
          <a:ln/>
        </p:spPr>
      </p:sp>
      <p:sp>
        <p:nvSpPr>
          <p:cNvPr id="8" name="Text 6"/>
          <p:cNvSpPr/>
          <p:nvPr/>
        </p:nvSpPr>
        <p:spPr>
          <a:xfrm>
            <a:off x="896112" y="2606040"/>
            <a:ext cx="3108960" cy="777240"/>
          </a:xfrm>
          <a:prstGeom prst="rect">
            <a:avLst/>
          </a:prstGeom>
          <a:noFill/>
          <a:ln/>
        </p:spPr>
        <p:txBody>
          <a:bodyPr wrap="square" lIns="0" tIns="0" rIns="0" bIns="0" rtlCol="0" anchor="ctr"/>
          <a:lstStyle/>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Count DISTINCT subjects</a:t>
            </a:r>
            <a:endParaRPr lang="en-US" sz="1250" dirty="0"/>
          </a:p>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where TRTEMFL = 'Y'</a:t>
            </a:r>
            <a:endParaRPr lang="en-US" sz="1250" dirty="0"/>
          </a:p>
        </p:txBody>
      </p:sp>
      <p:sp>
        <p:nvSpPr>
          <p:cNvPr id="9" name="Text 7"/>
          <p:cNvSpPr/>
          <p:nvPr/>
        </p:nvSpPr>
        <p:spPr>
          <a:xfrm>
            <a:off x="896112" y="3474720"/>
            <a:ext cx="3108960" cy="548640"/>
          </a:xfrm>
          <a:prstGeom prst="rect">
            <a:avLst/>
          </a:prstGeom>
          <a:noFill/>
          <a:ln/>
        </p:spPr>
        <p:txBody>
          <a:bodyPr wrap="square" lIns="0" tIns="0" rIns="0" bIns="0" rtlCol="0" anchor="ctr"/>
          <a:lstStyle/>
          <a:p>
            <a:pPr indent="0" marL="0">
              <a:buNone/>
            </a:pPr>
            <a:r>
              <a:rPr lang="en-US" sz="2800" b="1" dirty="0">
                <a:solidFill>
                  <a:srgbClr val="1FA8A0"/>
                </a:solidFill>
                <a:latin typeface="Cambria" pitchFamily="34" charset="0"/>
                <a:ea typeface="Cambria" pitchFamily="34" charset="-122"/>
                <a:cs typeface="Cambria" pitchFamily="34" charset="-120"/>
              </a:rPr>
              <a:t>3 / 3</a:t>
            </a:r>
            <a:endParaRPr lang="en-US" sz="2800" dirty="0"/>
          </a:p>
        </p:txBody>
      </p:sp>
      <p:sp>
        <p:nvSpPr>
          <p:cNvPr id="10" name="Text 8"/>
          <p:cNvSpPr/>
          <p:nvPr/>
        </p:nvSpPr>
        <p:spPr>
          <a:xfrm>
            <a:off x="896112" y="4069080"/>
            <a:ext cx="3108960" cy="457200"/>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correct</a:t>
            </a:r>
            <a:endParaRPr lang="en-US" sz="1250" dirty="0"/>
          </a:p>
        </p:txBody>
      </p:sp>
      <p:sp>
        <p:nvSpPr>
          <p:cNvPr id="11" name="Shape 9"/>
          <p:cNvSpPr/>
          <p:nvPr/>
        </p:nvSpPr>
        <p:spPr>
          <a:xfrm>
            <a:off x="4434840" y="2377440"/>
            <a:ext cx="3611880" cy="2286000"/>
          </a:xfrm>
          <a:prstGeom prst="roundRect">
            <a:avLst>
              <a:gd name="adj" fmla="val 36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4434840" y="2377440"/>
            <a:ext cx="3611880" cy="100584"/>
          </a:xfrm>
          <a:prstGeom prst="rect">
            <a:avLst/>
          </a:prstGeom>
          <a:solidFill>
            <a:srgbClr val="0E7C86"/>
          </a:solidFill>
          <a:ln/>
        </p:spPr>
      </p:sp>
      <p:sp>
        <p:nvSpPr>
          <p:cNvPr id="13" name="Text 11"/>
          <p:cNvSpPr/>
          <p:nvPr/>
        </p:nvSpPr>
        <p:spPr>
          <a:xfrm>
            <a:off x="4690872" y="2606040"/>
            <a:ext cx="3108960" cy="777240"/>
          </a:xfrm>
          <a:prstGeom prst="rect">
            <a:avLst/>
          </a:prstGeom>
          <a:noFill/>
          <a:ln/>
        </p:spPr>
        <p:txBody>
          <a:bodyPr wrap="square" lIns="0" tIns="0" rIns="0" bIns="0" rtlCol="0" anchor="ctr"/>
          <a:lstStyle/>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Count ROWS</a:t>
            </a:r>
            <a:endParaRPr lang="en-US" sz="1250" dirty="0"/>
          </a:p>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where AOCCFL = 'Y'</a:t>
            </a:r>
            <a:endParaRPr lang="en-US" sz="1250" dirty="0"/>
          </a:p>
        </p:txBody>
      </p:sp>
      <p:sp>
        <p:nvSpPr>
          <p:cNvPr id="14" name="Text 12"/>
          <p:cNvSpPr/>
          <p:nvPr/>
        </p:nvSpPr>
        <p:spPr>
          <a:xfrm>
            <a:off x="4690872" y="3474720"/>
            <a:ext cx="3108960" cy="548640"/>
          </a:xfrm>
          <a:prstGeom prst="rect">
            <a:avLst/>
          </a:prstGeom>
          <a:noFill/>
          <a:ln/>
        </p:spPr>
        <p:txBody>
          <a:bodyPr wrap="square" lIns="0" tIns="0" rIns="0" bIns="0" rtlCol="0" anchor="ctr"/>
          <a:lstStyle/>
          <a:p>
            <a:pPr indent="0" marL="0">
              <a:buNone/>
            </a:pPr>
            <a:r>
              <a:rPr lang="en-US" sz="2800" b="1" dirty="0">
                <a:solidFill>
                  <a:srgbClr val="0E7C86"/>
                </a:solidFill>
                <a:latin typeface="Cambria" pitchFamily="34" charset="0"/>
                <a:ea typeface="Cambria" pitchFamily="34" charset="-122"/>
                <a:cs typeface="Cambria" pitchFamily="34" charset="-120"/>
              </a:rPr>
              <a:t>3 / 3</a:t>
            </a:r>
            <a:endParaRPr lang="en-US" sz="2800" dirty="0"/>
          </a:p>
        </p:txBody>
      </p:sp>
      <p:sp>
        <p:nvSpPr>
          <p:cNvPr id="15" name="Text 13"/>
          <p:cNvSpPr/>
          <p:nvPr/>
        </p:nvSpPr>
        <p:spPr>
          <a:xfrm>
            <a:off x="4690872" y="4069080"/>
            <a:ext cx="3108960" cy="457200"/>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correct — by construction</a:t>
            </a:r>
            <a:endParaRPr lang="en-US" sz="1250" dirty="0"/>
          </a:p>
        </p:txBody>
      </p:sp>
      <p:sp>
        <p:nvSpPr>
          <p:cNvPr id="16" name="Shape 14"/>
          <p:cNvSpPr/>
          <p:nvPr/>
        </p:nvSpPr>
        <p:spPr>
          <a:xfrm>
            <a:off x="8229600" y="2377440"/>
            <a:ext cx="3611880" cy="2286000"/>
          </a:xfrm>
          <a:prstGeom prst="roundRect">
            <a:avLst>
              <a:gd name="adj" fmla="val 36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229600" y="2377440"/>
            <a:ext cx="3611880" cy="100584"/>
          </a:xfrm>
          <a:prstGeom prst="rect">
            <a:avLst/>
          </a:prstGeom>
          <a:solidFill>
            <a:srgbClr val="C4442E"/>
          </a:solidFill>
          <a:ln/>
        </p:spPr>
      </p:sp>
      <p:sp>
        <p:nvSpPr>
          <p:cNvPr id="18" name="Text 16"/>
          <p:cNvSpPr/>
          <p:nvPr/>
        </p:nvSpPr>
        <p:spPr>
          <a:xfrm>
            <a:off x="8485632" y="2606040"/>
            <a:ext cx="3108960" cy="777240"/>
          </a:xfrm>
          <a:prstGeom prst="rect">
            <a:avLst/>
          </a:prstGeom>
          <a:noFill/>
          <a:ln/>
        </p:spPr>
        <p:txBody>
          <a:bodyPr wrap="square" lIns="0" tIns="0" rIns="0" bIns="0" rtlCol="0" anchor="ctr"/>
          <a:lstStyle/>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Count ALL rows</a:t>
            </a:r>
            <a:endParaRPr lang="en-US" sz="1250" dirty="0"/>
          </a:p>
          <a:p>
            <a:pPr indent="0" marL="0">
              <a:lnSpc>
                <a:spcPts val="1700"/>
              </a:lnSpc>
              <a:buNone/>
            </a:pPr>
            <a:r>
              <a:rPr lang="en-US" sz="1250" dirty="0">
                <a:solidFill>
                  <a:srgbClr val="0F2E3D"/>
                </a:solidFill>
                <a:latin typeface="Courier New" pitchFamily="34" charset="0"/>
                <a:ea typeface="Courier New" pitchFamily="34" charset="-122"/>
                <a:cs typeface="Courier New" pitchFamily="34" charset="-120"/>
              </a:rPr>
              <a:t>where TRTEMFL = 'Y'</a:t>
            </a:r>
            <a:endParaRPr lang="en-US" sz="1250" dirty="0"/>
          </a:p>
        </p:txBody>
      </p:sp>
      <p:sp>
        <p:nvSpPr>
          <p:cNvPr id="19" name="Text 17"/>
          <p:cNvSpPr/>
          <p:nvPr/>
        </p:nvSpPr>
        <p:spPr>
          <a:xfrm>
            <a:off x="8485632" y="3474720"/>
            <a:ext cx="3108960" cy="548640"/>
          </a:xfrm>
          <a:prstGeom prst="rect">
            <a:avLst/>
          </a:prstGeom>
          <a:noFill/>
          <a:ln/>
        </p:spPr>
        <p:txBody>
          <a:bodyPr wrap="square" lIns="0" tIns="0" rIns="0" bIns="0" rtlCol="0" anchor="ctr"/>
          <a:lstStyle/>
          <a:p>
            <a:pPr indent="0" marL="0">
              <a:buNone/>
            </a:pPr>
            <a:r>
              <a:rPr lang="en-US" sz="2800" b="1" dirty="0">
                <a:solidFill>
                  <a:srgbClr val="C4442E"/>
                </a:solidFill>
                <a:latin typeface="Cambria" pitchFamily="34" charset="0"/>
                <a:ea typeface="Cambria" pitchFamily="34" charset="-122"/>
                <a:cs typeface="Cambria" pitchFamily="34" charset="-120"/>
              </a:rPr>
              <a:t>5 / 4</a:t>
            </a:r>
            <a:endParaRPr lang="en-US" sz="2800" dirty="0"/>
          </a:p>
        </p:txBody>
      </p:sp>
      <p:sp>
        <p:nvSpPr>
          <p:cNvPr id="20" name="Text 18"/>
          <p:cNvSpPr/>
          <p:nvPr/>
        </p:nvSpPr>
        <p:spPr>
          <a:xfrm>
            <a:off x="8485632" y="4069080"/>
            <a:ext cx="3108960" cy="457200"/>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wrong — 125% of the arm</a:t>
            </a:r>
            <a:endParaRPr lang="en-US" sz="1250" dirty="0"/>
          </a:p>
        </p:txBody>
      </p:sp>
      <p:sp>
        <p:nvSpPr>
          <p:cNvPr id="21" name="Text 19"/>
          <p:cNvSpPr/>
          <p:nvPr/>
        </p:nvSpPr>
        <p:spPr>
          <a:xfrm>
            <a:off x="640080" y="4754880"/>
            <a:ext cx="10972800" cy="320040"/>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Drug A / Placebo. Four subjects per arm.</a:t>
            </a:r>
            <a:endParaRPr lang="en-US" sz="1250" dirty="0"/>
          </a:p>
        </p:txBody>
      </p:sp>
      <p:sp>
        <p:nvSpPr>
          <p:cNvPr id="22" name="Shape 20"/>
          <p:cNvSpPr/>
          <p:nvPr/>
        </p:nvSpPr>
        <p:spPr>
          <a:xfrm>
            <a:off x="640080" y="5212080"/>
            <a:ext cx="10972800" cy="1005840"/>
          </a:xfrm>
          <a:prstGeom prst="roundRect">
            <a:avLst>
              <a:gd name="adj" fmla="val 818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914400" y="5376672"/>
            <a:ext cx="10424160" cy="73152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alibri" pitchFamily="34" charset="0"/>
                <a:ea typeface="Calibri" pitchFamily="34" charset="-122"/>
                <a:cs typeface="Calibri" pitchFamily="34" charset="-120"/>
              </a:rPr>
              <a:t>Count subjects with a flag. Count events with a row.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Never let one stand in for the other. A percentage over 100 announces itself — the dangerous version is a study large enough that the inflated number still looks plausible.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REPRODUCIBILITY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Which row gets flagged must not depend on luck</a:t>
            </a:r>
            <a:endParaRPr lang="en-US" sz="3000" dirty="0"/>
          </a:p>
        </p:txBody>
      </p:sp>
      <p:sp>
        <p:nvSpPr>
          <p:cNvPr id="4" name="Shape 2"/>
          <p:cNvSpPr/>
          <p:nvPr/>
        </p:nvSpPr>
        <p:spPr>
          <a:xfrm>
            <a:off x="640080" y="1554480"/>
            <a:ext cx="5394960" cy="1990344"/>
          </a:xfrm>
          <a:prstGeom prst="roundRect">
            <a:avLst>
              <a:gd name="adj" fmla="val 3675"/>
            </a:avLst>
          </a:prstGeom>
          <a:solidFill>
            <a:srgbClr val="13323F"/>
          </a:solidFill>
          <a:ln w="19050">
            <a:solidFill>
              <a:srgbClr val="C4442E"/>
            </a:solidFill>
            <a:prstDash val="solid"/>
          </a:ln>
        </p:spPr>
      </p:sp>
      <p:sp>
        <p:nvSpPr>
          <p:cNvPr id="5" name="Text 3"/>
          <p:cNvSpPr/>
          <p:nvPr/>
        </p:nvSpPr>
        <p:spPr>
          <a:xfrm>
            <a:off x="868680" y="1645920"/>
            <a:ext cx="5486400" cy="320040"/>
          </a:xfrm>
          <a:prstGeom prst="rect">
            <a:avLst/>
          </a:prstGeom>
          <a:noFill/>
          <a:ln/>
        </p:spPr>
        <p:txBody>
          <a:bodyPr wrap="square" lIns="0" tIns="0" rIns="0" bIns="0" rtlCol="0" anchor="ctr"/>
          <a:lstStyle/>
          <a:p>
            <a:pPr indent="0" marL="0">
              <a:buNone/>
            </a:pPr>
            <a:r>
              <a:rPr lang="en-US" sz="1400" b="1" dirty="0">
                <a:solidFill>
                  <a:srgbClr val="C4442E"/>
                </a:solidFill>
                <a:latin typeface="Cambria" pitchFamily="34" charset="0"/>
                <a:ea typeface="Cambria" pitchFamily="34" charset="-122"/>
                <a:cs typeface="Cambria" pitchFamily="34" charset="-120"/>
              </a:rPr>
              <a:t>FRAGILE</a:t>
            </a:r>
            <a:endParaRPr lang="en-US" sz="1400" dirty="0"/>
          </a:p>
        </p:txBody>
      </p:sp>
      <p:sp>
        <p:nvSpPr>
          <p:cNvPr id="6" name="Text 4"/>
          <p:cNvSpPr/>
          <p:nvPr/>
        </p:nvSpPr>
        <p:spPr>
          <a:xfrm>
            <a:off x="868680" y="2011680"/>
            <a:ext cx="498348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by usubjid astdt;</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Ties unresolved.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The flagged row depends on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whatever order the data</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happened to arrive in.</a:t>
            </a:r>
            <a:endParaRPr lang="en-US" sz="1200" dirty="0"/>
          </a:p>
        </p:txBody>
      </p:sp>
      <p:sp>
        <p:nvSpPr>
          <p:cNvPr id="7" name="Shape 5"/>
          <p:cNvSpPr/>
          <p:nvPr/>
        </p:nvSpPr>
        <p:spPr>
          <a:xfrm>
            <a:off x="6309360" y="1554480"/>
            <a:ext cx="5303520" cy="1990344"/>
          </a:xfrm>
          <a:prstGeom prst="roundRect">
            <a:avLst>
              <a:gd name="adj" fmla="val 3675"/>
            </a:avLst>
          </a:prstGeom>
          <a:solidFill>
            <a:srgbClr val="13323F"/>
          </a:solidFill>
          <a:ln w="19050">
            <a:solidFill>
              <a:srgbClr val="1FA8A0"/>
            </a:solidFill>
            <a:prstDash val="solid"/>
          </a:ln>
        </p:spPr>
      </p:sp>
      <p:sp>
        <p:nvSpPr>
          <p:cNvPr id="8" name="Text 6"/>
          <p:cNvSpPr/>
          <p:nvPr/>
        </p:nvSpPr>
        <p:spPr>
          <a:xfrm>
            <a:off x="6537960" y="1645920"/>
            <a:ext cx="5486400" cy="320040"/>
          </a:xfrm>
          <a:prstGeom prst="rect">
            <a:avLst/>
          </a:prstGeom>
          <a:noFill/>
          <a:ln/>
        </p:spPr>
        <p:txBody>
          <a:bodyPr wrap="square" lIns="0" tIns="0" rIns="0" bIns="0" rtlCol="0" anchor="ctr"/>
          <a:lstStyle/>
          <a:p>
            <a:pPr indent="0" marL="0">
              <a:buNone/>
            </a:pPr>
            <a:r>
              <a:rPr lang="en-US" sz="1400" b="1" dirty="0">
                <a:solidFill>
                  <a:srgbClr val="1FA8A0"/>
                </a:solidFill>
                <a:latin typeface="Cambria" pitchFamily="34" charset="0"/>
                <a:ea typeface="Cambria" pitchFamily="34" charset="-122"/>
                <a:cs typeface="Cambria" pitchFamily="34" charset="-120"/>
              </a:rPr>
              <a:t>CORRECT</a:t>
            </a:r>
            <a:endParaRPr lang="en-US" sz="1400" dirty="0"/>
          </a:p>
        </p:txBody>
      </p:sp>
      <p:sp>
        <p:nvSpPr>
          <p:cNvPr id="9" name="Text 7"/>
          <p:cNvSpPr/>
          <p:nvPr/>
        </p:nvSpPr>
        <p:spPr>
          <a:xfrm>
            <a:off x="6537960" y="2011680"/>
            <a:ext cx="489204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by usubjid astdt aeseq;</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Ties broken deterministically.</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Same answer every run,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on every machine,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in every order.</a:t>
            </a:r>
            <a:endParaRPr lang="en-US" sz="1200" dirty="0"/>
          </a:p>
        </p:txBody>
      </p:sp>
      <p:sp>
        <p:nvSpPr>
          <p:cNvPr id="10" name="Shape 8"/>
          <p:cNvSpPr/>
          <p:nvPr/>
        </p:nvSpPr>
        <p:spPr>
          <a:xfrm>
            <a:off x="640080" y="4023360"/>
            <a:ext cx="1097280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914400" y="4187952"/>
            <a:ext cx="10424160" cy="36576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Why this is a regulatory concern, not tidiness</a:t>
            </a:r>
            <a:endParaRPr lang="en-US" sz="1600" dirty="0"/>
          </a:p>
        </p:txBody>
      </p:sp>
      <p:sp>
        <p:nvSpPr>
          <p:cNvPr id="12" name="Text 10"/>
          <p:cNvSpPr/>
          <p:nvPr/>
        </p:nvSpPr>
        <p:spPr>
          <a:xfrm>
            <a:off x="914400" y="4617720"/>
            <a:ext cx="10424160" cy="1280160"/>
          </a:xfrm>
          <a:prstGeom prst="rect">
            <a:avLst/>
          </a:prstGeom>
          <a:noFill/>
          <a:ln/>
        </p:spPr>
        <p:txBody>
          <a:bodyPr wrap="square" lIns="0" tIns="0" rIns="0" bIns="0" rtlCol="0" anchor="ctr"/>
          <a:lstStyle/>
          <a:p>
            <a:pPr indent="0" marL="0">
              <a:lnSpc>
                <a:spcPts val="1800"/>
              </a:lnSpc>
              <a:buNone/>
            </a:pPr>
            <a:r>
              <a:rPr lang="en-US" sz="1300" b="1" dirty="0">
                <a:solidFill>
                  <a:srgbClr val="5A7682"/>
                </a:solidFill>
                <a:latin typeface="Calibri" pitchFamily="34" charset="0"/>
                <a:ea typeface="Calibri" pitchFamily="34" charset="-122"/>
                <a:cs typeface="Calibri" pitchFamily="34" charset="-120"/>
              </a:rPr>
              <a:t>1.  Reproducibility IS the deliverable. </a:t>
            </a:r>
            <a:pPr indent="0" marL="0">
              <a:lnSpc>
                <a:spcPts val="1800"/>
              </a:lnSpc>
              <a:buNone/>
            </a:pPr>
            <a:r>
              <a:rPr lang="en-US" sz="1300" dirty="0">
                <a:solidFill>
                  <a:srgbClr val="5A7682"/>
                </a:solidFill>
                <a:latin typeface="Calibri" pitchFamily="34" charset="0"/>
                <a:ea typeface="Calibri" pitchFamily="34" charset="-122"/>
                <a:cs typeface="Calibri" pitchFamily="34" charset="-120"/>
              </a:rPr>
              <a:t>A result that changes with dataset order cannot be reproduced — and an irreproducible result is treated as unreliable whether or not it was right.
</a:t>
            </a:r>
            <a:pPr indent="0" marL="0">
              <a:lnSpc>
                <a:spcPts val="1800"/>
              </a:lnSpc>
              <a:buNone/>
            </a:pPr>
            <a:r>
              <a:rPr lang="en-US" sz="1300" b="1" dirty="0">
                <a:solidFill>
                  <a:srgbClr val="5A7682"/>
                </a:solidFill>
                <a:latin typeface="Calibri" pitchFamily="34" charset="0"/>
                <a:ea typeface="Calibri" pitchFamily="34" charset="-122"/>
                <a:cs typeface="Calibri" pitchFamily="34" charset="-120"/>
              </a:rPr>
              <a:t>2.  It breaks silently and intermittently. </a:t>
            </a:r>
            <a:pPr indent="0" marL="0">
              <a:lnSpc>
                <a:spcPts val="1800"/>
              </a:lnSpc>
              <a:buNone/>
            </a:pPr>
            <a:r>
              <a:rPr lang="en-US" sz="1300" dirty="0">
                <a:solidFill>
                  <a:srgbClr val="5A7682"/>
                </a:solidFill>
                <a:latin typeface="Calibri" pitchFamily="34" charset="0"/>
                <a:ea typeface="Calibri" pitchFamily="34" charset="-122"/>
                <a:cs typeface="Calibri" pitchFamily="34" charset="-120"/>
              </a:rPr>
              <a:t>Most damagingly between the run that made the tables and the run that made the QC check.
</a:t>
            </a:r>
            <a:pPr indent="0" marL="0">
              <a:lnSpc>
                <a:spcPts val="1800"/>
              </a:lnSpc>
              <a:buNone/>
            </a:pPr>
            <a:r>
              <a:rPr lang="en-US" sz="1300" b="1" dirty="0">
                <a:solidFill>
                  <a:srgbClr val="5A7682"/>
                </a:solidFill>
                <a:latin typeface="Calibri" pitchFamily="34" charset="0"/>
                <a:ea typeface="Calibri" pitchFamily="34" charset="-122"/>
                <a:cs typeface="Calibri" pitchFamily="34" charset="-120"/>
              </a:rPr>
              <a:t>3.  The flagged row supplies reported values. </a:t>
            </a:r>
            <a:pPr indent="0" marL="0">
              <a:lnSpc>
                <a:spcPts val="1800"/>
              </a:lnSpc>
              <a:buNone/>
            </a:pPr>
            <a:r>
              <a:rPr lang="en-US" sz="1300" dirty="0">
                <a:solidFill>
                  <a:srgbClr val="5A7682"/>
                </a:solidFill>
                <a:latin typeface="Calibri" pitchFamily="34" charset="0"/>
                <a:ea typeface="Calibri" pitchFamily="34" charset="-122"/>
                <a:cs typeface="Calibri" pitchFamily="34" charset="-120"/>
              </a:rPr>
              <a:t>In some shells the flagged event's severity is what prints. A non-deterministic flag changes reported severities, not just row selection.</a:t>
            </a:r>
            <a:endParaRPr lang="en-US" sz="1300" dirty="0"/>
          </a:p>
        </p:txBody>
      </p:sp>
      <p:sp>
        <p:nvSpPr>
          <p:cNvPr id="13" name="Text 11"/>
          <p:cNvSpPr/>
          <p:nvPr/>
        </p:nvSpPr>
        <p:spPr>
          <a:xfrm>
            <a:off x="640080" y="6126480"/>
            <a:ext cx="10972800" cy="365760"/>
          </a:xfrm>
          <a:prstGeom prst="rect">
            <a:avLst/>
          </a:prstGeom>
          <a:noFill/>
          <a:ln/>
        </p:spPr>
        <p:txBody>
          <a:bodyPr wrap="square" lIns="0" tIns="0" rIns="0" bIns="0" rtlCol="0" anchor="ctr"/>
          <a:lstStyle/>
          <a:p>
            <a:pPr indent="0" marL="0">
              <a:buNone/>
            </a:pPr>
            <a:r>
              <a:rPr lang="en-US" sz="1350" i="1" dirty="0">
                <a:solidFill>
                  <a:srgbClr val="0E7C86"/>
                </a:solidFill>
                <a:latin typeface="Calibri" pitchFamily="34" charset="0"/>
                <a:ea typeface="Calibri" pitchFamily="34" charset="-122"/>
                <a:cs typeface="Calibri" pitchFamily="34" charset="-120"/>
              </a:rPr>
              <a:t>No ABC-01 subject has two events on one date — so this code would pass today and fail on the next study.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118872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CAUSALITY</a:t>
            </a:r>
            <a:endParaRPr lang="en-US" sz="1300" dirty="0"/>
          </a:p>
        </p:txBody>
      </p:sp>
      <p:sp>
        <p:nvSpPr>
          <p:cNvPr id="3" name="Text 1"/>
          <p:cNvSpPr/>
          <p:nvPr/>
        </p:nvSpPr>
        <p:spPr>
          <a:xfrm>
            <a:off x="603504" y="1554480"/>
            <a:ext cx="10972800" cy="1280160"/>
          </a:xfrm>
          <a:prstGeom prst="rect">
            <a:avLst/>
          </a:prstGeom>
          <a:noFill/>
          <a:ln/>
        </p:spPr>
        <p:txBody>
          <a:bodyPr wrap="square" lIns="0" tIns="0" rIns="0" bIns="0" rtlCol="0" anchor="ctr"/>
          <a:lstStyle/>
          <a:p>
            <a:pPr indent="0" marL="0">
              <a:lnSpc>
                <a:spcPts val="4000"/>
              </a:lnSpc>
              <a:buNone/>
            </a:pPr>
            <a:r>
              <a:rPr lang="en-US" sz="2800" b="1" dirty="0">
                <a:solidFill>
                  <a:srgbClr val="FFFFFF"/>
                </a:solidFill>
                <a:latin typeface="Cambria" pitchFamily="34" charset="0"/>
                <a:ea typeface="Cambria" pitchFamily="34" charset="-122"/>
                <a:cs typeface="Cambria" pitchFamily="34" charset="-120"/>
              </a:rPr>
              <a:t>AREL collapses four collected values into two.</a:t>
            </a:r>
            <a:endParaRPr lang="en-US" sz="2800" dirty="0"/>
          </a:p>
          <a:p>
            <a:pPr indent="0" marL="0">
              <a:lnSpc>
                <a:spcPts val="4000"/>
              </a:lnSpc>
              <a:buNone/>
            </a:pPr>
            <a:r>
              <a:rPr lang="en-US" sz="2800" b="1" dirty="0">
                <a:solidFill>
                  <a:srgbClr val="FFFFFF"/>
                </a:solidFill>
                <a:latin typeface="Cambria" pitchFamily="34" charset="0"/>
                <a:ea typeface="Cambria" pitchFamily="34" charset="-122"/>
                <a:cs typeface="Cambria" pitchFamily="34" charset="-120"/>
              </a:rPr>
              <a:t>That collapse is a decision, not a fact.</a:t>
            </a:r>
            <a:endParaRPr lang="en-US" sz="2800" dirty="0"/>
          </a:p>
        </p:txBody>
      </p:sp>
      <p:sp>
        <p:nvSpPr>
          <p:cNvPr id="4" name="Shape 2"/>
          <p:cNvSpPr/>
          <p:nvPr/>
        </p:nvSpPr>
        <p:spPr>
          <a:xfrm>
            <a:off x="640080" y="3017520"/>
            <a:ext cx="10972800" cy="1051560"/>
          </a:xfrm>
          <a:prstGeom prst="roundRect">
            <a:avLst>
              <a:gd name="adj" fmla="val 7826"/>
            </a:avLst>
          </a:prstGeom>
          <a:solidFill>
            <a:srgbClr val="133B4C"/>
          </a:solidFill>
          <a:ln w="12700">
            <a:solidFill>
              <a:srgbClr val="1E4A5C"/>
            </a:solidFill>
            <a:prstDash val="solid"/>
          </a:ln>
        </p:spPr>
      </p:sp>
      <p:sp>
        <p:nvSpPr>
          <p:cNvPr id="5" name="Text 3"/>
          <p:cNvSpPr/>
          <p:nvPr/>
        </p:nvSpPr>
        <p:spPr>
          <a:xfrm>
            <a:off x="960120" y="3145536"/>
            <a:ext cx="5669280" cy="41148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RELATED or POSSIBLY RELATED</a:t>
            </a:r>
            <a:endParaRPr lang="en-US" sz="1450" dirty="0"/>
          </a:p>
        </p:txBody>
      </p:sp>
      <p:sp>
        <p:nvSpPr>
          <p:cNvPr id="6" name="Text 4"/>
          <p:cNvSpPr/>
          <p:nvPr/>
        </p:nvSpPr>
        <p:spPr>
          <a:xfrm>
            <a:off x="960120" y="3584448"/>
            <a:ext cx="6858000" cy="365760"/>
          </a:xfrm>
          <a:prstGeom prst="rect">
            <a:avLst/>
          </a:prstGeom>
          <a:noFill/>
          <a:ln/>
        </p:spPr>
        <p:txBody>
          <a:bodyPr wrap="square" lIns="0" tIns="0" rIns="0" bIns="0" rtlCol="0" anchor="ctr"/>
          <a:lstStyle/>
          <a:p>
            <a:pPr indent="0" marL="0">
              <a:buNone/>
            </a:pPr>
            <a:r>
              <a:rPr lang="en-US" sz="1300" dirty="0">
                <a:solidFill>
                  <a:srgbClr val="9FBAC2"/>
                </a:solidFill>
                <a:latin typeface="Calibri" pitchFamily="34" charset="0"/>
                <a:ea typeface="Calibri" pitchFamily="34" charset="-122"/>
                <a:cs typeface="Calibri" pitchFamily="34" charset="-120"/>
              </a:rPr>
              <a:t>the conservative reading — and the usual default</a:t>
            </a:r>
            <a:endParaRPr lang="en-US" sz="1300" dirty="0"/>
          </a:p>
        </p:txBody>
      </p:sp>
      <p:sp>
        <p:nvSpPr>
          <p:cNvPr id="7" name="Text 5"/>
          <p:cNvSpPr/>
          <p:nvPr/>
        </p:nvSpPr>
        <p:spPr>
          <a:xfrm>
            <a:off x="8778240" y="3273552"/>
            <a:ext cx="2560320" cy="548640"/>
          </a:xfrm>
          <a:prstGeom prst="rect">
            <a:avLst/>
          </a:prstGeom>
          <a:noFill/>
          <a:ln/>
        </p:spPr>
        <p:txBody>
          <a:bodyPr wrap="square" lIns="0" tIns="0" rIns="0" bIns="0" rtlCol="0" anchor="ctr"/>
          <a:lstStyle/>
          <a:p>
            <a:pPr algn="ctr" indent="0" marL="0">
              <a:buNone/>
            </a:pPr>
            <a:r>
              <a:rPr lang="en-US" sz="2600" b="1" dirty="0">
                <a:solidFill>
                  <a:srgbClr val="6FC8B4"/>
                </a:solidFill>
                <a:latin typeface="Cambria" pitchFamily="34" charset="0"/>
                <a:ea typeface="Cambria" pitchFamily="34" charset="-122"/>
                <a:cs typeface="Cambria" pitchFamily="34" charset="-120"/>
              </a:rPr>
              <a:t>7 of 9</a:t>
            </a:r>
            <a:endParaRPr lang="en-US" sz="2600" dirty="0"/>
          </a:p>
        </p:txBody>
      </p:sp>
      <p:sp>
        <p:nvSpPr>
          <p:cNvPr id="8" name="Shape 6"/>
          <p:cNvSpPr/>
          <p:nvPr/>
        </p:nvSpPr>
        <p:spPr>
          <a:xfrm>
            <a:off x="640080" y="4224528"/>
            <a:ext cx="10972800" cy="1051560"/>
          </a:xfrm>
          <a:prstGeom prst="roundRect">
            <a:avLst>
              <a:gd name="adj" fmla="val 7826"/>
            </a:avLst>
          </a:prstGeom>
          <a:solidFill>
            <a:srgbClr val="133B4C"/>
          </a:solidFill>
          <a:ln w="12700">
            <a:solidFill>
              <a:srgbClr val="1E4A5C"/>
            </a:solidFill>
            <a:prstDash val="solid"/>
          </a:ln>
        </p:spPr>
      </p:sp>
      <p:sp>
        <p:nvSpPr>
          <p:cNvPr id="9" name="Text 7"/>
          <p:cNvSpPr/>
          <p:nvPr/>
        </p:nvSpPr>
        <p:spPr>
          <a:xfrm>
            <a:off x="960120" y="4352544"/>
            <a:ext cx="5669280" cy="41148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RELATED only</a:t>
            </a:r>
            <a:endParaRPr lang="en-US" sz="1450" dirty="0"/>
          </a:p>
        </p:txBody>
      </p:sp>
      <p:sp>
        <p:nvSpPr>
          <p:cNvPr id="10" name="Text 8"/>
          <p:cNvSpPr/>
          <p:nvPr/>
        </p:nvSpPr>
        <p:spPr>
          <a:xfrm>
            <a:off x="960120" y="4791456"/>
            <a:ext cx="6858000" cy="365760"/>
          </a:xfrm>
          <a:prstGeom prst="rect">
            <a:avLst/>
          </a:prstGeom>
          <a:noFill/>
          <a:ln/>
        </p:spPr>
        <p:txBody>
          <a:bodyPr wrap="square" lIns="0" tIns="0" rIns="0" bIns="0" rtlCol="0" anchor="ctr"/>
          <a:lstStyle/>
          <a:p>
            <a:pPr indent="0" marL="0">
              <a:buNone/>
            </a:pPr>
            <a:r>
              <a:rPr lang="en-US" sz="1300" dirty="0">
                <a:solidFill>
                  <a:srgbClr val="9FBAC2"/>
                </a:solidFill>
                <a:latin typeface="Calibri" pitchFamily="34" charset="0"/>
                <a:ea typeface="Calibri" pitchFamily="34" charset="-122"/>
                <a:cs typeface="Calibri" pitchFamily="34" charset="-120"/>
              </a:rPr>
              <a:t>22% of treatment-emergent events reclassified</a:t>
            </a:r>
            <a:endParaRPr lang="en-US" sz="1300" dirty="0"/>
          </a:p>
        </p:txBody>
      </p:sp>
      <p:sp>
        <p:nvSpPr>
          <p:cNvPr id="11" name="Text 9"/>
          <p:cNvSpPr/>
          <p:nvPr/>
        </p:nvSpPr>
        <p:spPr>
          <a:xfrm>
            <a:off x="8778240" y="4480560"/>
            <a:ext cx="2560320" cy="548640"/>
          </a:xfrm>
          <a:prstGeom prst="rect">
            <a:avLst/>
          </a:prstGeom>
          <a:noFill/>
          <a:ln/>
        </p:spPr>
        <p:txBody>
          <a:bodyPr wrap="square" lIns="0" tIns="0" rIns="0" bIns="0" rtlCol="0" anchor="ctr"/>
          <a:lstStyle/>
          <a:p>
            <a:pPr algn="ctr" indent="0" marL="0">
              <a:buNone/>
            </a:pPr>
            <a:r>
              <a:rPr lang="en-US" sz="2600" b="1" dirty="0">
                <a:solidFill>
                  <a:srgbClr val="E8833A"/>
                </a:solidFill>
                <a:latin typeface="Cambria" pitchFamily="34" charset="0"/>
                <a:ea typeface="Cambria" pitchFamily="34" charset="-122"/>
                <a:cs typeface="Cambria" pitchFamily="34" charset="-120"/>
              </a:rPr>
              <a:t>5 of 9</a:t>
            </a:r>
            <a:endParaRPr lang="en-US" sz="2600" dirty="0"/>
          </a:p>
        </p:txBody>
      </p:sp>
      <p:sp>
        <p:nvSpPr>
          <p:cNvPr id="12" name="Text 10"/>
          <p:cNvSpPr/>
          <p:nvPr/>
        </p:nvSpPr>
        <p:spPr>
          <a:xfrm>
            <a:off x="640080" y="5532120"/>
            <a:ext cx="10972800" cy="365760"/>
          </a:xfrm>
          <a:prstGeom prst="rect">
            <a:avLst/>
          </a:prstGeom>
          <a:noFill/>
          <a:ln/>
        </p:spPr>
        <p:txBody>
          <a:bodyPr wrap="square" lIns="0" tIns="0" rIns="0" bIns="0" rtlCol="0" anchor="ctr"/>
          <a:lstStyle/>
          <a:p>
            <a:pPr indent="0" marL="0">
              <a:buNone/>
            </a:pPr>
            <a:r>
              <a:rPr lang="en-US" sz="1450" dirty="0">
                <a:solidFill>
                  <a:srgbClr val="C7DCE0"/>
                </a:solidFill>
                <a:latin typeface="Calibri" pitchFamily="34" charset="0"/>
                <a:ea typeface="Calibri" pitchFamily="34" charset="-122"/>
                <a:cs typeface="Calibri" pitchFamily="34" charset="-120"/>
              </a:rPr>
              <a:t>Same events. Same investigator assessments. A different reading rule — and the headline rate moves.</a:t>
            </a:r>
            <a:endParaRPr lang="en-US" sz="1450" dirty="0"/>
          </a:p>
        </p:txBody>
      </p:sp>
      <p:sp>
        <p:nvSpPr>
          <p:cNvPr id="13" name="Text 11"/>
          <p:cNvSpPr/>
          <p:nvPr/>
        </p:nvSpPr>
        <p:spPr>
          <a:xfrm>
            <a:off x="640080" y="5943600"/>
            <a:ext cx="10972800" cy="365760"/>
          </a:xfrm>
          <a:prstGeom prst="rect">
            <a:avLst/>
          </a:prstGeom>
          <a:noFill/>
          <a:ln/>
        </p:spPr>
        <p:txBody>
          <a:bodyPr wrap="square" lIns="0" tIns="0" rIns="0" bIns="0" rtlCol="0" anchor="ctr"/>
          <a:lstStyle/>
          <a:p>
            <a:pPr indent="0" marL="0">
              <a:buNone/>
            </a:pPr>
            <a:r>
              <a:rPr lang="en-US" sz="1450" b="1" i="1" dirty="0">
                <a:solidFill>
                  <a:srgbClr val="6FC8B4"/>
                </a:solidFill>
                <a:latin typeface="Calibri" pitchFamily="34" charset="0"/>
                <a:ea typeface="Calibri" pitchFamily="34" charset="-122"/>
                <a:cs typeface="Calibri" pitchFamily="34" charset="-120"/>
              </a:rPr>
              <a:t>Decided in the SAP, before database lock, before anyone has seen unblinded results.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2801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645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Ten rows, and one of them matters most</a:t>
            </a:r>
            <a:endParaRPr lang="en-US" sz="3200" dirty="0"/>
          </a:p>
        </p:txBody>
      </p:sp>
      <p:sp>
        <p:nvSpPr>
          <p:cNvPr id="6" name="Shape 4"/>
          <p:cNvSpPr/>
          <p:nvPr/>
        </p:nvSpPr>
        <p:spPr>
          <a:xfrm>
            <a:off x="640080" y="2743200"/>
            <a:ext cx="566928" cy="566928"/>
          </a:xfrm>
          <a:prstGeom prst="ellipse">
            <a:avLst/>
          </a:prstGeom>
          <a:solidFill>
            <a:srgbClr val="E8833A"/>
          </a:solidFill>
          <a:ln/>
        </p:spPr>
      </p:sp>
      <p:sp>
        <p:nvSpPr>
          <p:cNvPr id="7" name="Text 5"/>
          <p:cNvSpPr/>
          <p:nvPr/>
        </p:nvSpPr>
        <p:spPr>
          <a:xfrm>
            <a:off x="640080" y="274320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72491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1 · Notebook 15   </a:t>
            </a:r>
            <a:pPr indent="0" marL="0">
              <a:buNone/>
            </a:pPr>
            <a:r>
              <a:rPr lang="en-US" sz="1350" dirty="0">
                <a:solidFill>
                  <a:srgbClr val="C7DCE0"/>
                </a:solidFill>
                <a:latin typeface="Calibri" pitchFamily="34" charset="0"/>
                <a:ea typeface="Calibri" pitchFamily="34" charset="-122"/>
                <a:cs typeface="Calibri" pitchFamily="34" charset="-120"/>
              </a:rPr>
              <a:t>Build ADAE. Merge ADSL, derive the analysis variables, set the occurrence flags.</a:t>
            </a:r>
            <a:endParaRPr lang="en-US" sz="1700" dirty="0"/>
          </a:p>
        </p:txBody>
      </p:sp>
      <p:sp>
        <p:nvSpPr>
          <p:cNvPr id="9" name="Shape 7"/>
          <p:cNvSpPr/>
          <p:nvPr/>
        </p:nvSpPr>
        <p:spPr>
          <a:xfrm>
            <a:off x="640080" y="3749040"/>
            <a:ext cx="566928" cy="566928"/>
          </a:xfrm>
          <a:prstGeom prst="ellipse">
            <a:avLst/>
          </a:prstGeom>
          <a:solidFill>
            <a:srgbClr val="0E7C86"/>
          </a:solidFill>
          <a:ln/>
        </p:spPr>
      </p:sp>
      <p:sp>
        <p:nvSpPr>
          <p:cNvPr id="10" name="Text 8"/>
          <p:cNvSpPr/>
          <p:nvPr/>
        </p:nvSpPr>
        <p:spPr>
          <a:xfrm>
            <a:off x="640080" y="37490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73075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2 · Exercise 2   </a:t>
            </a:r>
            <a:pPr indent="0" marL="0">
              <a:buNone/>
            </a:pPr>
            <a:r>
              <a:rPr lang="en-US" sz="1350" dirty="0">
                <a:solidFill>
                  <a:srgbClr val="C7DCE0"/>
                </a:solidFill>
                <a:latin typeface="Calibri" pitchFamily="34" charset="0"/>
                <a:ea typeface="Calibri" pitchFamily="34" charset="-122"/>
                <a:cs typeface="Calibri" pitchFamily="34" charset="-120"/>
              </a:rPr>
              <a:t>Delete the pre-dose event instead of flagging it. Watch nothing change — and understand why that is the problem.</a:t>
            </a:r>
            <a:endParaRPr lang="en-US" sz="1700" dirty="0"/>
          </a:p>
        </p:txBody>
      </p:sp>
      <p:sp>
        <p:nvSpPr>
          <p:cNvPr id="12" name="Shape 10"/>
          <p:cNvSpPr/>
          <p:nvPr/>
        </p:nvSpPr>
        <p:spPr>
          <a:xfrm>
            <a:off x="640080" y="4754880"/>
            <a:ext cx="566928" cy="566928"/>
          </a:xfrm>
          <a:prstGeom prst="ellipse">
            <a:avLst/>
          </a:prstGeom>
          <a:solidFill>
            <a:srgbClr val="6FC8B4"/>
          </a:solidFill>
          <a:ln/>
        </p:spPr>
      </p:sp>
      <p:sp>
        <p:nvSpPr>
          <p:cNvPr id="13" name="Text 11"/>
          <p:cNvSpPr/>
          <p:nvPr/>
        </p:nvSpPr>
        <p:spPr>
          <a:xfrm>
            <a:off x="640080" y="475488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73659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3 · Check   </a:t>
            </a:r>
            <a:pPr indent="0" marL="0">
              <a:buNone/>
            </a:pPr>
            <a:r>
              <a:rPr lang="en-US" sz="1350" dirty="0">
                <a:solidFill>
                  <a:srgbClr val="C7DCE0"/>
                </a:solidFill>
                <a:latin typeface="Calibri" pitchFamily="34" charset="0"/>
                <a:ea typeface="Calibri" pitchFamily="34" charset="-122"/>
                <a:cs typeface="Calibri" pitchFamily="34" charset="-120"/>
              </a:rPr>
              <a:t>PROC COMPARE against data/adam/adae.csv, and prove the flag arithmetic.</a:t>
            </a:r>
            <a:endParaRPr lang="en-US" sz="1700" dirty="0"/>
          </a:p>
        </p:txBody>
      </p:sp>
      <p:sp>
        <p:nvSpPr>
          <p:cNvPr id="15" name="Text 13"/>
          <p:cNvSpPr/>
          <p:nvPr/>
        </p:nvSpPr>
        <p:spPr>
          <a:xfrm>
            <a:off x="640080" y="5943600"/>
            <a:ext cx="105156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Two subjects have no events at all — and they still count in every denominator. That idea returns with force in ADLB.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Occurrence Data: ADAE and the Safety Tables It Feeds</dc:title>
  <dc:subject>PptxGenJS Presentation</dc:subject>
  <dc:creator>Clinical Programming Bootcamp</dc:creator>
  <cp:lastModifiedBy>Clinical Programming Bootcamp</cp:lastModifiedBy>
  <cp:revision>1</cp:revision>
  <dcterms:created xsi:type="dcterms:W3CDTF">2026-07-20T19:42:07Z</dcterms:created>
  <dcterms:modified xsi:type="dcterms:W3CDTF">2026-07-20T19:42:07Z</dcterms:modified>
</cp:coreProperties>
</file>