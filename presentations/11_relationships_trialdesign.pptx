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11 is the lightest of Day 9 and the natural one to compress in a one-week track. It ties off two threads: SUPPQUAL (met in Day 5 as SUPPAE) generalised, and the Trial Design model, which trainees have not seen because it describes the study, not the subjects.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SUPPAE is the anchor — they built it, so SUPPQUAL is not abstract. RELREC is new but rare in routine work; the AE/CM pair from Day 6 makes it concrete. Note RELREC is OPTIONAL and often not used for obvious pairs; over-using it clutters the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revision, not new material — pull it up from Day 5. The callback to the unstable-sort danger (Notebook 11) closes the loop: now they see exactly what IDVARVAL is, they understand why a moving AESEQ silently re-points the flag. The vertical structure is why SUPP scales to any qualifier without touching the parent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rule about SUPPQUAL and it was stated in Day 5; here it gets its full justification. The poolability argument is the same one from the CT deck — standard structure is what lets one reviewer tool read every submission. That is worth the merge-back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'no USUBJID' point is the key distinction and the one trainees find surprising. TV is the tie-back to something they know: VISITNUM in VS and LB came from the protocol's visit schedule, which IS TV. TS is the odd one — one row per parameter, the study's metadata.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Flag clearly that we do not ship a TS dataset — this is illustrative so trainees see the shape. The tie to earlier learning: TS is tall/vertical like Findings, and TSPARMCD is controlled terminology. Everything connects back. The registrational value: ClinicalTrials.gov and FDA systems read TS programmatically.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map slide — everything they have built, placed in the full SDTM structure by observation class plus the two non-subject categories. It is the payoff of the whole course: they can now name where any dataset sits and why. Leads naturally into define.xml, which documents this entire package.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133B4C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548640"/>
            <a:ext cx="2926080" cy="2926080"/>
          </a:xfrm>
          <a:prstGeom prst="ellipse">
            <a:avLst/>
          </a:prstGeom>
          <a:solidFill>
            <a:srgbClr val="1FA8A0"/>
          </a:solidFill>
          <a:ln/>
        </p:spPr>
      </p:sp>
      <p:sp>
        <p:nvSpPr>
          <p:cNvPr id="4" name="Shape 2"/>
          <p:cNvSpPr/>
          <p:nvPr/>
        </p:nvSpPr>
        <p:spPr>
          <a:xfrm>
            <a:off x="10469880" y="137160"/>
            <a:ext cx="1554480" cy="1554480"/>
          </a:xfrm>
          <a:prstGeom prst="ellipse">
            <a:avLst/>
          </a:prstGeom>
          <a:solidFill>
            <a:srgbClr val="6FC8B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PROGRAMMING BOOTCAMP  ·  MODULE 11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3504" y="228600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Trial Design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datasets point at each other, and where the protocol lives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loose ends from earlier: the SUPPQUAL you already built, and the trial-design datasets that describe the study itself rather than its subjects.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module — lighter treatment; no new notebook.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mechanisms, two jobs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E7F4F2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SUPPQUAL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EXTRA information to a record.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domain has a fixed set of variables. When you must carry a value that has no standard home, it goes in a Supplemental Qualifiers dataset — NOT a new column.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built one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SUPPAE, carrying AETRTEM — the treatment-emergent flag that is not a standard AE variable.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48920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SUPP-- links to its parent by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USUBJID + RDOMAIN + IDVAR + IDVARVAL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FDF1E7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56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RELREC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92240" y="2377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 one RECORD to another RECORD.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7889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records in DIFFERENT domains describe the same clinical event, RELREC records the link — formally, so a reviewer does not have to infer it.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3794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ABC-01 example you have seen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92240" y="41148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AE "bad headache" and the CM "Paracetamol" taken for it — event and treatment, one clinical story, two domains.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92240" y="48920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56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RELREC links by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6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USUBJID + RDOMAIN + IDVAR + IDVARVAL + RELID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SUPPQUAL adds a QUALIFIER to a record; RELREC connects a RECORD to another record. Different jobs, similar machinery.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YOU ALREADY KNOW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SUPP-- dataset has the same eight-ish columns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920240" cy="365760"/>
          </a:xfrm>
          <a:prstGeom prst="rect">
            <a:avLst/>
          </a:prstGeom>
          <a:solidFill>
            <a:srgbClr val="0F2E3D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6916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60320" y="1691640"/>
            <a:ext cx="4023360" cy="365760"/>
          </a:xfrm>
          <a:prstGeom prst="rect">
            <a:avLst/>
          </a:prstGeom>
          <a:solidFill>
            <a:srgbClr val="0F2E3D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15184" y="169164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0" y="1691640"/>
            <a:ext cx="5029200" cy="365760"/>
          </a:xfrm>
          <a:prstGeom prst="rect">
            <a:avLst/>
          </a:prstGeom>
          <a:solidFill>
            <a:srgbClr val="0F2E3D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38544" y="169164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SUPPAE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057400"/>
            <a:ext cx="1920240" cy="365760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0574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560320" y="2057400"/>
            <a:ext cx="4023360" cy="365760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15184" y="205740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0" y="2057400"/>
            <a:ext cx="5029200" cy="365760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38544" y="205740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ABC-01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423160"/>
            <a:ext cx="1920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24231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RDOMAIN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560320" y="2423160"/>
            <a:ext cx="40233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15184" y="242316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domain this qualifies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0" y="2423160"/>
            <a:ext cx="5029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38544" y="242316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2788920"/>
            <a:ext cx="1920240" cy="365760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" y="27889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USUBJID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560320" y="2788920"/>
            <a:ext cx="4023360" cy="365760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15184" y="278892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subject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83680" y="2788920"/>
            <a:ext cx="5029200" cy="365760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38544" y="278892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ABC-01-01-002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3154680"/>
            <a:ext cx="1920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" y="31546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IDVAR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560320" y="3154680"/>
            <a:ext cx="40233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15184" y="315468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point at the parent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583680" y="3154680"/>
            <a:ext cx="5029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38544" y="315468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AESEQ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3520440"/>
            <a:ext cx="1920240" cy="365760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" y="35204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IDVARVAL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560320" y="3520440"/>
            <a:ext cx="4023360" cy="365760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15184" y="352044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record specifically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583680" y="3520440"/>
            <a:ext cx="5029200" cy="365760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38544" y="352044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0080" y="3886200"/>
            <a:ext cx="1920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944" y="38862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QNAM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560320" y="3886200"/>
            <a:ext cx="40233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15184" y="388620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qualifier's name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583680" y="3886200"/>
            <a:ext cx="5029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38544" y="388620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AETRTEM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40080" y="4251960"/>
            <a:ext cx="1920240" cy="365760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" y="42519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QLABEL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2560320" y="4251960"/>
            <a:ext cx="4023360" cy="365760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15184" y="425196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human-readable label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583680" y="4251960"/>
            <a:ext cx="5029200" cy="365760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38544" y="425196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Emergent Flag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40080" y="4617720"/>
            <a:ext cx="1920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4944" y="46177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QVAL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2560320" y="4617720"/>
            <a:ext cx="40233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15184" y="461772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6583680" y="4617720"/>
            <a:ext cx="5029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38544" y="461772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640080" y="4983480"/>
            <a:ext cx="1920240" cy="365760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4944" y="4983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QORIG / QEVAL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2560320" y="4983480"/>
            <a:ext cx="4023360" cy="365760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615184" y="498348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came from / who assessed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583680" y="4983480"/>
            <a:ext cx="5029200" cy="365760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38544" y="498348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/ (blank)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640080" y="562356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7F4F2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914400" y="5733288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IDVAR + IDVARVAL is the key.  </a:t>
            </a:r>
            <a:pPr indent="0" marL="0">
              <a:buNone/>
            </a:pPr>
            <a:r>
              <a:rPr lang="en-US" sz="12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IDVAR names the parent variable (AESEQ), IDVARVAL gives its value (1). Together they say "this qualifier belongs to AE record AESEQ=1 for this subject" — which is exactly the link an unstable --SEQ sort would break.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EVERYONE ASKS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just add AETRTEM as a column in AE?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3A2530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D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added a column…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0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 would no longer match the standard AE domain. A validation tool compares your AE against the published SDTMIG structure and flags every non-standard variable as an ERROR.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0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Worse, a reviewer's tools expect AE to have exactly the standard columns. An extra one breaks the automation they rely on to read fifty submissions the same way.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1A4152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SUPPQUAL exists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37744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C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domains stay EXACTLY as published — same columns, every study, every sponsor. Anything extra goes in a SUPP-- dataset with a fixed generic shape.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C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is that a qualifier lives in a separate dataset and must be merged back. That is a price worth paying for domains that are identical across the entire industry.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rule, one more time: never add a non-standard variable to a standard domain.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KIND OF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Trial Design describes the STUDY, not the subjects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F3F7F8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you have built is subject data. Trial Design is not.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DM, AE, VS and the rest have one thing in common: a row is about a SUBJECT. The Trial Design datasets describe the PROTOCOL itself — the planned arms, the planned visits, the study's parameters. There is no USUBJID, because these are facts about the study, true before a single subject enrolled.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200400"/>
            <a:ext cx="82296" cy="7498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3832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920240" y="34015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Arms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80560" y="3383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planned treatment arms and the sequence of elements in each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4023360"/>
            <a:ext cx="82296" cy="749808"/>
          </a:xfrm>
          <a:prstGeom prst="rect">
            <a:avLst/>
          </a:prstGeom>
          <a:solidFill>
            <a:srgbClr val="1FA8A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062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920240" y="4224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Elements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480560" y="42062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building-block periods an arm is made of (Screen, Treatment, Follow-up)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4632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846320"/>
            <a:ext cx="82296" cy="749808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0292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920240" y="50474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Visits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480560" y="50292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planned visit schedule — the source of VISITNUM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66928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5669280"/>
            <a:ext cx="82296" cy="749808"/>
          </a:xfrm>
          <a:prstGeom prst="rect">
            <a:avLst/>
          </a:prstGeom>
          <a:solidFill>
            <a:srgbClr val="6FC8B4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8521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C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920240" y="5870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Summary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480560" y="5852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one-row-per-parameter facts about the study: phase, indication, objectives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SUMMARY IN THE CONCRETE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TS would say about ABC-01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926080" cy="384048"/>
          </a:xfrm>
          <a:prstGeom prst="rect">
            <a:avLst/>
          </a:prstGeom>
          <a:solidFill>
            <a:srgbClr val="0F2E3D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73736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TSPARMCD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566160" y="1737360"/>
            <a:ext cx="3291840" cy="384048"/>
          </a:xfrm>
          <a:prstGeom prst="rect">
            <a:avLst/>
          </a:prstGeom>
          <a:solidFill>
            <a:srgbClr val="0F2E3D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21024" y="173736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TSPARM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0" y="1737360"/>
            <a:ext cx="4754880" cy="384048"/>
          </a:xfrm>
          <a:prstGeom prst="rect">
            <a:avLst/>
          </a:prstGeom>
          <a:solidFill>
            <a:srgbClr val="0F2E3D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12864" y="17373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TSVAL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121408"/>
            <a:ext cx="2926080" cy="384048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121408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566160" y="2121408"/>
            <a:ext cx="3291840" cy="384048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21024" y="212140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Identifier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0" y="2121408"/>
            <a:ext cx="4754880" cy="384048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2864" y="2121408"/>
            <a:ext cx="4645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ABC-01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505456"/>
            <a:ext cx="29260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2505456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566160" y="2505456"/>
            <a:ext cx="3291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21024" y="250545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Title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0" y="2505456"/>
            <a:ext cx="4754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12864" y="25054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 2 Study of Drug A vs Placebo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2889504"/>
            <a:ext cx="2926080" cy="384048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" y="288950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566160" y="2889504"/>
            <a:ext cx="3291840" cy="384048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21024" y="288950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Phase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58000" y="2889504"/>
            <a:ext cx="4754880" cy="384048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12864" y="2889504"/>
            <a:ext cx="4645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 TRIAL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3273552"/>
            <a:ext cx="29260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" y="327355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TTYPE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566160" y="3273552"/>
            <a:ext cx="3291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21024" y="327355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Type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858000" y="3273552"/>
            <a:ext cx="4754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12864" y="3273552"/>
            <a:ext cx="4645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3657600"/>
            <a:ext cx="2926080" cy="384048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" y="365760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TCNTRL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566160" y="3657600"/>
            <a:ext cx="3291840" cy="384048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21024" y="365760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Type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858000" y="3657600"/>
            <a:ext cx="4754880" cy="384048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12864" y="3657600"/>
            <a:ext cx="4645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PLACEBO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0080" y="4041648"/>
            <a:ext cx="29260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944" y="4041648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566160" y="4041648"/>
            <a:ext cx="3291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21024" y="404164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858000" y="4041648"/>
            <a:ext cx="4754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12864" y="4041648"/>
            <a:ext cx="4645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condition under study)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40080" y="4425696"/>
            <a:ext cx="2926080" cy="384048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" y="4425696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ACTSUB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3566160" y="4425696"/>
            <a:ext cx="3291840" cy="384048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21024" y="442569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Number of Subjects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858000" y="4425696"/>
            <a:ext cx="4754880" cy="384048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12864" y="4425696"/>
            <a:ext cx="4645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40080" y="5029200"/>
            <a:ext cx="10972800" cy="1280160"/>
          </a:xfrm>
          <a:prstGeom prst="roundRect">
            <a:avLst>
              <a:gd name="adj" fmla="val 6429"/>
            </a:avLst>
          </a:prstGeom>
          <a:solidFill>
            <a:srgbClr val="E7F4F2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914400" y="5148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row per parameter — a vertical structure again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914400" y="5486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 is the same tall shape as a Findings domain: one fact per row, identified by a code (TSPARMCD) from a controlled list. It is how a reviewer — or an automated system — reads the study's headline facts without opening the protocol PDF. ABC-01 does not ship a TS in this bootcamp, but every real submission does.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shown are illustrative of the ABC-01 design; TSPARMCD values come from the CDISC Trial Summary codelist.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PACKAGE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everything you have built sits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658368"/>
          </a:xfrm>
          <a:prstGeom prst="roundRect">
            <a:avLst>
              <a:gd name="adj" fmla="val 9722"/>
            </a:avLst>
          </a:prstGeom>
          <a:solidFill>
            <a:srgbClr val="163B4B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470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Purpose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0" y="18470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0" y="18470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subject — demographics and reference dates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414016"/>
            <a:ext cx="10972800" cy="658368"/>
          </a:xfrm>
          <a:prstGeom prst="roundRect">
            <a:avLst>
              <a:gd name="adj" fmla="val 9722"/>
            </a:avLst>
          </a:prstGeom>
          <a:solidFill>
            <a:srgbClr val="163B4B"/>
          </a:solidFill>
          <a:ln w="15240">
            <a:solidFill>
              <a:srgbClr val="1F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694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Interventions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25694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· CM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0" y="256946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given to the subject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136392"/>
            <a:ext cx="10972800" cy="658368"/>
          </a:xfrm>
          <a:prstGeom prst="roundRect">
            <a:avLst>
              <a:gd name="adj" fmla="val 9722"/>
            </a:avLst>
          </a:prstGeom>
          <a:solidFill>
            <a:srgbClr val="163B4B"/>
          </a:solidFill>
          <a:ln w="15240">
            <a:solidFill>
              <a:srgbClr val="E883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 · DS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3291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to the subject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858768"/>
            <a:ext cx="10972800" cy="658368"/>
          </a:xfrm>
          <a:prstGeom prst="roundRect">
            <a:avLst>
              <a:gd name="adj" fmla="val 9722"/>
            </a:avLst>
          </a:prstGeom>
          <a:solidFill>
            <a:srgbClr val="163B4B"/>
          </a:solidFill>
          <a:ln w="15240">
            <a:solidFill>
              <a:srgbClr val="6FC8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142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40142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· LB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0" y="401421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measured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581144"/>
            <a:ext cx="10972800" cy="658368"/>
          </a:xfrm>
          <a:prstGeom prst="roundRect">
            <a:avLst>
              <a:gd name="adj" fmla="val 9722"/>
            </a:avLst>
          </a:prstGeom>
          <a:solidFill>
            <a:srgbClr val="163B4B"/>
          </a:solidFill>
          <a:ln w="15240">
            <a:solidFill>
              <a:srgbClr val="C045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7365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4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0" y="47365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SUPPAE · (RELREC)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83680" y="47365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qualifiers and record links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303520"/>
            <a:ext cx="10972800" cy="658368"/>
          </a:xfrm>
          <a:prstGeom prst="roundRect">
            <a:avLst>
              <a:gd name="adj" fmla="val 9722"/>
            </a:avLst>
          </a:prstGeom>
          <a:solidFill>
            <a:srgbClr val="163B4B"/>
          </a:solidFill>
          <a:ln w="15240">
            <a:solidFill>
              <a:srgbClr val="B565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4589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Trial Design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0" y="5458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 · TE · TV · TS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83680" y="54589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protocol itself — no subjects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6144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of the six you have built end to end. Trial Design and RELREC are the pieces this module named — you now know the whole SDTM package, not just the domains with subjects in them.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Deck 12 · Define-XML &amp; the Submission Package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Relationships &amp; Trial Design</dc:title>
  <dc:subject>PptxGenJS Presentation</dc:subject>
  <dc:creator>Clinical Programming Bootcamp</dc:creator>
  <cp:lastModifiedBy>Clinical Programming Bootcamp</cp:lastModifiedBy>
  <cp:revision>1</cp:revision>
  <dcterms:created xsi:type="dcterms:W3CDTF">2026-07-19T19:50:18Z</dcterms:created>
  <dcterms:modified xsi:type="dcterms:W3CDTF">2026-07-19T19:50:18Z</dcterms:modified>
</cp:coreProperties>
</file>