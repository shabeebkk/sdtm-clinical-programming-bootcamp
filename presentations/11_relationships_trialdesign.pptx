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11 is the lightest of Day 9 and the natural one to compress in a one-week track. It ties off two threads: SUPPQUAL (met in Day 5 as SUPPAE) generalised, and the Trial Design model, which trainees have not seen because it describes the study, not the subjects.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SUPPAE is the anchor — they built it, so SUPPQUAL is not abstract. RELREC is new but rare in routine work; the AE/CM pair from Day 6 makes it concrete. Note RELREC is OPTIONAL and often not used for obvious pairs; over-using it clutters the submission.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revision, not new material — pull it up from Day 5. The callback to the unstable-sort danger (Notebook 11) closes the loop: now they see exactly what IDVARVAL is, they understand why a moving AESEQ silently re-points the flag. The vertical structure is why SUPP scales to any qualifier without touching the parent domain.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single most important rule about SUPPQUAL and it was stated in Day 5; here it gets its full justification. The poolability argument is the same one from the CT deck — standard structure is what lets one reviewer tool read every submission. That is worth the merge-back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'no USUBJID' point is the key distinction and the one trainees find surprising. TV is the tie-back to something they know: VISITNUM in VS and LB came from the protocol's visit schedule, which IS TV. TS is the odd one — one row per parameter, the study's metadata.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Flag clearly that we do not ship a TS dataset — this is illustrative so trainees see the shape. The tie to earlier learning: TS is tall/vertical like Findings, and TSPARMCD is controlled terminology. Everything connects back. The registrational value: ClinicalTrials.gov and FDA systems read TS programmatically.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map slide — everything they have built, placed in the full SDTM structure by observation class plus the two non-subject categories. It is the payoff of the whole course: they can now name where any dataset sits and why. Leads naturally into define.xml, which documents this entire package.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463040"/>
            <a:ext cx="4754880" cy="4754880"/>
          </a:xfrm>
          <a:prstGeom prst="ellipse">
            <a:avLst/>
          </a:prstGeom>
          <a:solidFill>
            <a:srgbClr val="133B4C"/>
          </a:solidFill>
          <a:ln/>
        </p:spPr>
      </p:sp>
      <p:sp>
        <p:nvSpPr>
          <p:cNvPr id="3" name="Shape 1"/>
          <p:cNvSpPr/>
          <p:nvPr/>
        </p:nvSpPr>
        <p:spPr>
          <a:xfrm>
            <a:off x="9784080" y="-548640"/>
            <a:ext cx="2926080" cy="2926080"/>
          </a:xfrm>
          <a:prstGeom prst="ellipse">
            <a:avLst/>
          </a:prstGeom>
          <a:solidFill>
            <a:srgbClr val="1FA8A0"/>
          </a:solidFill>
          <a:ln/>
        </p:spPr>
      </p:sp>
      <p:sp>
        <p:nvSpPr>
          <p:cNvPr id="4" name="Shape 2"/>
          <p:cNvSpPr/>
          <p:nvPr/>
        </p:nvSpPr>
        <p:spPr>
          <a:xfrm>
            <a:off x="10469880" y="137160"/>
            <a:ext cx="1554480" cy="1554480"/>
          </a:xfrm>
          <a:prstGeom prst="ellipse">
            <a:avLst/>
          </a:prstGeom>
          <a:solidFill>
            <a:srgbClr val="6FC8B4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828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FC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PROGRAMMING BOOTCAMP  ·  MODULE 11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03504" y="2286000"/>
            <a:ext cx="8778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Relationships</a:t>
            </a:r>
            <a:endParaRPr lang="en-US" sz="42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 Trial Design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640080" y="388620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FC8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datasets point at each other, and where the protocol lives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0080" y="457200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D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loose ends from earlier: the SUPPQUAL you already built, and the trial-design datasets that describe the study itself rather than its subjects.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FAE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module — lighter treatment; no new notebook.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LINKING DATA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mechanisms, two jobs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94960" cy="4114800"/>
          </a:xfrm>
          <a:prstGeom prst="roundRect">
            <a:avLst>
              <a:gd name="adj" fmla="val 2000"/>
            </a:avLst>
          </a:prstGeom>
          <a:solidFill>
            <a:srgbClr val="E7F4F2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8745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SUPPQUAL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14400" y="23774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EXTRA information to a record.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278892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standard domain has a fixed set of variables. When you must carry a value that has no standard home, it goes in a Supplemental Qualifiers dataset — NOT a new column.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14400" y="37947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already built one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914400" y="41148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SUPPAE, carrying AETRTEM — the treatment-emergent flag that is not a standard AE variable.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914400" y="48920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E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SUPP-- links to its parent by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E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USUBJID + RDOMAIN + IDVAR + IDVARVAL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17920" y="1691640"/>
            <a:ext cx="5394960" cy="4114800"/>
          </a:xfrm>
          <a:prstGeom prst="roundRect">
            <a:avLst>
              <a:gd name="adj" fmla="val 2000"/>
            </a:avLst>
          </a:prstGeom>
          <a:solidFill>
            <a:srgbClr val="FDF1E7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92240" y="18745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565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RELREC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92240" y="23774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 one RECORD to another RECORD.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92240" y="278892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two records in DIFFERENT domains describe the same clinical event, RELREC records the link — formally, so a reviewer does not have to infer it.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92240" y="37947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56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ABC-01 example you have seen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92240" y="411480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AE "bad headache" and the CM "Paracetamol" taken for it — event and treatment, one clinical story, two domains.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492240" y="48920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565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RELREC links by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565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USUBJID + RDOMAIN + IDVAR + IDVARVAL + RELID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SUPPQUAL adds a QUALIFIER to a record; RELREC connects a RECORD to another record. Different jobs, similar machinery.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YOU ALREADY KNOW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SUPP-- dataset has the same eight-ish columns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920240" cy="365760"/>
          </a:xfrm>
          <a:prstGeom prst="rect">
            <a:avLst/>
          </a:prstGeom>
          <a:solidFill>
            <a:srgbClr val="0F2E3D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94944" y="169164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2560320" y="1691640"/>
            <a:ext cx="4023360" cy="365760"/>
          </a:xfrm>
          <a:prstGeom prst="rect">
            <a:avLst/>
          </a:prstGeom>
          <a:solidFill>
            <a:srgbClr val="0F2E3D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615184" y="1691640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583680" y="1691640"/>
            <a:ext cx="5029200" cy="365760"/>
          </a:xfrm>
          <a:prstGeom prst="rect">
            <a:avLst/>
          </a:prstGeom>
          <a:solidFill>
            <a:srgbClr val="0F2E3D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38544" y="1691640"/>
            <a:ext cx="4919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SUPPAE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2057400"/>
            <a:ext cx="1920240" cy="365760"/>
          </a:xfrm>
          <a:prstGeom prst="rect">
            <a:avLst/>
          </a:prstGeom>
          <a:solidFill>
            <a:srgbClr val="F3F7F8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4944" y="205740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STUDYID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560320" y="2057400"/>
            <a:ext cx="4023360" cy="365760"/>
          </a:xfrm>
          <a:prstGeom prst="rect">
            <a:avLst/>
          </a:prstGeom>
          <a:solidFill>
            <a:srgbClr val="F3F7F8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15184" y="2057400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study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583680" y="2057400"/>
            <a:ext cx="5029200" cy="365760"/>
          </a:xfrm>
          <a:prstGeom prst="rect">
            <a:avLst/>
          </a:prstGeom>
          <a:solidFill>
            <a:srgbClr val="F3F7F8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38544" y="2057400"/>
            <a:ext cx="4919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ABC-01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2423160"/>
            <a:ext cx="19202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4944" y="242316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RDOMAIN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2560320" y="2423160"/>
            <a:ext cx="40233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615184" y="2423160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domain this qualifies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583680" y="2423160"/>
            <a:ext cx="50292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38544" y="2423160"/>
            <a:ext cx="4919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0080" y="2788920"/>
            <a:ext cx="1920240" cy="365760"/>
          </a:xfrm>
          <a:prstGeom prst="rect">
            <a:avLst/>
          </a:prstGeom>
          <a:solidFill>
            <a:srgbClr val="F3F7F8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4944" y="278892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USUBJID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2560320" y="2788920"/>
            <a:ext cx="4023360" cy="365760"/>
          </a:xfrm>
          <a:prstGeom prst="rect">
            <a:avLst/>
          </a:prstGeom>
          <a:solidFill>
            <a:srgbClr val="F3F7F8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615184" y="2788920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subject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583680" y="2788920"/>
            <a:ext cx="5029200" cy="365760"/>
          </a:xfrm>
          <a:prstGeom prst="rect">
            <a:avLst/>
          </a:prstGeom>
          <a:solidFill>
            <a:srgbClr val="F3F7F8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38544" y="2788920"/>
            <a:ext cx="4919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ABC-01-01-002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40080" y="3154680"/>
            <a:ext cx="19202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4944" y="315468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IDVAR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2560320" y="3154680"/>
            <a:ext cx="40233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15184" y="3154680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point at the parent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583680" y="3154680"/>
            <a:ext cx="50292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38544" y="3154680"/>
            <a:ext cx="4919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AESEQ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40080" y="3520440"/>
            <a:ext cx="1920240" cy="365760"/>
          </a:xfrm>
          <a:prstGeom prst="rect">
            <a:avLst/>
          </a:prstGeom>
          <a:solidFill>
            <a:srgbClr val="F3F7F8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94944" y="352044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IDVARVAL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2560320" y="3520440"/>
            <a:ext cx="4023360" cy="365760"/>
          </a:xfrm>
          <a:prstGeom prst="rect">
            <a:avLst/>
          </a:prstGeom>
          <a:solidFill>
            <a:srgbClr val="F3F7F8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15184" y="3520440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record specifically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583680" y="3520440"/>
            <a:ext cx="5029200" cy="365760"/>
          </a:xfrm>
          <a:prstGeom prst="rect">
            <a:avLst/>
          </a:prstGeom>
          <a:solidFill>
            <a:srgbClr val="F3F7F8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638544" y="3520440"/>
            <a:ext cx="4919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40080" y="3886200"/>
            <a:ext cx="19202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94944" y="388620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QNAM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2560320" y="3886200"/>
            <a:ext cx="40233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15184" y="3886200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qualifier's name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583680" y="3886200"/>
            <a:ext cx="50292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638544" y="3886200"/>
            <a:ext cx="4919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AETRTEM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640080" y="4251960"/>
            <a:ext cx="1920240" cy="365760"/>
          </a:xfrm>
          <a:prstGeom prst="rect">
            <a:avLst/>
          </a:prstGeom>
          <a:solidFill>
            <a:srgbClr val="F3F7F8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94944" y="425196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QLABEL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2560320" y="4251960"/>
            <a:ext cx="4023360" cy="365760"/>
          </a:xfrm>
          <a:prstGeom prst="rect">
            <a:avLst/>
          </a:prstGeom>
          <a:solidFill>
            <a:srgbClr val="F3F7F8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615184" y="4251960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human-readable label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6583680" y="4251960"/>
            <a:ext cx="5029200" cy="365760"/>
          </a:xfrm>
          <a:prstGeom prst="rect">
            <a:avLst/>
          </a:prstGeom>
          <a:solidFill>
            <a:srgbClr val="F3F7F8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38544" y="4251960"/>
            <a:ext cx="4919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Emergent Flag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640080" y="4617720"/>
            <a:ext cx="19202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94944" y="461772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QVAL</a:t>
            </a:r>
            <a:endParaRPr lang="en-US" sz="1150" dirty="0"/>
          </a:p>
        </p:txBody>
      </p:sp>
      <p:sp>
        <p:nvSpPr>
          <p:cNvPr id="54" name="Shape 52"/>
          <p:cNvSpPr/>
          <p:nvPr/>
        </p:nvSpPr>
        <p:spPr>
          <a:xfrm>
            <a:off x="2560320" y="4617720"/>
            <a:ext cx="40233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615184" y="4617720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6583680" y="4617720"/>
            <a:ext cx="50292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638544" y="4617720"/>
            <a:ext cx="4919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640080" y="4983480"/>
            <a:ext cx="1920240" cy="365760"/>
          </a:xfrm>
          <a:prstGeom prst="rect">
            <a:avLst/>
          </a:prstGeom>
          <a:solidFill>
            <a:srgbClr val="F3F7F8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94944" y="498348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QORIG / QEVAL</a:t>
            </a:r>
            <a:endParaRPr lang="en-US" sz="1150" dirty="0"/>
          </a:p>
        </p:txBody>
      </p:sp>
      <p:sp>
        <p:nvSpPr>
          <p:cNvPr id="60" name="Shape 58"/>
          <p:cNvSpPr/>
          <p:nvPr/>
        </p:nvSpPr>
        <p:spPr>
          <a:xfrm>
            <a:off x="2560320" y="4983480"/>
            <a:ext cx="4023360" cy="365760"/>
          </a:xfrm>
          <a:prstGeom prst="rect">
            <a:avLst/>
          </a:prstGeom>
          <a:solidFill>
            <a:srgbClr val="F3F7F8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615184" y="4983480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came from / who assessed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6583680" y="4983480"/>
            <a:ext cx="5029200" cy="365760"/>
          </a:xfrm>
          <a:prstGeom prst="rect">
            <a:avLst/>
          </a:prstGeom>
          <a:solidFill>
            <a:srgbClr val="F3F7F8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638544" y="4983480"/>
            <a:ext cx="4919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 / (blank)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640080" y="5623560"/>
            <a:ext cx="10972800" cy="777240"/>
          </a:xfrm>
          <a:prstGeom prst="roundRect">
            <a:avLst>
              <a:gd name="adj" fmla="val 10588"/>
            </a:avLst>
          </a:prstGeom>
          <a:solidFill>
            <a:srgbClr val="E7F4F2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65" name="Text 63"/>
          <p:cNvSpPr/>
          <p:nvPr/>
        </p:nvSpPr>
        <p:spPr>
          <a:xfrm>
            <a:off x="914400" y="5733288"/>
            <a:ext cx="10424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IDVAR + IDVARVAL is the key.  </a:t>
            </a:r>
            <a:pPr indent="0" marL="0">
              <a:buNone/>
            </a:pPr>
            <a:r>
              <a:rPr lang="en-US" sz="125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IDVAR names the parent variable (AESEQ), IDVARVAL gives its value (1). Together they say "this qualifier belongs to AE record AESEQ=1 for this subject" — which is exactly the link an unstable --SEQ sort would break.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FC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 EVERYONE ASKS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8229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not just add AETRTEM as a column in AE?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349240" cy="4114800"/>
          </a:xfrm>
          <a:prstGeom prst="roundRect">
            <a:avLst>
              <a:gd name="adj" fmla="val 2000"/>
            </a:avLst>
          </a:prstGeom>
          <a:solidFill>
            <a:srgbClr val="3A2530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9659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9DA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you added a column…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377440"/>
            <a:ext cx="47548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F0D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 would no longer match the standard AE domain. A validation tool compares your AE against the published SDTMIG structure and flags every non-standard variable as an ERROR.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F0D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Worse, a reviewer's tools expect AE to have exactly the standard columns. An extra one breaks the automation they rely on to read fifty submissions the same way.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63640" y="1783080"/>
            <a:ext cx="5349240" cy="4114800"/>
          </a:xfrm>
          <a:prstGeom prst="roundRect">
            <a:avLst>
              <a:gd name="adj" fmla="val 2000"/>
            </a:avLst>
          </a:prstGeom>
          <a:solidFill>
            <a:srgbClr val="1A4152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37960" y="19659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FC8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SUPPQUAL exists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37960" y="2377440"/>
            <a:ext cx="47548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standard domains stay EXACTLY as published — same columns, every study, every sponsor. Anything extra goes in a SUPP-- dataset with a fixed generic shape.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is that a qualifier lives in a separate dataset and must be merged back. That is a price worth paying for domains that are identical across the entire industry.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0080" y="6080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FC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rule, one more time: never add a non-standard variable to a standard domain.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DIFFERENT KIND OF DATASET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Trial Design describes the STUDY, not the subjects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F3F7F8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78308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you have built is subject data. Trial Design is not.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DM, AE, VS and the rest have one thing in common: a row is about a SUBJECT. The Trial Design datasets describe the PROTOCOL itself — the planned arms, the planned visits, the study's parameters. There is no USUBJID, because these are facts about the study, true before a single subject enrolled.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200400"/>
            <a:ext cx="10972800" cy="749808"/>
          </a:xfrm>
          <a:prstGeom prst="roundRect">
            <a:avLst>
              <a:gd name="adj" fmla="val 10976"/>
            </a:avLst>
          </a:prstGeom>
          <a:solidFill>
            <a:srgbClr val="FFFFFF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3200400"/>
            <a:ext cx="82296" cy="749808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338328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920240" y="34015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Arms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480560" y="338328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planned treatment arms and the sequence of elements in each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4023360"/>
            <a:ext cx="10972800" cy="749808"/>
          </a:xfrm>
          <a:prstGeom prst="roundRect">
            <a:avLst>
              <a:gd name="adj" fmla="val 10976"/>
            </a:avLst>
          </a:prstGeom>
          <a:solidFill>
            <a:srgbClr val="FFFFFF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" y="4023360"/>
            <a:ext cx="82296" cy="749808"/>
          </a:xfrm>
          <a:prstGeom prst="rect">
            <a:avLst/>
          </a:prstGeom>
          <a:solidFill>
            <a:srgbClr val="1FA8A0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420624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A8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920240" y="42245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Elements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480560" y="420624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building-block periods an arm is made of (Screen, Treatment, Follow-up)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46320"/>
            <a:ext cx="10972800" cy="749808"/>
          </a:xfrm>
          <a:prstGeom prst="roundRect">
            <a:avLst>
              <a:gd name="adj" fmla="val 10976"/>
            </a:avLst>
          </a:prstGeom>
          <a:solidFill>
            <a:srgbClr val="FFFFFF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846320"/>
            <a:ext cx="82296" cy="749808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502920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83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TV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920240" y="50474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Visits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480560" y="502920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planned visit schedule — the source of VISITNUM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5669280"/>
            <a:ext cx="10972800" cy="749808"/>
          </a:xfrm>
          <a:prstGeom prst="roundRect">
            <a:avLst>
              <a:gd name="adj" fmla="val 10976"/>
            </a:avLst>
          </a:prstGeom>
          <a:solidFill>
            <a:srgbClr val="FFFFFF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0080" y="5669280"/>
            <a:ext cx="82296" cy="749808"/>
          </a:xfrm>
          <a:prstGeom prst="rect">
            <a:avLst/>
          </a:prstGeom>
          <a:solidFill>
            <a:srgbClr val="6FC8B4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585216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FC8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1920240" y="58704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Summary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4480560" y="585216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one-row-per-parameter facts about the study: phase, indication, objectives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SUMMARY IN THE CONCRETE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TS would say about ABC-01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2926080" cy="384048"/>
          </a:xfrm>
          <a:prstGeom prst="rect">
            <a:avLst/>
          </a:prstGeom>
          <a:solidFill>
            <a:srgbClr val="0F2E3D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94944" y="1737360"/>
            <a:ext cx="2816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TSPARMCD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3566160" y="1737360"/>
            <a:ext cx="3291840" cy="384048"/>
          </a:xfrm>
          <a:prstGeom prst="rect">
            <a:avLst/>
          </a:prstGeom>
          <a:solidFill>
            <a:srgbClr val="0F2E3D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21024" y="17373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TSPARM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858000" y="1737360"/>
            <a:ext cx="4754880" cy="384048"/>
          </a:xfrm>
          <a:prstGeom prst="rect">
            <a:avLst/>
          </a:prstGeom>
          <a:solidFill>
            <a:srgbClr val="0F2E3D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12864" y="17373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TSVAL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2121408"/>
            <a:ext cx="2926080" cy="384048"/>
          </a:xfrm>
          <a:prstGeom prst="rect">
            <a:avLst/>
          </a:prstGeom>
          <a:solidFill>
            <a:srgbClr val="F3F7F8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4944" y="2121408"/>
            <a:ext cx="2816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STUDYID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566160" y="2121408"/>
            <a:ext cx="3291840" cy="384048"/>
          </a:xfrm>
          <a:prstGeom prst="rect">
            <a:avLst/>
          </a:prstGeom>
          <a:solidFill>
            <a:srgbClr val="F3F7F8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21024" y="212140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Identifier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858000" y="2121408"/>
            <a:ext cx="4754880" cy="384048"/>
          </a:xfrm>
          <a:prstGeom prst="rect">
            <a:avLst/>
          </a:prstGeom>
          <a:solidFill>
            <a:srgbClr val="F3F7F8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12864" y="2121408"/>
            <a:ext cx="4645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ABC-01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2505456"/>
            <a:ext cx="292608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4944" y="2505456"/>
            <a:ext cx="2816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566160" y="2505456"/>
            <a:ext cx="32918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1024" y="250545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Title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858000" y="2505456"/>
            <a:ext cx="475488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12864" y="25054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Phase 2 Study of Drug A vs Placebo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0080" y="2889504"/>
            <a:ext cx="2926080" cy="384048"/>
          </a:xfrm>
          <a:prstGeom prst="rect">
            <a:avLst/>
          </a:prstGeom>
          <a:solidFill>
            <a:srgbClr val="F3F7F8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4944" y="2889504"/>
            <a:ext cx="2816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566160" y="2889504"/>
            <a:ext cx="3291840" cy="384048"/>
          </a:xfrm>
          <a:prstGeom prst="rect">
            <a:avLst/>
          </a:prstGeom>
          <a:solidFill>
            <a:srgbClr val="F3F7F8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21024" y="288950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Phase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858000" y="2889504"/>
            <a:ext cx="4754880" cy="384048"/>
          </a:xfrm>
          <a:prstGeom prst="rect">
            <a:avLst/>
          </a:prstGeom>
          <a:solidFill>
            <a:srgbClr val="F3F7F8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912864" y="2889504"/>
            <a:ext cx="4645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II TRIAL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40080" y="3273552"/>
            <a:ext cx="292608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4944" y="3273552"/>
            <a:ext cx="2816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TTYPE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566160" y="3273552"/>
            <a:ext cx="32918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21024" y="327355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Type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858000" y="3273552"/>
            <a:ext cx="475488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12864" y="3273552"/>
            <a:ext cx="4645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40080" y="3657600"/>
            <a:ext cx="2926080" cy="384048"/>
          </a:xfrm>
          <a:prstGeom prst="rect">
            <a:avLst/>
          </a:prstGeom>
          <a:solidFill>
            <a:srgbClr val="F3F7F8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94944" y="3657600"/>
            <a:ext cx="2816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TCNTRL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3566160" y="3657600"/>
            <a:ext cx="3291840" cy="384048"/>
          </a:xfrm>
          <a:prstGeom prst="rect">
            <a:avLst/>
          </a:prstGeom>
          <a:solidFill>
            <a:srgbClr val="F3F7F8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21024" y="365760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Type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858000" y="3657600"/>
            <a:ext cx="4754880" cy="384048"/>
          </a:xfrm>
          <a:prstGeom prst="rect">
            <a:avLst/>
          </a:prstGeom>
          <a:solidFill>
            <a:srgbClr val="F3F7F8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912864" y="3657600"/>
            <a:ext cx="4645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PLACEBO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40080" y="4041648"/>
            <a:ext cx="292608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94944" y="4041648"/>
            <a:ext cx="2816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3566160" y="4041648"/>
            <a:ext cx="32918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21024" y="404164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Indication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858000" y="4041648"/>
            <a:ext cx="475488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912864" y="4041648"/>
            <a:ext cx="4645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(the condition under study)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640080" y="4425696"/>
            <a:ext cx="2926080" cy="384048"/>
          </a:xfrm>
          <a:prstGeom prst="rect">
            <a:avLst/>
          </a:prstGeom>
          <a:solidFill>
            <a:srgbClr val="F3F7F8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94944" y="4425696"/>
            <a:ext cx="2816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ACTSUB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3566160" y="4425696"/>
            <a:ext cx="3291840" cy="384048"/>
          </a:xfrm>
          <a:prstGeom prst="rect">
            <a:avLst/>
          </a:prstGeom>
          <a:solidFill>
            <a:srgbClr val="F3F7F8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621024" y="442569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Number of Subjects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6858000" y="4425696"/>
            <a:ext cx="4754880" cy="384048"/>
          </a:xfrm>
          <a:prstGeom prst="rect">
            <a:avLst/>
          </a:prstGeom>
          <a:solidFill>
            <a:srgbClr val="F3F7F8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912864" y="4425696"/>
            <a:ext cx="4645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640080" y="5029200"/>
            <a:ext cx="10972800" cy="1280160"/>
          </a:xfrm>
          <a:prstGeom prst="roundRect">
            <a:avLst>
              <a:gd name="adj" fmla="val 6429"/>
            </a:avLst>
          </a:prstGeom>
          <a:solidFill>
            <a:srgbClr val="E7F4F2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914400" y="514807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row per parameter — a vertical structure again</a:t>
            </a:r>
            <a:endParaRPr lang="en-US" sz="1500" dirty="0"/>
          </a:p>
        </p:txBody>
      </p:sp>
      <p:sp>
        <p:nvSpPr>
          <p:cNvPr id="54" name="Text 52"/>
          <p:cNvSpPr/>
          <p:nvPr/>
        </p:nvSpPr>
        <p:spPr>
          <a:xfrm>
            <a:off x="914400" y="548640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 is the same tall shape as a Findings domain: one fact per row, identified by a code (TSPARMCD) from a controlled list. It is how a reviewer — or an automated system — reads the study's headline facts without opening the protocol PDF. ABC-01 does not ship a TS in this bootcamp, but every real submission does.</a:t>
            </a:r>
            <a:endParaRPr lang="en-US" sz="1250" dirty="0"/>
          </a:p>
        </p:txBody>
      </p:sp>
      <p:sp>
        <p:nvSpPr>
          <p:cNvPr id="55" name="Text 53"/>
          <p:cNvSpPr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Values shown are illustrative of the ABC-01 design; TSPARMCD values come from the CDISC Trial Summary codelist.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FC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PACKAGE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8229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everything you have built sits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972800" cy="658368"/>
          </a:xfrm>
          <a:prstGeom prst="roundRect">
            <a:avLst>
              <a:gd name="adj" fmla="val 9722"/>
            </a:avLst>
          </a:prstGeom>
          <a:solidFill>
            <a:srgbClr val="163B4B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84708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Special Purpose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0" y="18470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CEB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DM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583680" y="184708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CB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subject — demographics and reference dates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2414016"/>
            <a:ext cx="10972800" cy="658368"/>
          </a:xfrm>
          <a:prstGeom prst="roundRect">
            <a:avLst>
              <a:gd name="adj" fmla="val 9722"/>
            </a:avLst>
          </a:prstGeom>
          <a:solidFill>
            <a:srgbClr val="163B4B"/>
          </a:solidFill>
          <a:ln w="15240">
            <a:solidFill>
              <a:srgbClr val="1FA8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56946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Interventions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57600" y="256946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CEB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· CM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583680" y="256946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CB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given to the subject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3136392"/>
            <a:ext cx="10972800" cy="658368"/>
          </a:xfrm>
          <a:prstGeom prst="roundRect">
            <a:avLst>
              <a:gd name="adj" fmla="val 9722"/>
            </a:avLst>
          </a:prstGeom>
          <a:solidFill>
            <a:srgbClr val="163B4B"/>
          </a:solidFill>
          <a:ln w="15240">
            <a:solidFill>
              <a:srgbClr val="E883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3291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8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Events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657600" y="32918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CEB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AE · DS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583680" y="3291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CB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happened to the subject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3858768"/>
            <a:ext cx="10972800" cy="658368"/>
          </a:xfrm>
          <a:prstGeom prst="roundRect">
            <a:avLst>
              <a:gd name="adj" fmla="val 9722"/>
            </a:avLst>
          </a:prstGeom>
          <a:solidFill>
            <a:srgbClr val="163B4B"/>
          </a:solidFill>
          <a:ln w="15240">
            <a:solidFill>
              <a:srgbClr val="6FC8B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01421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FC8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657600" y="4014216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CEB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VS · LB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583680" y="401421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CB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measured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4581144"/>
            <a:ext cx="10972800" cy="658368"/>
          </a:xfrm>
          <a:prstGeom prst="roundRect">
            <a:avLst>
              <a:gd name="adj" fmla="val 9722"/>
            </a:avLst>
          </a:prstGeom>
          <a:solidFill>
            <a:srgbClr val="163B4B"/>
          </a:solidFill>
          <a:ln w="15240">
            <a:solidFill>
              <a:srgbClr val="C0455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473659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4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Relationships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657600" y="473659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CEB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SUPPAE · (RELREC)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583680" y="473659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CB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qualifiers and record links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303520"/>
            <a:ext cx="10972800" cy="658368"/>
          </a:xfrm>
          <a:prstGeom prst="roundRect">
            <a:avLst>
              <a:gd name="adj" fmla="val 9722"/>
            </a:avLst>
          </a:prstGeom>
          <a:solidFill>
            <a:srgbClr val="163B4B"/>
          </a:solidFill>
          <a:ln w="15240">
            <a:solidFill>
              <a:srgbClr val="B5651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545896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65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Trial Design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657600" y="545896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CEB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 · TE · TV · TS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583680" y="545896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CB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protocol itself — no subjects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40080" y="61447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FC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of the six you have built end to end. Trial Design and RELREC are the pieces this module named — you now know the whole SDTM package, not just the domains with subjects in them.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FAE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 Deck 12 · Define-XML &amp; the Submission Package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Relationships &amp; Trial Design</dc:title>
  <dc:subject>PptxGenJS Presentation</dc:subject>
  <dc:creator>Clinical Programming Bootcamp</dc:creator>
  <cp:lastModifiedBy>Clinical Programming Bootcamp</cp:lastModifiedBy>
  <cp:revision>1</cp:revision>
  <dcterms:created xsi:type="dcterms:W3CDTF">2026-07-26T04:24:14Z</dcterms:created>
  <dcterms:modified xsi:type="dcterms:W3CDTF">2026-07-26T04:24:14Z</dcterms:modified>
</cp:coreProperties>
</file>