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06. This deck covers the shape shared by Interventions and Events, then goes deep on AE because it is the domain trainees will build next. CM and EX follow the same pattern on Day 6. The headline change from DM: multiple records per subject, so --SEQ and --DY appear for the first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4 is the one that matters most clinically — a mild event can be serious, and a severe event can be non-serious. Getting that wrong in a real study is a safety-reporting failure, not just a data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classification decides the topic variable and therefore the whole shape of the domain. Give the aspirin/headache pair as the memorable test — one subject event can generate a row in BOTH domains, and in our ABC-01 data it does: subject 01-001's 'bad headache' is an AE, and the Paracetamol they took for it is a 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slide of the module. Once trainees see that AE, CM, EX, VS and LB all share this skeleton, each new domain is just a question of which variables fill each slot. Contrast explicitly with DM from Module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 left to right and name each part against the skeleton from the previous slide. This is a real record from the ABC-01 data trainees will build in Notebook 05, so they will see this exact row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MedDRA = Medical Dictionary for Regulatory Activities. It is hierarchical (preferred term, system organ class, and more) and licensed — trainees will not code AEs themselves. The honesty flag matters: our AEDECOD values are plausible stand-ins, not authoritative MedDRA output, and the mapping spec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safety concept in the deck. Seriousness has a formal regulatory definition (ICH E2A): death, life-threatening, requires or prolongs hospitalisation, persistent or significant disability, congenital anomaly, or other medically important event. Severity is just intensity. Mixing them up leads to under-reporting of serious events, which is a regulatory failure. Our subject 01-004 is both severe AND serious, and it led to discontinuation — trace it through AE and 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AESEQ restarts at 1 for subject 004. The determinism point is practical: if you sort by start date and two events share a date, add a tiebreaker (we use the term) so the numbering is reproducible. Reviewers and validation tools compare datasets across runs, and unstable --SEQ shows up as spurious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RFSTDTC comes from DM, which got it from EX — so DM must be built before any --DY can be derived. That dependency is why we built DM first. The no-Day-0 rule catches most people once; the audit script checks for it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Ties back to Module 04's 'blank does not mean zero'. Here a blank is genuinely meaningful — the event is ongoing. SDTM has partial-date conventions for cases where only part of a date is known, which we mention but do not use in this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 plan for Notebook 05. The mixed-date column is the standout challenge — in SAS you test for a slash and pick ddmmyy10. or date11. accordingly. Remind them the informat WIDTH must cover the whole value, separators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appear in Notebook 05 either as something the code must handle or as an exercise. The AETERM point is worth emphasising — trainees instinctively want to tidy 'bad headache', and they must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framing AE as the peak of difficulty — mixed dates, four CT mappings, a code decode, plus --SEQ and --DY. CM and EX reuse nearly all of it. End of Module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133B4C"/>
          </a:solidFill>
          <a:ln/>
        </p:spPr>
      </p:sp>
      <p:sp>
        <p:nvSpPr>
          <p:cNvPr id="3" name="Shape 1"/>
          <p:cNvSpPr/>
          <p:nvPr/>
        </p:nvSpPr>
        <p:spPr>
          <a:xfrm>
            <a:off x="9784080" y="-548640"/>
            <a:ext cx="2926080" cy="2926080"/>
          </a:xfrm>
          <a:prstGeom prst="ellipse">
            <a:avLst/>
          </a:prstGeom>
          <a:solidFill>
            <a:srgbClr val="0E7C86"/>
          </a:solidFill>
          <a:ln/>
        </p:spPr>
      </p:sp>
      <p:sp>
        <p:nvSpPr>
          <p:cNvPr id="4" name="Shape 2"/>
          <p:cNvSpPr/>
          <p:nvPr/>
        </p:nvSpPr>
        <p:spPr>
          <a:xfrm>
            <a:off x="10469880" y="137160"/>
            <a:ext cx="1554480" cy="1554480"/>
          </a:xfrm>
          <a:prstGeom prst="ellipse">
            <a:avLst/>
          </a:prstGeom>
          <a:solidFill>
            <a:srgbClr val="E8833A"/>
          </a:solidFill>
          <a:ln/>
        </p:spPr>
      </p:sp>
      <p:sp>
        <p:nvSpPr>
          <p:cNvPr id="5" name="Text 3"/>
          <p:cNvSpPr/>
          <p:nvPr/>
        </p:nvSpPr>
        <p:spPr>
          <a:xfrm>
            <a:off x="640080" y="1828800"/>
            <a:ext cx="8229600" cy="365760"/>
          </a:xfrm>
          <a:prstGeom prst="rect">
            <a:avLst/>
          </a:prstGeom>
          <a:noFill/>
          <a:ln/>
        </p:spPr>
        <p:txBody>
          <a:bodyPr wrap="square" lIns="0" tIns="0" rIns="0" bIns="0" rtlCol="0" anchor="ctr"/>
          <a:lstStyle/>
          <a:p>
            <a:pPr indent="0" marL="0">
              <a:buNone/>
            </a:pPr>
            <a:r>
              <a:rPr lang="en-US" sz="1400" b="1" spc="200" kern="0" dirty="0">
                <a:solidFill>
                  <a:srgbClr val="6FC8B4"/>
                </a:solidFill>
                <a:latin typeface="Calibri" pitchFamily="34" charset="0"/>
                <a:ea typeface="Calibri" pitchFamily="34" charset="-122"/>
                <a:cs typeface="Calibri" pitchFamily="34" charset="-120"/>
              </a:rPr>
              <a:t>CLINICAL PROGRAMMING BOOTCAMP  ·  MODULE 06</a:t>
            </a:r>
            <a:endParaRPr lang="en-US" sz="1400" dirty="0"/>
          </a:p>
        </p:txBody>
      </p:sp>
      <p:sp>
        <p:nvSpPr>
          <p:cNvPr id="6" name="Text 4"/>
          <p:cNvSpPr/>
          <p:nvPr/>
        </p:nvSpPr>
        <p:spPr>
          <a:xfrm>
            <a:off x="603504" y="2286000"/>
            <a:ext cx="8778240" cy="1554480"/>
          </a:xfrm>
          <a:prstGeom prst="rect">
            <a:avLst/>
          </a:prstGeom>
          <a:noFill/>
          <a:ln/>
        </p:spPr>
        <p:txBody>
          <a:bodyPr wrap="square" lIns="0" tIns="0" rIns="0" bIns="0" rtlCol="0" anchor="ctr"/>
          <a:lstStyle/>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Interventions</a:t>
            </a:r>
            <a:endParaRPr lang="en-US" sz="4400" dirty="0"/>
          </a:p>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&amp; Events</a:t>
            </a:r>
            <a:endParaRPr lang="en-US" sz="4400" dirty="0"/>
          </a:p>
        </p:txBody>
      </p:sp>
      <p:sp>
        <p:nvSpPr>
          <p:cNvPr id="7" name="Text 5"/>
          <p:cNvSpPr/>
          <p:nvPr/>
        </p:nvSpPr>
        <p:spPr>
          <a:xfrm>
            <a:off x="640080" y="3840480"/>
            <a:ext cx="8778240" cy="548640"/>
          </a:xfrm>
          <a:prstGeom prst="rect">
            <a:avLst/>
          </a:prstGeom>
          <a:noFill/>
          <a:ln/>
        </p:spPr>
        <p:txBody>
          <a:bodyPr wrap="square" lIns="0" tIns="0" rIns="0" bIns="0" rtlCol="0" anchor="ctr"/>
          <a:lstStyle/>
          <a:p>
            <a:pPr indent="0" marL="0">
              <a:buNone/>
            </a:pPr>
            <a:r>
              <a:rPr lang="en-US" sz="2400" dirty="0">
                <a:solidFill>
                  <a:srgbClr val="6FC8B4"/>
                </a:solidFill>
                <a:latin typeface="Cambria" pitchFamily="34" charset="0"/>
                <a:ea typeface="Cambria" pitchFamily="34" charset="-122"/>
                <a:cs typeface="Cambria" pitchFamily="34" charset="-120"/>
              </a:rPr>
              <a:t>AE, CM and EX — the general observation classes</a:t>
            </a:r>
            <a:endParaRPr lang="en-US" sz="2400" dirty="0"/>
          </a:p>
        </p:txBody>
      </p:sp>
      <p:sp>
        <p:nvSpPr>
          <p:cNvPr id="8" name="Text 6"/>
          <p:cNvSpPr/>
          <p:nvPr/>
        </p:nvSpPr>
        <p:spPr>
          <a:xfrm>
            <a:off x="640080" y="4572000"/>
            <a:ext cx="8412480" cy="822960"/>
          </a:xfrm>
          <a:prstGeom prst="rect">
            <a:avLst/>
          </a:prstGeom>
          <a:noFill/>
          <a:ln/>
        </p:spPr>
        <p:txBody>
          <a:bodyPr wrap="square" lIns="0" tIns="0" rIns="0" bIns="0" rtlCol="0" anchor="ctr"/>
          <a:lstStyle/>
          <a:p>
            <a:pPr indent="0" marL="0">
              <a:buNone/>
            </a:pPr>
            <a:r>
              <a:rPr lang="en-US" sz="1600" dirty="0">
                <a:solidFill>
                  <a:srgbClr val="C7DCE0"/>
                </a:solidFill>
                <a:latin typeface="Calibri" pitchFamily="34" charset="0"/>
                <a:ea typeface="Calibri" pitchFamily="34" charset="-122"/>
                <a:cs typeface="Calibri" pitchFamily="34" charset="-120"/>
              </a:rPr>
              <a:t>DM was one row per subject. From here on, subjects have MANY records — which means sequence numbers, study days, and a lot more timing.</a:t>
            </a:r>
            <a:endParaRPr lang="en-US" sz="1600" dirty="0"/>
          </a:p>
        </p:txBody>
      </p:sp>
      <p:sp>
        <p:nvSpPr>
          <p:cNvPr id="9" name="Text 7"/>
          <p:cNvSpPr/>
          <p:nvPr/>
        </p:nvSpPr>
        <p:spPr>
          <a:xfrm>
            <a:off x="640080" y="5943600"/>
            <a:ext cx="10972800" cy="365760"/>
          </a:xfrm>
          <a:prstGeom prst="rect">
            <a:avLst/>
          </a:prstGeom>
          <a:noFill/>
          <a:ln/>
        </p:spPr>
        <p:txBody>
          <a:bodyPr wrap="square" lIns="0" tIns="0" rIns="0" bIns="0" rtlCol="0" anchor="ctr"/>
          <a:lstStyle/>
          <a:p>
            <a:pPr indent="0" marL="0">
              <a:buNone/>
            </a:pPr>
            <a:r>
              <a:rPr lang="en-US" sz="1200" i="1" dirty="0">
                <a:solidFill>
                  <a:srgbClr val="8FAEB8"/>
                </a:solidFill>
                <a:latin typeface="Calibri" pitchFamily="34" charset="0"/>
                <a:ea typeface="Calibri" pitchFamily="34" charset="-122"/>
                <a:cs typeface="Calibri" pitchFamily="34" charset="-120"/>
              </a:rPr>
              <a:t>Hands-on: Notebook 05 · Build the AE Domain (SAS)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MODULE GOALS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By the end of this module you can…</a:t>
            </a:r>
            <a:endParaRPr lang="en-US" sz="3000" dirty="0"/>
          </a:p>
        </p:txBody>
      </p:sp>
      <p:sp>
        <p:nvSpPr>
          <p:cNvPr id="4" name="Shape 2"/>
          <p:cNvSpPr/>
          <p:nvPr/>
        </p:nvSpPr>
        <p:spPr>
          <a:xfrm>
            <a:off x="640080" y="160020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868680" y="1792224"/>
            <a:ext cx="548640" cy="548640"/>
          </a:xfrm>
          <a:prstGeom prst="ellipse">
            <a:avLst/>
          </a:prstGeom>
          <a:solidFill>
            <a:srgbClr val="0E7C86"/>
          </a:solidFill>
          <a:ln/>
        </p:spPr>
      </p:sp>
      <p:sp>
        <p:nvSpPr>
          <p:cNvPr id="6" name="Text 4"/>
          <p:cNvSpPr/>
          <p:nvPr/>
        </p:nvSpPr>
        <p:spPr>
          <a:xfrm>
            <a:off x="868680" y="179222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600200" y="174650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Tell Interventions from Events  </a:t>
            </a:r>
            <a:pPr indent="0" marL="0">
              <a:buNone/>
            </a:pPr>
            <a:r>
              <a:rPr lang="en-US" sz="1350" dirty="0">
                <a:solidFill>
                  <a:srgbClr val="5A7682"/>
                </a:solidFill>
                <a:latin typeface="Calibri" pitchFamily="34" charset="0"/>
                <a:ea typeface="Calibri" pitchFamily="34" charset="-122"/>
                <a:cs typeface="Calibri" pitchFamily="34" charset="-120"/>
              </a:rPr>
              <a:t>and know which domains fall into each class.</a:t>
            </a:r>
            <a:endParaRPr lang="en-US" sz="1600" dirty="0"/>
          </a:p>
        </p:txBody>
      </p:sp>
      <p:sp>
        <p:nvSpPr>
          <p:cNvPr id="8" name="Shape 6"/>
          <p:cNvSpPr/>
          <p:nvPr/>
        </p:nvSpPr>
        <p:spPr>
          <a:xfrm>
            <a:off x="640080" y="2606040"/>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868680" y="2798064"/>
            <a:ext cx="548640" cy="548640"/>
          </a:xfrm>
          <a:prstGeom prst="ellipse">
            <a:avLst/>
          </a:prstGeom>
          <a:solidFill>
            <a:srgbClr val="1FA8A0"/>
          </a:solidFill>
          <a:ln/>
        </p:spPr>
      </p:sp>
      <p:sp>
        <p:nvSpPr>
          <p:cNvPr id="10" name="Text 8"/>
          <p:cNvSpPr/>
          <p:nvPr/>
        </p:nvSpPr>
        <p:spPr>
          <a:xfrm>
            <a:off x="868680" y="279806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1" name="Text 9"/>
          <p:cNvSpPr/>
          <p:nvPr/>
        </p:nvSpPr>
        <p:spPr>
          <a:xfrm>
            <a:off x="1600200" y="275234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Read the general-observation structure  </a:t>
            </a:r>
            <a:pPr indent="0" marL="0">
              <a:buNone/>
            </a:pPr>
            <a:r>
              <a:rPr lang="en-US" sz="1350" dirty="0">
                <a:solidFill>
                  <a:srgbClr val="5A7682"/>
                </a:solidFill>
                <a:latin typeface="Calibri" pitchFamily="34" charset="0"/>
                <a:ea typeface="Calibri" pitchFamily="34" charset="-122"/>
                <a:cs typeface="Calibri" pitchFamily="34" charset="-120"/>
              </a:rPr>
              <a:t>topic, qualifiers and timing — the pattern every non-Special-Purpose domain follows.</a:t>
            </a:r>
            <a:endParaRPr lang="en-US" sz="1600" dirty="0"/>
          </a:p>
        </p:txBody>
      </p:sp>
      <p:sp>
        <p:nvSpPr>
          <p:cNvPr id="12" name="Shape 10"/>
          <p:cNvSpPr/>
          <p:nvPr/>
        </p:nvSpPr>
        <p:spPr>
          <a:xfrm>
            <a:off x="640080" y="361188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868680" y="3803904"/>
            <a:ext cx="548640" cy="548640"/>
          </a:xfrm>
          <a:prstGeom prst="ellipse">
            <a:avLst/>
          </a:prstGeom>
          <a:solidFill>
            <a:srgbClr val="E8833A"/>
          </a:solidFill>
          <a:ln/>
        </p:spPr>
      </p:sp>
      <p:sp>
        <p:nvSpPr>
          <p:cNvPr id="14" name="Text 12"/>
          <p:cNvSpPr/>
          <p:nvPr/>
        </p:nvSpPr>
        <p:spPr>
          <a:xfrm>
            <a:off x="868680" y="380390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5" name="Text 13"/>
          <p:cNvSpPr/>
          <p:nvPr/>
        </p:nvSpPr>
        <p:spPr>
          <a:xfrm>
            <a:off x="1600200" y="375818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Explain AETERM vs AEDECOD  </a:t>
            </a:r>
            <a:pPr indent="0" marL="0">
              <a:buNone/>
            </a:pPr>
            <a:r>
              <a:rPr lang="en-US" sz="1350" dirty="0">
                <a:solidFill>
                  <a:srgbClr val="5A7682"/>
                </a:solidFill>
                <a:latin typeface="Calibri" pitchFamily="34" charset="0"/>
                <a:ea typeface="Calibri" pitchFamily="34" charset="-122"/>
                <a:cs typeface="Calibri" pitchFamily="34" charset="-120"/>
              </a:rPr>
              <a:t>and why a submission keeps both the verbatim and the coded term.</a:t>
            </a:r>
            <a:endParaRPr lang="en-US" sz="1600" dirty="0"/>
          </a:p>
        </p:txBody>
      </p:sp>
      <p:sp>
        <p:nvSpPr>
          <p:cNvPr id="16" name="Shape 14"/>
          <p:cNvSpPr/>
          <p:nvPr/>
        </p:nvSpPr>
        <p:spPr>
          <a:xfrm>
            <a:off x="640080" y="4617720"/>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868680" y="4809744"/>
            <a:ext cx="548640" cy="548640"/>
          </a:xfrm>
          <a:prstGeom prst="ellipse">
            <a:avLst/>
          </a:prstGeom>
          <a:solidFill>
            <a:srgbClr val="0F2E3D"/>
          </a:solidFill>
          <a:ln/>
        </p:spPr>
      </p:sp>
      <p:sp>
        <p:nvSpPr>
          <p:cNvPr id="18" name="Text 16"/>
          <p:cNvSpPr/>
          <p:nvPr/>
        </p:nvSpPr>
        <p:spPr>
          <a:xfrm>
            <a:off x="868680" y="480974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9" name="Text 17"/>
          <p:cNvSpPr/>
          <p:nvPr/>
        </p:nvSpPr>
        <p:spPr>
          <a:xfrm>
            <a:off x="1600200" y="476402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Distinguish severity from seriousness  </a:t>
            </a:r>
            <a:pPr indent="0" marL="0">
              <a:buNone/>
            </a:pPr>
            <a:r>
              <a:rPr lang="en-US" sz="1350" dirty="0">
                <a:solidFill>
                  <a:srgbClr val="5A7682"/>
                </a:solidFill>
                <a:latin typeface="Calibri" pitchFamily="34" charset="0"/>
                <a:ea typeface="Calibri" pitchFamily="34" charset="-122"/>
                <a:cs typeface="Calibri" pitchFamily="34" charset="-120"/>
              </a:rPr>
              <a:t>the single most confused pair in the whole standard.</a:t>
            </a:r>
            <a:endParaRPr lang="en-US" sz="1600" dirty="0"/>
          </a:p>
        </p:txBody>
      </p:sp>
      <p:sp>
        <p:nvSpPr>
          <p:cNvPr id="20" name="Shape 18"/>
          <p:cNvSpPr/>
          <p:nvPr/>
        </p:nvSpPr>
        <p:spPr>
          <a:xfrm>
            <a:off x="640080" y="562356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868680" y="5815584"/>
            <a:ext cx="548640" cy="548640"/>
          </a:xfrm>
          <a:prstGeom prst="ellipse">
            <a:avLst/>
          </a:prstGeom>
          <a:solidFill>
            <a:srgbClr val="0E7C86"/>
          </a:solidFill>
          <a:ln/>
        </p:spPr>
      </p:sp>
      <p:sp>
        <p:nvSpPr>
          <p:cNvPr id="22" name="Text 20"/>
          <p:cNvSpPr/>
          <p:nvPr/>
        </p:nvSpPr>
        <p:spPr>
          <a:xfrm>
            <a:off x="868680" y="581558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3" name="Text 21"/>
          <p:cNvSpPr/>
          <p:nvPr/>
        </p:nvSpPr>
        <p:spPr>
          <a:xfrm>
            <a:off x="1600200" y="576986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Derive --SEQ and --DY  </a:t>
            </a:r>
            <a:pPr indent="0" marL="0">
              <a:buNone/>
            </a:pPr>
            <a:r>
              <a:rPr lang="en-US" sz="1350" dirty="0">
                <a:solidFill>
                  <a:srgbClr val="5A7682"/>
                </a:solidFill>
                <a:latin typeface="Calibri" pitchFamily="34" charset="0"/>
                <a:ea typeface="Calibri" pitchFamily="34" charset="-122"/>
                <a:cs typeface="Calibri" pitchFamily="34" charset="-120"/>
              </a:rPr>
              <a:t>the two variables DM never needed.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DISTINCTION</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Done TO the subject, or happened TO the subject?</a:t>
            </a:r>
            <a:endParaRPr lang="en-US" sz="3000" dirty="0"/>
          </a:p>
        </p:txBody>
      </p:sp>
      <p:sp>
        <p:nvSpPr>
          <p:cNvPr id="4" name="Shape 2"/>
          <p:cNvSpPr/>
          <p:nvPr/>
        </p:nvSpPr>
        <p:spPr>
          <a:xfrm>
            <a:off x="640080" y="1691640"/>
            <a:ext cx="5394960" cy="4023360"/>
          </a:xfrm>
          <a:prstGeom prst="roundRect">
            <a:avLst>
              <a:gd name="adj" fmla="val 204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874520"/>
            <a:ext cx="4846320" cy="457200"/>
          </a:xfrm>
          <a:prstGeom prst="rect">
            <a:avLst/>
          </a:prstGeom>
          <a:noFill/>
          <a:ln/>
        </p:spPr>
        <p:txBody>
          <a:bodyPr wrap="square" lIns="0" tIns="0" rIns="0" bIns="0" rtlCol="0" anchor="ctr"/>
          <a:lstStyle/>
          <a:p>
            <a:pPr indent="0" marL="0">
              <a:buNone/>
            </a:pPr>
            <a:r>
              <a:rPr lang="en-US" sz="2200" b="1" dirty="0">
                <a:solidFill>
                  <a:srgbClr val="0E7C86"/>
                </a:solidFill>
                <a:latin typeface="Cambria" pitchFamily="34" charset="0"/>
                <a:ea typeface="Cambria" pitchFamily="34" charset="-122"/>
                <a:cs typeface="Cambria" pitchFamily="34" charset="-120"/>
              </a:rPr>
              <a:t>INTERVENTIONS</a:t>
            </a:r>
            <a:endParaRPr lang="en-US" sz="2200" dirty="0"/>
          </a:p>
        </p:txBody>
      </p:sp>
      <p:sp>
        <p:nvSpPr>
          <p:cNvPr id="6" name="Text 4"/>
          <p:cNvSpPr/>
          <p:nvPr/>
        </p:nvSpPr>
        <p:spPr>
          <a:xfrm>
            <a:off x="914400" y="2377440"/>
            <a:ext cx="4846320" cy="5486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Something given to, or done to, the subject — deliberately.</a:t>
            </a:r>
            <a:endParaRPr lang="en-US" sz="1400" dirty="0"/>
          </a:p>
        </p:txBody>
      </p:sp>
      <p:sp>
        <p:nvSpPr>
          <p:cNvPr id="7" name="Text 5"/>
          <p:cNvSpPr/>
          <p:nvPr/>
        </p:nvSpPr>
        <p:spPr>
          <a:xfrm>
            <a:off x="914400" y="3063240"/>
            <a:ext cx="4846320" cy="411480"/>
          </a:xfrm>
          <a:prstGeom prst="rect">
            <a:avLst/>
          </a:prstGeom>
          <a:noFill/>
          <a:ln/>
        </p:spPr>
        <p:txBody>
          <a:bodyPr wrap="square" lIns="0" tIns="0" rIns="0" bIns="0" rtlCol="0" anchor="ctr"/>
          <a:lstStyle/>
          <a:p>
            <a:pPr indent="0" marL="0">
              <a:buNone/>
            </a:pPr>
            <a:r>
              <a:rPr lang="en-US" sz="1400" b="1" dirty="0">
                <a:solidFill>
                  <a:srgbClr val="0E7C86"/>
                </a:solidFill>
                <a:latin typeface="Courier New" pitchFamily="34" charset="0"/>
                <a:ea typeface="Courier New" pitchFamily="34" charset="-122"/>
                <a:cs typeface="Courier New" pitchFamily="34" charset="-120"/>
              </a:rPr>
              <a:t>EX   </a:t>
            </a:r>
            <a:pPr indent="0" marL="0">
              <a:buNone/>
            </a:pPr>
            <a:r>
              <a:rPr lang="en-US" sz="1250" dirty="0">
                <a:solidFill>
                  <a:srgbClr val="5A7682"/>
                </a:solidFill>
                <a:latin typeface="Calibri" pitchFamily="34" charset="0"/>
                <a:ea typeface="Calibri" pitchFamily="34" charset="-122"/>
                <a:cs typeface="Calibri" pitchFamily="34" charset="-120"/>
              </a:rPr>
              <a:t>Exposure — the study drug itself</a:t>
            </a:r>
            <a:endParaRPr lang="en-US" sz="1400" dirty="0"/>
          </a:p>
        </p:txBody>
      </p:sp>
      <p:sp>
        <p:nvSpPr>
          <p:cNvPr id="8" name="Text 6"/>
          <p:cNvSpPr/>
          <p:nvPr/>
        </p:nvSpPr>
        <p:spPr>
          <a:xfrm>
            <a:off x="914400" y="3566160"/>
            <a:ext cx="4846320" cy="411480"/>
          </a:xfrm>
          <a:prstGeom prst="rect">
            <a:avLst/>
          </a:prstGeom>
          <a:noFill/>
          <a:ln/>
        </p:spPr>
        <p:txBody>
          <a:bodyPr wrap="square" lIns="0" tIns="0" rIns="0" bIns="0" rtlCol="0" anchor="ctr"/>
          <a:lstStyle/>
          <a:p>
            <a:pPr indent="0" marL="0">
              <a:buNone/>
            </a:pPr>
            <a:r>
              <a:rPr lang="en-US" sz="1400" b="1" dirty="0">
                <a:solidFill>
                  <a:srgbClr val="0E7C86"/>
                </a:solidFill>
                <a:latin typeface="Courier New" pitchFamily="34" charset="0"/>
                <a:ea typeface="Courier New" pitchFamily="34" charset="-122"/>
                <a:cs typeface="Courier New" pitchFamily="34" charset="-120"/>
              </a:rPr>
              <a:t>CM   </a:t>
            </a:r>
            <a:pPr indent="0" marL="0">
              <a:buNone/>
            </a:pPr>
            <a:r>
              <a:rPr lang="en-US" sz="1250" dirty="0">
                <a:solidFill>
                  <a:srgbClr val="5A7682"/>
                </a:solidFill>
                <a:latin typeface="Calibri" pitchFamily="34" charset="0"/>
                <a:ea typeface="Calibri" pitchFamily="34" charset="-122"/>
                <a:cs typeface="Calibri" pitchFamily="34" charset="-120"/>
              </a:rPr>
              <a:t>Concomitant medications — everything else they took</a:t>
            </a:r>
            <a:endParaRPr lang="en-US" sz="1400" dirty="0"/>
          </a:p>
        </p:txBody>
      </p:sp>
      <p:sp>
        <p:nvSpPr>
          <p:cNvPr id="9" name="Text 7"/>
          <p:cNvSpPr/>
          <p:nvPr/>
        </p:nvSpPr>
        <p:spPr>
          <a:xfrm>
            <a:off x="914400" y="4069080"/>
            <a:ext cx="4846320" cy="411480"/>
          </a:xfrm>
          <a:prstGeom prst="rect">
            <a:avLst/>
          </a:prstGeom>
          <a:noFill/>
          <a:ln/>
        </p:spPr>
        <p:txBody>
          <a:bodyPr wrap="square" lIns="0" tIns="0" rIns="0" bIns="0" rtlCol="0" anchor="ctr"/>
          <a:lstStyle/>
          <a:p>
            <a:pPr indent="0" marL="0">
              <a:buNone/>
            </a:pPr>
            <a:r>
              <a:rPr lang="en-US" sz="1400" b="1" dirty="0">
                <a:solidFill>
                  <a:srgbClr val="0E7C86"/>
                </a:solidFill>
                <a:latin typeface="Courier New" pitchFamily="34" charset="0"/>
                <a:ea typeface="Courier New" pitchFamily="34" charset="-122"/>
                <a:cs typeface="Courier New" pitchFamily="34" charset="-120"/>
              </a:rPr>
              <a:t>PR   </a:t>
            </a:r>
            <a:pPr indent="0" marL="0">
              <a:buNone/>
            </a:pPr>
            <a:r>
              <a:rPr lang="en-US" sz="1250" dirty="0">
                <a:solidFill>
                  <a:srgbClr val="5A7682"/>
                </a:solidFill>
                <a:latin typeface="Calibri" pitchFamily="34" charset="0"/>
                <a:ea typeface="Calibri" pitchFamily="34" charset="-122"/>
                <a:cs typeface="Calibri" pitchFamily="34" charset="-120"/>
              </a:rPr>
              <a:t>Procedures</a:t>
            </a:r>
            <a:endParaRPr lang="en-US" sz="1400" dirty="0"/>
          </a:p>
        </p:txBody>
      </p:sp>
      <p:sp>
        <p:nvSpPr>
          <p:cNvPr id="10" name="Text 8"/>
          <p:cNvSpPr/>
          <p:nvPr/>
        </p:nvSpPr>
        <p:spPr>
          <a:xfrm>
            <a:off x="914400" y="4892040"/>
            <a:ext cx="4846320" cy="365760"/>
          </a:xfrm>
          <a:prstGeom prst="rect">
            <a:avLst/>
          </a:prstGeom>
          <a:noFill/>
          <a:ln/>
        </p:spPr>
        <p:txBody>
          <a:bodyPr wrap="square" lIns="0" tIns="0" rIns="0" bIns="0" rtlCol="0" anchor="ctr"/>
          <a:lstStyle/>
          <a:p>
            <a:pPr indent="0" marL="0">
              <a:buNone/>
            </a:pPr>
            <a:r>
              <a:rPr lang="en-US" sz="1250" b="1" dirty="0">
                <a:solidFill>
                  <a:srgbClr val="0E7C86"/>
                </a:solidFill>
                <a:latin typeface="Courier New" pitchFamily="34" charset="0"/>
                <a:ea typeface="Courier New" pitchFamily="34" charset="-122"/>
                <a:cs typeface="Courier New" pitchFamily="34" charset="-120"/>
              </a:rPr>
              <a:t>Topic variable: --TRT  (what was given)</a:t>
            </a:r>
            <a:endParaRPr lang="en-US" sz="1250" dirty="0"/>
          </a:p>
        </p:txBody>
      </p:sp>
      <p:sp>
        <p:nvSpPr>
          <p:cNvPr id="11" name="Text 9"/>
          <p:cNvSpPr/>
          <p:nvPr/>
        </p:nvSpPr>
        <p:spPr>
          <a:xfrm>
            <a:off x="914400" y="5230368"/>
            <a:ext cx="4846320" cy="320040"/>
          </a:xfrm>
          <a:prstGeom prst="rect">
            <a:avLst/>
          </a:prstGeom>
          <a:noFill/>
          <a:ln/>
        </p:spPr>
        <p:txBody>
          <a:bodyPr wrap="square" lIns="0" tIns="0" rIns="0" bIns="0" rtlCol="0" anchor="ctr"/>
          <a:lstStyle/>
          <a:p>
            <a:pPr indent="0" marL="0">
              <a:buNone/>
            </a:pPr>
            <a:r>
              <a:rPr lang="en-US" sz="1200" dirty="0">
                <a:solidFill>
                  <a:srgbClr val="5A7682"/>
                </a:solidFill>
                <a:latin typeface="Courier New" pitchFamily="34" charset="0"/>
                <a:ea typeface="Courier New" pitchFamily="34" charset="-122"/>
                <a:cs typeface="Courier New" pitchFamily="34" charset="-120"/>
              </a:rPr>
              <a:t>EXTRT · CMTRT</a:t>
            </a:r>
            <a:endParaRPr lang="en-US" sz="1200" dirty="0"/>
          </a:p>
        </p:txBody>
      </p:sp>
      <p:sp>
        <p:nvSpPr>
          <p:cNvPr id="12" name="Shape 10"/>
          <p:cNvSpPr/>
          <p:nvPr/>
        </p:nvSpPr>
        <p:spPr>
          <a:xfrm>
            <a:off x="6217920" y="1691640"/>
            <a:ext cx="5394960" cy="4023360"/>
          </a:xfrm>
          <a:prstGeom prst="roundRect">
            <a:avLst>
              <a:gd name="adj" fmla="val 2045"/>
            </a:avLst>
          </a:prstGeom>
          <a:solidFill>
            <a:srgbClr val="FDF1E7"/>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Text 11"/>
          <p:cNvSpPr/>
          <p:nvPr/>
        </p:nvSpPr>
        <p:spPr>
          <a:xfrm>
            <a:off x="6492240" y="1874520"/>
            <a:ext cx="4846320" cy="457200"/>
          </a:xfrm>
          <a:prstGeom prst="rect">
            <a:avLst/>
          </a:prstGeom>
          <a:noFill/>
          <a:ln/>
        </p:spPr>
        <p:txBody>
          <a:bodyPr wrap="square" lIns="0" tIns="0" rIns="0" bIns="0" rtlCol="0" anchor="ctr"/>
          <a:lstStyle/>
          <a:p>
            <a:pPr indent="0" marL="0">
              <a:buNone/>
            </a:pPr>
            <a:r>
              <a:rPr lang="en-US" sz="2200" b="1" dirty="0">
                <a:solidFill>
                  <a:srgbClr val="B5651A"/>
                </a:solidFill>
                <a:latin typeface="Cambria" pitchFamily="34" charset="0"/>
                <a:ea typeface="Cambria" pitchFamily="34" charset="-122"/>
                <a:cs typeface="Cambria" pitchFamily="34" charset="-120"/>
              </a:rPr>
              <a:t>EVENTS</a:t>
            </a:r>
            <a:endParaRPr lang="en-US" sz="2200" dirty="0"/>
          </a:p>
        </p:txBody>
      </p:sp>
      <p:sp>
        <p:nvSpPr>
          <p:cNvPr id="14" name="Text 12"/>
          <p:cNvSpPr/>
          <p:nvPr/>
        </p:nvSpPr>
        <p:spPr>
          <a:xfrm>
            <a:off x="6492240" y="2377440"/>
            <a:ext cx="4846320" cy="5486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Something that happened to the subject — not planned.</a:t>
            </a:r>
            <a:endParaRPr lang="en-US" sz="1400" dirty="0"/>
          </a:p>
        </p:txBody>
      </p:sp>
      <p:sp>
        <p:nvSpPr>
          <p:cNvPr id="15" name="Text 13"/>
          <p:cNvSpPr/>
          <p:nvPr/>
        </p:nvSpPr>
        <p:spPr>
          <a:xfrm>
            <a:off x="6492240" y="3063240"/>
            <a:ext cx="4846320" cy="411480"/>
          </a:xfrm>
          <a:prstGeom prst="rect">
            <a:avLst/>
          </a:prstGeom>
          <a:noFill/>
          <a:ln/>
        </p:spPr>
        <p:txBody>
          <a:bodyPr wrap="square" lIns="0" tIns="0" rIns="0" bIns="0" rtlCol="0" anchor="ctr"/>
          <a:lstStyle/>
          <a:p>
            <a:pPr indent="0" marL="0">
              <a:buNone/>
            </a:pPr>
            <a:r>
              <a:rPr lang="en-US" sz="1400" b="1" dirty="0">
                <a:solidFill>
                  <a:srgbClr val="B5651A"/>
                </a:solidFill>
                <a:latin typeface="Courier New" pitchFamily="34" charset="0"/>
                <a:ea typeface="Courier New" pitchFamily="34" charset="-122"/>
                <a:cs typeface="Courier New" pitchFamily="34" charset="-120"/>
              </a:rPr>
              <a:t>AE   </a:t>
            </a:r>
            <a:pPr indent="0" marL="0">
              <a:buNone/>
            </a:pPr>
            <a:r>
              <a:rPr lang="en-US" sz="1250" dirty="0">
                <a:solidFill>
                  <a:srgbClr val="5A7682"/>
                </a:solidFill>
                <a:latin typeface="Calibri" pitchFamily="34" charset="0"/>
                <a:ea typeface="Calibri" pitchFamily="34" charset="-122"/>
                <a:cs typeface="Calibri" pitchFamily="34" charset="-120"/>
              </a:rPr>
              <a:t>Adverse events — the safety backbone</a:t>
            </a:r>
            <a:endParaRPr lang="en-US" sz="1400" dirty="0"/>
          </a:p>
        </p:txBody>
      </p:sp>
      <p:sp>
        <p:nvSpPr>
          <p:cNvPr id="16" name="Text 14"/>
          <p:cNvSpPr/>
          <p:nvPr/>
        </p:nvSpPr>
        <p:spPr>
          <a:xfrm>
            <a:off x="6492240" y="3566160"/>
            <a:ext cx="4846320" cy="411480"/>
          </a:xfrm>
          <a:prstGeom prst="rect">
            <a:avLst/>
          </a:prstGeom>
          <a:noFill/>
          <a:ln/>
        </p:spPr>
        <p:txBody>
          <a:bodyPr wrap="square" lIns="0" tIns="0" rIns="0" bIns="0" rtlCol="0" anchor="ctr"/>
          <a:lstStyle/>
          <a:p>
            <a:pPr indent="0" marL="0">
              <a:buNone/>
            </a:pPr>
            <a:r>
              <a:rPr lang="en-US" sz="1400" b="1" dirty="0">
                <a:solidFill>
                  <a:srgbClr val="B5651A"/>
                </a:solidFill>
                <a:latin typeface="Courier New" pitchFamily="34" charset="0"/>
                <a:ea typeface="Courier New" pitchFamily="34" charset="-122"/>
                <a:cs typeface="Courier New" pitchFamily="34" charset="-120"/>
              </a:rPr>
              <a:t>MH   </a:t>
            </a:r>
            <a:pPr indent="0" marL="0">
              <a:buNone/>
            </a:pPr>
            <a:r>
              <a:rPr lang="en-US" sz="1250" dirty="0">
                <a:solidFill>
                  <a:srgbClr val="5A7682"/>
                </a:solidFill>
                <a:latin typeface="Calibri" pitchFamily="34" charset="0"/>
                <a:ea typeface="Calibri" pitchFamily="34" charset="-122"/>
                <a:cs typeface="Calibri" pitchFamily="34" charset="-120"/>
              </a:rPr>
              <a:t>Medical history — conditions before the study</a:t>
            </a:r>
            <a:endParaRPr lang="en-US" sz="1400" dirty="0"/>
          </a:p>
        </p:txBody>
      </p:sp>
      <p:sp>
        <p:nvSpPr>
          <p:cNvPr id="17" name="Text 15"/>
          <p:cNvSpPr/>
          <p:nvPr/>
        </p:nvSpPr>
        <p:spPr>
          <a:xfrm>
            <a:off x="6492240" y="4069080"/>
            <a:ext cx="4846320" cy="411480"/>
          </a:xfrm>
          <a:prstGeom prst="rect">
            <a:avLst/>
          </a:prstGeom>
          <a:noFill/>
          <a:ln/>
        </p:spPr>
        <p:txBody>
          <a:bodyPr wrap="square" lIns="0" tIns="0" rIns="0" bIns="0" rtlCol="0" anchor="ctr"/>
          <a:lstStyle/>
          <a:p>
            <a:pPr indent="0" marL="0">
              <a:buNone/>
            </a:pPr>
            <a:r>
              <a:rPr lang="en-US" sz="1400" b="1" dirty="0">
                <a:solidFill>
                  <a:srgbClr val="B5651A"/>
                </a:solidFill>
                <a:latin typeface="Courier New" pitchFamily="34" charset="0"/>
                <a:ea typeface="Courier New" pitchFamily="34" charset="-122"/>
                <a:cs typeface="Courier New" pitchFamily="34" charset="-120"/>
              </a:rPr>
              <a:t>DS   </a:t>
            </a:r>
            <a:pPr indent="0" marL="0">
              <a:buNone/>
            </a:pPr>
            <a:r>
              <a:rPr lang="en-US" sz="1250" dirty="0">
                <a:solidFill>
                  <a:srgbClr val="5A7682"/>
                </a:solidFill>
                <a:latin typeface="Calibri" pitchFamily="34" charset="0"/>
                <a:ea typeface="Calibri" pitchFamily="34" charset="-122"/>
                <a:cs typeface="Calibri" pitchFamily="34" charset="-120"/>
              </a:rPr>
              <a:t>Disposition — milestones and how they left</a:t>
            </a:r>
            <a:endParaRPr lang="en-US" sz="1400" dirty="0"/>
          </a:p>
        </p:txBody>
      </p:sp>
      <p:sp>
        <p:nvSpPr>
          <p:cNvPr id="18" name="Text 16"/>
          <p:cNvSpPr/>
          <p:nvPr/>
        </p:nvSpPr>
        <p:spPr>
          <a:xfrm>
            <a:off x="6492240" y="4892040"/>
            <a:ext cx="4846320" cy="365760"/>
          </a:xfrm>
          <a:prstGeom prst="rect">
            <a:avLst/>
          </a:prstGeom>
          <a:noFill/>
          <a:ln/>
        </p:spPr>
        <p:txBody>
          <a:bodyPr wrap="square" lIns="0" tIns="0" rIns="0" bIns="0" rtlCol="0" anchor="ctr"/>
          <a:lstStyle/>
          <a:p>
            <a:pPr indent="0" marL="0">
              <a:buNone/>
            </a:pPr>
            <a:r>
              <a:rPr lang="en-US" sz="1250" b="1" dirty="0">
                <a:solidFill>
                  <a:srgbClr val="B5651A"/>
                </a:solidFill>
                <a:latin typeface="Courier New" pitchFamily="34" charset="0"/>
                <a:ea typeface="Courier New" pitchFamily="34" charset="-122"/>
                <a:cs typeface="Courier New" pitchFamily="34" charset="-120"/>
              </a:rPr>
              <a:t>Topic variable: --TERM  (what happened)</a:t>
            </a:r>
            <a:endParaRPr lang="en-US" sz="1250" dirty="0"/>
          </a:p>
        </p:txBody>
      </p:sp>
      <p:sp>
        <p:nvSpPr>
          <p:cNvPr id="19" name="Text 17"/>
          <p:cNvSpPr/>
          <p:nvPr/>
        </p:nvSpPr>
        <p:spPr>
          <a:xfrm>
            <a:off x="6492240" y="5230368"/>
            <a:ext cx="4846320" cy="320040"/>
          </a:xfrm>
          <a:prstGeom prst="rect">
            <a:avLst/>
          </a:prstGeom>
          <a:noFill/>
          <a:ln/>
        </p:spPr>
        <p:txBody>
          <a:bodyPr wrap="square" lIns="0" tIns="0" rIns="0" bIns="0" rtlCol="0" anchor="ctr"/>
          <a:lstStyle/>
          <a:p>
            <a:pPr indent="0" marL="0">
              <a:buNone/>
            </a:pPr>
            <a:r>
              <a:rPr lang="en-US" sz="1200" dirty="0">
                <a:solidFill>
                  <a:srgbClr val="5A7682"/>
                </a:solidFill>
                <a:latin typeface="Courier New" pitchFamily="34" charset="0"/>
                <a:ea typeface="Courier New" pitchFamily="34" charset="-122"/>
                <a:cs typeface="Courier New" pitchFamily="34" charset="-120"/>
              </a:rPr>
              <a:t>AETERM · MHTERM · DSTERM</a:t>
            </a:r>
            <a:endParaRPr lang="en-US" sz="1200" dirty="0"/>
          </a:p>
        </p:txBody>
      </p:sp>
      <p:sp>
        <p:nvSpPr>
          <p:cNvPr id="20" name="Text 18"/>
          <p:cNvSpPr/>
          <p:nvPr/>
        </p:nvSpPr>
        <p:spPr>
          <a:xfrm>
            <a:off x="640080" y="5897880"/>
            <a:ext cx="10972800" cy="457200"/>
          </a:xfrm>
          <a:prstGeom prst="rect">
            <a:avLst/>
          </a:prstGeom>
          <a:noFill/>
          <a:ln/>
        </p:spPr>
        <p:txBody>
          <a:bodyPr wrap="square" lIns="0" tIns="0" rIns="0" bIns="0" rtlCol="0" anchor="ctr"/>
          <a:lstStyle/>
          <a:p>
            <a:pPr indent="0" marL="0">
              <a:buNone/>
            </a:pPr>
            <a:r>
              <a:rPr lang="en-US" sz="1350" i="1" dirty="0">
                <a:solidFill>
                  <a:srgbClr val="0E7C86"/>
                </a:solidFill>
                <a:latin typeface="Calibri" pitchFamily="34" charset="0"/>
                <a:ea typeface="Calibri" pitchFamily="34" charset="-122"/>
                <a:cs typeface="Calibri" pitchFamily="34" charset="-120"/>
              </a:rPr>
              <a:t>The test: was it deliberate (Intervention) or did it just happen (Event)? Aspirin taken for a headache is an Intervention; the headache is an Event.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THE PATTERN</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Every general-observation domain has the same skeleton</a:t>
            </a:r>
            <a:endParaRPr lang="en-US" sz="3000" dirty="0"/>
          </a:p>
        </p:txBody>
      </p:sp>
      <p:sp>
        <p:nvSpPr>
          <p:cNvPr id="4" name="Shape 2"/>
          <p:cNvSpPr/>
          <p:nvPr/>
        </p:nvSpPr>
        <p:spPr>
          <a:xfrm>
            <a:off x="640080" y="1874520"/>
            <a:ext cx="10972800" cy="868680"/>
          </a:xfrm>
          <a:prstGeom prst="roundRect">
            <a:avLst>
              <a:gd name="adj" fmla="val 9474"/>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914400" y="2039112"/>
            <a:ext cx="548640" cy="548640"/>
          </a:xfrm>
          <a:prstGeom prst="ellipse">
            <a:avLst/>
          </a:prstGeom>
          <a:solidFill>
            <a:srgbClr val="0E7C86"/>
          </a:solidFill>
          <a:ln/>
        </p:spPr>
      </p:sp>
      <p:sp>
        <p:nvSpPr>
          <p:cNvPr id="6" name="Text 4"/>
          <p:cNvSpPr/>
          <p:nvPr/>
        </p:nvSpPr>
        <p:spPr>
          <a:xfrm>
            <a:off x="914400" y="203911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691640" y="1975104"/>
            <a:ext cx="2377440" cy="365760"/>
          </a:xfrm>
          <a:prstGeom prst="rect">
            <a:avLst/>
          </a:prstGeom>
          <a:noFill/>
          <a:ln/>
        </p:spPr>
        <p:txBody>
          <a:bodyPr wrap="square" lIns="0" tIns="0" rIns="0" bIns="0" rtlCol="0" anchor="ctr"/>
          <a:lstStyle/>
          <a:p>
            <a:pPr indent="0" marL="0">
              <a:buNone/>
            </a:pPr>
            <a:r>
              <a:rPr lang="en-US" sz="1600" b="1" dirty="0">
                <a:solidFill>
                  <a:srgbClr val="9FC0C6"/>
                </a:solidFill>
                <a:latin typeface="Cambria" pitchFamily="34" charset="0"/>
                <a:ea typeface="Cambria" pitchFamily="34" charset="-122"/>
                <a:cs typeface="Cambria" pitchFamily="34" charset="-120"/>
              </a:rPr>
              <a:t>IDENTIFIERS</a:t>
            </a:r>
            <a:endParaRPr lang="en-US" sz="1600" dirty="0"/>
          </a:p>
        </p:txBody>
      </p:sp>
      <p:sp>
        <p:nvSpPr>
          <p:cNvPr id="8" name="Text 6"/>
          <p:cNvSpPr/>
          <p:nvPr/>
        </p:nvSpPr>
        <p:spPr>
          <a:xfrm>
            <a:off x="1691640" y="2350008"/>
            <a:ext cx="2926080" cy="365760"/>
          </a:xfrm>
          <a:prstGeom prst="rect">
            <a:avLst/>
          </a:prstGeom>
          <a:noFill/>
          <a:ln/>
        </p:spPr>
        <p:txBody>
          <a:bodyPr wrap="square" lIns="0" tIns="0" rIns="0" bIns="0" rtlCol="0" anchor="ctr"/>
          <a:lstStyle/>
          <a:p>
            <a:pPr indent="0" marL="0">
              <a:buNone/>
            </a:pPr>
            <a:r>
              <a:rPr lang="en-US" sz="1200" dirty="0">
                <a:solidFill>
                  <a:srgbClr val="9FC0C6"/>
                </a:solidFill>
                <a:latin typeface="Calibri" pitchFamily="34" charset="0"/>
                <a:ea typeface="Calibri" pitchFamily="34" charset="-122"/>
                <a:cs typeface="Calibri" pitchFamily="34" charset="-120"/>
              </a:rPr>
              <a:t>Who and which record</a:t>
            </a:r>
            <a:endParaRPr lang="en-US" sz="1200" dirty="0"/>
          </a:p>
        </p:txBody>
      </p:sp>
      <p:sp>
        <p:nvSpPr>
          <p:cNvPr id="9" name="Text 7"/>
          <p:cNvSpPr/>
          <p:nvPr/>
        </p:nvSpPr>
        <p:spPr>
          <a:xfrm>
            <a:off x="4846320" y="2103120"/>
            <a:ext cx="6492240" cy="457200"/>
          </a:xfrm>
          <a:prstGeom prst="rect">
            <a:avLst/>
          </a:prstGeom>
          <a:noFill/>
          <a:ln/>
        </p:spPr>
        <p:txBody>
          <a:bodyPr wrap="square" lIns="0" tIns="0" rIns="0" bIns="0" rtlCol="0" anchor="ctr"/>
          <a:lstStyle/>
          <a:p>
            <a:pPr indent="0" marL="0">
              <a:buNone/>
            </a:pPr>
            <a:r>
              <a:rPr lang="en-US" sz="1250" dirty="0">
                <a:solidFill>
                  <a:srgbClr val="E7F0F1"/>
                </a:solidFill>
                <a:latin typeface="Courier New" pitchFamily="34" charset="0"/>
                <a:ea typeface="Courier New" pitchFamily="34" charset="-122"/>
                <a:cs typeface="Courier New" pitchFamily="34" charset="-120"/>
              </a:rPr>
              <a:t>STUDYID · DOMAIN · USUBJID · --SEQ</a:t>
            </a:r>
            <a:endParaRPr lang="en-US" sz="1250" dirty="0"/>
          </a:p>
        </p:txBody>
      </p:sp>
      <p:sp>
        <p:nvSpPr>
          <p:cNvPr id="10" name="Shape 8"/>
          <p:cNvSpPr/>
          <p:nvPr/>
        </p:nvSpPr>
        <p:spPr>
          <a:xfrm>
            <a:off x="640080" y="2807208"/>
            <a:ext cx="10972800" cy="868680"/>
          </a:xfrm>
          <a:prstGeom prst="roundRect">
            <a:avLst>
              <a:gd name="adj" fmla="val 9474"/>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Shape 9"/>
          <p:cNvSpPr/>
          <p:nvPr/>
        </p:nvSpPr>
        <p:spPr>
          <a:xfrm>
            <a:off x="914400" y="2971800"/>
            <a:ext cx="548640" cy="548640"/>
          </a:xfrm>
          <a:prstGeom prst="ellipse">
            <a:avLst/>
          </a:prstGeom>
          <a:solidFill>
            <a:srgbClr val="E8833A"/>
          </a:solidFill>
          <a:ln/>
        </p:spPr>
      </p:sp>
      <p:sp>
        <p:nvSpPr>
          <p:cNvPr id="12" name="Text 10"/>
          <p:cNvSpPr/>
          <p:nvPr/>
        </p:nvSpPr>
        <p:spPr>
          <a:xfrm>
            <a:off x="914400" y="2971800"/>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691640" y="2907792"/>
            <a:ext cx="2377440" cy="365760"/>
          </a:xfrm>
          <a:prstGeom prst="rect">
            <a:avLst/>
          </a:prstGeom>
          <a:noFill/>
          <a:ln/>
        </p:spPr>
        <p:txBody>
          <a:bodyPr wrap="square" lIns="0" tIns="0" rIns="0" bIns="0" rtlCol="0" anchor="ctr"/>
          <a:lstStyle/>
          <a:p>
            <a:pPr indent="0" marL="0">
              <a:buNone/>
            </a:pPr>
            <a:r>
              <a:rPr lang="en-US" sz="1600" b="1" dirty="0">
                <a:solidFill>
                  <a:srgbClr val="F0B27A"/>
                </a:solidFill>
                <a:latin typeface="Cambria" pitchFamily="34" charset="0"/>
                <a:ea typeface="Cambria" pitchFamily="34" charset="-122"/>
                <a:cs typeface="Cambria" pitchFamily="34" charset="-120"/>
              </a:rPr>
              <a:t>TOPIC</a:t>
            </a:r>
            <a:endParaRPr lang="en-US" sz="1600" dirty="0"/>
          </a:p>
        </p:txBody>
      </p:sp>
      <p:sp>
        <p:nvSpPr>
          <p:cNvPr id="14" name="Text 12"/>
          <p:cNvSpPr/>
          <p:nvPr/>
        </p:nvSpPr>
        <p:spPr>
          <a:xfrm>
            <a:off x="1691640" y="3282696"/>
            <a:ext cx="2926080" cy="365760"/>
          </a:xfrm>
          <a:prstGeom prst="rect">
            <a:avLst/>
          </a:prstGeom>
          <a:noFill/>
          <a:ln/>
        </p:spPr>
        <p:txBody>
          <a:bodyPr wrap="square" lIns="0" tIns="0" rIns="0" bIns="0" rtlCol="0" anchor="ctr"/>
          <a:lstStyle/>
          <a:p>
            <a:pPr indent="0" marL="0">
              <a:buNone/>
            </a:pPr>
            <a:r>
              <a:rPr lang="en-US" sz="1200" dirty="0">
                <a:solidFill>
                  <a:srgbClr val="9FC0C6"/>
                </a:solidFill>
                <a:latin typeface="Calibri" pitchFamily="34" charset="0"/>
                <a:ea typeface="Calibri" pitchFamily="34" charset="-122"/>
                <a:cs typeface="Calibri" pitchFamily="34" charset="-120"/>
              </a:rPr>
              <a:t>What the record is about</a:t>
            </a:r>
            <a:endParaRPr lang="en-US" sz="1200" dirty="0"/>
          </a:p>
        </p:txBody>
      </p:sp>
      <p:sp>
        <p:nvSpPr>
          <p:cNvPr id="15" name="Text 13"/>
          <p:cNvSpPr/>
          <p:nvPr/>
        </p:nvSpPr>
        <p:spPr>
          <a:xfrm>
            <a:off x="4846320" y="3035808"/>
            <a:ext cx="6492240" cy="457200"/>
          </a:xfrm>
          <a:prstGeom prst="rect">
            <a:avLst/>
          </a:prstGeom>
          <a:noFill/>
          <a:ln/>
        </p:spPr>
        <p:txBody>
          <a:bodyPr wrap="square" lIns="0" tIns="0" rIns="0" bIns="0" rtlCol="0" anchor="ctr"/>
          <a:lstStyle/>
          <a:p>
            <a:pPr indent="0" marL="0">
              <a:buNone/>
            </a:pPr>
            <a:r>
              <a:rPr lang="en-US" sz="1250" dirty="0">
                <a:solidFill>
                  <a:srgbClr val="E7F0F1"/>
                </a:solidFill>
                <a:latin typeface="Courier New" pitchFamily="34" charset="0"/>
                <a:ea typeface="Courier New" pitchFamily="34" charset="-122"/>
                <a:cs typeface="Courier New" pitchFamily="34" charset="-120"/>
              </a:rPr>
              <a:t>AETERM · CMTRT · EXTRT</a:t>
            </a:r>
            <a:endParaRPr lang="en-US" sz="1250" dirty="0"/>
          </a:p>
        </p:txBody>
      </p:sp>
      <p:sp>
        <p:nvSpPr>
          <p:cNvPr id="16" name="Shape 14"/>
          <p:cNvSpPr/>
          <p:nvPr/>
        </p:nvSpPr>
        <p:spPr>
          <a:xfrm>
            <a:off x="640080" y="3739896"/>
            <a:ext cx="10972800" cy="868680"/>
          </a:xfrm>
          <a:prstGeom prst="roundRect">
            <a:avLst>
              <a:gd name="adj" fmla="val 9474"/>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914400" y="3904488"/>
            <a:ext cx="548640" cy="548640"/>
          </a:xfrm>
          <a:prstGeom prst="ellipse">
            <a:avLst/>
          </a:prstGeom>
          <a:solidFill>
            <a:srgbClr val="6FC8B4"/>
          </a:solidFill>
          <a:ln/>
        </p:spPr>
      </p:sp>
      <p:sp>
        <p:nvSpPr>
          <p:cNvPr id="18" name="Text 16"/>
          <p:cNvSpPr/>
          <p:nvPr/>
        </p:nvSpPr>
        <p:spPr>
          <a:xfrm>
            <a:off x="914400" y="390448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1691640" y="3840480"/>
            <a:ext cx="2377440" cy="365760"/>
          </a:xfrm>
          <a:prstGeom prst="rect">
            <a:avLst/>
          </a:prstGeom>
          <a:noFill/>
          <a:ln/>
        </p:spPr>
        <p:txBody>
          <a:bodyPr wrap="square" lIns="0" tIns="0" rIns="0" bIns="0" rtlCol="0" anchor="ctr"/>
          <a:lstStyle/>
          <a:p>
            <a:pPr indent="0" marL="0">
              <a:buNone/>
            </a:pPr>
            <a:r>
              <a:rPr lang="en-US" sz="1600" b="1" dirty="0">
                <a:solidFill>
                  <a:srgbClr val="6FC8B4"/>
                </a:solidFill>
                <a:latin typeface="Cambria" pitchFamily="34" charset="0"/>
                <a:ea typeface="Cambria" pitchFamily="34" charset="-122"/>
                <a:cs typeface="Cambria" pitchFamily="34" charset="-120"/>
              </a:rPr>
              <a:t>QUALIFIERS</a:t>
            </a:r>
            <a:endParaRPr lang="en-US" sz="1600" dirty="0"/>
          </a:p>
        </p:txBody>
      </p:sp>
      <p:sp>
        <p:nvSpPr>
          <p:cNvPr id="20" name="Text 18"/>
          <p:cNvSpPr/>
          <p:nvPr/>
        </p:nvSpPr>
        <p:spPr>
          <a:xfrm>
            <a:off x="1691640" y="4215384"/>
            <a:ext cx="2926080" cy="365760"/>
          </a:xfrm>
          <a:prstGeom prst="rect">
            <a:avLst/>
          </a:prstGeom>
          <a:noFill/>
          <a:ln/>
        </p:spPr>
        <p:txBody>
          <a:bodyPr wrap="square" lIns="0" tIns="0" rIns="0" bIns="0" rtlCol="0" anchor="ctr"/>
          <a:lstStyle/>
          <a:p>
            <a:pPr indent="0" marL="0">
              <a:buNone/>
            </a:pPr>
            <a:r>
              <a:rPr lang="en-US" sz="1200" dirty="0">
                <a:solidFill>
                  <a:srgbClr val="9FC0C6"/>
                </a:solidFill>
                <a:latin typeface="Calibri" pitchFamily="34" charset="0"/>
                <a:ea typeface="Calibri" pitchFamily="34" charset="-122"/>
                <a:cs typeface="Calibri" pitchFamily="34" charset="-120"/>
              </a:rPr>
              <a:t>Everything describing the topic</a:t>
            </a:r>
            <a:endParaRPr lang="en-US" sz="1200" dirty="0"/>
          </a:p>
        </p:txBody>
      </p:sp>
      <p:sp>
        <p:nvSpPr>
          <p:cNvPr id="21" name="Text 19"/>
          <p:cNvSpPr/>
          <p:nvPr/>
        </p:nvSpPr>
        <p:spPr>
          <a:xfrm>
            <a:off x="4846320" y="3968496"/>
            <a:ext cx="6492240" cy="457200"/>
          </a:xfrm>
          <a:prstGeom prst="rect">
            <a:avLst/>
          </a:prstGeom>
          <a:noFill/>
          <a:ln/>
        </p:spPr>
        <p:txBody>
          <a:bodyPr wrap="square" lIns="0" tIns="0" rIns="0" bIns="0" rtlCol="0" anchor="ctr"/>
          <a:lstStyle/>
          <a:p>
            <a:pPr indent="0" marL="0">
              <a:buNone/>
            </a:pPr>
            <a:r>
              <a:rPr lang="en-US" sz="1250" dirty="0">
                <a:solidFill>
                  <a:srgbClr val="E7F0F1"/>
                </a:solidFill>
                <a:latin typeface="Courier New" pitchFamily="34" charset="0"/>
                <a:ea typeface="Courier New" pitchFamily="34" charset="-122"/>
                <a:cs typeface="Courier New" pitchFamily="34" charset="-120"/>
              </a:rPr>
              <a:t>AESEV · AESER · AEREL · AEOUT · AEDECOD</a:t>
            </a:r>
            <a:endParaRPr lang="en-US" sz="1250" dirty="0"/>
          </a:p>
        </p:txBody>
      </p:sp>
      <p:sp>
        <p:nvSpPr>
          <p:cNvPr id="22" name="Shape 20"/>
          <p:cNvSpPr/>
          <p:nvPr/>
        </p:nvSpPr>
        <p:spPr>
          <a:xfrm>
            <a:off x="640080" y="4672584"/>
            <a:ext cx="10972800" cy="868680"/>
          </a:xfrm>
          <a:prstGeom prst="roundRect">
            <a:avLst>
              <a:gd name="adj" fmla="val 9474"/>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3" name="Shape 21"/>
          <p:cNvSpPr/>
          <p:nvPr/>
        </p:nvSpPr>
        <p:spPr>
          <a:xfrm>
            <a:off x="914400" y="4837176"/>
            <a:ext cx="548640" cy="548640"/>
          </a:xfrm>
          <a:prstGeom prst="ellipse">
            <a:avLst/>
          </a:prstGeom>
          <a:solidFill>
            <a:srgbClr val="1FA8A0"/>
          </a:solidFill>
          <a:ln/>
        </p:spPr>
      </p:sp>
      <p:sp>
        <p:nvSpPr>
          <p:cNvPr id="24" name="Text 22"/>
          <p:cNvSpPr/>
          <p:nvPr/>
        </p:nvSpPr>
        <p:spPr>
          <a:xfrm>
            <a:off x="914400" y="483717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1691640" y="4773168"/>
            <a:ext cx="2377440" cy="365760"/>
          </a:xfrm>
          <a:prstGeom prst="rect">
            <a:avLst/>
          </a:prstGeom>
          <a:noFill/>
          <a:ln/>
        </p:spPr>
        <p:txBody>
          <a:bodyPr wrap="square" lIns="0" tIns="0" rIns="0" bIns="0" rtlCol="0" anchor="ctr"/>
          <a:lstStyle/>
          <a:p>
            <a:pPr indent="0" marL="0">
              <a:buNone/>
            </a:pPr>
            <a:r>
              <a:rPr lang="en-US" sz="1600" b="1" dirty="0">
                <a:solidFill>
                  <a:srgbClr val="9FC0C6"/>
                </a:solidFill>
                <a:latin typeface="Cambria" pitchFamily="34" charset="0"/>
                <a:ea typeface="Cambria" pitchFamily="34" charset="-122"/>
                <a:cs typeface="Cambria" pitchFamily="34" charset="-120"/>
              </a:rPr>
              <a:t>TIMING</a:t>
            </a:r>
            <a:endParaRPr lang="en-US" sz="1600" dirty="0"/>
          </a:p>
        </p:txBody>
      </p:sp>
      <p:sp>
        <p:nvSpPr>
          <p:cNvPr id="26" name="Text 24"/>
          <p:cNvSpPr/>
          <p:nvPr/>
        </p:nvSpPr>
        <p:spPr>
          <a:xfrm>
            <a:off x="1691640" y="5148072"/>
            <a:ext cx="2926080" cy="365760"/>
          </a:xfrm>
          <a:prstGeom prst="rect">
            <a:avLst/>
          </a:prstGeom>
          <a:noFill/>
          <a:ln/>
        </p:spPr>
        <p:txBody>
          <a:bodyPr wrap="square" lIns="0" tIns="0" rIns="0" bIns="0" rtlCol="0" anchor="ctr"/>
          <a:lstStyle/>
          <a:p>
            <a:pPr indent="0" marL="0">
              <a:buNone/>
            </a:pPr>
            <a:r>
              <a:rPr lang="en-US" sz="1200" dirty="0">
                <a:solidFill>
                  <a:srgbClr val="9FC0C6"/>
                </a:solidFill>
                <a:latin typeface="Calibri" pitchFamily="34" charset="0"/>
                <a:ea typeface="Calibri" pitchFamily="34" charset="-122"/>
                <a:cs typeface="Calibri" pitchFamily="34" charset="-120"/>
              </a:rPr>
              <a:t>When it happened</a:t>
            </a:r>
            <a:endParaRPr lang="en-US" sz="1200" dirty="0"/>
          </a:p>
        </p:txBody>
      </p:sp>
      <p:sp>
        <p:nvSpPr>
          <p:cNvPr id="27" name="Text 25"/>
          <p:cNvSpPr/>
          <p:nvPr/>
        </p:nvSpPr>
        <p:spPr>
          <a:xfrm>
            <a:off x="4846320" y="4901184"/>
            <a:ext cx="6492240" cy="457200"/>
          </a:xfrm>
          <a:prstGeom prst="rect">
            <a:avLst/>
          </a:prstGeom>
          <a:noFill/>
          <a:ln/>
        </p:spPr>
        <p:txBody>
          <a:bodyPr wrap="square" lIns="0" tIns="0" rIns="0" bIns="0" rtlCol="0" anchor="ctr"/>
          <a:lstStyle/>
          <a:p>
            <a:pPr indent="0" marL="0">
              <a:buNone/>
            </a:pPr>
            <a:r>
              <a:rPr lang="en-US" sz="1250" dirty="0">
                <a:solidFill>
                  <a:srgbClr val="E7F0F1"/>
                </a:solidFill>
                <a:latin typeface="Courier New" pitchFamily="34" charset="0"/>
                <a:ea typeface="Courier New" pitchFamily="34" charset="-122"/>
                <a:cs typeface="Courier New" pitchFamily="34" charset="-120"/>
              </a:rPr>
              <a:t>AESTDTC · AEENDTC · AESTDY · AEENDY</a:t>
            </a:r>
            <a:endParaRPr lang="en-US" sz="1250" dirty="0"/>
          </a:p>
        </p:txBody>
      </p:sp>
      <p:sp>
        <p:nvSpPr>
          <p:cNvPr id="28" name="Shape 26"/>
          <p:cNvSpPr/>
          <p:nvPr/>
        </p:nvSpPr>
        <p:spPr>
          <a:xfrm>
            <a:off x="640080" y="5715000"/>
            <a:ext cx="10972800" cy="914400"/>
          </a:xfrm>
          <a:prstGeom prst="roundRect">
            <a:avLst>
              <a:gd name="adj" fmla="val 9000"/>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9" name="Text 27"/>
          <p:cNvSpPr/>
          <p:nvPr/>
        </p:nvSpPr>
        <p:spPr>
          <a:xfrm>
            <a:off x="914400" y="5852160"/>
            <a:ext cx="10424160" cy="685800"/>
          </a:xfrm>
          <a:prstGeom prst="rect">
            <a:avLst/>
          </a:prstGeom>
          <a:noFill/>
          <a:ln/>
        </p:spPr>
        <p:txBody>
          <a:bodyPr wrap="square" lIns="0" tIns="0" rIns="0" bIns="0" rtlCol="0" anchor="ctr"/>
          <a:lstStyle/>
          <a:p>
            <a:pPr indent="0" marL="0">
              <a:lnSpc>
                <a:spcPts val="2000"/>
              </a:lnSpc>
              <a:buNone/>
            </a:pPr>
            <a:r>
              <a:rPr lang="en-US" sz="1450" b="1" dirty="0">
                <a:solidFill>
                  <a:srgbClr val="6FC8B4"/>
                </a:solidFill>
                <a:latin typeface="Calibri" pitchFamily="34" charset="0"/>
                <a:ea typeface="Calibri" pitchFamily="34" charset="-122"/>
                <a:cs typeface="Calibri" pitchFamily="34" charset="-120"/>
              </a:rPr>
              <a:t>This is what DM did NOT have.  </a:t>
            </a:r>
            <a:pPr indent="0" marL="0">
              <a:lnSpc>
                <a:spcPts val="2000"/>
              </a:lnSpc>
              <a:buNone/>
            </a:pPr>
            <a:r>
              <a:rPr lang="en-US" sz="1350" dirty="0">
                <a:solidFill>
                  <a:srgbClr val="C7DCE0"/>
                </a:solidFill>
                <a:latin typeface="Calibri" pitchFamily="34" charset="0"/>
                <a:ea typeface="Calibri" pitchFamily="34" charset="-122"/>
                <a:cs typeface="Calibri" pitchFamily="34" charset="-120"/>
              </a:rPr>
              <a:t>DM is Special Purpose — no topic variable, no --SEQ. From here on every domain follows the skeleton above, which is why learning it once pays off six times.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DOMAIN IN FOCUS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Anatomy of an AE record</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914400"/>
        </p:xfrm>
        <a:graphic>
          <a:graphicData uri="http://schemas.openxmlformats.org/drawingml/2006/table">
            <a:tbl>
              <a:tblPr/>
              <a:tblGrid>
                <a:gridCol w="1783080"/>
                <a:gridCol w="777240"/>
                <a:gridCol w="1554480"/>
                <a:gridCol w="1280160"/>
                <a:gridCol w="1234440"/>
                <a:gridCol w="731520"/>
                <a:gridCol w="1325880"/>
                <a:gridCol w="1325880"/>
                <a:gridCol w="1097280"/>
              </a:tblGrid>
              <a:tr h="457200">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USUBJID</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AESEQ</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AETERM</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AEDECOD</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AESEV</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AESER</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AESTDTC</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AEENDTC</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AESTDY</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r>
              <a:tr h="457200">
                <a:tc>
                  <a:txBody>
                    <a:bodyPr/>
                    <a:lstStyle/>
                    <a:p>
                      <a:pPr algn="ctr" indent="0" marL="0">
                        <a:buNone/>
                      </a:pPr>
                      <a:r>
                        <a:rPr lang="en-US" sz="1000" dirty="0">
                          <a:solidFill>
                            <a:srgbClr val="0F2E3D"/>
                          </a:solidFill>
                          <a:latin typeface="Courier New" pitchFamily="34" charset="0"/>
                          <a:ea typeface="Courier New" pitchFamily="34" charset="-122"/>
                          <a:cs typeface="Courier New" pitchFamily="34" charset="-120"/>
                        </a:rPr>
                        <a:t>ABC-01-01-001</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1000" dirty="0">
                          <a:solidFill>
                            <a:srgbClr val="0F2E3D"/>
                          </a:solidFill>
                          <a:latin typeface="Courier New" pitchFamily="34" charset="0"/>
                          <a:ea typeface="Courier New" pitchFamily="34" charset="-122"/>
                          <a:cs typeface="Courier New" pitchFamily="34" charset="-120"/>
                        </a:rPr>
                        <a:t>1</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1000" dirty="0">
                          <a:solidFill>
                            <a:srgbClr val="0F2E3D"/>
                          </a:solidFill>
                          <a:latin typeface="Courier New" pitchFamily="34" charset="0"/>
                          <a:ea typeface="Courier New" pitchFamily="34" charset="-122"/>
                          <a:cs typeface="Courier New" pitchFamily="34" charset="-120"/>
                        </a:rPr>
                        <a:t>bad headache</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1000" dirty="0">
                          <a:solidFill>
                            <a:srgbClr val="0F2E3D"/>
                          </a:solidFill>
                          <a:latin typeface="Courier New" pitchFamily="34" charset="0"/>
                          <a:ea typeface="Courier New" pitchFamily="34" charset="-122"/>
                          <a:cs typeface="Courier New" pitchFamily="34" charset="-120"/>
                        </a:rPr>
                        <a:t>Headache</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1000" dirty="0">
                          <a:solidFill>
                            <a:srgbClr val="0F2E3D"/>
                          </a:solidFill>
                          <a:latin typeface="Courier New" pitchFamily="34" charset="0"/>
                          <a:ea typeface="Courier New" pitchFamily="34" charset="-122"/>
                          <a:cs typeface="Courier New" pitchFamily="34" charset="-120"/>
                        </a:rPr>
                        <a:t>MODERATE</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1000" dirty="0">
                          <a:solidFill>
                            <a:srgbClr val="0F2E3D"/>
                          </a:solidFill>
                          <a:latin typeface="Courier New" pitchFamily="34" charset="0"/>
                          <a:ea typeface="Courier New" pitchFamily="34" charset="-122"/>
                          <a:cs typeface="Courier New" pitchFamily="34" charset="-120"/>
                        </a:rPr>
                        <a:t>N</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1000" dirty="0">
                          <a:solidFill>
                            <a:srgbClr val="0F2E3D"/>
                          </a:solidFill>
                          <a:latin typeface="Courier New" pitchFamily="34" charset="0"/>
                          <a:ea typeface="Courier New" pitchFamily="34" charset="-122"/>
                          <a:cs typeface="Courier New" pitchFamily="34" charset="-120"/>
                        </a:rPr>
                        <a:t>2024-03-15</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1000" dirty="0">
                          <a:solidFill>
                            <a:srgbClr val="0F2E3D"/>
                          </a:solidFill>
                          <a:latin typeface="Courier New" pitchFamily="34" charset="0"/>
                          <a:ea typeface="Courier New" pitchFamily="34" charset="-122"/>
                          <a:cs typeface="Courier New" pitchFamily="34" charset="-120"/>
                        </a:rPr>
                        <a:t>2024-03-16</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1000" dirty="0">
                          <a:solidFill>
                            <a:srgbClr val="0F2E3D"/>
                          </a:solidFill>
                          <a:latin typeface="Courier New" pitchFamily="34" charset="0"/>
                          <a:ea typeface="Courier New" pitchFamily="34" charset="-122"/>
                          <a:cs typeface="Courier New" pitchFamily="34" charset="-120"/>
                        </a:rPr>
                        <a:t>15</a:t>
                      </a:r>
                      <a:endParaRPr lang="en-US" sz="100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bl>
          </a:graphicData>
        </a:graphic>
      </p:graphicFrame>
      <p:sp>
        <p:nvSpPr>
          <p:cNvPr id="5" name="Shape 2"/>
          <p:cNvSpPr/>
          <p:nvPr/>
        </p:nvSpPr>
        <p:spPr>
          <a:xfrm>
            <a:off x="640080" y="2514600"/>
            <a:ext cx="10972800" cy="804672"/>
          </a:xfrm>
          <a:prstGeom prst="roundRect">
            <a:avLst>
              <a:gd name="adj" fmla="val 1022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6" name="Shape 3"/>
          <p:cNvSpPr/>
          <p:nvPr/>
        </p:nvSpPr>
        <p:spPr>
          <a:xfrm>
            <a:off x="822960" y="2697480"/>
            <a:ext cx="128016" cy="438912"/>
          </a:xfrm>
          <a:prstGeom prst="roundRect">
            <a:avLst>
              <a:gd name="adj" fmla="val 35714"/>
            </a:avLst>
          </a:prstGeom>
          <a:solidFill>
            <a:srgbClr val="0E7C86"/>
          </a:solidFill>
          <a:ln/>
        </p:spPr>
      </p:sp>
      <p:sp>
        <p:nvSpPr>
          <p:cNvPr id="7" name="Text 4"/>
          <p:cNvSpPr/>
          <p:nvPr/>
        </p:nvSpPr>
        <p:spPr>
          <a:xfrm>
            <a:off x="1143000" y="2679192"/>
            <a:ext cx="2194560" cy="45720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Identifiers</a:t>
            </a:r>
            <a:endParaRPr lang="en-US" sz="1500" dirty="0"/>
          </a:p>
        </p:txBody>
      </p:sp>
      <p:sp>
        <p:nvSpPr>
          <p:cNvPr id="8" name="Text 5"/>
          <p:cNvSpPr/>
          <p:nvPr/>
        </p:nvSpPr>
        <p:spPr>
          <a:xfrm>
            <a:off x="3429000" y="2679192"/>
            <a:ext cx="7863840" cy="45720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USUBJID + AESEQ uniquely identify this row</a:t>
            </a:r>
            <a:endParaRPr lang="en-US" sz="1300" dirty="0"/>
          </a:p>
        </p:txBody>
      </p:sp>
      <p:sp>
        <p:nvSpPr>
          <p:cNvPr id="9" name="Shape 6"/>
          <p:cNvSpPr/>
          <p:nvPr/>
        </p:nvSpPr>
        <p:spPr>
          <a:xfrm>
            <a:off x="640080" y="3392424"/>
            <a:ext cx="10972800" cy="804672"/>
          </a:xfrm>
          <a:prstGeom prst="roundRect">
            <a:avLst>
              <a:gd name="adj" fmla="val 1022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Shape 7"/>
          <p:cNvSpPr/>
          <p:nvPr/>
        </p:nvSpPr>
        <p:spPr>
          <a:xfrm>
            <a:off x="822960" y="3575304"/>
            <a:ext cx="128016" cy="438912"/>
          </a:xfrm>
          <a:prstGeom prst="roundRect">
            <a:avLst>
              <a:gd name="adj" fmla="val 35714"/>
            </a:avLst>
          </a:prstGeom>
          <a:solidFill>
            <a:srgbClr val="E8833A"/>
          </a:solidFill>
          <a:ln/>
        </p:spPr>
      </p:sp>
      <p:sp>
        <p:nvSpPr>
          <p:cNvPr id="11" name="Text 8"/>
          <p:cNvSpPr/>
          <p:nvPr/>
        </p:nvSpPr>
        <p:spPr>
          <a:xfrm>
            <a:off x="1143000" y="3557016"/>
            <a:ext cx="2194560" cy="45720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Topic</a:t>
            </a:r>
            <a:endParaRPr lang="en-US" sz="1500" dirty="0"/>
          </a:p>
        </p:txBody>
      </p:sp>
      <p:sp>
        <p:nvSpPr>
          <p:cNvPr id="12" name="Text 9"/>
          <p:cNvSpPr/>
          <p:nvPr/>
        </p:nvSpPr>
        <p:spPr>
          <a:xfrm>
            <a:off x="3429000" y="3557016"/>
            <a:ext cx="7863840" cy="45720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AETERM — what the investigator reported, verbatim</a:t>
            </a:r>
            <a:endParaRPr lang="en-US" sz="1300" dirty="0"/>
          </a:p>
        </p:txBody>
      </p:sp>
      <p:sp>
        <p:nvSpPr>
          <p:cNvPr id="13" name="Shape 10"/>
          <p:cNvSpPr/>
          <p:nvPr/>
        </p:nvSpPr>
        <p:spPr>
          <a:xfrm>
            <a:off x="640080" y="4270248"/>
            <a:ext cx="10972800" cy="804672"/>
          </a:xfrm>
          <a:prstGeom prst="roundRect">
            <a:avLst>
              <a:gd name="adj" fmla="val 1022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4" name="Shape 11"/>
          <p:cNvSpPr/>
          <p:nvPr/>
        </p:nvSpPr>
        <p:spPr>
          <a:xfrm>
            <a:off x="822960" y="4453128"/>
            <a:ext cx="128016" cy="438912"/>
          </a:xfrm>
          <a:prstGeom prst="roundRect">
            <a:avLst>
              <a:gd name="adj" fmla="val 35714"/>
            </a:avLst>
          </a:prstGeom>
          <a:solidFill>
            <a:srgbClr val="6FC8B4"/>
          </a:solidFill>
          <a:ln/>
        </p:spPr>
      </p:sp>
      <p:sp>
        <p:nvSpPr>
          <p:cNvPr id="15" name="Text 12"/>
          <p:cNvSpPr/>
          <p:nvPr/>
        </p:nvSpPr>
        <p:spPr>
          <a:xfrm>
            <a:off x="1143000" y="4434840"/>
            <a:ext cx="2194560" cy="45720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Qualifiers</a:t>
            </a:r>
            <a:endParaRPr lang="en-US" sz="1500" dirty="0"/>
          </a:p>
        </p:txBody>
      </p:sp>
      <p:sp>
        <p:nvSpPr>
          <p:cNvPr id="16" name="Text 13"/>
          <p:cNvSpPr/>
          <p:nvPr/>
        </p:nvSpPr>
        <p:spPr>
          <a:xfrm>
            <a:off x="3429000" y="4434840"/>
            <a:ext cx="7863840" cy="45720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AEDECOD, AESEV, AESER, AEREL, AEOUT describe it</a:t>
            </a:r>
            <a:endParaRPr lang="en-US" sz="1300" dirty="0"/>
          </a:p>
        </p:txBody>
      </p:sp>
      <p:sp>
        <p:nvSpPr>
          <p:cNvPr id="17" name="Shape 14"/>
          <p:cNvSpPr/>
          <p:nvPr/>
        </p:nvSpPr>
        <p:spPr>
          <a:xfrm>
            <a:off x="640080" y="5148072"/>
            <a:ext cx="10972800" cy="804672"/>
          </a:xfrm>
          <a:prstGeom prst="roundRect">
            <a:avLst>
              <a:gd name="adj" fmla="val 1022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8" name="Shape 15"/>
          <p:cNvSpPr/>
          <p:nvPr/>
        </p:nvSpPr>
        <p:spPr>
          <a:xfrm>
            <a:off x="822960" y="5330952"/>
            <a:ext cx="128016" cy="438912"/>
          </a:xfrm>
          <a:prstGeom prst="roundRect">
            <a:avLst>
              <a:gd name="adj" fmla="val 35714"/>
            </a:avLst>
          </a:prstGeom>
          <a:solidFill>
            <a:srgbClr val="1FA8A0"/>
          </a:solidFill>
          <a:ln/>
        </p:spPr>
      </p:sp>
      <p:sp>
        <p:nvSpPr>
          <p:cNvPr id="19" name="Text 16"/>
          <p:cNvSpPr/>
          <p:nvPr/>
        </p:nvSpPr>
        <p:spPr>
          <a:xfrm>
            <a:off x="1143000" y="5312664"/>
            <a:ext cx="2194560" cy="457200"/>
          </a:xfrm>
          <a:prstGeom prst="rect">
            <a:avLst/>
          </a:prstGeom>
          <a:noFill/>
          <a:ln/>
        </p:spPr>
        <p:txBody>
          <a:bodyPr wrap="square" lIns="0" tIns="0" rIns="0" bIns="0" rtlCol="0" anchor="ctr"/>
          <a:lstStyle/>
          <a:p>
            <a:pPr indent="0" marL="0">
              <a:buNone/>
            </a:pPr>
            <a:r>
              <a:rPr lang="en-US" sz="1500" b="1" dirty="0">
                <a:solidFill>
                  <a:srgbClr val="0F2E3D"/>
                </a:solidFill>
                <a:latin typeface="Calibri" pitchFamily="34" charset="0"/>
                <a:ea typeface="Calibri" pitchFamily="34" charset="-122"/>
                <a:cs typeface="Calibri" pitchFamily="34" charset="-120"/>
              </a:rPr>
              <a:t>Timing</a:t>
            </a:r>
            <a:endParaRPr lang="en-US" sz="1500" dirty="0"/>
          </a:p>
        </p:txBody>
      </p:sp>
      <p:sp>
        <p:nvSpPr>
          <p:cNvPr id="20" name="Text 17"/>
          <p:cNvSpPr/>
          <p:nvPr/>
        </p:nvSpPr>
        <p:spPr>
          <a:xfrm>
            <a:off x="3429000" y="5312664"/>
            <a:ext cx="7863840" cy="45720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AESTDTC / AEENDTC in ISO, AESTDY / AEENDY as study days</a:t>
            </a:r>
            <a:endParaRPr lang="en-US" sz="1300" dirty="0"/>
          </a:p>
        </p:txBody>
      </p:sp>
      <p:sp>
        <p:nvSpPr>
          <p:cNvPr id="21" name="Shape 18"/>
          <p:cNvSpPr/>
          <p:nvPr/>
        </p:nvSpPr>
        <p:spPr>
          <a:xfrm>
            <a:off x="640080" y="6035040"/>
            <a:ext cx="10972800" cy="685800"/>
          </a:xfrm>
          <a:prstGeom prst="roundRect">
            <a:avLst>
              <a:gd name="adj" fmla="val 12000"/>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2" name="Text 19"/>
          <p:cNvSpPr/>
          <p:nvPr/>
        </p:nvSpPr>
        <p:spPr>
          <a:xfrm>
            <a:off x="914400" y="6144768"/>
            <a:ext cx="10424160" cy="457200"/>
          </a:xfrm>
          <a:prstGeom prst="rect">
            <a:avLst/>
          </a:prstGeom>
          <a:noFill/>
          <a:ln/>
        </p:spPr>
        <p:txBody>
          <a:bodyPr wrap="square" lIns="0" tIns="0" rIns="0" bIns="0" rtlCol="0" anchor="ctr"/>
          <a:lstStyle/>
          <a:p>
            <a:pPr indent="0" marL="0">
              <a:buNone/>
            </a:pPr>
            <a:r>
              <a:rPr lang="en-US" sz="1400" dirty="0">
                <a:solidFill>
                  <a:srgbClr val="6FC8B4"/>
                </a:solidFill>
                <a:latin typeface="Calibri" pitchFamily="34" charset="0"/>
                <a:ea typeface="Calibri" pitchFamily="34" charset="-122"/>
                <a:cs typeface="Calibri" pitchFamily="34" charset="-120"/>
              </a:rPr>
              <a:t>One row per event, per subject. A subject with three adverse events gets three rows — AESEQ 1, 2, 3.</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TWO TERMS, BOTH REQUIRED</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AETERM and AEDECOD</a:t>
            </a:r>
            <a:endParaRPr lang="en-US" sz="3000" dirty="0"/>
          </a:p>
        </p:txBody>
      </p:sp>
      <p:sp>
        <p:nvSpPr>
          <p:cNvPr id="4" name="Shape 2"/>
          <p:cNvSpPr/>
          <p:nvPr/>
        </p:nvSpPr>
        <p:spPr>
          <a:xfrm>
            <a:off x="640080" y="1737360"/>
            <a:ext cx="5394960" cy="2377440"/>
          </a:xfrm>
          <a:prstGeom prst="roundRect">
            <a:avLst>
              <a:gd name="adj" fmla="val 3462"/>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920240"/>
            <a:ext cx="4846320" cy="457200"/>
          </a:xfrm>
          <a:prstGeom prst="rect">
            <a:avLst/>
          </a:prstGeom>
          <a:noFill/>
          <a:ln/>
        </p:spPr>
        <p:txBody>
          <a:bodyPr wrap="square" lIns="0" tIns="0" rIns="0" bIns="0" rtlCol="0" anchor="ctr"/>
          <a:lstStyle/>
          <a:p>
            <a:pPr indent="0" marL="0">
              <a:buNone/>
            </a:pPr>
            <a:r>
              <a:rPr lang="en-US" sz="2200" b="1" dirty="0">
                <a:solidFill>
                  <a:srgbClr val="0E7C86"/>
                </a:solidFill>
                <a:latin typeface="Courier New" pitchFamily="34" charset="0"/>
                <a:ea typeface="Courier New" pitchFamily="34" charset="-122"/>
                <a:cs typeface="Courier New" pitchFamily="34" charset="-120"/>
              </a:rPr>
              <a:t>AETERM</a:t>
            </a:r>
            <a:endParaRPr lang="en-US" sz="2200" dirty="0"/>
          </a:p>
        </p:txBody>
      </p:sp>
      <p:sp>
        <p:nvSpPr>
          <p:cNvPr id="6" name="Text 4"/>
          <p:cNvSpPr/>
          <p:nvPr/>
        </p:nvSpPr>
        <p:spPr>
          <a:xfrm>
            <a:off x="914400" y="2423160"/>
            <a:ext cx="4846320" cy="457200"/>
          </a:xfrm>
          <a:prstGeom prst="rect">
            <a:avLst/>
          </a:prstGeom>
          <a:noFill/>
          <a:ln/>
        </p:spPr>
        <p:txBody>
          <a:bodyPr wrap="square" lIns="0" tIns="0" rIns="0" bIns="0" rtlCol="0" anchor="ctr"/>
          <a:lstStyle/>
          <a:p>
            <a:pPr indent="0" marL="0">
              <a:buNone/>
            </a:pPr>
            <a:r>
              <a:rPr lang="en-US" sz="1350" b="1" dirty="0">
                <a:solidFill>
                  <a:srgbClr val="0F2E3D"/>
                </a:solidFill>
                <a:latin typeface="Calibri" pitchFamily="34" charset="0"/>
                <a:ea typeface="Calibri" pitchFamily="34" charset="-122"/>
                <a:cs typeface="Calibri" pitchFamily="34" charset="-120"/>
              </a:rPr>
              <a:t>VERBATIM — exactly what the investigator wrote.</a:t>
            </a:r>
            <a:endParaRPr lang="en-US" sz="1350" dirty="0"/>
          </a:p>
        </p:txBody>
      </p:sp>
      <p:sp>
        <p:nvSpPr>
          <p:cNvPr id="7" name="Text 5"/>
          <p:cNvSpPr/>
          <p:nvPr/>
        </p:nvSpPr>
        <p:spPr>
          <a:xfrm>
            <a:off x="914400" y="2926080"/>
            <a:ext cx="4846320" cy="457200"/>
          </a:xfrm>
          <a:prstGeom prst="rect">
            <a:avLst/>
          </a:prstGeom>
          <a:noFill/>
          <a:ln/>
        </p:spPr>
        <p:txBody>
          <a:bodyPr wrap="square" lIns="0" tIns="0" rIns="0" bIns="0" rtlCol="0" anchor="ctr"/>
          <a:lstStyle/>
          <a:p>
            <a:pPr indent="0" marL="0">
              <a:buNone/>
            </a:pPr>
            <a:r>
              <a:rPr lang="en-US" sz="1700" dirty="0">
                <a:solidFill>
                  <a:srgbClr val="E8833A"/>
                </a:solidFill>
                <a:latin typeface="Courier New" pitchFamily="34" charset="0"/>
                <a:ea typeface="Courier New" pitchFamily="34" charset="-122"/>
                <a:cs typeface="Courier New" pitchFamily="34" charset="-120"/>
              </a:rPr>
              <a:t>"bad headache"</a:t>
            </a:r>
            <a:endParaRPr lang="en-US" sz="1700" dirty="0"/>
          </a:p>
        </p:txBody>
      </p:sp>
      <p:sp>
        <p:nvSpPr>
          <p:cNvPr id="8" name="Text 6"/>
          <p:cNvSpPr/>
          <p:nvPr/>
        </p:nvSpPr>
        <p:spPr>
          <a:xfrm>
            <a:off x="914400" y="3429000"/>
            <a:ext cx="4846320" cy="59436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Never cleaned, never corrected, never abbreviated. It is the legal record of what was reported.</a:t>
            </a:r>
            <a:endParaRPr lang="en-US" sz="1250" dirty="0"/>
          </a:p>
        </p:txBody>
      </p:sp>
      <p:sp>
        <p:nvSpPr>
          <p:cNvPr id="9" name="Shape 7"/>
          <p:cNvSpPr/>
          <p:nvPr/>
        </p:nvSpPr>
        <p:spPr>
          <a:xfrm>
            <a:off x="6217920" y="1737360"/>
            <a:ext cx="5394960" cy="2377440"/>
          </a:xfrm>
          <a:prstGeom prst="roundRect">
            <a:avLst>
              <a:gd name="adj" fmla="val 3462"/>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Text 8"/>
          <p:cNvSpPr/>
          <p:nvPr/>
        </p:nvSpPr>
        <p:spPr>
          <a:xfrm>
            <a:off x="6492240" y="1920240"/>
            <a:ext cx="4846320" cy="457200"/>
          </a:xfrm>
          <a:prstGeom prst="rect">
            <a:avLst/>
          </a:prstGeom>
          <a:noFill/>
          <a:ln/>
        </p:spPr>
        <p:txBody>
          <a:bodyPr wrap="square" lIns="0" tIns="0" rIns="0" bIns="0" rtlCol="0" anchor="ctr"/>
          <a:lstStyle/>
          <a:p>
            <a:pPr indent="0" marL="0">
              <a:buNone/>
            </a:pPr>
            <a:r>
              <a:rPr lang="en-US" sz="2200" b="1" dirty="0">
                <a:solidFill>
                  <a:srgbClr val="1FA8A0"/>
                </a:solidFill>
                <a:latin typeface="Courier New" pitchFamily="34" charset="0"/>
                <a:ea typeface="Courier New" pitchFamily="34" charset="-122"/>
                <a:cs typeface="Courier New" pitchFamily="34" charset="-120"/>
              </a:rPr>
              <a:t>AEDECOD</a:t>
            </a:r>
            <a:endParaRPr lang="en-US" sz="2200" dirty="0"/>
          </a:p>
        </p:txBody>
      </p:sp>
      <p:sp>
        <p:nvSpPr>
          <p:cNvPr id="11" name="Text 9"/>
          <p:cNvSpPr/>
          <p:nvPr/>
        </p:nvSpPr>
        <p:spPr>
          <a:xfrm>
            <a:off x="6492240" y="2423160"/>
            <a:ext cx="4846320" cy="457200"/>
          </a:xfrm>
          <a:prstGeom prst="rect">
            <a:avLst/>
          </a:prstGeom>
          <a:noFill/>
          <a:ln/>
        </p:spPr>
        <p:txBody>
          <a:bodyPr wrap="square" lIns="0" tIns="0" rIns="0" bIns="0" rtlCol="0" anchor="ctr"/>
          <a:lstStyle/>
          <a:p>
            <a:pPr indent="0" marL="0">
              <a:buNone/>
            </a:pPr>
            <a:r>
              <a:rPr lang="en-US" sz="1350" b="1" dirty="0">
                <a:solidFill>
                  <a:srgbClr val="0F2E3D"/>
                </a:solidFill>
                <a:latin typeface="Calibri" pitchFamily="34" charset="0"/>
                <a:ea typeface="Calibri" pitchFamily="34" charset="-122"/>
                <a:cs typeface="Calibri" pitchFamily="34" charset="-120"/>
              </a:rPr>
              <a:t>CODED — the dictionary's preferred term.</a:t>
            </a:r>
            <a:endParaRPr lang="en-US" sz="1350" dirty="0"/>
          </a:p>
        </p:txBody>
      </p:sp>
      <p:sp>
        <p:nvSpPr>
          <p:cNvPr id="12" name="Text 10"/>
          <p:cNvSpPr/>
          <p:nvPr/>
        </p:nvSpPr>
        <p:spPr>
          <a:xfrm>
            <a:off x="6492240" y="2926080"/>
            <a:ext cx="4846320" cy="457200"/>
          </a:xfrm>
          <a:prstGeom prst="rect">
            <a:avLst/>
          </a:prstGeom>
          <a:noFill/>
          <a:ln/>
        </p:spPr>
        <p:txBody>
          <a:bodyPr wrap="square" lIns="0" tIns="0" rIns="0" bIns="0" rtlCol="0" anchor="ctr"/>
          <a:lstStyle/>
          <a:p>
            <a:pPr indent="0" marL="0">
              <a:buNone/>
            </a:pPr>
            <a:r>
              <a:rPr lang="en-US" sz="1700" dirty="0">
                <a:solidFill>
                  <a:srgbClr val="1FA8A0"/>
                </a:solidFill>
                <a:latin typeface="Courier New" pitchFamily="34" charset="0"/>
                <a:ea typeface="Courier New" pitchFamily="34" charset="-122"/>
                <a:cs typeface="Courier New" pitchFamily="34" charset="-120"/>
              </a:rPr>
              <a:t>"Headache"</a:t>
            </a:r>
            <a:endParaRPr lang="en-US" sz="1700" dirty="0"/>
          </a:p>
        </p:txBody>
      </p:sp>
      <p:sp>
        <p:nvSpPr>
          <p:cNvPr id="13" name="Text 11"/>
          <p:cNvSpPr/>
          <p:nvPr/>
        </p:nvSpPr>
        <p:spPr>
          <a:xfrm>
            <a:off x="6492240" y="3429000"/>
            <a:ext cx="4846320" cy="59436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Assigned by trained coders using MedDRA. Lets you count how many subjects had headache across the whole study.</a:t>
            </a:r>
            <a:endParaRPr lang="en-US" sz="1250" dirty="0"/>
          </a:p>
        </p:txBody>
      </p:sp>
      <p:sp>
        <p:nvSpPr>
          <p:cNvPr id="14" name="Text 12"/>
          <p:cNvSpPr/>
          <p:nvPr/>
        </p:nvSpPr>
        <p:spPr>
          <a:xfrm>
            <a:off x="5806440" y="2743200"/>
            <a:ext cx="457200" cy="457200"/>
          </a:xfrm>
          <a:prstGeom prst="rect">
            <a:avLst/>
          </a:prstGeom>
          <a:noFill/>
          <a:ln/>
        </p:spPr>
        <p:txBody>
          <a:bodyPr wrap="square" lIns="0" tIns="0" rIns="0" bIns="0" rtlCol="0" anchor="ctr"/>
          <a:lstStyle/>
          <a:p>
            <a:pPr algn="ctr" indent="0" marL="0">
              <a:buNone/>
            </a:pPr>
            <a:r>
              <a:rPr lang="en-US" sz="2600" b="1" dirty="0">
                <a:solidFill>
                  <a:srgbClr val="E8833A"/>
                </a:solidFill>
              </a:rPr>
              <a:t>→</a:t>
            </a:r>
            <a:endParaRPr lang="en-US" sz="2600" dirty="0"/>
          </a:p>
        </p:txBody>
      </p:sp>
      <p:sp>
        <p:nvSpPr>
          <p:cNvPr id="15" name="Shape 13"/>
          <p:cNvSpPr/>
          <p:nvPr/>
        </p:nvSpPr>
        <p:spPr>
          <a:xfrm>
            <a:off x="640080" y="4343400"/>
            <a:ext cx="10972800" cy="1051560"/>
          </a:xfrm>
          <a:prstGeom prst="roundRect">
            <a:avLst>
              <a:gd name="adj" fmla="val 7826"/>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6" name="Text 14"/>
          <p:cNvSpPr/>
          <p:nvPr/>
        </p:nvSpPr>
        <p:spPr>
          <a:xfrm>
            <a:off x="914400" y="4498848"/>
            <a:ext cx="10424160" cy="777240"/>
          </a:xfrm>
          <a:prstGeom prst="rect">
            <a:avLst/>
          </a:prstGeom>
          <a:noFill/>
          <a:ln/>
        </p:spPr>
        <p:txBody>
          <a:bodyPr wrap="square" lIns="0" tIns="0" rIns="0" bIns="0" rtlCol="0" anchor="ctr"/>
          <a:lstStyle/>
          <a:p>
            <a:pPr indent="0" marL="0">
              <a:lnSpc>
                <a:spcPts val="2000"/>
              </a:lnSpc>
              <a:buNone/>
            </a:pPr>
            <a:r>
              <a:rPr lang="en-US" sz="1500" b="1" dirty="0">
                <a:solidFill>
                  <a:srgbClr val="6FC8B4"/>
                </a:solidFill>
                <a:latin typeface="Calibri" pitchFamily="34" charset="0"/>
                <a:ea typeface="Calibri" pitchFamily="34" charset="-122"/>
                <a:cs typeface="Calibri" pitchFamily="34" charset="-120"/>
              </a:rPr>
              <a:t>Why keep both?  </a:t>
            </a:r>
            <a:pPr indent="0" marL="0">
              <a:lnSpc>
                <a:spcPts val="2000"/>
              </a:lnSpc>
              <a:buNone/>
            </a:pPr>
            <a:r>
              <a:rPr lang="en-US" sz="1350" dirty="0">
                <a:solidFill>
                  <a:srgbClr val="C7DCE0"/>
                </a:solidFill>
                <a:latin typeface="Calibri" pitchFamily="34" charset="0"/>
                <a:ea typeface="Calibri" pitchFamily="34" charset="-122"/>
                <a:cs typeface="Calibri" pitchFamily="34" charset="-120"/>
              </a:rPr>
              <a:t>The verbatim preserves what actually happened; the coded term makes it countable. Three investigators writing "bad headache", "headache" and "cephalalgia" all code to one preferred term — and only then can you say how many subjects had it.</a:t>
            </a:r>
            <a:endParaRPr lang="en-US" sz="1500" dirty="0"/>
          </a:p>
        </p:txBody>
      </p:sp>
      <p:sp>
        <p:nvSpPr>
          <p:cNvPr id="17" name="Shape 15"/>
          <p:cNvSpPr/>
          <p:nvPr/>
        </p:nvSpPr>
        <p:spPr>
          <a:xfrm>
            <a:off x="640080" y="5532120"/>
            <a:ext cx="10972800" cy="1005840"/>
          </a:xfrm>
          <a:prstGeom prst="roundRect">
            <a:avLst>
              <a:gd name="adj" fmla="val 8182"/>
            </a:avLst>
          </a:prstGeom>
          <a:solidFill>
            <a:srgbClr val="FDF1E7"/>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8" name="Text 16"/>
          <p:cNvSpPr/>
          <p:nvPr/>
        </p:nvSpPr>
        <p:spPr>
          <a:xfrm>
            <a:off x="914400" y="5669280"/>
            <a:ext cx="10424160" cy="731520"/>
          </a:xfrm>
          <a:prstGeom prst="rect">
            <a:avLst/>
          </a:prstGeom>
          <a:noFill/>
          <a:ln/>
        </p:spPr>
        <p:txBody>
          <a:bodyPr wrap="square" lIns="0" tIns="0" rIns="0" bIns="0" rtlCol="0" anchor="ctr"/>
          <a:lstStyle/>
          <a:p>
            <a:pPr indent="0" marL="0">
              <a:lnSpc>
                <a:spcPts val="1900"/>
              </a:lnSpc>
              <a:buNone/>
            </a:pPr>
            <a:r>
              <a:rPr lang="en-US" sz="1400" b="1" dirty="0">
                <a:solidFill>
                  <a:srgbClr val="B5651A"/>
                </a:solidFill>
                <a:latin typeface="Calibri" pitchFamily="34" charset="0"/>
                <a:ea typeface="Calibri" pitchFamily="34" charset="-122"/>
                <a:cs typeface="Calibri" pitchFamily="34" charset="-120"/>
              </a:rPr>
              <a:t>⚠  Coding is not a lookup table.  </a:t>
            </a:r>
            <a:pPr indent="0" marL="0">
              <a:lnSpc>
                <a:spcPts val="1900"/>
              </a:lnSpc>
              <a:buNone/>
            </a:pPr>
            <a:r>
              <a:rPr lang="en-US" sz="1300" dirty="0">
                <a:solidFill>
                  <a:srgbClr val="0F2E3D"/>
                </a:solidFill>
                <a:latin typeface="Calibri" pitchFamily="34" charset="0"/>
                <a:ea typeface="Calibri" pitchFamily="34" charset="-122"/>
                <a:cs typeface="Calibri" pitchFamily="34" charset="-120"/>
              </a:rPr>
              <a:t>MedDRA is a licensed dictionary applied by trained coders — you cannot derive AEDECOD with a CASE statement. In this bootcamp the coded values are ILLUSTRATIVE stand-ins so the exercise runs.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CLASSIC CONFUSION</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Severity is NOT seriousness</a:t>
            </a:r>
            <a:endParaRPr lang="en-US" sz="3000" dirty="0"/>
          </a:p>
        </p:txBody>
      </p:sp>
      <p:sp>
        <p:nvSpPr>
          <p:cNvPr id="4" name="Shape 2"/>
          <p:cNvSpPr/>
          <p:nvPr/>
        </p:nvSpPr>
        <p:spPr>
          <a:xfrm>
            <a:off x="640080" y="1691640"/>
            <a:ext cx="5394960" cy="2103120"/>
          </a:xfrm>
          <a:prstGeom prst="roundRect">
            <a:avLst>
              <a:gd name="adj" fmla="val 3913"/>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874520"/>
            <a:ext cx="4846320" cy="457200"/>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AESEV — Severity</a:t>
            </a:r>
            <a:endParaRPr lang="en-US" sz="2000" dirty="0"/>
          </a:p>
        </p:txBody>
      </p:sp>
      <p:sp>
        <p:nvSpPr>
          <p:cNvPr id="6" name="Text 4"/>
          <p:cNvSpPr/>
          <p:nvPr/>
        </p:nvSpPr>
        <p:spPr>
          <a:xfrm>
            <a:off x="914400" y="2377440"/>
            <a:ext cx="4846320" cy="36576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How BAD did it feel?</a:t>
            </a:r>
            <a:endParaRPr lang="en-US" sz="1400" dirty="0"/>
          </a:p>
        </p:txBody>
      </p:sp>
      <p:sp>
        <p:nvSpPr>
          <p:cNvPr id="7" name="Text 5"/>
          <p:cNvSpPr/>
          <p:nvPr/>
        </p:nvSpPr>
        <p:spPr>
          <a:xfrm>
            <a:off x="914400" y="2788920"/>
            <a:ext cx="4846320" cy="91440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MILD · MODERATE · SEVERE</a:t>
            </a:r>
            <a:endParaRPr lang="en-US" sz="1300" dirty="0"/>
          </a:p>
          <a:p>
            <a:pPr indent="0" marL="0">
              <a:buNone/>
            </a:pPr>
            <a:endParaRPr lang="en-US" sz="1300" dirty="0"/>
          </a:p>
          <a:p>
            <a:pPr indent="0" marL="0">
              <a:buNone/>
            </a:pPr>
            <a:r>
              <a:rPr lang="en-US" sz="1300" dirty="0">
                <a:solidFill>
                  <a:srgbClr val="5A7682"/>
                </a:solidFill>
                <a:latin typeface="Calibri" pitchFamily="34" charset="0"/>
                <a:ea typeface="Calibri" pitchFamily="34" charset="-122"/>
                <a:cs typeface="Calibri" pitchFamily="34" charset="-120"/>
              </a:rPr>
              <a:t>A clinical judgement of intensity.</a:t>
            </a:r>
            <a:endParaRPr lang="en-US" sz="1300" dirty="0"/>
          </a:p>
        </p:txBody>
      </p:sp>
      <p:sp>
        <p:nvSpPr>
          <p:cNvPr id="8" name="Shape 6"/>
          <p:cNvSpPr/>
          <p:nvPr/>
        </p:nvSpPr>
        <p:spPr>
          <a:xfrm>
            <a:off x="6217920" y="1691640"/>
            <a:ext cx="5394960" cy="2103120"/>
          </a:xfrm>
          <a:prstGeom prst="roundRect">
            <a:avLst>
              <a:gd name="adj" fmla="val 3913"/>
            </a:avLst>
          </a:prstGeom>
          <a:solidFill>
            <a:srgbClr val="FDF1E7"/>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7"/>
          <p:cNvSpPr/>
          <p:nvPr/>
        </p:nvSpPr>
        <p:spPr>
          <a:xfrm>
            <a:off x="6492240" y="1874520"/>
            <a:ext cx="4846320" cy="457200"/>
          </a:xfrm>
          <a:prstGeom prst="rect">
            <a:avLst/>
          </a:prstGeom>
          <a:noFill/>
          <a:ln/>
        </p:spPr>
        <p:txBody>
          <a:bodyPr wrap="square" lIns="0" tIns="0" rIns="0" bIns="0" rtlCol="0" anchor="ctr"/>
          <a:lstStyle/>
          <a:p>
            <a:pPr indent="0" marL="0">
              <a:buNone/>
            </a:pPr>
            <a:r>
              <a:rPr lang="en-US" sz="2000" b="1" dirty="0">
                <a:solidFill>
                  <a:srgbClr val="B5651A"/>
                </a:solidFill>
                <a:latin typeface="Cambria" pitchFamily="34" charset="0"/>
                <a:ea typeface="Cambria" pitchFamily="34" charset="-122"/>
                <a:cs typeface="Cambria" pitchFamily="34" charset="-120"/>
              </a:rPr>
              <a:t>AESER — Seriousness</a:t>
            </a:r>
            <a:endParaRPr lang="en-US" sz="2000" dirty="0"/>
          </a:p>
        </p:txBody>
      </p:sp>
      <p:sp>
        <p:nvSpPr>
          <p:cNvPr id="10" name="Text 8"/>
          <p:cNvSpPr/>
          <p:nvPr/>
        </p:nvSpPr>
        <p:spPr>
          <a:xfrm>
            <a:off x="6492240" y="2377440"/>
            <a:ext cx="4846320" cy="36576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Did it meet a REGULATORY threshold?</a:t>
            </a:r>
            <a:endParaRPr lang="en-US" sz="1400" dirty="0"/>
          </a:p>
        </p:txBody>
      </p:sp>
      <p:sp>
        <p:nvSpPr>
          <p:cNvPr id="11" name="Text 9"/>
          <p:cNvSpPr/>
          <p:nvPr/>
        </p:nvSpPr>
        <p:spPr>
          <a:xfrm>
            <a:off x="6492240" y="2788920"/>
            <a:ext cx="4846320" cy="9144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Y / N</a:t>
            </a:r>
            <a:endParaRPr lang="en-US" sz="1250" dirty="0"/>
          </a:p>
          <a:p>
            <a:pPr indent="0" marL="0">
              <a:buNone/>
            </a:pPr>
            <a:endParaRPr lang="en-US" sz="1250" dirty="0"/>
          </a:p>
          <a:p>
            <a:pPr indent="0" marL="0">
              <a:buNone/>
            </a:pPr>
            <a:r>
              <a:rPr lang="en-US" sz="1250" dirty="0">
                <a:solidFill>
                  <a:srgbClr val="5A7682"/>
                </a:solidFill>
                <a:latin typeface="Calibri" pitchFamily="34" charset="0"/>
                <a:ea typeface="Calibri" pitchFamily="34" charset="-122"/>
                <a:cs typeface="Calibri" pitchFamily="34" charset="-120"/>
              </a:rPr>
              <a:t>Death, life-threatening, hospitalisation, disability,</a:t>
            </a:r>
            <a:endParaRPr lang="en-US" sz="1250" dirty="0"/>
          </a:p>
          <a:p>
            <a:pPr indent="0" marL="0">
              <a:buNone/>
            </a:pPr>
            <a:r>
              <a:rPr lang="en-US" sz="1250" dirty="0">
                <a:solidFill>
                  <a:srgbClr val="5A7682"/>
                </a:solidFill>
                <a:latin typeface="Calibri" pitchFamily="34" charset="0"/>
                <a:ea typeface="Calibri" pitchFamily="34" charset="-122"/>
                <a:cs typeface="Calibri" pitchFamily="34" charset="-120"/>
              </a:rPr>
              <a:t>congenital anomaly, or medically important.</a:t>
            </a:r>
            <a:endParaRPr lang="en-US" sz="1250" dirty="0"/>
          </a:p>
        </p:txBody>
      </p:sp>
      <p:sp>
        <p:nvSpPr>
          <p:cNvPr id="12" name="Shape 10"/>
          <p:cNvSpPr/>
          <p:nvPr/>
        </p:nvSpPr>
        <p:spPr>
          <a:xfrm>
            <a:off x="640080" y="3977640"/>
            <a:ext cx="10972800" cy="749808"/>
          </a:xfrm>
          <a:prstGeom prst="roundRect">
            <a:avLst>
              <a:gd name="adj" fmla="val 1097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Text 11"/>
          <p:cNvSpPr/>
          <p:nvPr/>
        </p:nvSpPr>
        <p:spPr>
          <a:xfrm>
            <a:off x="914400" y="4123944"/>
            <a:ext cx="4754880" cy="457200"/>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A mild rash that required hospitalisation</a:t>
            </a:r>
            <a:endParaRPr lang="en-US" sz="1300" dirty="0"/>
          </a:p>
        </p:txBody>
      </p:sp>
      <p:sp>
        <p:nvSpPr>
          <p:cNvPr id="14" name="Text 12"/>
          <p:cNvSpPr/>
          <p:nvPr/>
        </p:nvSpPr>
        <p:spPr>
          <a:xfrm>
            <a:off x="5852160" y="4123944"/>
            <a:ext cx="1463040" cy="457200"/>
          </a:xfrm>
          <a:prstGeom prst="rect">
            <a:avLst/>
          </a:prstGeom>
          <a:noFill/>
          <a:ln/>
        </p:spPr>
        <p:txBody>
          <a:bodyPr wrap="square" lIns="0" tIns="0" rIns="0" bIns="0" rtlCol="0" anchor="ctr"/>
          <a:lstStyle/>
          <a:p>
            <a:pPr indent="0" marL="0">
              <a:buNone/>
            </a:pPr>
            <a:r>
              <a:rPr lang="en-US" sz="1300" b="1" dirty="0">
                <a:solidFill>
                  <a:srgbClr val="0E7C86"/>
                </a:solidFill>
                <a:latin typeface="Courier New" pitchFamily="34" charset="0"/>
                <a:ea typeface="Courier New" pitchFamily="34" charset="-122"/>
                <a:cs typeface="Courier New" pitchFamily="34" charset="-120"/>
              </a:rPr>
              <a:t>MILD</a:t>
            </a:r>
            <a:endParaRPr lang="en-US" sz="1300" dirty="0"/>
          </a:p>
        </p:txBody>
      </p:sp>
      <p:sp>
        <p:nvSpPr>
          <p:cNvPr id="15" name="Text 13"/>
          <p:cNvSpPr/>
          <p:nvPr/>
        </p:nvSpPr>
        <p:spPr>
          <a:xfrm>
            <a:off x="7406640" y="4123944"/>
            <a:ext cx="731520" cy="457200"/>
          </a:xfrm>
          <a:prstGeom prst="rect">
            <a:avLst/>
          </a:prstGeom>
          <a:noFill/>
          <a:ln/>
        </p:spPr>
        <p:txBody>
          <a:bodyPr wrap="square" lIns="0" tIns="0" rIns="0" bIns="0" rtlCol="0" anchor="ctr"/>
          <a:lstStyle/>
          <a:p>
            <a:pPr indent="0" marL="0">
              <a:buNone/>
            </a:pPr>
            <a:r>
              <a:rPr lang="en-US" sz="1300" b="1" dirty="0">
                <a:solidFill>
                  <a:srgbClr val="B5651A"/>
                </a:solidFill>
                <a:latin typeface="Courier New" pitchFamily="34" charset="0"/>
                <a:ea typeface="Courier New" pitchFamily="34" charset="-122"/>
                <a:cs typeface="Courier New" pitchFamily="34" charset="-120"/>
              </a:rPr>
              <a:t>Y</a:t>
            </a:r>
            <a:endParaRPr lang="en-US" sz="1300" dirty="0"/>
          </a:p>
        </p:txBody>
      </p:sp>
      <p:sp>
        <p:nvSpPr>
          <p:cNvPr id="16" name="Text 14"/>
          <p:cNvSpPr/>
          <p:nvPr/>
        </p:nvSpPr>
        <p:spPr>
          <a:xfrm>
            <a:off x="8229600" y="4123944"/>
            <a:ext cx="3108960" cy="457200"/>
          </a:xfrm>
          <a:prstGeom prst="rect">
            <a:avLst/>
          </a:prstGeom>
          <a:noFill/>
          <a:ln/>
        </p:spPr>
        <p:txBody>
          <a:bodyPr wrap="square" lIns="0" tIns="0" rIns="0" bIns="0" rtlCol="0" anchor="ctr"/>
          <a:lstStyle/>
          <a:p>
            <a:pPr indent="0" marL="0">
              <a:buNone/>
            </a:pPr>
            <a:r>
              <a:rPr lang="en-US" sz="1200" i="1" dirty="0">
                <a:solidFill>
                  <a:srgbClr val="5A7682"/>
                </a:solidFill>
                <a:latin typeface="Calibri" pitchFamily="34" charset="0"/>
                <a:ea typeface="Calibri" pitchFamily="34" charset="-122"/>
                <a:cs typeface="Calibri" pitchFamily="34" charset="-120"/>
              </a:rPr>
              <a:t>Serious but not severe</a:t>
            </a:r>
            <a:endParaRPr lang="en-US" sz="1200" dirty="0"/>
          </a:p>
        </p:txBody>
      </p:sp>
      <p:sp>
        <p:nvSpPr>
          <p:cNvPr id="17" name="Shape 15"/>
          <p:cNvSpPr/>
          <p:nvPr/>
        </p:nvSpPr>
        <p:spPr>
          <a:xfrm>
            <a:off x="640080" y="4764024"/>
            <a:ext cx="10972800" cy="749808"/>
          </a:xfrm>
          <a:prstGeom prst="roundRect">
            <a:avLst>
              <a:gd name="adj" fmla="val 1097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8" name="Text 16"/>
          <p:cNvSpPr/>
          <p:nvPr/>
        </p:nvSpPr>
        <p:spPr>
          <a:xfrm>
            <a:off x="914400" y="4910328"/>
            <a:ext cx="4754880" cy="457200"/>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Severe pain, resolved at home</a:t>
            </a:r>
            <a:endParaRPr lang="en-US" sz="1300" dirty="0"/>
          </a:p>
        </p:txBody>
      </p:sp>
      <p:sp>
        <p:nvSpPr>
          <p:cNvPr id="19" name="Text 17"/>
          <p:cNvSpPr/>
          <p:nvPr/>
        </p:nvSpPr>
        <p:spPr>
          <a:xfrm>
            <a:off x="5852160" y="4910328"/>
            <a:ext cx="1463040" cy="457200"/>
          </a:xfrm>
          <a:prstGeom prst="rect">
            <a:avLst/>
          </a:prstGeom>
          <a:noFill/>
          <a:ln/>
        </p:spPr>
        <p:txBody>
          <a:bodyPr wrap="square" lIns="0" tIns="0" rIns="0" bIns="0" rtlCol="0" anchor="ctr"/>
          <a:lstStyle/>
          <a:p>
            <a:pPr indent="0" marL="0">
              <a:buNone/>
            </a:pPr>
            <a:r>
              <a:rPr lang="en-US" sz="1300" b="1" dirty="0">
                <a:solidFill>
                  <a:srgbClr val="0E7C86"/>
                </a:solidFill>
                <a:latin typeface="Courier New" pitchFamily="34" charset="0"/>
                <a:ea typeface="Courier New" pitchFamily="34" charset="-122"/>
                <a:cs typeface="Courier New" pitchFamily="34" charset="-120"/>
              </a:rPr>
              <a:t>SEVERE</a:t>
            </a:r>
            <a:endParaRPr lang="en-US" sz="1300" dirty="0"/>
          </a:p>
        </p:txBody>
      </p:sp>
      <p:sp>
        <p:nvSpPr>
          <p:cNvPr id="20" name="Text 18"/>
          <p:cNvSpPr/>
          <p:nvPr/>
        </p:nvSpPr>
        <p:spPr>
          <a:xfrm>
            <a:off x="7406640" y="4910328"/>
            <a:ext cx="731520" cy="457200"/>
          </a:xfrm>
          <a:prstGeom prst="rect">
            <a:avLst/>
          </a:prstGeom>
          <a:noFill/>
          <a:ln/>
        </p:spPr>
        <p:txBody>
          <a:bodyPr wrap="square" lIns="0" tIns="0" rIns="0" bIns="0" rtlCol="0" anchor="ctr"/>
          <a:lstStyle/>
          <a:p>
            <a:pPr indent="0" marL="0">
              <a:buNone/>
            </a:pPr>
            <a:r>
              <a:rPr lang="en-US" sz="1300" b="1" dirty="0">
                <a:solidFill>
                  <a:srgbClr val="B5651A"/>
                </a:solidFill>
                <a:latin typeface="Courier New" pitchFamily="34" charset="0"/>
                <a:ea typeface="Courier New" pitchFamily="34" charset="-122"/>
                <a:cs typeface="Courier New" pitchFamily="34" charset="-120"/>
              </a:rPr>
              <a:t>N</a:t>
            </a:r>
            <a:endParaRPr lang="en-US" sz="1300" dirty="0"/>
          </a:p>
        </p:txBody>
      </p:sp>
      <p:sp>
        <p:nvSpPr>
          <p:cNvPr id="21" name="Text 19"/>
          <p:cNvSpPr/>
          <p:nvPr/>
        </p:nvSpPr>
        <p:spPr>
          <a:xfrm>
            <a:off x="8229600" y="4910328"/>
            <a:ext cx="3108960" cy="457200"/>
          </a:xfrm>
          <a:prstGeom prst="rect">
            <a:avLst/>
          </a:prstGeom>
          <a:noFill/>
          <a:ln/>
        </p:spPr>
        <p:txBody>
          <a:bodyPr wrap="square" lIns="0" tIns="0" rIns="0" bIns="0" rtlCol="0" anchor="ctr"/>
          <a:lstStyle/>
          <a:p>
            <a:pPr indent="0" marL="0">
              <a:buNone/>
            </a:pPr>
            <a:r>
              <a:rPr lang="en-US" sz="1200" i="1" dirty="0">
                <a:solidFill>
                  <a:srgbClr val="5A7682"/>
                </a:solidFill>
                <a:latin typeface="Calibri" pitchFamily="34" charset="0"/>
                <a:ea typeface="Calibri" pitchFamily="34" charset="-122"/>
                <a:cs typeface="Calibri" pitchFamily="34" charset="-120"/>
              </a:rPr>
              <a:t>Severe but not serious</a:t>
            </a:r>
            <a:endParaRPr lang="en-US" sz="1200" dirty="0"/>
          </a:p>
        </p:txBody>
      </p:sp>
      <p:sp>
        <p:nvSpPr>
          <p:cNvPr id="22" name="Shape 20"/>
          <p:cNvSpPr/>
          <p:nvPr/>
        </p:nvSpPr>
        <p:spPr>
          <a:xfrm>
            <a:off x="640080" y="5550408"/>
            <a:ext cx="10972800" cy="749808"/>
          </a:xfrm>
          <a:prstGeom prst="roundRect">
            <a:avLst>
              <a:gd name="adj" fmla="val 10976"/>
            </a:avLst>
          </a:prstGeom>
          <a:solidFill>
            <a:srgbClr val="EAF5F0"/>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3" name="Text 21"/>
          <p:cNvSpPr/>
          <p:nvPr/>
        </p:nvSpPr>
        <p:spPr>
          <a:xfrm>
            <a:off x="914400" y="5696712"/>
            <a:ext cx="4754880" cy="457200"/>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Worsening hypertension, subject withdrawn</a:t>
            </a:r>
            <a:endParaRPr lang="en-US" sz="1300" dirty="0"/>
          </a:p>
        </p:txBody>
      </p:sp>
      <p:sp>
        <p:nvSpPr>
          <p:cNvPr id="24" name="Text 22"/>
          <p:cNvSpPr/>
          <p:nvPr/>
        </p:nvSpPr>
        <p:spPr>
          <a:xfrm>
            <a:off x="5852160" y="5696712"/>
            <a:ext cx="1463040" cy="457200"/>
          </a:xfrm>
          <a:prstGeom prst="rect">
            <a:avLst/>
          </a:prstGeom>
          <a:noFill/>
          <a:ln/>
        </p:spPr>
        <p:txBody>
          <a:bodyPr wrap="square" lIns="0" tIns="0" rIns="0" bIns="0" rtlCol="0" anchor="ctr"/>
          <a:lstStyle/>
          <a:p>
            <a:pPr indent="0" marL="0">
              <a:buNone/>
            </a:pPr>
            <a:r>
              <a:rPr lang="en-US" sz="1300" b="1" dirty="0">
                <a:solidFill>
                  <a:srgbClr val="0E7C86"/>
                </a:solidFill>
                <a:latin typeface="Courier New" pitchFamily="34" charset="0"/>
                <a:ea typeface="Courier New" pitchFamily="34" charset="-122"/>
                <a:cs typeface="Courier New" pitchFamily="34" charset="-120"/>
              </a:rPr>
              <a:t>SEVERE</a:t>
            </a:r>
            <a:endParaRPr lang="en-US" sz="1300" dirty="0"/>
          </a:p>
        </p:txBody>
      </p:sp>
      <p:sp>
        <p:nvSpPr>
          <p:cNvPr id="25" name="Text 23"/>
          <p:cNvSpPr/>
          <p:nvPr/>
        </p:nvSpPr>
        <p:spPr>
          <a:xfrm>
            <a:off x="7406640" y="5696712"/>
            <a:ext cx="731520" cy="457200"/>
          </a:xfrm>
          <a:prstGeom prst="rect">
            <a:avLst/>
          </a:prstGeom>
          <a:noFill/>
          <a:ln/>
        </p:spPr>
        <p:txBody>
          <a:bodyPr wrap="square" lIns="0" tIns="0" rIns="0" bIns="0" rtlCol="0" anchor="ctr"/>
          <a:lstStyle/>
          <a:p>
            <a:pPr indent="0" marL="0">
              <a:buNone/>
            </a:pPr>
            <a:r>
              <a:rPr lang="en-US" sz="1300" b="1" dirty="0">
                <a:solidFill>
                  <a:srgbClr val="B5651A"/>
                </a:solidFill>
                <a:latin typeface="Courier New" pitchFamily="34" charset="0"/>
                <a:ea typeface="Courier New" pitchFamily="34" charset="-122"/>
                <a:cs typeface="Courier New" pitchFamily="34" charset="-120"/>
              </a:rPr>
              <a:t>Y</a:t>
            </a:r>
            <a:endParaRPr lang="en-US" sz="1300" dirty="0"/>
          </a:p>
        </p:txBody>
      </p:sp>
      <p:sp>
        <p:nvSpPr>
          <p:cNvPr id="26" name="Text 24"/>
          <p:cNvSpPr/>
          <p:nvPr/>
        </p:nvSpPr>
        <p:spPr>
          <a:xfrm>
            <a:off x="8229600" y="5696712"/>
            <a:ext cx="3108960" cy="457200"/>
          </a:xfrm>
          <a:prstGeom prst="rect">
            <a:avLst/>
          </a:prstGeom>
          <a:noFill/>
          <a:ln/>
        </p:spPr>
        <p:txBody>
          <a:bodyPr wrap="square" lIns="0" tIns="0" rIns="0" bIns="0" rtlCol="0" anchor="ctr"/>
          <a:lstStyle/>
          <a:p>
            <a:pPr indent="0" marL="0">
              <a:buNone/>
            </a:pPr>
            <a:r>
              <a:rPr lang="en-US" sz="1200" i="1" dirty="0">
                <a:solidFill>
                  <a:srgbClr val="5A7682"/>
                </a:solidFill>
                <a:latin typeface="Calibri" pitchFamily="34" charset="0"/>
                <a:ea typeface="Calibri" pitchFamily="34" charset="-122"/>
                <a:cs typeface="Calibri" pitchFamily="34" charset="-120"/>
              </a:rPr>
              <a:t>Both — our ABC-01 case</a:t>
            </a:r>
            <a:endParaRPr lang="en-US" sz="1200" dirty="0"/>
          </a:p>
        </p:txBody>
      </p:sp>
      <p:sp>
        <p:nvSpPr>
          <p:cNvPr id="27" name="Text 25"/>
          <p:cNvSpPr/>
          <p:nvPr/>
        </p:nvSpPr>
        <p:spPr>
          <a:xfrm>
            <a:off x="640080" y="6419088"/>
            <a:ext cx="10972800" cy="365760"/>
          </a:xfrm>
          <a:prstGeom prst="rect">
            <a:avLst/>
          </a:prstGeom>
          <a:noFill/>
          <a:ln/>
        </p:spPr>
        <p:txBody>
          <a:bodyPr wrap="square" lIns="0" tIns="0" rIns="0" bIns="0" rtlCol="0" anchor="ctr"/>
          <a:lstStyle/>
          <a:p>
            <a:pPr indent="0" marL="0">
              <a:buNone/>
            </a:pPr>
            <a:r>
              <a:rPr lang="en-US" sz="1250" i="1" dirty="0">
                <a:solidFill>
                  <a:srgbClr val="E8833A"/>
                </a:solidFill>
                <a:latin typeface="Calibri" pitchFamily="34" charset="0"/>
                <a:ea typeface="Calibri" pitchFamily="34" charset="-122"/>
                <a:cs typeface="Calibri" pitchFamily="34" charset="-120"/>
              </a:rPr>
              <a:t>They are independent. Never derive one from the other — a serious event is not automatically severe, and vice versa.</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NEW IN THIS MODULE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--SEQ: numbering a subject's records</a:t>
            </a:r>
            <a:endParaRPr lang="en-US" sz="3000" dirty="0"/>
          </a:p>
        </p:txBody>
      </p:sp>
      <p:sp>
        <p:nvSpPr>
          <p:cNvPr id="4" name="Text 2"/>
          <p:cNvSpPr/>
          <p:nvPr/>
        </p:nvSpPr>
        <p:spPr>
          <a:xfrm>
            <a:off x="548640" y="1371600"/>
            <a:ext cx="11155680" cy="411480"/>
          </a:xfrm>
          <a:prstGeom prst="rect">
            <a:avLst/>
          </a:prstGeom>
          <a:noFill/>
          <a:ln/>
        </p:spPr>
        <p:txBody>
          <a:bodyPr wrap="square" lIns="0" tIns="0" rIns="0" bIns="0" rtlCol="0" anchor="ctr"/>
          <a:lstStyle/>
          <a:p>
            <a:pPr indent="0" marL="0">
              <a:buNone/>
            </a:pPr>
            <a:r>
              <a:rPr lang="en-US" sz="1400" dirty="0">
                <a:solidFill>
                  <a:srgbClr val="5A7682"/>
                </a:solidFill>
                <a:latin typeface="Calibri" pitchFamily="34" charset="0"/>
                <a:ea typeface="Calibri" pitchFamily="34" charset="-122"/>
                <a:cs typeface="Calibri" pitchFamily="34" charset="-120"/>
              </a:rPr>
              <a:t>DM never needed this. Now that a subject can have many rows in one domain, every row needs a unique number within that subject.</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463040" y="1920240"/>
          <a:ext cx="8229600" cy="914400"/>
        </p:xfrm>
        <a:graphic>
          <a:graphicData uri="http://schemas.openxmlformats.org/drawingml/2006/table">
            <a:tbl>
              <a:tblPr/>
              <a:tblGrid>
                <a:gridCol w="2377440"/>
                <a:gridCol w="1097280"/>
                <a:gridCol w="2926080"/>
                <a:gridCol w="1828800"/>
              </a:tblGrid>
              <a:tr h="438912">
                <a:tc>
                  <a:txBody>
                    <a:bodyP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USUBJID</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AESEQ</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AETERM</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AESTDTC</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r>
              <a:tr h="438912">
                <a:tc>
                  <a:txBody>
                    <a:bodyP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ABC-01-01-001</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1100" b="1" dirty="0">
                          <a:solidFill>
                            <a:srgbClr val="E8833A"/>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bad headache</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2024-03-15</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r h="438912">
                <a:tc>
                  <a:txBody>
                    <a:bodyP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ABC-01-01-001</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1100" b="1" dirty="0">
                          <a:solidFill>
                            <a:srgbClr val="E8833A"/>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Nausea</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2024-03-20</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r h="438912">
                <a:tc>
                  <a:txBody>
                    <a:bodyP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ABC-01-01-004</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E8833A"/>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fatigue</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2024-03-18</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r h="438912">
                <a:tc>
                  <a:txBody>
                    <a:bodyP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ABC-01-01-004</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E8833A"/>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worsening hypertension</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2E3D"/>
                          </a:solidFill>
                          <a:latin typeface="Courier New" pitchFamily="34" charset="0"/>
                          <a:ea typeface="Courier New" pitchFamily="34" charset="-122"/>
                          <a:cs typeface="Courier New" pitchFamily="34" charset="-120"/>
                        </a:rPr>
                        <a:t>2024-03-22</a:t>
                      </a:r>
                      <a:endParaRPr lang="en-US" sz="1100" dirty="0">
                        <a:latin typeface="Courier New" charset="0"/>
                        <a:ea typeface="Courier New" charset="0"/>
                        <a:cs typeface="Courier New" charset="0"/>
                      </a:endParaRPr>
                    </a:p>
                  </a:txBody>
                  <a:tcPr marL="76200" marR="762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4114800"/>
            <a:ext cx="5394960" cy="1463040"/>
          </a:xfrm>
          <a:prstGeom prst="roundRect">
            <a:avLst>
              <a:gd name="adj" fmla="val 5625"/>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7" name="Text 4"/>
          <p:cNvSpPr/>
          <p:nvPr/>
        </p:nvSpPr>
        <p:spPr>
          <a:xfrm>
            <a:off x="914400" y="4251960"/>
            <a:ext cx="4846320" cy="320040"/>
          </a:xfrm>
          <a:prstGeom prst="rect">
            <a:avLst/>
          </a:prstGeom>
          <a:noFill/>
          <a:ln/>
        </p:spPr>
        <p:txBody>
          <a:bodyPr wrap="square" lIns="0" tIns="0" rIns="0" bIns="0" rtlCol="0" anchor="ctr"/>
          <a:lstStyle/>
          <a:p>
            <a:pPr indent="0" marL="0">
              <a:buNone/>
            </a:pPr>
            <a:r>
              <a:rPr lang="en-US" sz="1400" b="1" dirty="0">
                <a:solidFill>
                  <a:srgbClr val="0E7C86"/>
                </a:solidFill>
                <a:latin typeface="Calibri" pitchFamily="34" charset="0"/>
                <a:ea typeface="Calibri" pitchFamily="34" charset="-122"/>
                <a:cs typeface="Calibri" pitchFamily="34" charset="-120"/>
              </a:rPr>
              <a:t>The rule</a:t>
            </a:r>
            <a:endParaRPr lang="en-US" sz="1400" dirty="0"/>
          </a:p>
        </p:txBody>
      </p:sp>
      <p:sp>
        <p:nvSpPr>
          <p:cNvPr id="8" name="Text 5"/>
          <p:cNvSpPr/>
          <p:nvPr/>
        </p:nvSpPr>
        <p:spPr>
          <a:xfrm>
            <a:off x="914400" y="4617720"/>
            <a:ext cx="4846320" cy="868680"/>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Sequential 1, 2, 3… WITHIN each subject. It restarts at 1 for the next subject — it is not a row number for the whole dataset.</a:t>
            </a:r>
            <a:endParaRPr lang="en-US" sz="1300" dirty="0"/>
          </a:p>
        </p:txBody>
      </p:sp>
      <p:sp>
        <p:nvSpPr>
          <p:cNvPr id="9" name="Shape 6"/>
          <p:cNvSpPr/>
          <p:nvPr/>
        </p:nvSpPr>
        <p:spPr>
          <a:xfrm>
            <a:off x="6217920" y="4114800"/>
            <a:ext cx="5394960" cy="1463040"/>
          </a:xfrm>
          <a:prstGeom prst="roundRect">
            <a:avLst>
              <a:gd name="adj" fmla="val 5625"/>
            </a:avLst>
          </a:prstGeom>
          <a:solidFill>
            <a:srgbClr val="EAF5F0"/>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Text 7"/>
          <p:cNvSpPr/>
          <p:nvPr/>
        </p:nvSpPr>
        <p:spPr>
          <a:xfrm>
            <a:off x="6492240" y="4251960"/>
            <a:ext cx="4846320" cy="320040"/>
          </a:xfrm>
          <a:prstGeom prst="rect">
            <a:avLst/>
          </a:prstGeom>
          <a:noFill/>
          <a:ln/>
        </p:spPr>
        <p:txBody>
          <a:bodyPr wrap="square" lIns="0" tIns="0" rIns="0" bIns="0" rtlCol="0" anchor="ctr"/>
          <a:lstStyle/>
          <a:p>
            <a:pPr indent="0" marL="0">
              <a:buNone/>
            </a:pPr>
            <a:r>
              <a:rPr lang="en-US" sz="1400" b="1" dirty="0">
                <a:solidFill>
                  <a:srgbClr val="0E7C86"/>
                </a:solidFill>
                <a:latin typeface="Calibri" pitchFamily="34" charset="0"/>
                <a:ea typeface="Calibri" pitchFamily="34" charset="-122"/>
                <a:cs typeface="Calibri" pitchFamily="34" charset="-120"/>
              </a:rPr>
              <a:t>The test</a:t>
            </a:r>
            <a:endParaRPr lang="en-US" sz="1400" dirty="0"/>
          </a:p>
        </p:txBody>
      </p:sp>
      <p:sp>
        <p:nvSpPr>
          <p:cNvPr id="11" name="Text 8"/>
          <p:cNvSpPr/>
          <p:nvPr/>
        </p:nvSpPr>
        <p:spPr>
          <a:xfrm>
            <a:off x="6492240" y="4617720"/>
            <a:ext cx="4846320" cy="868680"/>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USUBJID + AESEQ must be UNIQUE. That pair is what identifies any single observation in the study.</a:t>
            </a:r>
            <a:endParaRPr lang="en-US" sz="1300" dirty="0"/>
          </a:p>
        </p:txBody>
      </p:sp>
      <p:sp>
        <p:nvSpPr>
          <p:cNvPr id="12" name="Text 9"/>
          <p:cNvSpPr/>
          <p:nvPr/>
        </p:nvSpPr>
        <p:spPr>
          <a:xfrm>
            <a:off x="640080" y="5760720"/>
            <a:ext cx="10972800" cy="411480"/>
          </a:xfrm>
          <a:prstGeom prst="rect">
            <a:avLst/>
          </a:prstGeom>
          <a:noFill/>
          <a:ln/>
        </p:spPr>
        <p:txBody>
          <a:bodyPr wrap="square" lIns="0" tIns="0" rIns="0" bIns="0" rtlCol="0" anchor="ctr"/>
          <a:lstStyle/>
          <a:p>
            <a:pPr indent="0" marL="0">
              <a:buNone/>
            </a:pPr>
            <a:r>
              <a:rPr lang="en-US" sz="1350" i="1" dirty="0">
                <a:solidFill>
                  <a:srgbClr val="E8833A"/>
                </a:solidFill>
                <a:latin typeface="Calibri" pitchFamily="34" charset="0"/>
                <a:ea typeface="Calibri" pitchFamily="34" charset="-122"/>
                <a:cs typeface="Calibri" pitchFamily="34" charset="-120"/>
              </a:rPr>
              <a:t>Sort deterministically before you number — otherwise the same program gives different --SEQ values on different runs.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NEW IN THIS MODULE</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--DY: study day, and the missing Day 0</a:t>
            </a:r>
            <a:endParaRPr lang="en-US" sz="3000" dirty="0"/>
          </a:p>
        </p:txBody>
      </p:sp>
      <p:sp>
        <p:nvSpPr>
          <p:cNvPr id="4" name="Shape 2"/>
          <p:cNvSpPr/>
          <p:nvPr/>
        </p:nvSpPr>
        <p:spPr>
          <a:xfrm>
            <a:off x="640080" y="1874520"/>
            <a:ext cx="10972800" cy="1126744"/>
          </a:xfrm>
          <a:prstGeom prst="roundRect">
            <a:avLst>
              <a:gd name="adj" fmla="val 6492"/>
            </a:avLst>
          </a:prstGeom>
          <a:solidFill>
            <a:srgbClr val="13323F"/>
          </a:solidFill>
          <a:ln w="19050">
            <a:solidFill>
              <a:srgbClr val="6FC8B4"/>
            </a:solidFill>
            <a:prstDash val="solid"/>
          </a:ln>
        </p:spPr>
      </p:sp>
      <p:sp>
        <p:nvSpPr>
          <p:cNvPr id="5" name="Text 3"/>
          <p:cNvSpPr/>
          <p:nvPr/>
        </p:nvSpPr>
        <p:spPr>
          <a:xfrm>
            <a:off x="868680" y="1965960"/>
            <a:ext cx="4572000" cy="320040"/>
          </a:xfrm>
          <a:prstGeom prst="rect">
            <a:avLst/>
          </a:prstGeom>
          <a:noFill/>
          <a:ln/>
        </p:spPr>
        <p:txBody>
          <a:bodyPr wrap="square" lIns="0" tIns="0" rIns="0" bIns="0" rtlCol="0" anchor="ctr"/>
          <a:lstStyle/>
          <a:p>
            <a:pPr indent="0" marL="0">
              <a:buNone/>
            </a:pPr>
            <a:r>
              <a:rPr lang="en-US" sz="1400" b="1" dirty="0">
                <a:solidFill>
                  <a:srgbClr val="6FC8B4"/>
                </a:solidFill>
                <a:latin typeface="Cambria" pitchFamily="34" charset="0"/>
                <a:ea typeface="Cambria" pitchFamily="34" charset="-122"/>
                <a:cs typeface="Cambria" pitchFamily="34" charset="-120"/>
              </a:rPr>
              <a:t>The rule</a:t>
            </a:r>
            <a:endParaRPr lang="en-US" sz="1400" dirty="0"/>
          </a:p>
        </p:txBody>
      </p:sp>
      <p:sp>
        <p:nvSpPr>
          <p:cNvPr id="6" name="Text 4"/>
          <p:cNvSpPr/>
          <p:nvPr/>
        </p:nvSpPr>
        <p:spPr>
          <a:xfrm>
            <a:off x="868680" y="2331720"/>
            <a:ext cx="10561320" cy="5598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if  --DTC &gt;= RFSTDTC :   --DY = (--DTC - RFSTDTC) + 1        &lt;- on/after first dose</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if  --DTC &lt;  RFSTDTC :   --DY = (--DTC - RFSTDTC)            &lt;- before, stays negative</a:t>
            </a:r>
            <a:endParaRPr lang="en-US" sz="1200" dirty="0"/>
          </a:p>
        </p:txBody>
      </p:sp>
      <p:sp>
        <p:nvSpPr>
          <p:cNvPr id="7" name="Shape 5"/>
          <p:cNvSpPr/>
          <p:nvPr/>
        </p:nvSpPr>
        <p:spPr>
          <a:xfrm>
            <a:off x="1645920" y="3657600"/>
            <a:ext cx="7863840" cy="713232"/>
          </a:xfrm>
          <a:prstGeom prst="roundRect">
            <a:avLst>
              <a:gd name="adj" fmla="val 11538"/>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8" name="Text 6"/>
          <p:cNvSpPr/>
          <p:nvPr/>
        </p:nvSpPr>
        <p:spPr>
          <a:xfrm>
            <a:off x="1920240" y="3785616"/>
            <a:ext cx="3108960" cy="457200"/>
          </a:xfrm>
          <a:prstGeom prst="rect">
            <a:avLst/>
          </a:prstGeom>
          <a:noFill/>
          <a:ln/>
        </p:spPr>
        <p:txBody>
          <a:bodyPr wrap="square" lIns="0" tIns="0" rIns="0" bIns="0" rtlCol="0" anchor="ctr"/>
          <a:lstStyle/>
          <a:p>
            <a:pPr indent="0" marL="0">
              <a:buNone/>
            </a:pPr>
            <a:r>
              <a:rPr lang="en-US" sz="1400" dirty="0">
                <a:solidFill>
                  <a:srgbClr val="C7DCE0"/>
                </a:solidFill>
                <a:latin typeface="Calibri" pitchFamily="34" charset="0"/>
                <a:ea typeface="Calibri" pitchFamily="34" charset="-122"/>
                <a:cs typeface="Calibri" pitchFamily="34" charset="-120"/>
              </a:rPr>
              <a:t>First dose</a:t>
            </a:r>
            <a:endParaRPr lang="en-US" sz="1400" dirty="0"/>
          </a:p>
        </p:txBody>
      </p:sp>
      <p:sp>
        <p:nvSpPr>
          <p:cNvPr id="9" name="Text 7"/>
          <p:cNvSpPr/>
          <p:nvPr/>
        </p:nvSpPr>
        <p:spPr>
          <a:xfrm>
            <a:off x="5120640" y="3785616"/>
            <a:ext cx="2011680" cy="457200"/>
          </a:xfrm>
          <a:prstGeom prst="rect">
            <a:avLst/>
          </a:prstGeom>
          <a:noFill/>
          <a:ln/>
        </p:spPr>
        <p:txBody>
          <a:bodyPr wrap="square" lIns="0" tIns="0" rIns="0" bIns="0" rtlCol="0" anchor="ctr"/>
          <a:lstStyle/>
          <a:p>
            <a:pPr indent="0" marL="0">
              <a:buNone/>
            </a:pPr>
            <a:r>
              <a:rPr lang="en-US" sz="1300" dirty="0">
                <a:solidFill>
                  <a:srgbClr val="9FC0C6"/>
                </a:solidFill>
                <a:latin typeface="Courier New" pitchFamily="34" charset="0"/>
                <a:ea typeface="Courier New" pitchFamily="34" charset="-122"/>
                <a:cs typeface="Courier New" pitchFamily="34" charset="-120"/>
              </a:rPr>
              <a:t>2024-03-01</a:t>
            </a:r>
            <a:endParaRPr lang="en-US" sz="1300" dirty="0"/>
          </a:p>
        </p:txBody>
      </p:sp>
      <p:sp>
        <p:nvSpPr>
          <p:cNvPr id="10" name="Text 8"/>
          <p:cNvSpPr/>
          <p:nvPr/>
        </p:nvSpPr>
        <p:spPr>
          <a:xfrm>
            <a:off x="7315200" y="3785616"/>
            <a:ext cx="2011680" cy="457200"/>
          </a:xfrm>
          <a:prstGeom prst="rect">
            <a:avLst/>
          </a:prstGeom>
          <a:noFill/>
          <a:ln/>
        </p:spPr>
        <p:txBody>
          <a:bodyPr wrap="square" lIns="0" tIns="0" rIns="0" bIns="0" rtlCol="0" anchor="ctr"/>
          <a:lstStyle/>
          <a:p>
            <a:pPr indent="0" marL="0">
              <a:buNone/>
            </a:pPr>
            <a:r>
              <a:rPr lang="en-US" sz="1500" b="1" dirty="0">
                <a:solidFill>
                  <a:srgbClr val="6FC8B4"/>
                </a:solidFill>
                <a:latin typeface="Courier New" pitchFamily="34" charset="0"/>
                <a:ea typeface="Courier New" pitchFamily="34" charset="-122"/>
                <a:cs typeface="Courier New" pitchFamily="34" charset="-120"/>
              </a:rPr>
              <a:t>Day 1</a:t>
            </a:r>
            <a:endParaRPr lang="en-US" sz="1500" dirty="0"/>
          </a:p>
        </p:txBody>
      </p:sp>
      <p:sp>
        <p:nvSpPr>
          <p:cNvPr id="11" name="Shape 9"/>
          <p:cNvSpPr/>
          <p:nvPr/>
        </p:nvSpPr>
        <p:spPr>
          <a:xfrm>
            <a:off x="1645920" y="4462272"/>
            <a:ext cx="7863840" cy="713232"/>
          </a:xfrm>
          <a:prstGeom prst="roundRect">
            <a:avLst>
              <a:gd name="adj" fmla="val 11538"/>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Text 10"/>
          <p:cNvSpPr/>
          <p:nvPr/>
        </p:nvSpPr>
        <p:spPr>
          <a:xfrm>
            <a:off x="1920240" y="4590288"/>
            <a:ext cx="3108960" cy="457200"/>
          </a:xfrm>
          <a:prstGeom prst="rect">
            <a:avLst/>
          </a:prstGeom>
          <a:noFill/>
          <a:ln/>
        </p:spPr>
        <p:txBody>
          <a:bodyPr wrap="square" lIns="0" tIns="0" rIns="0" bIns="0" rtlCol="0" anchor="ctr"/>
          <a:lstStyle/>
          <a:p>
            <a:pPr indent="0" marL="0">
              <a:buNone/>
            </a:pPr>
            <a:r>
              <a:rPr lang="en-US" sz="1400" dirty="0">
                <a:solidFill>
                  <a:srgbClr val="C7DCE0"/>
                </a:solidFill>
                <a:latin typeface="Calibri" pitchFamily="34" charset="0"/>
                <a:ea typeface="Calibri" pitchFamily="34" charset="-122"/>
                <a:cs typeface="Calibri" pitchFamily="34" charset="-120"/>
              </a:rPr>
              <a:t>Headache starts</a:t>
            </a:r>
            <a:endParaRPr lang="en-US" sz="1400" dirty="0"/>
          </a:p>
        </p:txBody>
      </p:sp>
      <p:sp>
        <p:nvSpPr>
          <p:cNvPr id="13" name="Text 11"/>
          <p:cNvSpPr/>
          <p:nvPr/>
        </p:nvSpPr>
        <p:spPr>
          <a:xfrm>
            <a:off x="5120640" y="4590288"/>
            <a:ext cx="2011680" cy="457200"/>
          </a:xfrm>
          <a:prstGeom prst="rect">
            <a:avLst/>
          </a:prstGeom>
          <a:noFill/>
          <a:ln/>
        </p:spPr>
        <p:txBody>
          <a:bodyPr wrap="square" lIns="0" tIns="0" rIns="0" bIns="0" rtlCol="0" anchor="ctr"/>
          <a:lstStyle/>
          <a:p>
            <a:pPr indent="0" marL="0">
              <a:buNone/>
            </a:pPr>
            <a:r>
              <a:rPr lang="en-US" sz="1300" dirty="0">
                <a:solidFill>
                  <a:srgbClr val="9FC0C6"/>
                </a:solidFill>
                <a:latin typeface="Courier New" pitchFamily="34" charset="0"/>
                <a:ea typeface="Courier New" pitchFamily="34" charset="-122"/>
                <a:cs typeface="Courier New" pitchFamily="34" charset="-120"/>
              </a:rPr>
              <a:t>2024-03-15</a:t>
            </a:r>
            <a:endParaRPr lang="en-US" sz="1300" dirty="0"/>
          </a:p>
        </p:txBody>
      </p:sp>
      <p:sp>
        <p:nvSpPr>
          <p:cNvPr id="14" name="Text 12"/>
          <p:cNvSpPr/>
          <p:nvPr/>
        </p:nvSpPr>
        <p:spPr>
          <a:xfrm>
            <a:off x="7315200" y="4590288"/>
            <a:ext cx="2011680" cy="457200"/>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Day 15</a:t>
            </a:r>
            <a:endParaRPr lang="en-US" sz="1500" dirty="0"/>
          </a:p>
        </p:txBody>
      </p:sp>
      <p:sp>
        <p:nvSpPr>
          <p:cNvPr id="15" name="Shape 13"/>
          <p:cNvSpPr/>
          <p:nvPr/>
        </p:nvSpPr>
        <p:spPr>
          <a:xfrm>
            <a:off x="1645920" y="5266944"/>
            <a:ext cx="7863840" cy="713232"/>
          </a:xfrm>
          <a:prstGeom prst="roundRect">
            <a:avLst>
              <a:gd name="adj" fmla="val 11538"/>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6" name="Text 14"/>
          <p:cNvSpPr/>
          <p:nvPr/>
        </p:nvSpPr>
        <p:spPr>
          <a:xfrm>
            <a:off x="1920240" y="5394960"/>
            <a:ext cx="3108960" cy="457200"/>
          </a:xfrm>
          <a:prstGeom prst="rect">
            <a:avLst/>
          </a:prstGeom>
          <a:noFill/>
          <a:ln/>
        </p:spPr>
        <p:txBody>
          <a:bodyPr wrap="square" lIns="0" tIns="0" rIns="0" bIns="0" rtlCol="0" anchor="ctr"/>
          <a:lstStyle/>
          <a:p>
            <a:pPr indent="0" marL="0">
              <a:buNone/>
            </a:pPr>
            <a:r>
              <a:rPr lang="en-US" sz="1400" dirty="0">
                <a:solidFill>
                  <a:srgbClr val="C7DCE0"/>
                </a:solidFill>
                <a:latin typeface="Calibri" pitchFamily="34" charset="0"/>
                <a:ea typeface="Calibri" pitchFamily="34" charset="-122"/>
                <a:cs typeface="Calibri" pitchFamily="34" charset="-120"/>
              </a:rPr>
              <a:t>Screening visit</a:t>
            </a:r>
            <a:endParaRPr lang="en-US" sz="1400" dirty="0"/>
          </a:p>
        </p:txBody>
      </p:sp>
      <p:sp>
        <p:nvSpPr>
          <p:cNvPr id="17" name="Text 15"/>
          <p:cNvSpPr/>
          <p:nvPr/>
        </p:nvSpPr>
        <p:spPr>
          <a:xfrm>
            <a:off x="5120640" y="5394960"/>
            <a:ext cx="2011680" cy="457200"/>
          </a:xfrm>
          <a:prstGeom prst="rect">
            <a:avLst/>
          </a:prstGeom>
          <a:noFill/>
          <a:ln/>
        </p:spPr>
        <p:txBody>
          <a:bodyPr wrap="square" lIns="0" tIns="0" rIns="0" bIns="0" rtlCol="0" anchor="ctr"/>
          <a:lstStyle/>
          <a:p>
            <a:pPr indent="0" marL="0">
              <a:buNone/>
            </a:pPr>
            <a:r>
              <a:rPr lang="en-US" sz="1300" dirty="0">
                <a:solidFill>
                  <a:srgbClr val="9FC0C6"/>
                </a:solidFill>
                <a:latin typeface="Courier New" pitchFamily="34" charset="0"/>
                <a:ea typeface="Courier New" pitchFamily="34" charset="-122"/>
                <a:cs typeface="Courier New" pitchFamily="34" charset="-120"/>
              </a:rPr>
              <a:t>2024-02-20</a:t>
            </a:r>
            <a:endParaRPr lang="en-US" sz="1300" dirty="0"/>
          </a:p>
        </p:txBody>
      </p:sp>
      <p:sp>
        <p:nvSpPr>
          <p:cNvPr id="18" name="Text 16"/>
          <p:cNvSpPr/>
          <p:nvPr/>
        </p:nvSpPr>
        <p:spPr>
          <a:xfrm>
            <a:off x="7315200" y="5394960"/>
            <a:ext cx="2011680" cy="457200"/>
          </a:xfrm>
          <a:prstGeom prst="rect">
            <a:avLst/>
          </a:prstGeom>
          <a:noFill/>
          <a:ln/>
        </p:spPr>
        <p:txBody>
          <a:bodyPr wrap="square" lIns="0" tIns="0" rIns="0" bIns="0" rtlCol="0" anchor="ctr"/>
          <a:lstStyle/>
          <a:p>
            <a:pPr indent="0" marL="0">
              <a:buNone/>
            </a:pPr>
            <a:r>
              <a:rPr lang="en-US" sz="1500" b="1" dirty="0">
                <a:solidFill>
                  <a:srgbClr val="E8833A"/>
                </a:solidFill>
                <a:latin typeface="Courier New" pitchFamily="34" charset="0"/>
                <a:ea typeface="Courier New" pitchFamily="34" charset="-122"/>
                <a:cs typeface="Courier New" pitchFamily="34" charset="-120"/>
              </a:rPr>
              <a:t>Day −10</a:t>
            </a:r>
            <a:endParaRPr lang="en-US" sz="1500" dirty="0"/>
          </a:p>
        </p:txBody>
      </p:sp>
      <p:sp>
        <p:nvSpPr>
          <p:cNvPr id="19" name="Shape 17"/>
          <p:cNvSpPr/>
          <p:nvPr/>
        </p:nvSpPr>
        <p:spPr>
          <a:xfrm>
            <a:off x="640080" y="5806440"/>
            <a:ext cx="10972800" cy="777240"/>
          </a:xfrm>
          <a:prstGeom prst="roundRect">
            <a:avLst>
              <a:gd name="adj" fmla="val 10588"/>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0" name="Text 18"/>
          <p:cNvSpPr/>
          <p:nvPr/>
        </p:nvSpPr>
        <p:spPr>
          <a:xfrm>
            <a:off x="914400" y="5925312"/>
            <a:ext cx="10424160" cy="548640"/>
          </a:xfrm>
          <a:prstGeom prst="rect">
            <a:avLst/>
          </a:prstGeom>
          <a:noFill/>
          <a:ln/>
        </p:spPr>
        <p:txBody>
          <a:bodyPr wrap="square" lIns="0" tIns="0" rIns="0" bIns="0" rtlCol="0" anchor="ctr"/>
          <a:lstStyle/>
          <a:p>
            <a:pPr indent="0" marL="0">
              <a:buNone/>
            </a:pPr>
            <a:r>
              <a:rPr lang="en-US" sz="1500" b="1" dirty="0">
                <a:solidFill>
                  <a:srgbClr val="E8833A"/>
                </a:solidFill>
                <a:latin typeface="Calibri" pitchFamily="34" charset="0"/>
                <a:ea typeface="Calibri" pitchFamily="34" charset="-122"/>
                <a:cs typeface="Calibri" pitchFamily="34" charset="-120"/>
              </a:rPr>
              <a:t>There is no Day 0.  </a:t>
            </a:r>
            <a:pPr indent="0" marL="0">
              <a:buNone/>
            </a:pPr>
            <a:r>
              <a:rPr lang="en-US" sz="1350" dirty="0">
                <a:solidFill>
                  <a:srgbClr val="C7DCE0"/>
                </a:solidFill>
                <a:latin typeface="Calibri" pitchFamily="34" charset="0"/>
                <a:ea typeface="Calibri" pitchFamily="34" charset="-122"/>
                <a:cs typeface="Calibri" pitchFamily="34" charset="-120"/>
              </a:rPr>
              <a:t>The day before first dose is Day −1. If your code ever produces a 0, the +1 is missing on one branch.</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A BLANK IS INFORMATION</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Ongoing events</a:t>
            </a:r>
            <a:endParaRPr lang="en-US" sz="3000" dirty="0"/>
          </a:p>
        </p:txBody>
      </p:sp>
      <p:sp>
        <p:nvSpPr>
          <p:cNvPr id="4" name="Text 2"/>
          <p:cNvSpPr/>
          <p:nvPr/>
        </p:nvSpPr>
        <p:spPr>
          <a:xfrm>
            <a:off x="548640" y="1371600"/>
            <a:ext cx="11155680" cy="411480"/>
          </a:xfrm>
          <a:prstGeom prst="rect">
            <a:avLst/>
          </a:prstGeom>
          <a:noFill/>
          <a:ln/>
        </p:spPr>
        <p:txBody>
          <a:bodyPr wrap="square" lIns="0" tIns="0" rIns="0" bIns="0" rtlCol="0" anchor="ctr"/>
          <a:lstStyle/>
          <a:p>
            <a:pPr indent="0" marL="0">
              <a:buNone/>
            </a:pPr>
            <a:r>
              <a:rPr lang="en-US" sz="1400" dirty="0">
                <a:solidFill>
                  <a:srgbClr val="5A7682"/>
                </a:solidFill>
                <a:latin typeface="Calibri" pitchFamily="34" charset="0"/>
                <a:ea typeface="Calibri" pitchFamily="34" charset="-122"/>
                <a:cs typeface="Calibri" pitchFamily="34" charset="-120"/>
              </a:rPr>
              <a:t>Two of the ten ABC-01 adverse events had not resolved when the data was collected. Their end date is blank — and it must stay blank.</a:t>
            </a:r>
            <a:endParaRPr lang="en-US" sz="1400" dirty="0"/>
          </a:p>
        </p:txBody>
      </p:sp>
      <p:sp>
        <p:nvSpPr>
          <p:cNvPr id="5" name="Shape 3"/>
          <p:cNvSpPr/>
          <p:nvPr/>
        </p:nvSpPr>
        <p:spPr>
          <a:xfrm>
            <a:off x="640080" y="1965960"/>
            <a:ext cx="10972800" cy="1051560"/>
          </a:xfrm>
          <a:prstGeom prst="roundRect">
            <a:avLst>
              <a:gd name="adj" fmla="val 782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6" name="Text 4"/>
          <p:cNvSpPr/>
          <p:nvPr/>
        </p:nvSpPr>
        <p:spPr>
          <a:xfrm>
            <a:off x="914400" y="2258568"/>
            <a:ext cx="1737360" cy="457200"/>
          </a:xfrm>
          <a:prstGeom prst="rect">
            <a:avLst/>
          </a:prstGeom>
          <a:noFill/>
          <a:ln/>
        </p:spPr>
        <p:txBody>
          <a:bodyPr wrap="square" lIns="0" tIns="0" rIns="0" bIns="0" rtlCol="0" anchor="ctr"/>
          <a:lstStyle/>
          <a:p>
            <a:pPr indent="0" marL="0">
              <a:buNone/>
            </a:pPr>
            <a:r>
              <a:rPr lang="en-US" sz="1500" b="1" dirty="0">
                <a:solidFill>
                  <a:srgbClr val="0F2E3D"/>
                </a:solidFill>
                <a:latin typeface="Courier New" pitchFamily="34" charset="0"/>
                <a:ea typeface="Courier New" pitchFamily="34" charset="-122"/>
                <a:cs typeface="Courier New" pitchFamily="34" charset="-120"/>
              </a:rPr>
              <a:t>AEENDTC</a:t>
            </a:r>
            <a:endParaRPr lang="en-US" sz="1500" dirty="0"/>
          </a:p>
        </p:txBody>
      </p:sp>
      <p:sp>
        <p:nvSpPr>
          <p:cNvPr id="7" name="Text 5"/>
          <p:cNvSpPr/>
          <p:nvPr/>
        </p:nvSpPr>
        <p:spPr>
          <a:xfrm>
            <a:off x="2743200" y="2258568"/>
            <a:ext cx="3200400" cy="457200"/>
          </a:xfrm>
          <a:prstGeom prst="rect">
            <a:avLst/>
          </a:prstGeom>
          <a:noFill/>
          <a:ln/>
        </p:spPr>
        <p:txBody>
          <a:bodyPr wrap="square" lIns="0" tIns="0" rIns="0" bIns="0" rtlCol="0" anchor="ctr"/>
          <a:lstStyle/>
          <a:p>
            <a:pPr indent="0" marL="0">
              <a:buNone/>
            </a:pPr>
            <a:r>
              <a:rPr lang="en-US" sz="1300" b="1" dirty="0">
                <a:solidFill>
                  <a:srgbClr val="0E7C86"/>
                </a:solidFill>
                <a:latin typeface="Courier New" pitchFamily="34" charset="0"/>
                <a:ea typeface="Courier New" pitchFamily="34" charset="-122"/>
                <a:cs typeface="Courier New" pitchFamily="34" charset="-120"/>
              </a:rPr>
              <a:t>Leave NULL</a:t>
            </a:r>
            <a:endParaRPr lang="en-US" sz="1300" dirty="0"/>
          </a:p>
        </p:txBody>
      </p:sp>
      <p:sp>
        <p:nvSpPr>
          <p:cNvPr id="8" name="Text 6"/>
          <p:cNvSpPr/>
          <p:nvPr/>
        </p:nvSpPr>
        <p:spPr>
          <a:xfrm>
            <a:off x="6126480" y="2258568"/>
            <a:ext cx="521208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Do not substitute today's date, the last visit, or the study end.</a:t>
            </a:r>
            <a:endParaRPr lang="en-US" sz="1250" dirty="0"/>
          </a:p>
        </p:txBody>
      </p:sp>
      <p:sp>
        <p:nvSpPr>
          <p:cNvPr id="9" name="Shape 7"/>
          <p:cNvSpPr/>
          <p:nvPr/>
        </p:nvSpPr>
        <p:spPr>
          <a:xfrm>
            <a:off x="640080" y="3108960"/>
            <a:ext cx="10972800" cy="1051560"/>
          </a:xfrm>
          <a:prstGeom prst="roundRect">
            <a:avLst>
              <a:gd name="adj" fmla="val 782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Text 8"/>
          <p:cNvSpPr/>
          <p:nvPr/>
        </p:nvSpPr>
        <p:spPr>
          <a:xfrm>
            <a:off x="914400" y="3401568"/>
            <a:ext cx="1737360" cy="457200"/>
          </a:xfrm>
          <a:prstGeom prst="rect">
            <a:avLst/>
          </a:prstGeom>
          <a:noFill/>
          <a:ln/>
        </p:spPr>
        <p:txBody>
          <a:bodyPr wrap="square" lIns="0" tIns="0" rIns="0" bIns="0" rtlCol="0" anchor="ctr"/>
          <a:lstStyle/>
          <a:p>
            <a:pPr indent="0" marL="0">
              <a:buNone/>
            </a:pPr>
            <a:r>
              <a:rPr lang="en-US" sz="1500" b="1" dirty="0">
                <a:solidFill>
                  <a:srgbClr val="0F2E3D"/>
                </a:solidFill>
                <a:latin typeface="Courier New" pitchFamily="34" charset="0"/>
                <a:ea typeface="Courier New" pitchFamily="34" charset="-122"/>
                <a:cs typeface="Courier New" pitchFamily="34" charset="-120"/>
              </a:rPr>
              <a:t>AEENDY</a:t>
            </a:r>
            <a:endParaRPr lang="en-US" sz="1500" dirty="0"/>
          </a:p>
        </p:txBody>
      </p:sp>
      <p:sp>
        <p:nvSpPr>
          <p:cNvPr id="11" name="Text 9"/>
          <p:cNvSpPr/>
          <p:nvPr/>
        </p:nvSpPr>
        <p:spPr>
          <a:xfrm>
            <a:off x="2743200" y="3401568"/>
            <a:ext cx="3200400" cy="457200"/>
          </a:xfrm>
          <a:prstGeom prst="rect">
            <a:avLst/>
          </a:prstGeom>
          <a:noFill/>
          <a:ln/>
        </p:spPr>
        <p:txBody>
          <a:bodyPr wrap="square" lIns="0" tIns="0" rIns="0" bIns="0" rtlCol="0" anchor="ctr"/>
          <a:lstStyle/>
          <a:p>
            <a:pPr indent="0" marL="0">
              <a:buNone/>
            </a:pPr>
            <a:r>
              <a:rPr lang="en-US" sz="1300" b="1" dirty="0">
                <a:solidFill>
                  <a:srgbClr val="0E7C86"/>
                </a:solidFill>
                <a:latin typeface="Courier New" pitchFamily="34" charset="0"/>
                <a:ea typeface="Courier New" pitchFamily="34" charset="-122"/>
                <a:cs typeface="Courier New" pitchFamily="34" charset="-120"/>
              </a:rPr>
              <a:t>Leave NULL</a:t>
            </a:r>
            <a:endParaRPr lang="en-US" sz="1300" dirty="0"/>
          </a:p>
        </p:txBody>
      </p:sp>
      <p:sp>
        <p:nvSpPr>
          <p:cNvPr id="12" name="Text 10"/>
          <p:cNvSpPr/>
          <p:nvPr/>
        </p:nvSpPr>
        <p:spPr>
          <a:xfrm>
            <a:off x="6126480" y="3401568"/>
            <a:ext cx="521208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No end date means no end study day. Deriving one invents data.</a:t>
            </a:r>
            <a:endParaRPr lang="en-US" sz="1250" dirty="0"/>
          </a:p>
        </p:txBody>
      </p:sp>
      <p:sp>
        <p:nvSpPr>
          <p:cNvPr id="13" name="Shape 11"/>
          <p:cNvSpPr/>
          <p:nvPr/>
        </p:nvSpPr>
        <p:spPr>
          <a:xfrm>
            <a:off x="640080" y="4251960"/>
            <a:ext cx="10972800" cy="1051560"/>
          </a:xfrm>
          <a:prstGeom prst="roundRect">
            <a:avLst>
              <a:gd name="adj" fmla="val 782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4" name="Text 12"/>
          <p:cNvSpPr/>
          <p:nvPr/>
        </p:nvSpPr>
        <p:spPr>
          <a:xfrm>
            <a:off x="914400" y="4544568"/>
            <a:ext cx="1737360" cy="457200"/>
          </a:xfrm>
          <a:prstGeom prst="rect">
            <a:avLst/>
          </a:prstGeom>
          <a:noFill/>
          <a:ln/>
        </p:spPr>
        <p:txBody>
          <a:bodyPr wrap="square" lIns="0" tIns="0" rIns="0" bIns="0" rtlCol="0" anchor="ctr"/>
          <a:lstStyle/>
          <a:p>
            <a:pPr indent="0" marL="0">
              <a:buNone/>
            </a:pPr>
            <a:r>
              <a:rPr lang="en-US" sz="1500" b="1" dirty="0">
                <a:solidFill>
                  <a:srgbClr val="0F2E3D"/>
                </a:solidFill>
                <a:latin typeface="Courier New" pitchFamily="34" charset="0"/>
                <a:ea typeface="Courier New" pitchFamily="34" charset="-122"/>
                <a:cs typeface="Courier New" pitchFamily="34" charset="-120"/>
              </a:rPr>
              <a:t>AEOUT</a:t>
            </a:r>
            <a:endParaRPr lang="en-US" sz="1500" dirty="0"/>
          </a:p>
        </p:txBody>
      </p:sp>
      <p:sp>
        <p:nvSpPr>
          <p:cNvPr id="15" name="Text 13"/>
          <p:cNvSpPr/>
          <p:nvPr/>
        </p:nvSpPr>
        <p:spPr>
          <a:xfrm>
            <a:off x="2743200" y="4544568"/>
            <a:ext cx="3200400" cy="457200"/>
          </a:xfrm>
          <a:prstGeom prst="rect">
            <a:avLst/>
          </a:prstGeom>
          <a:noFill/>
          <a:ln/>
        </p:spPr>
        <p:txBody>
          <a:bodyPr wrap="square" lIns="0" tIns="0" rIns="0" bIns="0" rtlCol="0" anchor="ctr"/>
          <a:lstStyle/>
          <a:p>
            <a:pPr indent="0" marL="0">
              <a:buNone/>
            </a:pPr>
            <a:r>
              <a:rPr lang="en-US" sz="1300" b="1" dirty="0">
                <a:solidFill>
                  <a:srgbClr val="B5651A"/>
                </a:solidFill>
                <a:latin typeface="Courier New" pitchFamily="34" charset="0"/>
                <a:ea typeface="Courier New" pitchFamily="34" charset="-122"/>
                <a:cs typeface="Courier New" pitchFamily="34" charset="-120"/>
              </a:rPr>
              <a:t>NOT RECOVERED/NOT RESOLVED</a:t>
            </a:r>
            <a:endParaRPr lang="en-US" sz="1300" dirty="0"/>
          </a:p>
        </p:txBody>
      </p:sp>
      <p:sp>
        <p:nvSpPr>
          <p:cNvPr id="16" name="Text 14"/>
          <p:cNvSpPr/>
          <p:nvPr/>
        </p:nvSpPr>
        <p:spPr>
          <a:xfrm>
            <a:off x="6126480" y="4544568"/>
            <a:ext cx="5212080" cy="45720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The outcome carries the information that it is ongoing.</a:t>
            </a:r>
            <a:endParaRPr lang="en-US" sz="1250" dirty="0"/>
          </a:p>
        </p:txBody>
      </p:sp>
      <p:sp>
        <p:nvSpPr>
          <p:cNvPr id="17" name="Shape 15"/>
          <p:cNvSpPr/>
          <p:nvPr/>
        </p:nvSpPr>
        <p:spPr>
          <a:xfrm>
            <a:off x="640080" y="5440680"/>
            <a:ext cx="10972800" cy="1051560"/>
          </a:xfrm>
          <a:prstGeom prst="roundRect">
            <a:avLst>
              <a:gd name="adj" fmla="val 7826"/>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8" name="Text 16"/>
          <p:cNvSpPr/>
          <p:nvPr/>
        </p:nvSpPr>
        <p:spPr>
          <a:xfrm>
            <a:off x="914400" y="5596128"/>
            <a:ext cx="10424160" cy="777240"/>
          </a:xfrm>
          <a:prstGeom prst="rect">
            <a:avLst/>
          </a:prstGeom>
          <a:noFill/>
          <a:ln/>
        </p:spPr>
        <p:txBody>
          <a:bodyPr wrap="square" lIns="0" tIns="0" rIns="0" bIns="0" rtlCol="0" anchor="ctr"/>
          <a:lstStyle/>
          <a:p>
            <a:pPr indent="0" marL="0">
              <a:lnSpc>
                <a:spcPts val="2000"/>
              </a:lnSpc>
              <a:buNone/>
            </a:pPr>
            <a:r>
              <a:rPr lang="en-US" sz="1500" b="1" dirty="0">
                <a:solidFill>
                  <a:srgbClr val="6FC8B4"/>
                </a:solidFill>
                <a:latin typeface="Calibri" pitchFamily="34" charset="0"/>
                <a:ea typeface="Calibri" pitchFamily="34" charset="-122"/>
                <a:cs typeface="Calibri" pitchFamily="34" charset="-120"/>
              </a:rPr>
              <a:t>Why this matters.  </a:t>
            </a:r>
            <a:pPr indent="0" marL="0">
              <a:lnSpc>
                <a:spcPts val="2000"/>
              </a:lnSpc>
              <a:buNone/>
            </a:pPr>
            <a:r>
              <a:rPr lang="en-US" sz="1350" dirty="0">
                <a:solidFill>
                  <a:srgbClr val="C7DCE0"/>
                </a:solidFill>
                <a:latin typeface="Calibri" pitchFamily="34" charset="0"/>
                <a:ea typeface="Calibri" pitchFamily="34" charset="-122"/>
                <a:cs typeface="Calibri" pitchFamily="34" charset="-120"/>
              </a:rPr>
              <a:t>Inventing an end date would make an unresolved event look resolved. In a safety review that is the difference between an ongoing problem and a closed one — which is exactly the kind of thing a regulator is looking for.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PUTTING IT TOGETHER</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raw AE → SDTM AE</a:t>
            </a:r>
            <a:endParaRPr lang="en-US" sz="3000" dirty="0"/>
          </a:p>
        </p:txBody>
      </p:sp>
      <p:sp>
        <p:nvSpPr>
          <p:cNvPr id="4" name="Shape 2"/>
          <p:cNvSpPr/>
          <p:nvPr/>
        </p:nvSpPr>
        <p:spPr>
          <a:xfrm>
            <a:off x="640080" y="1691640"/>
            <a:ext cx="5394960" cy="1024128"/>
          </a:xfrm>
          <a:prstGeom prst="roundRect">
            <a:avLst>
              <a:gd name="adj" fmla="val 803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868680" y="1801368"/>
            <a:ext cx="1737360" cy="365760"/>
          </a:xfrm>
          <a:prstGeom prst="rect">
            <a:avLst/>
          </a:prstGeom>
          <a:noFill/>
          <a:ln/>
        </p:spPr>
        <p:txBody>
          <a:bodyPr wrap="square" lIns="0" tIns="0" rIns="0" bIns="0" rtlCol="0" anchor="ctr"/>
          <a:lstStyle/>
          <a:p>
            <a:pPr indent="0" marL="0">
              <a:buNone/>
            </a:pPr>
            <a:r>
              <a:rPr lang="en-US" sz="1400" b="1" dirty="0">
                <a:solidFill>
                  <a:srgbClr val="0E7C86"/>
                </a:solidFill>
                <a:latin typeface="Courier New" pitchFamily="34" charset="0"/>
                <a:ea typeface="Courier New" pitchFamily="34" charset="-122"/>
                <a:cs typeface="Courier New" pitchFamily="34" charset="-120"/>
              </a:rPr>
              <a:t>AETERM</a:t>
            </a:r>
            <a:endParaRPr lang="en-US" sz="1400" dirty="0"/>
          </a:p>
        </p:txBody>
      </p:sp>
      <p:sp>
        <p:nvSpPr>
          <p:cNvPr id="6" name="Text 4"/>
          <p:cNvSpPr/>
          <p:nvPr/>
        </p:nvSpPr>
        <p:spPr>
          <a:xfrm>
            <a:off x="2606040" y="1819656"/>
            <a:ext cx="3200400" cy="3200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verbatim, unchanged</a:t>
            </a:r>
            <a:endParaRPr lang="en-US" sz="1200" dirty="0"/>
          </a:p>
        </p:txBody>
      </p:sp>
      <p:sp>
        <p:nvSpPr>
          <p:cNvPr id="7" name="Text 5"/>
          <p:cNvSpPr/>
          <p:nvPr/>
        </p:nvSpPr>
        <p:spPr>
          <a:xfrm>
            <a:off x="868680" y="2221992"/>
            <a:ext cx="4937760" cy="365760"/>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bad headache → bad headache</a:t>
            </a:r>
            <a:endParaRPr lang="en-US" sz="1150" dirty="0"/>
          </a:p>
        </p:txBody>
      </p:sp>
      <p:sp>
        <p:nvSpPr>
          <p:cNvPr id="8" name="Shape 6"/>
          <p:cNvSpPr/>
          <p:nvPr/>
        </p:nvSpPr>
        <p:spPr>
          <a:xfrm>
            <a:off x="6217920" y="1691640"/>
            <a:ext cx="5394960" cy="1024128"/>
          </a:xfrm>
          <a:prstGeom prst="roundRect">
            <a:avLst>
              <a:gd name="adj" fmla="val 803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7"/>
          <p:cNvSpPr/>
          <p:nvPr/>
        </p:nvSpPr>
        <p:spPr>
          <a:xfrm>
            <a:off x="6446520" y="1801368"/>
            <a:ext cx="1737360" cy="365760"/>
          </a:xfrm>
          <a:prstGeom prst="rect">
            <a:avLst/>
          </a:prstGeom>
          <a:noFill/>
          <a:ln/>
        </p:spPr>
        <p:txBody>
          <a:bodyPr wrap="square" lIns="0" tIns="0" rIns="0" bIns="0" rtlCol="0" anchor="ctr"/>
          <a:lstStyle/>
          <a:p>
            <a:pPr indent="0" marL="0">
              <a:buNone/>
            </a:pPr>
            <a:r>
              <a:rPr lang="en-US" sz="1400" b="1" dirty="0">
                <a:solidFill>
                  <a:srgbClr val="1FA8A0"/>
                </a:solidFill>
                <a:latin typeface="Courier New" pitchFamily="34" charset="0"/>
                <a:ea typeface="Courier New" pitchFamily="34" charset="-122"/>
                <a:cs typeface="Courier New" pitchFamily="34" charset="-120"/>
              </a:rPr>
              <a:t>AEDECOD</a:t>
            </a:r>
            <a:endParaRPr lang="en-US" sz="1400" dirty="0"/>
          </a:p>
        </p:txBody>
      </p:sp>
      <p:sp>
        <p:nvSpPr>
          <p:cNvPr id="10" name="Text 8"/>
          <p:cNvSpPr/>
          <p:nvPr/>
        </p:nvSpPr>
        <p:spPr>
          <a:xfrm>
            <a:off x="8183880" y="1819656"/>
            <a:ext cx="3200400" cy="3200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dictionary coded (MedDRA)</a:t>
            </a:r>
            <a:endParaRPr lang="en-US" sz="1200" dirty="0"/>
          </a:p>
        </p:txBody>
      </p:sp>
      <p:sp>
        <p:nvSpPr>
          <p:cNvPr id="11" name="Text 9"/>
          <p:cNvSpPr/>
          <p:nvPr/>
        </p:nvSpPr>
        <p:spPr>
          <a:xfrm>
            <a:off x="6446520" y="2221992"/>
            <a:ext cx="4937760" cy="365760"/>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bad headache → Headache</a:t>
            </a:r>
            <a:endParaRPr lang="en-US" sz="1150" dirty="0"/>
          </a:p>
        </p:txBody>
      </p:sp>
      <p:sp>
        <p:nvSpPr>
          <p:cNvPr id="12" name="Shape 10"/>
          <p:cNvSpPr/>
          <p:nvPr/>
        </p:nvSpPr>
        <p:spPr>
          <a:xfrm>
            <a:off x="640080" y="2862072"/>
            <a:ext cx="5394960" cy="1024128"/>
          </a:xfrm>
          <a:prstGeom prst="roundRect">
            <a:avLst>
              <a:gd name="adj" fmla="val 803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Text 11"/>
          <p:cNvSpPr/>
          <p:nvPr/>
        </p:nvSpPr>
        <p:spPr>
          <a:xfrm>
            <a:off x="868680" y="2971800"/>
            <a:ext cx="1737360" cy="365760"/>
          </a:xfrm>
          <a:prstGeom prst="rect">
            <a:avLst/>
          </a:prstGeom>
          <a:noFill/>
          <a:ln/>
        </p:spPr>
        <p:txBody>
          <a:bodyPr wrap="square" lIns="0" tIns="0" rIns="0" bIns="0" rtlCol="0" anchor="ctr"/>
          <a:lstStyle/>
          <a:p>
            <a:pPr indent="0" marL="0">
              <a:buNone/>
            </a:pPr>
            <a:r>
              <a:rPr lang="en-US" sz="1400" b="1" dirty="0">
                <a:solidFill>
                  <a:srgbClr val="E8833A"/>
                </a:solidFill>
                <a:latin typeface="Courier New" pitchFamily="34" charset="0"/>
                <a:ea typeface="Courier New" pitchFamily="34" charset="-122"/>
                <a:cs typeface="Courier New" pitchFamily="34" charset="-120"/>
              </a:rPr>
              <a:t>AESTDTC</a:t>
            </a:r>
            <a:endParaRPr lang="en-US" sz="1400" dirty="0"/>
          </a:p>
        </p:txBody>
      </p:sp>
      <p:sp>
        <p:nvSpPr>
          <p:cNvPr id="14" name="Text 12"/>
          <p:cNvSpPr/>
          <p:nvPr/>
        </p:nvSpPr>
        <p:spPr>
          <a:xfrm>
            <a:off x="2606040" y="2990088"/>
            <a:ext cx="3200400" cy="3200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MIXED formats → ISO 8601</a:t>
            </a:r>
            <a:endParaRPr lang="en-US" sz="1200" dirty="0"/>
          </a:p>
        </p:txBody>
      </p:sp>
      <p:sp>
        <p:nvSpPr>
          <p:cNvPr id="15" name="Text 13"/>
          <p:cNvSpPr/>
          <p:nvPr/>
        </p:nvSpPr>
        <p:spPr>
          <a:xfrm>
            <a:off x="868680" y="3392424"/>
            <a:ext cx="4937760" cy="365760"/>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15/03/2024 → 2024-03-15</a:t>
            </a:r>
            <a:endParaRPr lang="en-US" sz="1150" dirty="0"/>
          </a:p>
        </p:txBody>
      </p:sp>
      <p:sp>
        <p:nvSpPr>
          <p:cNvPr id="16" name="Shape 14"/>
          <p:cNvSpPr/>
          <p:nvPr/>
        </p:nvSpPr>
        <p:spPr>
          <a:xfrm>
            <a:off x="6217920" y="2862072"/>
            <a:ext cx="5394960" cy="1024128"/>
          </a:xfrm>
          <a:prstGeom prst="roundRect">
            <a:avLst>
              <a:gd name="adj" fmla="val 803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Text 15"/>
          <p:cNvSpPr/>
          <p:nvPr/>
        </p:nvSpPr>
        <p:spPr>
          <a:xfrm>
            <a:off x="6446520" y="2971800"/>
            <a:ext cx="1737360" cy="365760"/>
          </a:xfrm>
          <a:prstGeom prst="rect">
            <a:avLst/>
          </a:prstGeom>
          <a:noFill/>
          <a:ln/>
        </p:spPr>
        <p:txBody>
          <a:bodyPr wrap="square" lIns="0" tIns="0" rIns="0" bIns="0" rtlCol="0" anchor="ctr"/>
          <a:lstStyle/>
          <a:p>
            <a:pPr indent="0" marL="0">
              <a:buNone/>
            </a:pPr>
            <a:r>
              <a:rPr lang="en-US" sz="1400" b="1" dirty="0">
                <a:solidFill>
                  <a:srgbClr val="0F2E3D"/>
                </a:solidFill>
                <a:latin typeface="Courier New" pitchFamily="34" charset="0"/>
                <a:ea typeface="Courier New" pitchFamily="34" charset="-122"/>
                <a:cs typeface="Courier New" pitchFamily="34" charset="-120"/>
              </a:rPr>
              <a:t>AESEV</a:t>
            </a:r>
            <a:endParaRPr lang="en-US" sz="1400" dirty="0"/>
          </a:p>
        </p:txBody>
      </p:sp>
      <p:sp>
        <p:nvSpPr>
          <p:cNvPr id="18" name="Text 16"/>
          <p:cNvSpPr/>
          <p:nvPr/>
        </p:nvSpPr>
        <p:spPr>
          <a:xfrm>
            <a:off x="8183880" y="2990088"/>
            <a:ext cx="3200400" cy="3200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trim + upper-case → CT</a:t>
            </a:r>
            <a:endParaRPr lang="en-US" sz="1200" dirty="0"/>
          </a:p>
        </p:txBody>
      </p:sp>
      <p:sp>
        <p:nvSpPr>
          <p:cNvPr id="19" name="Text 17"/>
          <p:cNvSpPr/>
          <p:nvPr/>
        </p:nvSpPr>
        <p:spPr>
          <a:xfrm>
            <a:off x="6446520" y="3392424"/>
            <a:ext cx="4937760" cy="365760"/>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moderate → MODERATE</a:t>
            </a:r>
            <a:endParaRPr lang="en-US" sz="1150" dirty="0"/>
          </a:p>
        </p:txBody>
      </p:sp>
      <p:sp>
        <p:nvSpPr>
          <p:cNvPr id="20" name="Shape 18"/>
          <p:cNvSpPr/>
          <p:nvPr/>
        </p:nvSpPr>
        <p:spPr>
          <a:xfrm>
            <a:off x="640080" y="4032504"/>
            <a:ext cx="5394960" cy="1024128"/>
          </a:xfrm>
          <a:prstGeom prst="roundRect">
            <a:avLst>
              <a:gd name="adj" fmla="val 803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Text 19"/>
          <p:cNvSpPr/>
          <p:nvPr/>
        </p:nvSpPr>
        <p:spPr>
          <a:xfrm>
            <a:off x="868680" y="4142232"/>
            <a:ext cx="1737360" cy="365760"/>
          </a:xfrm>
          <a:prstGeom prst="rect">
            <a:avLst/>
          </a:prstGeom>
          <a:noFill/>
          <a:ln/>
        </p:spPr>
        <p:txBody>
          <a:bodyPr wrap="square" lIns="0" tIns="0" rIns="0" bIns="0" rtlCol="0" anchor="ctr"/>
          <a:lstStyle/>
          <a:p>
            <a:pPr indent="0" marL="0">
              <a:buNone/>
            </a:pPr>
            <a:r>
              <a:rPr lang="en-US" sz="1400" b="1" dirty="0">
                <a:solidFill>
                  <a:srgbClr val="0E7C86"/>
                </a:solidFill>
                <a:latin typeface="Courier New" pitchFamily="34" charset="0"/>
                <a:ea typeface="Courier New" pitchFamily="34" charset="-122"/>
                <a:cs typeface="Courier New" pitchFamily="34" charset="-120"/>
              </a:rPr>
              <a:t>AESER</a:t>
            </a:r>
            <a:endParaRPr lang="en-US" sz="1400" dirty="0"/>
          </a:p>
        </p:txBody>
      </p:sp>
      <p:sp>
        <p:nvSpPr>
          <p:cNvPr id="22" name="Text 20"/>
          <p:cNvSpPr/>
          <p:nvPr/>
        </p:nvSpPr>
        <p:spPr>
          <a:xfrm>
            <a:off x="2606040" y="4160520"/>
            <a:ext cx="3200400" cy="3200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normalise → N / Y</a:t>
            </a:r>
            <a:endParaRPr lang="en-US" sz="1200" dirty="0"/>
          </a:p>
        </p:txBody>
      </p:sp>
      <p:sp>
        <p:nvSpPr>
          <p:cNvPr id="23" name="Text 21"/>
          <p:cNvSpPr/>
          <p:nvPr/>
        </p:nvSpPr>
        <p:spPr>
          <a:xfrm>
            <a:off x="868680" y="4562856"/>
            <a:ext cx="4937760" cy="365760"/>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No, N → N</a:t>
            </a:r>
            <a:endParaRPr lang="en-US" sz="1150" dirty="0"/>
          </a:p>
        </p:txBody>
      </p:sp>
      <p:sp>
        <p:nvSpPr>
          <p:cNvPr id="24" name="Shape 22"/>
          <p:cNvSpPr/>
          <p:nvPr/>
        </p:nvSpPr>
        <p:spPr>
          <a:xfrm>
            <a:off x="6217920" y="4032504"/>
            <a:ext cx="5394960" cy="1024128"/>
          </a:xfrm>
          <a:prstGeom prst="roundRect">
            <a:avLst>
              <a:gd name="adj" fmla="val 803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Text 23"/>
          <p:cNvSpPr/>
          <p:nvPr/>
        </p:nvSpPr>
        <p:spPr>
          <a:xfrm>
            <a:off x="6446520" y="4142232"/>
            <a:ext cx="1737360" cy="365760"/>
          </a:xfrm>
          <a:prstGeom prst="rect">
            <a:avLst/>
          </a:prstGeom>
          <a:noFill/>
          <a:ln/>
        </p:spPr>
        <p:txBody>
          <a:bodyPr wrap="square" lIns="0" tIns="0" rIns="0" bIns="0" rtlCol="0" anchor="ctr"/>
          <a:lstStyle/>
          <a:p>
            <a:pPr indent="0" marL="0">
              <a:buNone/>
            </a:pPr>
            <a:r>
              <a:rPr lang="en-US" sz="1400" b="1" dirty="0">
                <a:solidFill>
                  <a:srgbClr val="1FA8A0"/>
                </a:solidFill>
                <a:latin typeface="Courier New" pitchFamily="34" charset="0"/>
                <a:ea typeface="Courier New" pitchFamily="34" charset="-122"/>
                <a:cs typeface="Courier New" pitchFamily="34" charset="-120"/>
              </a:rPr>
              <a:t>AEOUT</a:t>
            </a:r>
            <a:endParaRPr lang="en-US" sz="1400" dirty="0"/>
          </a:p>
        </p:txBody>
      </p:sp>
      <p:sp>
        <p:nvSpPr>
          <p:cNvPr id="26" name="Text 24"/>
          <p:cNvSpPr/>
          <p:nvPr/>
        </p:nvSpPr>
        <p:spPr>
          <a:xfrm>
            <a:off x="8183880" y="4160520"/>
            <a:ext cx="3200400" cy="3200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DECODE the number → CT</a:t>
            </a:r>
            <a:endParaRPr lang="en-US" sz="1200" dirty="0"/>
          </a:p>
        </p:txBody>
      </p:sp>
      <p:sp>
        <p:nvSpPr>
          <p:cNvPr id="27" name="Text 25"/>
          <p:cNvSpPr/>
          <p:nvPr/>
        </p:nvSpPr>
        <p:spPr>
          <a:xfrm>
            <a:off x="6446520" y="4562856"/>
            <a:ext cx="4937760" cy="365760"/>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1 → RECOVERED/RESOLVED</a:t>
            </a:r>
            <a:endParaRPr lang="en-US" sz="1150" dirty="0"/>
          </a:p>
        </p:txBody>
      </p:sp>
      <p:sp>
        <p:nvSpPr>
          <p:cNvPr id="28" name="Shape 26"/>
          <p:cNvSpPr/>
          <p:nvPr/>
        </p:nvSpPr>
        <p:spPr>
          <a:xfrm>
            <a:off x="640080" y="5202936"/>
            <a:ext cx="5394960" cy="1024128"/>
          </a:xfrm>
          <a:prstGeom prst="roundRect">
            <a:avLst>
              <a:gd name="adj" fmla="val 803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9" name="Text 27"/>
          <p:cNvSpPr/>
          <p:nvPr/>
        </p:nvSpPr>
        <p:spPr>
          <a:xfrm>
            <a:off x="868680" y="5312664"/>
            <a:ext cx="1737360" cy="365760"/>
          </a:xfrm>
          <a:prstGeom prst="rect">
            <a:avLst/>
          </a:prstGeom>
          <a:noFill/>
          <a:ln/>
        </p:spPr>
        <p:txBody>
          <a:bodyPr wrap="square" lIns="0" tIns="0" rIns="0" bIns="0" rtlCol="0" anchor="ctr"/>
          <a:lstStyle/>
          <a:p>
            <a:pPr indent="0" marL="0">
              <a:buNone/>
            </a:pPr>
            <a:r>
              <a:rPr lang="en-US" sz="1400" b="1" dirty="0">
                <a:solidFill>
                  <a:srgbClr val="E8833A"/>
                </a:solidFill>
                <a:latin typeface="Courier New" pitchFamily="34" charset="0"/>
                <a:ea typeface="Courier New" pitchFamily="34" charset="-122"/>
                <a:cs typeface="Courier New" pitchFamily="34" charset="-120"/>
              </a:rPr>
              <a:t>AESEQ</a:t>
            </a:r>
            <a:endParaRPr lang="en-US" sz="1400" dirty="0"/>
          </a:p>
        </p:txBody>
      </p:sp>
      <p:sp>
        <p:nvSpPr>
          <p:cNvPr id="30" name="Text 28"/>
          <p:cNvSpPr/>
          <p:nvPr/>
        </p:nvSpPr>
        <p:spPr>
          <a:xfrm>
            <a:off x="2606040" y="5330952"/>
            <a:ext cx="3200400" cy="3200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derive per subject</a:t>
            </a:r>
            <a:endParaRPr lang="en-US" sz="1200" dirty="0"/>
          </a:p>
        </p:txBody>
      </p:sp>
      <p:sp>
        <p:nvSpPr>
          <p:cNvPr id="31" name="Text 29"/>
          <p:cNvSpPr/>
          <p:nvPr/>
        </p:nvSpPr>
        <p:spPr>
          <a:xfrm>
            <a:off x="868680" y="5733288"/>
            <a:ext cx="4937760" cy="365760"/>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1, 2, 3 …</a:t>
            </a:r>
            <a:endParaRPr lang="en-US" sz="1150" dirty="0"/>
          </a:p>
        </p:txBody>
      </p:sp>
      <p:sp>
        <p:nvSpPr>
          <p:cNvPr id="32" name="Shape 30"/>
          <p:cNvSpPr/>
          <p:nvPr/>
        </p:nvSpPr>
        <p:spPr>
          <a:xfrm>
            <a:off x="6217920" y="5202936"/>
            <a:ext cx="5394960" cy="1024128"/>
          </a:xfrm>
          <a:prstGeom prst="roundRect">
            <a:avLst>
              <a:gd name="adj" fmla="val 803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3" name="Text 31"/>
          <p:cNvSpPr/>
          <p:nvPr/>
        </p:nvSpPr>
        <p:spPr>
          <a:xfrm>
            <a:off x="6446520" y="5312664"/>
            <a:ext cx="1737360" cy="365760"/>
          </a:xfrm>
          <a:prstGeom prst="rect">
            <a:avLst/>
          </a:prstGeom>
          <a:noFill/>
          <a:ln/>
        </p:spPr>
        <p:txBody>
          <a:bodyPr wrap="square" lIns="0" tIns="0" rIns="0" bIns="0" rtlCol="0" anchor="ctr"/>
          <a:lstStyle/>
          <a:p>
            <a:pPr indent="0" marL="0">
              <a:buNone/>
            </a:pPr>
            <a:r>
              <a:rPr lang="en-US" sz="1400" b="1" dirty="0">
                <a:solidFill>
                  <a:srgbClr val="0F2E3D"/>
                </a:solidFill>
                <a:latin typeface="Courier New" pitchFamily="34" charset="0"/>
                <a:ea typeface="Courier New" pitchFamily="34" charset="-122"/>
                <a:cs typeface="Courier New" pitchFamily="34" charset="-120"/>
              </a:rPr>
              <a:t>AESTDY</a:t>
            </a:r>
            <a:endParaRPr lang="en-US" sz="1400" dirty="0"/>
          </a:p>
        </p:txBody>
      </p:sp>
      <p:sp>
        <p:nvSpPr>
          <p:cNvPr id="34" name="Text 32"/>
          <p:cNvSpPr/>
          <p:nvPr/>
        </p:nvSpPr>
        <p:spPr>
          <a:xfrm>
            <a:off x="8183880" y="5330952"/>
            <a:ext cx="3200400" cy="320040"/>
          </a:xfrm>
          <a:prstGeom prst="rect">
            <a:avLst/>
          </a:prstGeom>
          <a:noFill/>
          <a:ln/>
        </p:spPr>
        <p:txBody>
          <a:bodyPr wrap="square" lIns="0" tIns="0" rIns="0" bIns="0" rtlCol="0" anchor="ctr"/>
          <a:lstStyle/>
          <a:p>
            <a:pPr indent="0" marL="0">
              <a:buNone/>
            </a:pPr>
            <a:r>
              <a:rPr lang="en-US" sz="1200" dirty="0">
                <a:solidFill>
                  <a:srgbClr val="5A7682"/>
                </a:solidFill>
                <a:latin typeface="Calibri" pitchFamily="34" charset="0"/>
                <a:ea typeface="Calibri" pitchFamily="34" charset="-122"/>
                <a:cs typeface="Calibri" pitchFamily="34" charset="-120"/>
              </a:rPr>
              <a:t>derive from RFSTDTC</a:t>
            </a:r>
            <a:endParaRPr lang="en-US" sz="1200" dirty="0"/>
          </a:p>
        </p:txBody>
      </p:sp>
      <p:sp>
        <p:nvSpPr>
          <p:cNvPr id="35" name="Text 33"/>
          <p:cNvSpPr/>
          <p:nvPr/>
        </p:nvSpPr>
        <p:spPr>
          <a:xfrm>
            <a:off x="6446520" y="5733288"/>
            <a:ext cx="4937760" cy="365760"/>
          </a:xfrm>
          <a:prstGeom prst="rect">
            <a:avLst/>
          </a:prstGeom>
          <a:noFill/>
          <a:ln/>
        </p:spPr>
        <p:txBody>
          <a:bodyPr wrap="square" lIns="0" tIns="0" rIns="0" bIns="0" rtlCol="0" anchor="ctr"/>
          <a:lstStyle/>
          <a:p>
            <a:pPr indent="0" marL="0">
              <a:buNone/>
            </a:pPr>
            <a:r>
              <a:rPr lang="en-US" sz="1150" dirty="0">
                <a:solidFill>
                  <a:srgbClr val="0F2E3D"/>
                </a:solidFill>
                <a:latin typeface="Courier New" pitchFamily="34" charset="0"/>
                <a:ea typeface="Courier New" pitchFamily="34" charset="-122"/>
                <a:cs typeface="Courier New" pitchFamily="34" charset="-120"/>
              </a:rPr>
              <a:t>2024-03-15 → 15</a:t>
            </a:r>
            <a:endParaRPr lang="en-US" sz="1150" dirty="0"/>
          </a:p>
        </p:txBody>
      </p:sp>
      <p:sp>
        <p:nvSpPr>
          <p:cNvPr id="36" name="Text 34"/>
          <p:cNvSpPr/>
          <p:nvPr/>
        </p:nvSpPr>
        <p:spPr>
          <a:xfrm>
            <a:off x="640080" y="6400800"/>
            <a:ext cx="10972800" cy="365760"/>
          </a:xfrm>
          <a:prstGeom prst="rect">
            <a:avLst/>
          </a:prstGeom>
          <a:noFill/>
          <a:ln/>
        </p:spPr>
        <p:txBody>
          <a:bodyPr wrap="square" lIns="0" tIns="0" rIns="0" bIns="0" rtlCol="0" anchor="ctr"/>
          <a:lstStyle/>
          <a:p>
            <a:pPr indent="0" marL="0">
              <a:buNone/>
            </a:pPr>
            <a:r>
              <a:rPr lang="en-US" sz="1300" i="1" dirty="0">
                <a:solidFill>
                  <a:srgbClr val="E8833A"/>
                </a:solidFill>
                <a:latin typeface="Calibri" pitchFamily="34" charset="0"/>
                <a:ea typeface="Calibri" pitchFamily="34" charset="-122"/>
                <a:cs typeface="Calibri" pitchFamily="34" charset="-120"/>
              </a:rPr>
              <a:t>The AE date conversion is the hardest in the study: ONE column contains two different formats. You must detect the format per value.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LEARN FROM THESE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Common AE mistakes</a:t>
            </a:r>
            <a:endParaRPr lang="en-US" sz="3000" dirty="0"/>
          </a:p>
        </p:txBody>
      </p:sp>
      <p:sp>
        <p:nvSpPr>
          <p:cNvPr id="4" name="Shape 2"/>
          <p:cNvSpPr/>
          <p:nvPr/>
        </p:nvSpPr>
        <p:spPr>
          <a:xfrm>
            <a:off x="640080" y="1691640"/>
            <a:ext cx="539496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868680" y="2075688"/>
            <a:ext cx="548640" cy="548640"/>
          </a:xfrm>
          <a:prstGeom prst="ellipse">
            <a:avLst/>
          </a:prstGeom>
          <a:solidFill>
            <a:srgbClr val="E8833A"/>
          </a:solidFill>
          <a:ln/>
        </p:spPr>
      </p:sp>
      <p:sp>
        <p:nvSpPr>
          <p:cNvPr id="6" name="Text 4"/>
          <p:cNvSpPr/>
          <p:nvPr/>
        </p:nvSpPr>
        <p:spPr>
          <a:xfrm>
            <a:off x="868680" y="207568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600200" y="185623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Cleaning up AETERM
</a:t>
            </a:r>
            <a:pPr indent="0" marL="0">
              <a:buNone/>
            </a:pPr>
            <a:r>
              <a:rPr lang="en-US" sz="1180" dirty="0">
                <a:solidFill>
                  <a:srgbClr val="5A7682"/>
                </a:solidFill>
                <a:latin typeface="Calibri" pitchFamily="34" charset="0"/>
                <a:ea typeface="Calibri" pitchFamily="34" charset="-122"/>
                <a:cs typeface="Calibri" pitchFamily="34" charset="-120"/>
              </a:rPr>
              <a:t>The verbatim term is a legal record. Fix nothing — not spelling, not capitalisation.</a:t>
            </a:r>
            <a:endParaRPr lang="en-US" sz="1400" dirty="0"/>
          </a:p>
        </p:txBody>
      </p:sp>
      <p:sp>
        <p:nvSpPr>
          <p:cNvPr id="8" name="Shape 6"/>
          <p:cNvSpPr/>
          <p:nvPr/>
        </p:nvSpPr>
        <p:spPr>
          <a:xfrm>
            <a:off x="6217920" y="1691640"/>
            <a:ext cx="5394960" cy="1325880"/>
          </a:xfrm>
          <a:prstGeom prst="roundRect">
            <a:avLst>
              <a:gd name="adj" fmla="val 620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6446520" y="2075688"/>
            <a:ext cx="548640" cy="548640"/>
          </a:xfrm>
          <a:prstGeom prst="ellipse">
            <a:avLst/>
          </a:prstGeom>
          <a:solidFill>
            <a:srgbClr val="E8833A"/>
          </a:solidFill>
          <a:ln/>
        </p:spPr>
      </p:sp>
      <p:sp>
        <p:nvSpPr>
          <p:cNvPr id="10" name="Text 8"/>
          <p:cNvSpPr/>
          <p:nvPr/>
        </p:nvSpPr>
        <p:spPr>
          <a:xfrm>
            <a:off x="6446520" y="207568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7178040" y="185623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Deriving AEDECOD in code
</a:t>
            </a:r>
            <a:pPr indent="0" marL="0">
              <a:buNone/>
            </a:pPr>
            <a:r>
              <a:rPr lang="en-US" sz="1180" dirty="0">
                <a:solidFill>
                  <a:srgbClr val="5A7682"/>
                </a:solidFill>
                <a:latin typeface="Calibri" pitchFamily="34" charset="0"/>
                <a:ea typeface="Calibri" pitchFamily="34" charset="-122"/>
                <a:cs typeface="Calibri" pitchFamily="34" charset="-120"/>
              </a:rPr>
              <a:t>MedDRA coding is done by trained coders with a licensed dictionary.</a:t>
            </a:r>
            <a:endParaRPr lang="en-US" sz="1400" dirty="0"/>
          </a:p>
        </p:txBody>
      </p:sp>
      <p:sp>
        <p:nvSpPr>
          <p:cNvPr id="12" name="Shape 10"/>
          <p:cNvSpPr/>
          <p:nvPr/>
        </p:nvSpPr>
        <p:spPr>
          <a:xfrm>
            <a:off x="640080" y="3154680"/>
            <a:ext cx="539496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868680" y="3538728"/>
            <a:ext cx="548640" cy="548640"/>
          </a:xfrm>
          <a:prstGeom prst="ellipse">
            <a:avLst/>
          </a:prstGeom>
          <a:solidFill>
            <a:srgbClr val="E8833A"/>
          </a:solidFill>
          <a:ln/>
        </p:spPr>
      </p:sp>
      <p:sp>
        <p:nvSpPr>
          <p:cNvPr id="14" name="Text 12"/>
          <p:cNvSpPr/>
          <p:nvPr/>
        </p:nvSpPr>
        <p:spPr>
          <a:xfrm>
            <a:off x="868680" y="353872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1600200" y="331927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Confusing severity and seriousness
</a:t>
            </a:r>
            <a:pPr indent="0" marL="0">
              <a:buNone/>
            </a:pPr>
            <a:r>
              <a:rPr lang="en-US" sz="1180" dirty="0">
                <a:solidFill>
                  <a:srgbClr val="5A7682"/>
                </a:solidFill>
                <a:latin typeface="Calibri" pitchFamily="34" charset="0"/>
                <a:ea typeface="Calibri" pitchFamily="34" charset="-122"/>
                <a:cs typeface="Calibri" pitchFamily="34" charset="-120"/>
              </a:rPr>
              <a:t>They are independent. A mild event can be serious.</a:t>
            </a:r>
            <a:endParaRPr lang="en-US" sz="1400" dirty="0"/>
          </a:p>
        </p:txBody>
      </p:sp>
      <p:sp>
        <p:nvSpPr>
          <p:cNvPr id="16" name="Shape 14"/>
          <p:cNvSpPr/>
          <p:nvPr/>
        </p:nvSpPr>
        <p:spPr>
          <a:xfrm>
            <a:off x="6217920" y="3154680"/>
            <a:ext cx="5394960" cy="1325880"/>
          </a:xfrm>
          <a:prstGeom prst="roundRect">
            <a:avLst>
              <a:gd name="adj" fmla="val 620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6446520" y="3538728"/>
            <a:ext cx="548640" cy="548640"/>
          </a:xfrm>
          <a:prstGeom prst="ellipse">
            <a:avLst/>
          </a:prstGeom>
          <a:solidFill>
            <a:srgbClr val="E8833A"/>
          </a:solidFill>
          <a:ln/>
        </p:spPr>
      </p:sp>
      <p:sp>
        <p:nvSpPr>
          <p:cNvPr id="18" name="Text 16"/>
          <p:cNvSpPr/>
          <p:nvPr/>
        </p:nvSpPr>
        <p:spPr>
          <a:xfrm>
            <a:off x="6446520" y="353872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7178040" y="331927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Assuming one date format
</a:t>
            </a:r>
            <a:pPr indent="0" marL="0">
              <a:buNone/>
            </a:pPr>
            <a:r>
              <a:rPr lang="en-US" sz="1180" dirty="0">
                <a:solidFill>
                  <a:srgbClr val="5A7682"/>
                </a:solidFill>
                <a:latin typeface="Calibri" pitchFamily="34" charset="0"/>
                <a:ea typeface="Calibri" pitchFamily="34" charset="-122"/>
                <a:cs typeface="Calibri" pitchFamily="34" charset="-120"/>
              </a:rPr>
              <a:t>AESTDT holds BOTH DD/MM/YYYY and DD-Mon-YYYY. Detect per value.</a:t>
            </a:r>
            <a:endParaRPr lang="en-US" sz="1400" dirty="0"/>
          </a:p>
        </p:txBody>
      </p:sp>
      <p:sp>
        <p:nvSpPr>
          <p:cNvPr id="20" name="Shape 18"/>
          <p:cNvSpPr/>
          <p:nvPr/>
        </p:nvSpPr>
        <p:spPr>
          <a:xfrm>
            <a:off x="640080" y="4617720"/>
            <a:ext cx="539496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868680" y="5001768"/>
            <a:ext cx="548640" cy="548640"/>
          </a:xfrm>
          <a:prstGeom prst="ellipse">
            <a:avLst/>
          </a:prstGeom>
          <a:solidFill>
            <a:srgbClr val="E8833A"/>
          </a:solidFill>
          <a:ln/>
        </p:spPr>
      </p:sp>
      <p:sp>
        <p:nvSpPr>
          <p:cNvPr id="22" name="Text 20"/>
          <p:cNvSpPr/>
          <p:nvPr/>
        </p:nvSpPr>
        <p:spPr>
          <a:xfrm>
            <a:off x="868680" y="500176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1600200" y="478231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Filling in a blank end date
</a:t>
            </a:r>
            <a:pPr indent="0" marL="0">
              <a:buNone/>
            </a:pPr>
            <a:r>
              <a:rPr lang="en-US" sz="1180" dirty="0">
                <a:solidFill>
                  <a:srgbClr val="5A7682"/>
                </a:solidFill>
                <a:latin typeface="Calibri" pitchFamily="34" charset="0"/>
                <a:ea typeface="Calibri" pitchFamily="34" charset="-122"/>
                <a:cs typeface="Calibri" pitchFamily="34" charset="-120"/>
              </a:rPr>
              <a:t>Ongoing means ongoing. Null AEENDTC and null AEENDY.</a:t>
            </a:r>
            <a:endParaRPr lang="en-US" sz="1400" dirty="0"/>
          </a:p>
        </p:txBody>
      </p:sp>
      <p:sp>
        <p:nvSpPr>
          <p:cNvPr id="24" name="Shape 22"/>
          <p:cNvSpPr/>
          <p:nvPr/>
        </p:nvSpPr>
        <p:spPr>
          <a:xfrm>
            <a:off x="6217920" y="4617720"/>
            <a:ext cx="5394960" cy="1325880"/>
          </a:xfrm>
          <a:prstGeom prst="roundRect">
            <a:avLst>
              <a:gd name="adj" fmla="val 620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Shape 23"/>
          <p:cNvSpPr/>
          <p:nvPr/>
        </p:nvSpPr>
        <p:spPr>
          <a:xfrm>
            <a:off x="6446520" y="5001768"/>
            <a:ext cx="548640" cy="548640"/>
          </a:xfrm>
          <a:prstGeom prst="ellipse">
            <a:avLst/>
          </a:prstGeom>
          <a:solidFill>
            <a:srgbClr val="E8833A"/>
          </a:solidFill>
          <a:ln/>
        </p:spPr>
      </p:sp>
      <p:sp>
        <p:nvSpPr>
          <p:cNvPr id="26" name="Text 24"/>
          <p:cNvSpPr/>
          <p:nvPr/>
        </p:nvSpPr>
        <p:spPr>
          <a:xfrm>
            <a:off x="6446520" y="500176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7178040" y="478231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Numbering --SEQ across subjects
</a:t>
            </a:r>
            <a:pPr indent="0" marL="0">
              <a:buNone/>
            </a:pPr>
            <a:r>
              <a:rPr lang="en-US" sz="1180" dirty="0">
                <a:solidFill>
                  <a:srgbClr val="5A7682"/>
                </a:solidFill>
                <a:latin typeface="Calibri" pitchFamily="34" charset="0"/>
                <a:ea typeface="Calibri" pitchFamily="34" charset="-122"/>
                <a:cs typeface="Calibri" pitchFamily="34" charset="-120"/>
              </a:rPr>
              <a:t>AESEQ restarts at 1 for each subject; it is not a row number.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9326880" y="4206240"/>
            <a:ext cx="4572000" cy="4572000"/>
          </a:xfrm>
          <a:prstGeom prst="ellipse">
            <a:avLst/>
          </a:prstGeom>
          <a:solidFill>
            <a:srgbClr val="133B4C"/>
          </a:solidFill>
          <a:ln/>
        </p:spPr>
      </p:sp>
      <p:sp>
        <p:nvSpPr>
          <p:cNvPr id="3" name="Shape 1"/>
          <p:cNvSpPr/>
          <p:nvPr/>
        </p:nvSpPr>
        <p:spPr>
          <a:xfrm>
            <a:off x="10241280" y="5120640"/>
            <a:ext cx="2743200" cy="2743200"/>
          </a:xfrm>
          <a:prstGeom prst="ellipse">
            <a:avLst/>
          </a:prstGeom>
          <a:solidFill>
            <a:srgbClr val="0E7C86"/>
          </a:solidFill>
          <a:ln/>
        </p:spPr>
      </p:sp>
      <p:sp>
        <p:nvSpPr>
          <p:cNvPr id="4" name="Text 2"/>
          <p:cNvSpPr/>
          <p:nvPr/>
        </p:nvSpPr>
        <p:spPr>
          <a:xfrm>
            <a:off x="640080" y="1371600"/>
            <a:ext cx="10058400" cy="320040"/>
          </a:xfrm>
          <a:prstGeom prst="rect">
            <a:avLst/>
          </a:prstGeom>
          <a:noFill/>
          <a:ln/>
        </p:spPr>
        <p:txBody>
          <a:bodyPr wrap="square" lIns="0" tIns="0" rIns="0" bIns="0" rtlCol="0" anchor="ctr"/>
          <a:lstStyle/>
          <a:p>
            <a:pPr indent="0" marL="0">
              <a:buNone/>
            </a:pPr>
            <a:r>
              <a:rPr lang="en-US" sz="1300" b="1" spc="200" kern="0" dirty="0">
                <a:solidFill>
                  <a:srgbClr val="6FC8B4"/>
                </a:solidFill>
                <a:latin typeface="Calibri" pitchFamily="34" charset="0"/>
                <a:ea typeface="Calibri" pitchFamily="34" charset="-122"/>
                <a:cs typeface="Calibri" pitchFamily="34" charset="-120"/>
              </a:rPr>
              <a:t>WHAT'S NEXT</a:t>
            </a:r>
            <a:endParaRPr lang="en-US" sz="1300" dirty="0"/>
          </a:p>
        </p:txBody>
      </p:sp>
      <p:sp>
        <p:nvSpPr>
          <p:cNvPr id="5" name="Text 3"/>
          <p:cNvSpPr/>
          <p:nvPr/>
        </p:nvSpPr>
        <p:spPr>
          <a:xfrm>
            <a:off x="603504" y="173736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Build AE, then the Interventions</a:t>
            </a:r>
            <a:endParaRPr lang="en-US" sz="3200" dirty="0"/>
          </a:p>
        </p:txBody>
      </p:sp>
      <p:sp>
        <p:nvSpPr>
          <p:cNvPr id="6" name="Shape 4"/>
          <p:cNvSpPr/>
          <p:nvPr/>
        </p:nvSpPr>
        <p:spPr>
          <a:xfrm>
            <a:off x="640080" y="2834640"/>
            <a:ext cx="566928" cy="566928"/>
          </a:xfrm>
          <a:prstGeom prst="ellipse">
            <a:avLst/>
          </a:prstGeom>
          <a:solidFill>
            <a:srgbClr val="E8833A"/>
          </a:solidFill>
          <a:ln/>
        </p:spPr>
      </p:sp>
      <p:sp>
        <p:nvSpPr>
          <p:cNvPr id="7" name="Text 5"/>
          <p:cNvSpPr/>
          <p:nvPr/>
        </p:nvSpPr>
        <p:spPr>
          <a:xfrm>
            <a:off x="640080" y="2834640"/>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1</a:t>
            </a:r>
            <a:endParaRPr lang="en-US" sz="1700" dirty="0"/>
          </a:p>
        </p:txBody>
      </p:sp>
      <p:sp>
        <p:nvSpPr>
          <p:cNvPr id="8" name="Text 6"/>
          <p:cNvSpPr/>
          <p:nvPr/>
        </p:nvSpPr>
        <p:spPr>
          <a:xfrm>
            <a:off x="1417320" y="2816352"/>
            <a:ext cx="9875520" cy="7315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Notebook 05 · AE   </a:t>
            </a:r>
            <a:pPr indent="0" marL="0">
              <a:buNone/>
            </a:pPr>
            <a:r>
              <a:rPr lang="en-US" sz="1350" dirty="0">
                <a:solidFill>
                  <a:srgbClr val="C7DCE0"/>
                </a:solidFill>
                <a:latin typeface="Calibri" pitchFamily="34" charset="0"/>
                <a:ea typeface="Calibri" pitchFamily="34" charset="-122"/>
                <a:cs typeface="Calibri" pitchFamily="34" charset="-120"/>
              </a:rPr>
              <a:t>Mixed dates, CT, the AEOUT code decode, AESEQ and AESTDY — in SAS.</a:t>
            </a:r>
            <a:endParaRPr lang="en-US" sz="1700" dirty="0"/>
          </a:p>
        </p:txBody>
      </p:sp>
      <p:sp>
        <p:nvSpPr>
          <p:cNvPr id="9" name="Shape 7"/>
          <p:cNvSpPr/>
          <p:nvPr/>
        </p:nvSpPr>
        <p:spPr>
          <a:xfrm>
            <a:off x="640080" y="3794760"/>
            <a:ext cx="566928" cy="566928"/>
          </a:xfrm>
          <a:prstGeom prst="ellipse">
            <a:avLst/>
          </a:prstGeom>
          <a:solidFill>
            <a:srgbClr val="0E7C86"/>
          </a:solidFill>
          <a:ln/>
        </p:spPr>
      </p:sp>
      <p:sp>
        <p:nvSpPr>
          <p:cNvPr id="10" name="Text 8"/>
          <p:cNvSpPr/>
          <p:nvPr/>
        </p:nvSpPr>
        <p:spPr>
          <a:xfrm>
            <a:off x="640080" y="379476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1" name="Text 9"/>
          <p:cNvSpPr/>
          <p:nvPr/>
        </p:nvSpPr>
        <p:spPr>
          <a:xfrm>
            <a:off x="1417320" y="3776472"/>
            <a:ext cx="9875520" cy="7315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Day 6 · CM and EX   </a:t>
            </a:r>
            <a:pPr indent="0" marL="0">
              <a:buNone/>
            </a:pPr>
            <a:r>
              <a:rPr lang="en-US" sz="1350" dirty="0">
                <a:solidFill>
                  <a:srgbClr val="C7DCE0"/>
                </a:solidFill>
                <a:latin typeface="Calibri" pitchFamily="34" charset="0"/>
                <a:ea typeface="Calibri" pitchFamily="34" charset="-122"/>
                <a:cs typeface="Calibri" pitchFamily="34" charset="-120"/>
              </a:rPr>
              <a:t>Same skeleton, Interventions instead of Events. Much of your AE code transfers.</a:t>
            </a:r>
            <a:endParaRPr lang="en-US" sz="1700" dirty="0"/>
          </a:p>
        </p:txBody>
      </p:sp>
      <p:sp>
        <p:nvSpPr>
          <p:cNvPr id="12" name="Shape 10"/>
          <p:cNvSpPr/>
          <p:nvPr/>
        </p:nvSpPr>
        <p:spPr>
          <a:xfrm>
            <a:off x="640080" y="4754880"/>
            <a:ext cx="566928" cy="566928"/>
          </a:xfrm>
          <a:prstGeom prst="ellipse">
            <a:avLst/>
          </a:prstGeom>
          <a:solidFill>
            <a:srgbClr val="6FC8B4"/>
          </a:solidFill>
          <a:ln/>
        </p:spPr>
      </p:sp>
      <p:sp>
        <p:nvSpPr>
          <p:cNvPr id="13" name="Text 11"/>
          <p:cNvSpPr/>
          <p:nvPr/>
        </p:nvSpPr>
        <p:spPr>
          <a:xfrm>
            <a:off x="640080" y="4754880"/>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3</a:t>
            </a:r>
            <a:endParaRPr lang="en-US" sz="1700" dirty="0"/>
          </a:p>
        </p:txBody>
      </p:sp>
      <p:sp>
        <p:nvSpPr>
          <p:cNvPr id="14" name="Text 12"/>
          <p:cNvSpPr/>
          <p:nvPr/>
        </p:nvSpPr>
        <p:spPr>
          <a:xfrm>
            <a:off x="1417320" y="4736592"/>
            <a:ext cx="9875520" cy="7315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Then Findings   </a:t>
            </a:r>
            <a:pPr indent="0" marL="0">
              <a:buNone/>
            </a:pPr>
            <a:r>
              <a:rPr lang="en-US" sz="1350" dirty="0">
                <a:solidFill>
                  <a:srgbClr val="C7DCE0"/>
                </a:solidFill>
                <a:latin typeface="Calibri" pitchFamily="34" charset="0"/>
                <a:ea typeface="Calibri" pitchFamily="34" charset="-122"/>
                <a:cs typeface="Calibri" pitchFamily="34" charset="-120"/>
              </a:rPr>
              <a:t>VS and LB — where the structure changes shape again.</a:t>
            </a:r>
            <a:endParaRPr lang="en-US" sz="1700" dirty="0"/>
          </a:p>
        </p:txBody>
      </p:sp>
      <p:sp>
        <p:nvSpPr>
          <p:cNvPr id="15" name="Text 13"/>
          <p:cNvSpPr/>
          <p:nvPr/>
        </p:nvSpPr>
        <p:spPr>
          <a:xfrm>
            <a:off x="640080" y="5943600"/>
            <a:ext cx="10515600" cy="548640"/>
          </a:xfrm>
          <a:prstGeom prst="rect">
            <a:avLst/>
          </a:prstGeom>
          <a:noFill/>
          <a:ln/>
        </p:spPr>
        <p:txBody>
          <a:bodyPr wrap="square" lIns="0" tIns="0" rIns="0" bIns="0" rtlCol="0" anchor="ctr"/>
          <a:lstStyle/>
          <a:p>
            <a:pPr indent="0" marL="0">
              <a:buNone/>
            </a:pPr>
            <a:r>
              <a:rPr lang="en-US" sz="1400" i="1" dirty="0">
                <a:solidFill>
                  <a:srgbClr val="6FC8B4"/>
                </a:solidFill>
                <a:latin typeface="Calibri" pitchFamily="34" charset="0"/>
                <a:ea typeface="Calibri" pitchFamily="34" charset="-122"/>
                <a:cs typeface="Calibri" pitchFamily="34" charset="-120"/>
              </a:rPr>
              <a:t>AE is the hardest domain you will build. Everything after it reuses what you learn here.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Interventions &amp; Events Domains</dc:title>
  <dc:subject>PptxGenJS Presentation</dc:subject>
  <dc:creator>Clinical Programming Bootcamp</dc:creator>
  <cp:lastModifiedBy>Clinical Programming Bootcamp</cp:lastModifiedBy>
  <cp:revision>1</cp:revision>
  <dcterms:created xsi:type="dcterms:W3CDTF">2026-07-26T04:23:21Z</dcterms:created>
  <dcterms:modified xsi:type="dcterms:W3CDTF">2026-07-26T04:23:21Z</dcterms:modified>
</cp:coreProperties>
</file>